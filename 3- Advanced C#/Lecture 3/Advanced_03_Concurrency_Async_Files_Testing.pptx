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2"/>
  </p:notesMasterIdLst>
  <p:sldIdLst>
    <p:sldId id="256" r:id="rId2"/>
    <p:sldId id="257" r:id="rId3"/>
    <p:sldId id="258" r:id="rId4"/>
    <p:sldId id="261" r:id="rId5"/>
    <p:sldId id="259" r:id="rId6"/>
    <p:sldId id="260" r:id="rId7"/>
    <p:sldId id="262" r:id="rId8"/>
    <p:sldId id="263" r:id="rId9"/>
    <p:sldId id="264" r:id="rId10"/>
    <p:sldId id="265" r:id="rId11"/>
    <p:sldId id="266" r:id="rId12"/>
    <p:sldId id="269" r:id="rId13"/>
    <p:sldId id="267" r:id="rId14"/>
    <p:sldId id="268" r:id="rId15"/>
    <p:sldId id="271" r:id="rId16"/>
    <p:sldId id="272" r:id="rId17"/>
    <p:sldId id="273" r:id="rId18"/>
    <p:sldId id="274" r:id="rId19"/>
    <p:sldId id="275" r:id="rId20"/>
    <p:sldId id="277" r:id="rId21"/>
    <p:sldId id="278" r:id="rId22"/>
    <p:sldId id="279" r:id="rId23"/>
    <p:sldId id="280" r:id="rId24"/>
    <p:sldId id="276" r:id="rId25"/>
    <p:sldId id="281" r:id="rId26"/>
    <p:sldId id="282" r:id="rId27"/>
    <p:sldId id="458" r:id="rId28"/>
    <p:sldId id="283" r:id="rId29"/>
    <p:sldId id="459" r:id="rId30"/>
    <p:sldId id="284" r:id="rId31"/>
    <p:sldId id="285" r:id="rId32"/>
    <p:sldId id="286" r:id="rId33"/>
    <p:sldId id="287" r:id="rId34"/>
    <p:sldId id="288" r:id="rId35"/>
    <p:sldId id="289" r:id="rId36"/>
    <p:sldId id="290" r:id="rId37"/>
    <p:sldId id="460" r:id="rId38"/>
    <p:sldId id="293" r:id="rId39"/>
    <p:sldId id="466" r:id="rId40"/>
    <p:sldId id="467" r:id="rId41"/>
    <p:sldId id="468" r:id="rId42"/>
    <p:sldId id="469" r:id="rId43"/>
    <p:sldId id="462" r:id="rId44"/>
    <p:sldId id="294" r:id="rId45"/>
    <p:sldId id="298" r:id="rId46"/>
    <p:sldId id="299" r:id="rId47"/>
    <p:sldId id="300" r:id="rId48"/>
    <p:sldId id="301" r:id="rId49"/>
    <p:sldId id="302" r:id="rId50"/>
    <p:sldId id="364" r:id="rId51"/>
    <p:sldId id="365" r:id="rId52"/>
    <p:sldId id="463" r:id="rId53"/>
    <p:sldId id="366" r:id="rId54"/>
    <p:sldId id="367" r:id="rId55"/>
    <p:sldId id="464" r:id="rId56"/>
    <p:sldId id="465" r:id="rId57"/>
    <p:sldId id="303" r:id="rId58"/>
    <p:sldId id="304" r:id="rId59"/>
    <p:sldId id="470" r:id="rId60"/>
    <p:sldId id="471" r:id="rId61"/>
    <p:sldId id="305" r:id="rId62"/>
    <p:sldId id="306" r:id="rId63"/>
    <p:sldId id="307" r:id="rId64"/>
    <p:sldId id="309" r:id="rId65"/>
    <p:sldId id="472" r:id="rId66"/>
    <p:sldId id="310" r:id="rId67"/>
    <p:sldId id="473" r:id="rId68"/>
    <p:sldId id="311" r:id="rId69"/>
    <p:sldId id="474" r:id="rId70"/>
    <p:sldId id="475" r:id="rId71"/>
    <p:sldId id="313" r:id="rId72"/>
    <p:sldId id="477" r:id="rId73"/>
    <p:sldId id="478" r:id="rId74"/>
    <p:sldId id="480" r:id="rId75"/>
    <p:sldId id="481" r:id="rId76"/>
    <p:sldId id="482" r:id="rId77"/>
    <p:sldId id="312" r:id="rId78"/>
    <p:sldId id="484" r:id="rId79"/>
    <p:sldId id="483" r:id="rId80"/>
    <p:sldId id="315" r:id="rId81"/>
    <p:sldId id="314" r:id="rId82"/>
    <p:sldId id="499" r:id="rId83"/>
    <p:sldId id="318" r:id="rId84"/>
    <p:sldId id="319" r:id="rId85"/>
    <p:sldId id="317" r:id="rId86"/>
    <p:sldId id="320" r:id="rId87"/>
    <p:sldId id="321" r:id="rId88"/>
    <p:sldId id="503" r:id="rId89"/>
    <p:sldId id="501" r:id="rId90"/>
    <p:sldId id="502" r:id="rId91"/>
    <p:sldId id="322" r:id="rId92"/>
    <p:sldId id="325" r:id="rId93"/>
    <p:sldId id="326" r:id="rId94"/>
    <p:sldId id="324" r:id="rId95"/>
    <p:sldId id="498" r:id="rId96"/>
    <p:sldId id="327" r:id="rId97"/>
    <p:sldId id="328" r:id="rId98"/>
    <p:sldId id="329" r:id="rId99"/>
    <p:sldId id="486" r:id="rId100"/>
    <p:sldId id="487" r:id="rId101"/>
    <p:sldId id="488" r:id="rId102"/>
    <p:sldId id="489" r:id="rId103"/>
    <p:sldId id="490" r:id="rId104"/>
    <p:sldId id="492" r:id="rId105"/>
    <p:sldId id="494" r:id="rId106"/>
    <p:sldId id="495" r:id="rId107"/>
    <p:sldId id="496" r:id="rId108"/>
    <p:sldId id="504" r:id="rId109"/>
    <p:sldId id="330" r:id="rId110"/>
    <p:sldId id="335" r:id="rId111"/>
    <p:sldId id="332" r:id="rId112"/>
    <p:sldId id="333" r:id="rId113"/>
    <p:sldId id="334" r:id="rId114"/>
    <p:sldId id="337" r:id="rId115"/>
    <p:sldId id="338" r:id="rId116"/>
    <p:sldId id="343" r:id="rId117"/>
    <p:sldId id="344" r:id="rId118"/>
    <p:sldId id="345" r:id="rId119"/>
    <p:sldId id="346" r:id="rId120"/>
    <p:sldId id="347" r:id="rId121"/>
    <p:sldId id="348" r:id="rId122"/>
    <p:sldId id="349" r:id="rId123"/>
    <p:sldId id="350" r:id="rId124"/>
    <p:sldId id="351" r:id="rId125"/>
    <p:sldId id="352" r:id="rId126"/>
    <p:sldId id="353" r:id="rId127"/>
    <p:sldId id="360" r:id="rId128"/>
    <p:sldId id="361" r:id="rId129"/>
    <p:sldId id="362" r:id="rId130"/>
    <p:sldId id="363" r:id="rId131"/>
    <p:sldId id="369" r:id="rId132"/>
    <p:sldId id="370" r:id="rId133"/>
    <p:sldId id="371" r:id="rId134"/>
    <p:sldId id="372" r:id="rId135"/>
    <p:sldId id="373" r:id="rId136"/>
    <p:sldId id="374" r:id="rId137"/>
    <p:sldId id="375" r:id="rId138"/>
    <p:sldId id="376" r:id="rId139"/>
    <p:sldId id="378" r:id="rId140"/>
    <p:sldId id="379" r:id="rId1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27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574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lecture goes from how a program runs on the CPU, through threads and their problems, to Tasks and async/await, then files and streams, and finally unit testing and TDD.</a:t>
            </a:r>
          </a:p>
          <a:p>
            <a:r>
              <a:rPr lang="en-US" dirty="0"/>
              <a:t>Ask: What happens to your app while it waits for the network?</a:t>
            </a:r>
          </a:p>
          <a:p>
            <a:r>
              <a:rPr lang="en-US" dirty="0"/>
              <a:t>No animation on the cover.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Walk the path: first how programs run on the CPU, then threads and their problems, Tasks and async/await, and finally files, streams and testing.</a:t>
            </a:r>
          </a:p>
          <a:p>
            <a:r>
              <a:rPr lang="en-US" dirty="0"/>
              <a:t>Ask: Which of these topics have you already met in real code?</a:t>
            </a:r>
          </a:p>
          <a:p>
            <a:r>
              <a:rPr lang="en-US" dirty="0"/>
              <a:t>Clicks: 1–4: one row of topics per click · 5: the rule.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Before threads: programs, processes, CPUs and cores.</a:t>
            </a:r>
          </a:p>
          <a:p>
            <a:r>
              <a:rPr lang="en-US" dirty="0"/>
              <a:t>Ask: What do you already know about how programs run?</a:t>
            </a:r>
          </a:p>
          <a:p>
            <a:r>
              <a:rPr lang="en-US" dirty="0"/>
              <a:t>Clicks: 1: the topics of this part.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Our C# eventually becomes simple machine instructions: load a value, add, store. The CPU executes them one after another, billions of times per second.</a:t>
            </a:r>
          </a:p>
          <a:p>
            <a:r>
              <a:rPr lang="en-US" dirty="0"/>
              <a:t>Ask: Roughly how many instructions does a modern core execute per second?</a:t>
            </a:r>
          </a:p>
          <a:p>
            <a:r>
              <a:rPr lang="en-US" dirty="0"/>
              <a:t>Clicks: 1: C# code · 2: becomes simple instructions · 3: the CPU executes them · 4: the rule.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program is just an executable file on the disk. When you run it, the operating system creates a process: a running instance. Running it three times creates three processes.</a:t>
            </a:r>
          </a:p>
          <a:p>
            <a:r>
              <a:rPr lang="en-US" dirty="0"/>
              <a:t>Ask: If you open Notepad twice, how many processes do you get?</a:t>
            </a:r>
          </a:p>
          <a:p>
            <a:r>
              <a:rPr lang="en-US" dirty="0"/>
              <a:t>Clicks: 1: programs on the disk · 2: double click · 3: one program, many processes · 4: the rule.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operating system gives each process its own resources. Memory is split into the stack, the heap and static data, which students met before. Threads are what actually run the code.</a:t>
            </a:r>
          </a:p>
          <a:p>
            <a:r>
              <a:rPr lang="en-US" dirty="0"/>
              <a:t>Ask: Can one process read another process's memory directly?</a:t>
            </a:r>
          </a:p>
          <a:p>
            <a:r>
              <a:rPr lang="en-US" dirty="0"/>
              <a:t>Clicks: 1: the process · 2–6: one resource per click · 7: the rule.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complete journey. The program sits on the disk as files. When you double click, the OS creates a process with its own private memory and an ID, then its loader copies the code from the disk into RAM, because the CPU can only execute what is in memory (RAM is roughly 1,000 times faster than an SSD). The OS creates the main thread and the scheduler gives it a core. The core fetches instructions from RAM (through its fast cache), decodes and executes them, again and again. For .NET, the first code to run is the CLR: it JIT-compiles our IL into machine code and calls Main. When Main returns, the OS frees the memory and the process disappears.</a:t>
            </a:r>
          </a:p>
          <a:p>
            <a:r>
              <a:rPr lang="en-US" dirty="0"/>
              <a:t>Ask: Why can't the CPU run the program directly from the disk?</a:t>
            </a:r>
          </a:p>
          <a:p>
            <a:r>
              <a:rPr lang="en-US" dirty="0"/>
              <a:t>Clicks: 1: you double click · 2: the OS creates a process · 3: the code is loaded into RAM · 4: the main thread is created · 5: the CPU executes · 6: .NET starts Main · 7: the program ends.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One CPU chip can contain several cores. Each core executes its own instruction stream, so a 4-core CPU can really run 4 things at the same instant.</a:t>
            </a:r>
          </a:p>
          <a:p>
            <a:r>
              <a:rPr lang="en-US" dirty="0"/>
              <a:t>Ask: How many cores does your laptop have?</a:t>
            </a:r>
          </a:p>
          <a:p>
            <a:r>
              <a:rPr lang="en-US" dirty="0"/>
              <a:t>Clicks: 1–4: one core per click · 5: the rule.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core does not belong to a process and does not 'contain' processes. At any instant a core runs exactly one thread (strictly: one per logical core, coming in two slides). Threads from different processes take turns on the same core, and the OS can move a thread from one core to another between its turns. Here S1, a SwiftBite thread, runs on Core 1 and later on Core 2.</a:t>
            </a:r>
          </a:p>
          <a:p>
            <a:r>
              <a:rPr lang="en-US" dirty="0"/>
              <a:t>Ask: Point at the timeline: which process is Core 1 running right now?</a:t>
            </a:r>
          </a:p>
          <a:p>
            <a:r>
              <a:rPr lang="en-US" dirty="0"/>
              <a:t>Clicks: 1: two cores and three processes · 2: each core runs one thread at a time · 3: S1 moves to another core · 4–7: the four facts · 8: the rule.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one core, only one thing runs at any instant. The OS scheduler gives each thread a short slice (a few milliseconds) and switches. The switching (a context switch) is so fast that everything looks simultaneous.</a:t>
            </a:r>
          </a:p>
          <a:p>
            <a:r>
              <a:rPr lang="en-US" dirty="0"/>
              <a:t>Ask: What does a context switch cost?</a:t>
            </a:r>
          </a:p>
          <a:p>
            <a:r>
              <a:rPr lang="en-US" dirty="0"/>
              <a:t>Clicks: 1: one core · 2: the first slices · 3: the cycle repeats · 4: what we perceive · 5: the rule.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Concurrency: several tasks make progress during the same period, even on one core, by taking turns. Parallelism: several tasks execute at the same instant, which needs several cores.</a:t>
            </a:r>
          </a:p>
          <a:p>
            <a:r>
              <a:rPr lang="en-US" dirty="0"/>
              <a:t>Ask: Can a 1-core machine be concurrent? Parallel?</a:t>
            </a:r>
          </a:p>
          <a:p>
            <a:r>
              <a:rPr lang="en-US" dirty="0"/>
              <a:t>Clicks: 1: concurrency on 1 core · 2: parallelism on 2 cores · 3: the definitions · 4: the rule.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OS scheduler decides which ready thread runs next, on which core, and for how long. It is not random: it tries to be fair, respects priorities, and never gives a core to a thread that is waiting for I/O. A thread runs until its time slice ends (back to Ready) or until it has to wait (to Waiting); when the data arrives it becomes Ready again. We won't study the algorithms; just know that the OS, not your code, decides.</a:t>
            </a:r>
          </a:p>
          <a:p>
            <a:r>
              <a:rPr lang="en-US" dirty="0"/>
              <a:t>Ask: Your code called Start() on a thread. Is it running now?</a:t>
            </a:r>
          </a:p>
          <a:p>
            <a:r>
              <a:rPr lang="en-US" dirty="0"/>
              <a:t>Clicks: 1: ready threads and the cores · 2: the scheduler hands out cores · 3: time slice over: back to Ready · 4: needs I/O: to Waiting · 5: I/O done: Ready again · 6: what it considers · 7: the rule.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normal laptop runs hundreds of processes and thousands of threads on a handful of cores. This works because almost all threads are waiting most of the time: for a key press, a network packet, a timer, the disk. Only the few threads that are ready to run compete for the cores. Run the code on your machine and compare with Task Manager.</a:t>
            </a:r>
          </a:p>
          <a:p>
            <a:r>
              <a:rPr lang="en-US" dirty="0"/>
              <a:t>Ask: Run it: how many threads per core does your laptop have?</a:t>
            </a:r>
          </a:p>
          <a:p>
            <a:r>
              <a:rPr lang="en-US" dirty="0"/>
              <a:t>Clicks: 1: the code · 2: the numbers on a typical laptop · 3: most threads are waiting · 4: a few are ready · 5: one per core is running · 6: the rule.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physical core is real hardware. With Hyper-Threading (Intel) or SMT (AMD) one physical core shows up as two logical cores: it keeps two threads loaded and switches to the second whenever the first stalls, for example while waiting for memory. The OS schedules on logical cores. Two logical cores share one physical core, so they give extra throughput (often 15–30%), never double. Example: 4 physical cores = 8 logical cores.</a:t>
            </a:r>
          </a:p>
          <a:p>
            <a:r>
              <a:rPr lang="en-US" dirty="0"/>
              <a:t>Ask: Open Task Manager → Performance → CPU: what are your two numbers?</a:t>
            </a:r>
          </a:p>
          <a:p>
            <a:r>
              <a:rPr lang="en-US" dirty="0"/>
              <a:t>Clicks: 1: 4 physical cores · 2: each one appears as 2 logical cores · 3: the chef analogy · 4: see it on your machine · 5: the rule.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CPU-bound work keeps the core busy calculating from start to end; it finishes sooner with a faster core or more cores. I/O-bound work spends most of its time waiting for something outside the CPU: the disk, the network, a database, the user. While it waits, the core is free, and the scheduler gives it to other threads. Telling these two apart decides which tool we pick later in the lecture.</a:t>
            </a:r>
          </a:p>
          <a:p>
            <a:r>
              <a:rPr lang="en-US" dirty="0"/>
              <a:t>Ask: Sending 1,000 SMS messages: CPU-bound or I/O-bound?</a:t>
            </a:r>
          </a:p>
          <a:p>
            <a:r>
              <a:rPr lang="en-US" dirty="0"/>
              <a:t>Clicks: 1: CPU-bound timeline · 2: I/O-bound timeline · 3: the code · 4: CPU-bound examples · 5: I/O-bound examples.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thread is a path of execution inside a process. Every process starts with at least one thread, the main thread. Threads of the same process share its memory.</a:t>
            </a:r>
          </a:p>
          <a:p>
            <a:r>
              <a:rPr lang="en-US" dirty="0"/>
              <a:t>Ask: If threads share memory, what could go wrong?</a:t>
            </a:r>
          </a:p>
          <a:p>
            <a:r>
              <a:rPr lang="en-US" dirty="0"/>
              <a:t>Clicks: 1: the process · 2: the main thread · 3: more threads share the same memory · 4: the rule.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 thread gets its own stack for local variables and method calls. By default .NET reserves about 1 MB of stack per thread on Windows (a bit more on Linux/macOS); the memory is reserved, and committed as the stack actually grows. Objects created with new live on the heap, and the heap belongs to the whole process: every thread can reach the same object. Locals are private and safe; heap objects are shared and need care.</a:t>
            </a:r>
          </a:p>
          <a:p>
            <a:r>
              <a:rPr lang="en-US" dirty="0"/>
              <a:t>Ask: If count is a local in Cook(), can thread 2 ever see thread 1's count?</a:t>
            </a:r>
          </a:p>
          <a:p>
            <a:r>
              <a:rPr lang="en-US" dirty="0"/>
              <a:t>Clicks: 1: the code, the process, the main stack and the heap · 2: thread 1 gets its own stack · 3: thread 2 gets its own stack · 4: both threads reach the SAME Order object · 5: the cost · 6: the rule.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browser must download images without freezing the page, and run JavaScript without stopping the network. Conceptually it uses several threads, and modern browsers also use several processes.</a:t>
            </a:r>
          </a:p>
          <a:p>
            <a:r>
              <a:rPr lang="en-US" dirty="0"/>
              <a:t>Ask: What would happen if downloading an image ran on the UI thread?</a:t>
            </a:r>
          </a:p>
          <a:p>
            <a:r>
              <a:rPr lang="en-US" dirty="0"/>
              <a:t>Clicks: 1: the browser process · 2–5: one thread per click · 6: the rule.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 C# program starts on the main thread. ManagedThreadId is an ID given by .NET to the thread; it is NOT the number of a CPU core.</a:t>
            </a:r>
          </a:p>
          <a:p>
            <a:r>
              <a:rPr lang="en-US" dirty="0"/>
              <a:t>Ask: Will the ID always be 1?</a:t>
            </a:r>
          </a:p>
          <a:p>
            <a:r>
              <a:rPr lang="en-US" dirty="0"/>
              <a:t>Clicks: 1: the code · 2: the output · 3: what the number means · 4: the rule.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Create your own paths of execution, and see why they are hard to control.</a:t>
            </a:r>
          </a:p>
          <a:p>
            <a:r>
              <a:rPr lang="en-US" dirty="0"/>
              <a:t>Ask: What do you already know about threads?</a:t>
            </a:r>
          </a:p>
          <a:p>
            <a:r>
              <a:rPr lang="en-US" dirty="0"/>
              <a:t>Clicks: 1: the topics of this part.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Connect to delegates: the thread receives a delegate and calls it on the new thread.</a:t>
            </a:r>
          </a:p>
          <a:p>
            <a:r>
              <a:rPr lang="en-US" dirty="0"/>
              <a:t>Ask: Which message prints first?</a:t>
            </a:r>
          </a:p>
          <a:p>
            <a:r>
              <a:rPr lang="en-US" dirty="0"/>
              <a:t>Clicks: 1: the code · 2: low level · 3: a delegate · 4: Start · 5: the rule.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Print the thread ID from both places. The worker gets a different ID: the same program now has two paths of execution.</a:t>
            </a:r>
          </a:p>
          <a:p>
            <a:r>
              <a:rPr lang="en-US" dirty="0"/>
              <a:t>Ask: Will the worker always get ID 4?</a:t>
            </a:r>
          </a:p>
          <a:p>
            <a:r>
              <a:rPr lang="en-US" dirty="0"/>
              <a:t>Clicks: 1: the code · 2: the main thread runs · 3: the worker runs · 4: the rule.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OS scheduler decides when each thread runs. Two runs of the same program can interleave differently. Never write code that depends on the order threads run in.</a:t>
            </a:r>
          </a:p>
          <a:p>
            <a:r>
              <a:rPr lang="en-US" dirty="0"/>
              <a:t>Ask: Run it three times: do you get the same output?</a:t>
            </a:r>
          </a:p>
          <a:p>
            <a:r>
              <a:rPr lang="en-US" dirty="0"/>
              <a:t>Clicks: 1: the code · 2: one possible run · 3: another run · 4: the rule.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one core only one instruction stream runs at a time. The scheduler switches between the two threads: concurrency, not parallelism.</a:t>
            </a:r>
          </a:p>
          <a:p>
            <a:r>
              <a:rPr lang="en-US" dirty="0"/>
              <a:t>Ask: A laptop has ONE core and runs two threads. What do we get?</a:t>
            </a:r>
          </a:p>
          <a:p>
            <a:r>
              <a:rPr lang="en-US" dirty="0"/>
              <a:t>Clicks: 1: the question and code · 2: the choices (pause and let students vote) · 3: the answer.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Main does not wait. It announces 'Program finished' while the worker is still busy. THE FIX: Join blocks the current thread until the other thread completes. Overview only: later we will wait without blocking.</a:t>
            </a:r>
          </a:p>
          <a:p>
            <a:r>
              <a:rPr lang="en-US" dirty="0"/>
              <a:t>Ask: While Main is inside Join, can it do anything else?</a:t>
            </a:r>
          </a:p>
          <a:p>
            <a:r>
              <a:rPr lang="en-US" dirty="0"/>
              <a:t>Clicks: 1: no join code · 2: the problem · 3: with join code · 4: the fix.</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Thread.Sleep stops the current thread. The thread still exists and holds its resources while doing nothing. Remember this picture: await Task.Delay will solve it later.</a:t>
            </a:r>
          </a:p>
          <a:p>
            <a:r>
              <a:rPr lang="en-US" dirty="0"/>
              <a:t>Ask: What else could this thread have done during those 3 seconds?</a:t>
            </a:r>
          </a:p>
          <a:p>
            <a:r>
              <a:rPr lang="en-US" dirty="0"/>
              <a:t>Clicks: 1: the code · 2: the thread is blocked · 3: what it costs · 4: the rule.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Picture a web server. Every request needs to wait 3 seconds before it answers. With Thread.Sleep, the thread handling the request is blocked for those 3 seconds: it cannot run another handler, it stays allocated, and its stack and other resources stay in use. Now imagine 1,000 simultaneous requests: 1,000 threads doing nothing. The server may need more threads just to keep serving, which causes thread-pool pressure and limits scalability.</a:t>
            </a:r>
          </a:p>
          <a:p>
            <a:r>
              <a:rPr lang="en-US" dirty="0"/>
              <a:t>Ask: If each blocked thread costs memory and the pool grows slowly, what happens to request number 1,001?</a:t>
            </a:r>
          </a:p>
          <a:p>
            <a:r>
              <a:rPr lang="en-US" dirty="0"/>
              <a:t>Clicks: 1: the endpoint · 2: 1,000 requests, 1,000 blocked threads · 3: what each blocked thread costs · 4: the rule.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Picture a console app with a Main thread and worker threads. They all belong to one process. A process does not end just because Main has finished: the .NET runtime keeps it alive while at least one foreground thread is still running. A thread created with new Thread() is a foreground thread by default (IsBackground == false). Walk the table: Main creates and starts saver, saver sleeps, Main prints "Main done" and finishes, but the process waits for saver, which prints "Order saved" about 2 seconds later. Only then can the process exit.</a:t>
            </a:r>
          </a:p>
          <a:p>
            <a:r>
              <a:rPr lang="en-US" dirty="0"/>
              <a:t>Ask: Main has finished. Why is the console window still open?</a:t>
            </a:r>
          </a:p>
          <a:p>
            <a:r>
              <a:rPr lang="en-US" dirty="0"/>
              <a:t>Clicks: 1: the code · 2: Main creates and starts the worker · 3: worker sleeps, Main finishes · 4: the runtime keeps the process alive · 5: the worker finishes and the output · 6: the rule.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Change one line: saver.IsBackground = true. This tells the runtime that this thread should not prevent the process from exiting. It does not make the thread slower, suspended or blocked. Main starts saver, saver sleeps, Main prints "Main done" and finishes. Now no foreground threads remain, so the runtime can end the process without waiting, and "Order saved" usually never appears. This is the expected result, not a guarantee: scheduling and timing matter. Common misconception: background does not mean async, lower priority, slower, or "runs only when Main is idle". Both kinds run concurrently; the flag only controls process lifetime.</a:t>
            </a:r>
          </a:p>
          <a:p>
            <a:r>
              <a:rPr lang="en-US" dirty="0"/>
              <a:t>Ask: Which kind of thread should save an order to disk? Which kind is fine for a cache refresher?</a:t>
            </a:r>
          </a:p>
          <a:p>
            <a:r>
              <a:rPr lang="en-US" dirty="0"/>
              <a:t>Clicks: 1: the code · 2: the output · 3: the thread states · 4: why the process exits · 5: the misconception · 6: the rule.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Main prints A and ends. The only thread left is a background thread, so the process exits before B is printed.</a:t>
            </a:r>
          </a:p>
          <a:p>
            <a:r>
              <a:rPr lang="en-US" dirty="0"/>
              <a:t>Ask: What does this program print?</a:t>
            </a:r>
          </a:p>
          <a:p>
            <a:r>
              <a:rPr lang="en-US" dirty="0"/>
              <a:t>Clicks: 1: the question and code · 2: the choices (pause and let students vote) · 3: the answer.</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Race conditions, locks, atomic operations, semaphores and deadlocks.</a:t>
            </a:r>
          </a:p>
          <a:p>
            <a:r>
              <a:rPr lang="en-US" dirty="0"/>
              <a:t>Ask: What do you already know about when threads share data?</a:t>
            </a:r>
          </a:p>
          <a:p>
            <a:r>
              <a:rPr lang="en-US" dirty="0"/>
              <a:t>Clicks: 1: the topics of this part.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customers check the stock before either one updates it. Both see 1 meal, both buy it: the restaurant sold the same meal twice. That is a race condition: the result depends on timing.</a:t>
            </a:r>
          </a:p>
          <a:p>
            <a:r>
              <a:rPr lang="en-US" dirty="0"/>
              <a:t>Ask: Where exactly is the gap that lets both customers in?</a:t>
            </a:r>
          </a:p>
          <a:p>
            <a:r>
              <a:rPr lang="en-US" dirty="0"/>
              <a:t>Clicks: 1: the code and the stock · 2: A checks: 1 left · 3: B checks: still 1 · 4: A buys · 5: B buys the same meal · 6: the rule.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Run this in class. 10 meals are on sale and 50 customers press Buy at the same moment, each on its own thread. Buy checks the stock, then takes 10 ms to charge the card, then takes a meal. All 50 pass the check before anyone takes a meal, so the shop sells far more than it has. Run it three times: the numbers change every run. Then remove the Thread.Sleep: oversells become rarer but still happen, which is worse because it hides in testing.</a:t>
            </a:r>
          </a:p>
          <a:p>
            <a:r>
              <a:rPr lang="en-US" dirty="0"/>
              <a:t>Ask: What should the output be? What did we get? Run it again: same numbers?</a:t>
            </a:r>
          </a:p>
          <a:p>
            <a:r>
              <a:rPr lang="en-US" dirty="0"/>
              <a:t>Clicks: 1: the program · 2: the check and the slow payment · 3: what we expect · 4: what we get · 5: try it live.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Same Buy method, zoomed in on the last item: Stock is 1. Customer A checks: 1 left, so A passes. Before A takes it, customer B checks: still 1, so B passes too. A takes the item (Stock 0), then B takes it again (Stock -1). The check and the act are two separate steps, not one atomic operation, so another thread can run in between. This pattern is called check-then-act. Thread.Sleep does not cause the race: it only widens the gap so we see it more often. Also, Stock-- and Sold++ are each read, change, write: even on their own, two threads can lose an update.</a:t>
            </a:r>
          </a:p>
          <a:p>
            <a:r>
              <a:rPr lang="en-US" dirty="0"/>
              <a:t>Ask: If we removed Thread.Sleep, would the bug be gone, or just harder to see?</a:t>
            </a:r>
          </a:p>
          <a:p>
            <a:r>
              <a:rPr lang="en-US" dirty="0"/>
              <a:t>Clicks: 1: the code and the stock · 2: A checks · 3: B checks · 4: A buys · 5: B buys the same item · 6: atomic and check-then-act · 7: ++ and -- are not atomic either · 8: the rule.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Before choosing a tool, find the code that needs protecting. A critical section is code that reads or changes shared mutable state. Here the shared state is Stock and Sold: one FlashSale object used by all 50 customer threads. The check (Stock &lt;= 0) and the updates (Stock--, Sold++) form one purchase decision, so they must be protected together; protecting only part of it leaves the check stale. The payment does not touch shared state, so we move it after the updates and keep it out of the critical section. Note: moving it alone does not fix the race; it only keeps the section short for the next step.</a:t>
            </a:r>
          </a:p>
          <a:p>
            <a:r>
              <a:rPr lang="en-US" dirty="0"/>
              <a:t>Ask: Is the local variable inside Buy, if we had one, part of the critical section? Why not?</a:t>
            </a:r>
          </a:p>
          <a:p>
            <a:r>
              <a:rPr lang="en-US" dirty="0"/>
              <a:t>Clicks: 1: the class · 2: the shared state · 3: the critical section · 4: the payment stays outside · 5: the rule.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lock is how C# protects a critical section. _sync is an ordinary object used only as a key: whoever holds it may enter. When customer A reaches lock (_sync) and the lock is free, A acquires it and runs the whole purchase decision. When customer B reaches the same lock while A holds it, B blocks and waits. When A leaves the block, whether at the closing brace, via return, or because of an exception, the lock is released automatically and one waiting thread can acquire it. So only one thread at a time runs the protected code. This only works if every thread locks the SAME object: that is why _sync is a private readonly field on the shared FlashSale. A new object per call would give every thread its own key and nobody would ever wait.</a:t>
            </a:r>
          </a:p>
          <a:p>
            <a:r>
              <a:rPr lang="en-US" dirty="0"/>
              <a:t>Ask: What would happen if each call did lock (new object())?</a:t>
            </a:r>
          </a:p>
          <a:p>
            <a:r>
              <a:rPr lang="en-US" dirty="0"/>
              <a:t>Clicks: 1: the code · 2: A acquires the lock · 3: B waits · 4: A leaves and releases · 5: why one shared, private object.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very common beginner idea is "lock locks Stock and Sold". It does not. lock never looks at the variables inside the block. It works on ONE object, here _sync. From .NET 9 there is a dedicated type for this, System.Threading.Lock, so we write: private readonly Lock _sync = new(); (on older versions any private readonly object works the same way). Think of _sync as having an owner slot. "Acquire the lock" means: ask to become the owner of _sync. If nobody owns it, you become the owner and enter the block. If another thread owns it, you are blocked and wait. When the owner leaves the block, it releases _sync and one waiting thread becomes the next owner. The important consequence: lock is cooperative. It only protects code where every thread asks for the same _sync. Thread C, which writes Stock without lock (_sync), is never stopped.</a:t>
            </a:r>
          </a:p>
          <a:p>
            <a:r>
              <a:rPr lang="en-US" dirty="0"/>
              <a:t>Ask: Thread C writes Stock without lock. Is the flash sale still safe? What must we change?</a:t>
            </a:r>
          </a:p>
          <a:p>
            <a:r>
              <a:rPr lang="en-US" dirty="0"/>
              <a:t>Clicks: 1: the code · 2: the lock object and its owner slot · 3: A acquires · 4: B waits · 5: C is not stopped: variables are not locked · 6: A releases, B becomes the owner · 7: the rule.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Our lock works because all 50 threads live in one process and share one _sync object. A production ASP.NET Core API often runs as several instances behind a load balancer, on one or many servers. Each instance has its own memory and its own _sync, so two customers on two instances never wait for each other, and both can buy the last item. The source of truth is the database, so the decision must happen there. One common approach is an atomic conditional update: decrement stock only WHERE Stock &gt; 0, then check how many rows changed. Database transactions group related changes so they succeed or fail together. Keep this conceptual: the details belong to a data-access lecture.</a:t>
            </a:r>
          </a:p>
          <a:p>
            <a:r>
              <a:rPr lang="en-US" dirty="0"/>
              <a:t>Ask: If we scaled the API from 1 to 3 instances tomorrow, which line of our FlashSale code stops being enough?</a:t>
            </a:r>
          </a:p>
          <a:p>
            <a:r>
              <a:rPr lang="en-US" dirty="0"/>
              <a:t>Clicks: 1: two instances, two locks · 2: one shared database, sold twice · 3: atomic conditional update · 4: transactions · 5: the rule.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Interlocked performs atomic operations, so first: what does atomic mean? An atomic operation happens as one indivisible action. No other thread can observe it halfway through, threads cannot interfere with each other's atomic updates to the same variable, and the operation either completes or does not take effect. Now look at counter++. It looks like one operation, but conceptually it is three steps: read the current value, add 1, write the new value back. Between those steps there are gaps, and another thread can run in a gap and use the same counter. An atomic operation has no gaps: read, add and write happen as one step.</a:t>
            </a:r>
          </a:p>
          <a:p>
            <a:r>
              <a:rPr lang="en-US" dirty="0"/>
              <a:t>Ask: Is counter++ one step or three? Where exactly can another thread slip in?</a:t>
            </a:r>
          </a:p>
          <a:p>
            <a:r>
              <a:rPr lang="en-US" dirty="0"/>
              <a:t>Clicks: 1: the definition · 2: counter++ and what it really does · 3: the three steps · 4: the gaps · 5: atomic: one step · 6: where Interlocked fits · 7: the rule.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threads increment the same variable once each, so we expect 2. Walk the table one row per click. A reads 0. Before A writes, B also reads 0. A adds 1 in its own temporary value: 1. B does the same: 1. A writes 1. B writes 1 on top of it. Two increments ran, but the counter only moved once. This is a race condition, and this specific kind is called a lost update: one thread's write silently overwrote the other's.</a:t>
            </a:r>
          </a:p>
          <a:p>
            <a:r>
              <a:rPr lang="en-US" dirty="0"/>
              <a:t>Ask: Which row is the moment the bug becomes unavoidable? (Row 2: B reads before A writes.)</a:t>
            </a:r>
          </a:p>
          <a:p>
            <a:r>
              <a:rPr lang="en-US" dirty="0"/>
              <a:t>Clicks: 1: the code · 2–5: read and add for both threads · 6: A writes 1 · 7: B writes 1 over it · 8: expected vs actual · 9: the rule.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Replace counter++ with Interlocked.Increment(ref counter). Now the read, the add and the write happen as one atomic operation. If Thread A and Thread B both call it at the same moment, one atomic update changes 0 to 1 and the other changes 1 to 2. Neither update is lost, so the result is always 2, assuming those are the only two increments. How? Interlocked uses atomic instructions that the CPU supports (or equivalent mechanisms on the platform). The CPU makes competing updates to the same memory location take turns, very quickly, at the hardware level. You do not create a lock object and you do not write a lock block. The same class offers Decrement, Add, Exchange and CompareExchange.</a:t>
            </a:r>
          </a:p>
          <a:p>
            <a:r>
              <a:rPr lang="en-US" dirty="0"/>
              <a:t>Ask: Why do we pass ref counter, not just counter? (Interlocked must update the variable itself, not a copy.)</a:t>
            </a:r>
          </a:p>
          <a:p>
            <a:r>
              <a:rPr lang="en-US" dirty="0"/>
              <a:t>Clicks: 1: the code · 2: two threads, counter = 0 · 3: A goes first: 0 to 1, B waits its turn · 4: B: 1 to 2 · 5: the result · 6: behind the scenes · 7: other helpers · 8: the rule.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Now we can choose the right tool. Interlocked is for ONE atomic operation on ONE variable: increment a counter, add to a total, swap in a new value. It is very fast, needs no lock object, and no thread is put to sleep waiting. lock is for anything bigger: a condition followed by an operation (if Stock &gt; 0, then Stock--), or several variables that must change together (Stock-- and Sold++). Each Interlocked call is atomic on its own, but two Interlocked calls in a row, or an if followed by an Interlocked call, are NOT atomic together. The next slide shows that mistake on the flash sale.</a:t>
            </a:r>
          </a:p>
          <a:p>
            <a:r>
              <a:rPr lang="en-US" dirty="0"/>
              <a:t>Ask: A page-view counter: Interlocked or lock? Buying the last item: Interlocked or lock?</a:t>
            </a:r>
          </a:p>
          <a:p>
            <a:r>
              <a:rPr lang="en-US" dirty="0"/>
              <a:t>Clicks: 1: Interlocked code · 2: when to use it · 3: lock code · 4: the condition · 5: the operations · 6: when to use lock · 7: the rule.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tempting idea: "Interlocked is atomic, so let us use it for the flash sale." Interlocked.Decrement really is atomic: the read, the subtract and the write happen as one step that no thread can interrupt. But our purchase has a condition in front of it: if (Stock &gt; 0). The check and the Decrement are two separate steps. Walk it: one item left, A checks and passes, B checks and passes, A decrements to 0, B decrements to -1. The decrement never lost an update; the decision was wrong. Rule of thumb: Interlocked is perfect for one simple operation on one variable: counters, totals, flags, swapping a reference. As soon as you have a condition plus an update, or several variables that must change together, use lock. (Advanced: Interlocked.CompareExchange loops can do some of this without a lock, but lock is clearer and safer to start with.)</a:t>
            </a:r>
          </a:p>
          <a:p>
            <a:r>
              <a:rPr lang="en-US" dirty="0"/>
              <a:t>Ask: Our Sold counter alone: Interlocked or lock? And the whole purchase?</a:t>
            </a:r>
          </a:p>
          <a:p>
            <a:r>
              <a:rPr lang="en-US" dirty="0"/>
              <a:t>Clicks: 1: the code · 2: A checks · 3: B checks · 4: A decrements · 5: B decrements: oversold · 6: where Interlocked fits · 7: where you need lock · 8: the rule.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lock stops lost updates, but the check is still outside it. 50 threads see 10 meals, then each takes one in turn: stock ends at -40.</a:t>
            </a:r>
          </a:p>
          <a:p>
            <a:r>
              <a:rPr lang="en-US" dirty="0"/>
              <a:t>Ask: Only the act is inside the lock. Can the flash sale still oversell?</a:t>
            </a:r>
          </a:p>
          <a:p>
            <a:r>
              <a:rPr lang="en-US" dirty="0"/>
              <a:t>Clicks: 1: the question and code · 2: the choices (pause and let students vote) · 3: the answer.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lock lets one thread in. A semaphore lets N in. The kitchen has 3 cooks, so at most 3 orders are cooked at once; the rest wait. Always Release in finally.</a:t>
            </a:r>
          </a:p>
          <a:p>
            <a:r>
              <a:rPr lang="en-US" dirty="0"/>
              <a:t>Ask: With 9 orders, 3 cooks and 2 s per order, how long until everything is ready?</a:t>
            </a:r>
          </a:p>
          <a:p>
            <a:r>
              <a:rPr lang="en-US" dirty="0"/>
              <a:t>Clicks: 1: the code · 2: orders 1–3 start, 4–9 wait · 3: at 2 s, orders 4–6 · 4: at 4 s, orders 7–9 · 5: where it helps.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Thread 1 holds the menu lock and wants the stock lock. Thread 2 holds the stock lock and wants the menu lock. Each waits for the other, forever. No exception, no output: the program just hangs.</a:t>
            </a:r>
          </a:p>
          <a:p>
            <a:r>
              <a:rPr lang="en-US" dirty="0"/>
              <a:t>Ask: Will this program ever print anything?</a:t>
            </a:r>
          </a:p>
          <a:p>
            <a:r>
              <a:rPr lang="en-US" dirty="0"/>
              <a:t>Clicks: 1: the code · 2: thread 1 takes menuLock · 3: thread 2 takes stockLock · 4: thread 1 waits for stockLock · 5: thread 2 waits for menuLock: a cycle.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cheapest fix is a consistent order: if everyone takes menuLock before stockLock, nobody can hold stockLock while waiting for menuLock.</a:t>
            </a:r>
          </a:p>
          <a:p>
            <a:r>
              <a:rPr lang="en-US" dirty="0"/>
              <a:t>Ask: Which of the four is the easiest to enforce in a team?</a:t>
            </a:r>
          </a:p>
          <a:p>
            <a:r>
              <a:rPr lang="en-US" dirty="0"/>
              <a:t>Clicks: 1: the fixed code · 2–5: one technique per click · 6: the rule.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mine is a local: each thread has its own copy on its own stack. total is captured and shared by both threads, so its updates race.</a:t>
            </a:r>
          </a:p>
          <a:p>
            <a:r>
              <a:rPr lang="en-US" dirty="0"/>
              <a:t>Ask: Two threads run Count() at the same time. What happens to mine and total?</a:t>
            </a:r>
          </a:p>
          <a:p>
            <a:r>
              <a:rPr lang="en-US" dirty="0"/>
              <a:t>Clicks: 1: the question and code · 2: the choices (pause and let students vote) · 3: the answer.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call creates a brand-new lock object, so every customer holds a different key and nobody ever waits. The check-then-act race is still there, so the sale can still oversell. All threads must lock on the same shared object.</a:t>
            </a:r>
          </a:p>
          <a:p>
            <a:r>
              <a:rPr lang="en-US" dirty="0"/>
              <a:t>Ask: 50 customers call Buy() for 10 items. Can the flash sale still oversell?</a:t>
            </a:r>
          </a:p>
          <a:p>
            <a:r>
              <a:rPr lang="en-US" dirty="0"/>
              <a:t>Clicks: 1: the question and code · 2: the choices (pause and let students vote) · 3: the answer.</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Thread-safe data structures, real parallel CPU work, and the big picture.</a:t>
            </a:r>
          </a:p>
          <a:p>
            <a:r>
              <a:rPr lang="en-US" dirty="0"/>
              <a:t>Ask: What do you already know about concurrency toolbox?</a:t>
            </a:r>
          </a:p>
          <a:p>
            <a:r>
              <a:rPr lang="en-US" dirty="0"/>
              <a:t>Clicks: 1: the topics of this part.</a:t>
            </a:r>
          </a:p>
        </p:txBody>
      </p:sp>
    </p:spTree>
    <p:extLst>
      <p:ext uri="{BB962C8B-B14F-4D97-AF65-F5344CB8AC3E}">
        <p14:creationId xmlns:p14="http://schemas.microsoft.com/office/powerpoint/2010/main" val="13106251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Real example: an online shop counts how many times each product page is viewed. Every request runs on its own thread, so hundreds of threads call RecordView at the same moment, all writing into ONE Dictionary. Problem 1, lost updates: views[product] = views[product] + 1 is read, add, write. A and B both read 5, both write 6: one view disappears. Problem 2, check-then-act: for a new product both threads see ContainsKey = false and both call Add, and the second Add throws ArgumentException. Problem 3, the worst one: Dictionary was written for one thread. If two threads change it while it is growing its internal arrays, it can be corrupted: wrong results, exceptions later, even an endless loop. The result is different on every run.</a:t>
            </a:r>
          </a:p>
          <a:p>
            <a:r>
              <a:rPr lang="en-US" dirty="0"/>
              <a:t>Ask: Could we fix this with lock? (Yes. Next slide: a collection that does the locking for us.)</a:t>
            </a:r>
          </a:p>
          <a:p>
            <a:r>
              <a:rPr lang="en-US" dirty="0"/>
              <a:t>Clicks: 1: the code · 2: the dictionary and two threads · 3: both read 5 · 4: both write 6: a view is lost · 5: both see laptop missing · 6: the second Add throws · 7: expected vs actual · 8: the rule.</a:t>
            </a:r>
          </a:p>
        </p:txBody>
      </p:sp>
    </p:spTree>
    <p:extLst>
      <p:ext uri="{BB962C8B-B14F-4D97-AF65-F5344CB8AC3E}">
        <p14:creationId xmlns:p14="http://schemas.microsoft.com/office/powerpoint/2010/main" val="24376491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Change the type to ConcurrentDictionary (namespace System.Collections.Concurrent) and do the whole rule in ONE call: AddOrUpdate. If the key is missing it adds 1; if it exists it stores old + 1. Each call is atomic for that key. How? A reads 5 and stores 6, but only if the value is still 5 at that moment. B also read 5; when it tries to store 6 the value is already 6, so its write is refused and B simply tries again with the fresh value: 6 + 1 = 7. Nothing is lost, and nobody had to write a lock. For a new key, one thread adds it and the other updates it: no ArgumentException. Because of these retries, updateValueFactory can run more than once, so keep it a pure calculation with no side effects.</a:t>
            </a:r>
          </a:p>
          <a:p>
            <a:r>
              <a:rPr lang="en-US" dirty="0"/>
              <a:t>Ask: Why is if (!views.ContainsKey(k)) views.TryAdd(k, 0); views[k]++; still wrong, even on a ConcurrentDictionary?</a:t>
            </a:r>
          </a:p>
          <a:p>
            <a:r>
              <a:rPr lang="en-US" dirty="0"/>
              <a:t>Clicks: 1: the code · 2: the dictionary and two threads · 3: both call AddOrUpdate · 4: A stores 6 · 5: B is refused, retries, stores 7 · 6: the new key · 7: the result · 8: good to know · 9: the rule.</a:t>
            </a:r>
          </a:p>
        </p:txBody>
      </p:sp>
    </p:spTree>
    <p:extLst>
      <p:ext uri="{BB962C8B-B14F-4D97-AF65-F5344CB8AC3E}">
        <p14:creationId xmlns:p14="http://schemas.microsoft.com/office/powerpoint/2010/main" val="32230347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Keep it simple: the API looks like Dictionary, but each method is safe to call from many threads. AddOrUpdate and GetOrAdd exist too, for later.</a:t>
            </a:r>
          </a:p>
          <a:p>
            <a:r>
              <a:rPr lang="en-US" dirty="0"/>
              <a:t>Ask: Why is TryAdd safer than if (!ContainsKey) Add?</a:t>
            </a:r>
          </a:p>
          <a:p>
            <a:r>
              <a:rPr lang="en-US" dirty="0"/>
              <a:t>Clicks: 1: the code · 2: like a Dictionary · 3: Try methods · 4: TryAdd · 5: the rule.</a:t>
            </a:r>
          </a:p>
        </p:txBody>
      </p:sp>
    </p:spTree>
    <p:extLst>
      <p:ext uri="{BB962C8B-B14F-4D97-AF65-F5344CB8AC3E}">
        <p14:creationId xmlns:p14="http://schemas.microsoft.com/office/powerpoint/2010/main" val="40749539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Every single dictionary call is safe, but our business rule is a sequence: check, then read, then write. Another thread can run in between: the last-meal race again. THE FIX: When several steps must happen together, protect the whole sequence (here with a lock). Thread-safe parts do not make a thread-safe whole.</a:t>
            </a:r>
          </a:p>
          <a:p>
            <a:r>
              <a:rPr lang="en-US" dirty="0"/>
              <a:t>Ask: Which earlier example is this the same bug as?</a:t>
            </a:r>
          </a:p>
          <a:p>
            <a:r>
              <a:rPr lang="en-US" dirty="0"/>
              <a:t>Clicks: 1: before code · 2: the problem · 3: after code · 4: the fix.</a:t>
            </a:r>
          </a:p>
        </p:txBody>
      </p:sp>
    </p:spTree>
    <p:extLst>
      <p:ext uri="{BB962C8B-B14F-4D97-AF65-F5344CB8AC3E}">
        <p14:creationId xmlns:p14="http://schemas.microsoft.com/office/powerpoint/2010/main" val="17893559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Real example: when a customer places an order, the API does not send the confirmation email itself (slow). It adds a job to a queue and returns immediately. Two background worker threads take jobs from the queue and send the emails. Many request threads write to the queue while the workers read from it, and Queue&lt;T&gt; was built for one thread at a time. Problem 1: two Enqueue calls at the same moment can write into the same slot, so a job silently disappears. Problem 2: check-then-act again: both workers see Count &gt; 0, both Dequeue, and both may read the same front item, so the customer receives two emails. Problem 3: when only one job is left, the slower worker's Dequeue throws InvalidOperationException. The queue's internal head and tail can also be corrupted.</a:t>
            </a:r>
          </a:p>
          <a:p>
            <a:r>
              <a:rPr lang="en-US" dirty="0"/>
              <a:t>Ask: Which part of the worker loop is the check, and which is the act?</a:t>
            </a:r>
          </a:p>
          <a:p>
            <a:r>
              <a:rPr lang="en-US" dirty="0"/>
              <a:t>Clicks: 1: the code · 2: the queue, requests and workers · 3: two Enqueues hit one slot: a job is lost · 4: both workers see Count &gt; 0 · 5: both take order 5: duplicate email · 6: the crash · 7: the results · 8: the rule.</a:t>
            </a:r>
          </a:p>
        </p:txBody>
      </p:sp>
    </p:spTree>
    <p:extLst>
      <p:ext uri="{BB962C8B-B14F-4D97-AF65-F5344CB8AC3E}">
        <p14:creationId xmlns:p14="http://schemas.microsoft.com/office/powerpoint/2010/main" val="24299461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Same background-job design, one type changed: ConcurrentQueue&lt;string&gt;. Enqueue is safe from any number of threads at once: every job gets its own place. On the worker side we stop doing Count followed by Dequeue (two steps) and use TryDequeue: it checks for an item and removes it in one atomic step. If it returns true, that job belongs to this worker only; if it returns false, the queue was empty and nothing throws. Walk it: order 7 and 8 both arrive safely; W1 gets order 5, W2 gets order 7; W1 then takes order 8; W2 finds the queue empty and rests for a moment. Production note: in ASP.NET Core you would normally run the worker as a BackgroundService and use Channel&lt;T&gt;, which lets the worker wait for new jobs without polling and Thread.Sleep. The idea is exactly the same.</a:t>
            </a:r>
          </a:p>
          <a:p>
            <a:r>
              <a:rPr lang="en-US" dirty="0"/>
              <a:t>Ask: Why is if (jobs.Count &gt; 0) jobs.TryDequeue(out var job) not needed? What does TryDequeue already do?</a:t>
            </a:r>
          </a:p>
          <a:p>
            <a:r>
              <a:rPr lang="en-US" dirty="0"/>
              <a:t>Clicks: 1: the code · 2: the queue, requests and workers · 3: two Enqueues, both kept · 4: each worker takes a different job · 5: the empty queue returns false · 6: what TryDequeue returns · 7: the results · 8: the rule.</a:t>
            </a:r>
          </a:p>
        </p:txBody>
      </p:sp>
    </p:spTree>
    <p:extLst>
      <p:ext uri="{BB962C8B-B14F-4D97-AF65-F5344CB8AC3E}">
        <p14:creationId xmlns:p14="http://schemas.microsoft.com/office/powerpoint/2010/main" val="41315535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Reuse threads instead of creating one per job.</a:t>
            </a:r>
          </a:p>
          <a:p>
            <a:r>
              <a:rPr lang="en-US" dirty="0"/>
              <a:t>Ask: What do you already know about the thread pool?</a:t>
            </a:r>
          </a:p>
          <a:p>
            <a:r>
              <a:rPr lang="en-US" dirty="0"/>
              <a:t>Clicks: 1: the topics of this part.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If SwiftBite created a new thread for each of 10,000 incoming orders, the machine would spend more time managing threads than doing work. Every thread has a real cost.</a:t>
            </a:r>
          </a:p>
          <a:p>
            <a:r>
              <a:rPr lang="en-US" dirty="0"/>
              <a:t>Ask: What happens to context switching with 10,000 threads on 8 cores?</a:t>
            </a:r>
          </a:p>
          <a:p>
            <a:r>
              <a:rPr lang="en-US" dirty="0"/>
              <a:t>Clicks: 1: 10,000 orders arrive · 2: one thread each? · 3–7: what each thread costs · 8: the rule.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ThreadPool is a group of worker threads that the .NET runtime creates and manages for you. You never start these threads yourself. Instead you hand the pool a piece of work: ThreadPool.QueueUserWorkItem (or, in modern code, Task.Run). That call only puts the job in a queue and returns immediately, so Main continues right away. Later, when a worker thread is free, it takes the next job from the queue and runs it. When it finishes, the worker is not destroyed: it goes back to the queue and takes another job. That is why the typical output prints line 2 before line 3: the job runs later, on a different thread. The order is typical, not guaranteed. Pool threads are background threads, so Console.ReadLine keeps the app alive long enough to see the output.</a:t>
            </a:r>
          </a:p>
          <a:p>
            <a:r>
              <a:rPr lang="en-US" dirty="0"/>
              <a:t>Ask: When QueueUserWorkItem returns, has the job already run? Which thread runs it?</a:t>
            </a:r>
          </a:p>
          <a:p>
            <a:r>
              <a:rPr lang="en-US" dirty="0"/>
              <a:t>Clicks: 1: the code · 2: the queue and the pool · 3: queue job A: it waits · 4: Main continues, more jobs wait · 5: free workers take jobs A and B later · 6: worker 1 finishes A and takes C · 7: the output · 8: the rule.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ThreadPool does not have a fixed number of threads. The .NET runtime adds and removes worker threads depending on how much work is waiting. Two settings matter. Minimum threads: how many workers the pool will provide quickly, on demand, before it switches to a more conservative, slower way of adding new threads. By default it is usually close to the number of logical processors, so on a machine with 8 logical processors you will often see Min = 8. That does NOT mean 8 threads exist when the program starts: they are created as work arrives. Maximum threads: the upper limit the pool is allowed to reach. On modern 64-bit .NET the default for worker threads is often 32,767. That does not mean the pool will create that many, or that reaching it would be practical. The bars show the live count rising when the app gets busy and falling again when it is quiet. Run the code on your own machine: your numbers may differ.</a:t>
            </a:r>
          </a:p>
          <a:p>
            <a:r>
              <a:rPr lang="en-US" dirty="0"/>
              <a:t>Ask: If Min = 8 and 50 blocking jobs arrive at once, does the pool instantly create 50 threads? (No: after the minimum it adds threads slowly, which is why blocking causes starvation.)</a:t>
            </a:r>
          </a:p>
          <a:p>
            <a:r>
              <a:rPr lang="en-US" dirty="0"/>
              <a:t>Clicks: 1: the code · 2: sample output · 3: minimum threads · 4: maximum threads · 5: the thread-count scale · 6: quiet · 7: busy · 8: quiet again · 9: the rule.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runtime keeps a pool of worker threads. Jobs go into a queue; a free worker takes the next job, runs it, and goes back for another. Notice the repeated thread IDs. Pool threads are background threads.</a:t>
            </a:r>
          </a:p>
          <a:p>
            <a:r>
              <a:rPr lang="en-US" dirty="0"/>
              <a:t>Ask: Why do we need Console.ReadLine at the end?</a:t>
            </a:r>
          </a:p>
          <a:p>
            <a:r>
              <a:rPr lang="en-US" dirty="0"/>
              <a:t>Clicks: 1: the code · 2: jobs wait in a queue · 3: a few workers take them · 4: a sample output · 5: the rule.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If pool workers spend their time blocked (Thread.Sleep, .Wait(), .Result, long blocking calls), new work has no free worker and waits in the queue. The pool adds threads slowly, so latency grows.</a:t>
            </a:r>
          </a:p>
          <a:p>
            <a:r>
              <a:rPr lang="en-US" dirty="0"/>
              <a:t>Ask: Which line in this code makes the urgent job wait?</a:t>
            </a:r>
          </a:p>
          <a:p>
            <a:r>
              <a:rPr lang="en-US" dirty="0"/>
              <a:t>Clicks: 1: the code · 2: every worker is blocked · 3: new work waits in the queue · 4: latency grows · 5: the rule.</a:t>
            </a:r>
          </a:p>
          <a:p>
            <a:r>
              <a:rPr lang="en-US" dirty="0"/>
              <a:t>Note: Adding workers does not necessarily happen immediately. The runtime uses algorithms to control the number of threads, so it does not keep creating threads at random.</a:t>
            </a:r>
          </a:p>
          <a:p>
            <a:r>
              <a:rPr lang="en-US" dirty="0"/>
              <a:t>Newer .NET versions include improvements that respond faster to some kinds of blocking, especially blocking that waits on Tasks. But that does not mean every kind of blocking is resolved instantly, or that the ThreadPool can grow without limit.</a:t>
            </a:r>
          </a:p>
          <a:p>
            <a:r>
              <a:rPr lang="en-US" dirty="0"/>
              <a:t>As a result, new jobs can see a noticeable delay before they run.</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a deadlock no progress is possible: there is a cycle of waiting. In starvation progress is possible, but the work waits because resources (free threads) are not available right now.</a:t>
            </a:r>
          </a:p>
          <a:p>
            <a:r>
              <a:rPr lang="en-US" dirty="0"/>
              <a:t>Ask: If the blocking jobs finish, does a starved program recover? Does a deadlocked one?</a:t>
            </a:r>
          </a:p>
          <a:p>
            <a:r>
              <a:rPr lang="en-US" dirty="0"/>
              <a:t>Clicks: 1: deadlock · 2: starvation · 3: the rule.</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higher-level abstraction: an operation that will finish in the future.</a:t>
            </a:r>
          </a:p>
          <a:p>
            <a:r>
              <a:rPr lang="en-US" dirty="0"/>
              <a:t>Ask: What do you already know about tasks?</a:t>
            </a:r>
          </a:p>
          <a:p>
            <a:r>
              <a:rPr lang="en-US" dirty="0"/>
              <a:t>Clicks: 1: the topics of this part.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Remember ThreadPool.QueueUserWorkItem from the previous part. It hands work to the pool, and that is all it does. Ask the class three questions. How can I know when the work finishes? How can I get a result back? How can I handle an exception thrown inside? QueueUserWorkItem answers none of them. Task.Run uses the same ThreadPool but returns a Task object, which tracks completion, the result and any exception. In this part we stay WITHOUT async/await: first we learn what a Task is.</a:t>
            </a:r>
          </a:p>
          <a:p>
            <a:r>
              <a:rPr lang="en-US" dirty="0"/>
              <a:t>Ask: How would you find out that the order was processed, using only QueueUserWorkItem?</a:t>
            </a:r>
          </a:p>
          <a:p>
            <a:r>
              <a:rPr lang="en-US" dirty="0"/>
              <a:t>Clicks: 1: the code · 2: when? · 3: result? · 4: errors? · 5: Task.Run answers all three · 6: the rule.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Our first Task.Run, with no async or await. Task.Run queues the lambda to the ThreadPool, exactly like QueueUserWorkItem. A pool worker thread executes it. Main does not wait: right after scheduling it continues and prints "Main Finished". About 2 seconds later the worker prints "Task Finished". The difference from QueueUserWorkItem is the return value: task is an object that represents this operation and its completion. Console.ReadLine keeps the app alive, because pool threads are background threads.</a:t>
            </a:r>
          </a:p>
          <a:p>
            <a:r>
              <a:rPr lang="en-US" dirty="0"/>
              <a:t>Ask: Does Task.Run block the calling thread? (No: scheduling the work does not wait for it to finish.)</a:t>
            </a:r>
          </a:p>
          <a:p>
            <a:r>
              <a:rPr lang="en-US" dirty="0"/>
              <a:t>Clicks: 1: the code · 2: queue to the pool · 3: a worker runs it · 4: Main continues · 5: the Task object · 6: the output · 7: the answer.</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Print the managed thread ID in Main and inside the Task. Main is usually thread 1; the Task prints a different number, a ThreadPool worker. Run it a few times: the number can change. So THIS Task runs on a pool worker. But careful: a Task is not a thread. Not every Task needs a dedicated thread, or even any executing worker while it is pending. The next slide shows the kinds of Tasks that use no thread at all while they wait.</a:t>
            </a:r>
          </a:p>
          <a:p>
            <a:r>
              <a:rPr lang="en-US" dirty="0"/>
              <a:t>Ask: If you run it 3 times, will the Task always print the same ID?</a:t>
            </a:r>
          </a:p>
          <a:p>
            <a:r>
              <a:rPr lang="en-US" dirty="0"/>
              <a:t>Clicks: 1: the code · 2: the task goes to a pool worker · 3: the output · 4: this Task ran on the pool · 5: but a Task is not a thread · 6: the rule.</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most important idea of the lecture. Task.Run work runs on a pool thread, but many Tasks have no thread at all: while a network call is in flight, nothing is running; the OS tells us when data arrives.</a:t>
            </a:r>
          </a:p>
          <a:p>
            <a:r>
              <a:rPr lang="en-US" dirty="0"/>
              <a:t>Ask: While waiting 5 seconds for Task.Delay(5000), how many threads are busy?</a:t>
            </a:r>
          </a:p>
          <a:p>
            <a:r>
              <a:rPr lang="en-US" dirty="0"/>
              <a:t>Clicks: 1: one Task idea · 2–6: five things a Task can represent · 7: the rule.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Let students predict before running. A is always first: Main prints it before Task.Run is called. After that, Main prints C while the worker sleeps 1 second and then prints B. In practice you will almost always see A C B, but the order of B and C is not guaranteed by anything: it depends on scheduling.</a:t>
            </a:r>
          </a:p>
          <a:p>
            <a:r>
              <a:rPr lang="en-US" dirty="0"/>
              <a:t>Ask: Is the output always A B C? Run it several times.</a:t>
            </a:r>
          </a:p>
          <a:p>
            <a:r>
              <a:rPr lang="en-US" dirty="0"/>
              <a:t>Clicks: 1: the code and question · 2: the choices (pause and let students vote) · 3: the answer.</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Five Tasks, each prints its number and its thread ID. Ask the four questions BEFORE revealing the answers. Will the tasks execute in order? Not necessarily. Does each Task create a new thread? No: the pool reuses its workers. Can two Tasks run on the same thread? Yes, one after the other, like Task 1 and Task 3 here. Can multiple Tasks run simultaneously? Yes, on different workers and cores. Note why we copy i into number: each Task captures its own value.</a:t>
            </a:r>
          </a:p>
          <a:p>
            <a:r>
              <a:rPr lang="en-US" dirty="0"/>
              <a:t>Ask: Run it three times. Is the output ever identical?</a:t>
            </a:r>
          </a:p>
          <a:p>
            <a:r>
              <a:rPr lang="en-US" dirty="0"/>
              <a:t>Clicks: 1: the code · 2: a sample output · 3–6: one question and answer per click · 7: who decides.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So far our Task only printed something. What if we want to calculate a customer's invoice and return the total? Start with a normal method: CalculateTotal takes 2 seconds and returns 500. The problem: Main waits those 2 seconds. Now move the work into Task.Run. Because the lambda returns an int, Task.Run returns Task&lt;int&gt;: a Task that will eventually produce an int. Main prints "Main Thread Continues" immediately. Still no async/await: we are learning what a Task is first.</a:t>
            </a:r>
          </a:p>
          <a:p>
            <a:r>
              <a:rPr lang="en-US" dirty="0"/>
              <a:t>Ask: What is the problem with the normal method? (The Main thread waits 2 seconds.)</a:t>
            </a:r>
          </a:p>
          <a:p>
            <a:r>
              <a:rPr lang="en-US" dirty="0"/>
              <a:t>Clicks: 1: the normal method · 2: the problem · 3: the Task&lt;int&gt; version · 4: the idea · 5: the rule.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Read the type names out loud. Task: an operation that completes without a result. Task&lt;int&gt;: an operation that will produce an int. Task&lt;string&gt;, Task&lt;bool&gt;: the same idea with other types. The key point: in Task&lt;int&gt; task = Task.Run(() =&gt; 500), task is not the number 500. It is an object that represents the operation; the 500 is inside it, available when the operation completes. That raises the next question: how do we get the value out?</a:t>
            </a:r>
          </a:p>
          <a:p>
            <a:r>
              <a:rPr lang="en-US" dirty="0"/>
              <a:t>Ask: Can you write int x = task; ? Why not?</a:t>
            </a:r>
          </a:p>
          <a:p>
            <a:r>
              <a:rPr lang="en-US" dirty="0"/>
              <a:t>Clicks: 1: Task · 2: Task&lt;T&gt; types · 3: the code · 4: task is not 500 · 5: the important distinction.</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Ask students to predict the output and the total time before revealing it. Output: A, then about 3 seconds of nothing, then 500, then B. Why? task.Result has special behavior. If the Task has already completed, it returns the result immediately. If the Task is still running, it blocks the calling thread until the result is available. Main reaches .Result almost immediately, while the worker is still sleeping, so Main sits blocked for about 3 seconds. This is synchronous blocking.</a:t>
            </a:r>
          </a:p>
          <a:p>
            <a:r>
              <a:rPr lang="en-US" dirty="0"/>
              <a:t>Ask: Which line makes the program pause, the Task.Run line or the .Result line?</a:t>
            </a:r>
          </a:p>
          <a:p>
            <a:r>
              <a:rPr lang="en-US" dirty="0"/>
              <a:t>Clicks: 1: the code · 2: the question · 3: the output · 4: completed: immediate · 5: still running: blocks · 6: the rule.</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Now students know that getting a result can block a thread. Task.Wait() is the other way to wait: it blocks the current thread until the Task finishes. "Before Wait" prints, then nothing for about 3 seconds, then "Task Completed", then "After Wait". The difference: Wait() only waits for completion; Result waits and also returns the value. For a Task&lt;int&gt; you could use either, but Wait() itself does not give you the integer. A plain Task (no T) has no Result, so Wait() is the only one of the two you can call on it.</a:t>
            </a:r>
          </a:p>
          <a:p>
            <a:r>
              <a:rPr lang="en-US" dirty="0"/>
              <a:t>Ask: You only need to know the Task finished, not a value. Which one?</a:t>
            </a:r>
          </a:p>
          <a:p>
            <a:r>
              <a:rPr lang="en-US" dirty="0"/>
              <a:t>Clicks: 1: the code · 2: the output · 3: Wait() · 4: Result · 5: for a Task&lt;int&gt; · 6: the rule.</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third way to get the value. Break the syntax down. task.GetAwaiter() gets an awaiter associated with the Task: the object that supports awaiting, such as checking whether it is complete and retrieving the result. .GetResult() gets the result; used directly on an incomplete Task, it blocks the calling thread until the Task completes. So int a = task.Result; and int b = task.GetAwaiter().GetResult(); both synchronously wait for completion if necessary. The main difference students should learn first is how they report exceptions.</a:t>
            </a:r>
          </a:p>
          <a:p>
            <a:r>
              <a:rPr lang="en-US" dirty="0"/>
              <a:t>Ask: Does GetAwaiter().GetResult() avoid blocking? (No.)</a:t>
            </a:r>
          </a:p>
          <a:p>
            <a:r>
              <a:rPr lang="en-US" dirty="0"/>
              <a:t>Clicks: 1: the code · 2: GetAwaiter() · 3: GetResult() · 4: same effect as Result · 5: what is different · 6: the rule.</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Exercise: the Task throws InvalidOperationException("Calculation failed"). Ask: which exception will the calling code receive? With .Result, normally an AggregateException that wraps the original exception (you find it in InnerException). Change only the last line to .GetAwaiter().GetResult(): this time the underlying InvalidOperationException is thrown directly. .Wait() behaves like .Result; await (Part 6) behaves like GetResult(). Now students understand why some developers use GetAwaiter().GetResult() instead of .Result. But make it very clear: neither one is a solution to blocking. Both still block the calling thread.</a:t>
            </a:r>
          </a:p>
          <a:p>
            <a:r>
              <a:rPr lang="en-US" dirty="0"/>
              <a:t>Ask: Which exception does the calling code receive in each version?</a:t>
            </a:r>
          </a:p>
          <a:p>
            <a:r>
              <a:rPr lang="en-US" dirty="0"/>
              <a:t>Clicks: 1: .Result version · 2: AggregateException · 3: GetResult version · 4: the original exception · 5: Wait and Result · 6: GetResult and await · 7: the rule.</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Start with the question: we know how to create a Task and get its result, but how does .NET know whether the Task is waiting, running, completed or failed? Every Task has a Status. Created: created but not started, for example new Task(...). WaitingToRun: scheduled, waiting for a worker. Running: the delegate is executing. Then it ends in exactly one final state: RanToCompletion, Faulted (an exception was thrown) or Canceled. This is a simplified lifecycle: Task.Run normally skips Created, and asynchronous Tasks may pass through other states such as WaitingForActivation, which we meet later with async operations and continuations. Do not spend time on every possible state yet.</a:t>
            </a:r>
          </a:p>
          <a:p>
            <a:r>
              <a:rPr lang="en-US" dirty="0"/>
              <a:t>Ask: What does the first WriteLine print? Can we be sure? (No: WaitingToRun or Running, it depends on timing.)</a:t>
            </a:r>
          </a:p>
          <a:p>
            <a:r>
              <a:rPr lang="en-US" dirty="0"/>
              <a:t>Clicks: 1: the question · 2: the code · 3: Created · 4: WaitingToRun · 5: Running · 6–8: the three final states · 9: simplified · 10: the rule.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Exercise 3. new Task(...) creates a Task but does not schedule it, so the first status is Created. task.Start() schedules it on the ThreadPool; Wait() blocks until it finishes, Hello is printed, and the final status is RanToCompletion. Task.Run creates and starts in one call, which is why we normally use it instead of new Task. One more important detail: Task.Status is a snapshot. A Task can change state immediately after you read it, so intermediate statuses are not always predictable.</a:t>
            </a:r>
          </a:p>
          <a:p>
            <a:r>
              <a:rPr lang="en-US" dirty="0"/>
              <a:t>Ask: What happens if you forget task.Start() and call task.Wait()? (It waits forever: the Task never runs.)</a:t>
            </a:r>
          </a:p>
          <a:p>
            <a:r>
              <a:rPr lang="en-US" dirty="0"/>
              <a:t>Clicks: 1: new Task: Created · 2: Start schedules it · 3: expected output · 4: status is a snapshot · 5: the rule.</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Let students predict each status before revealing it. Exercise 1: the Task sleeps 2 seconds and finishes normally; after Wait() its status is RanToCompletion. Exercise 2: the Task throws. Wait() rethrows the failure wrapped in an AggregateException, we catch it, and the status is Faulted.</a:t>
            </a:r>
          </a:p>
          <a:p>
            <a:r>
              <a:rPr lang="en-US" dirty="0"/>
              <a:t>Ask: In Exercise 2, why do we catch AggregateException and not Exception directly?</a:t>
            </a:r>
          </a:p>
          <a:p>
            <a:r>
              <a:rPr lang="en-US" dirty="0"/>
              <a:t>Clicks: 1: exercise 1 · 2: RanToCompletion · 3: exercise 2 · 4: Faulted · 5: the rule.</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We met CPU-bound and I/O-bound work in Part 1. Now that we have Task, the kind of work decides the tool: CPU-bound work needs a core, so move it to the pool or split it across cores; I/O-bound work needs no core while it waits, so don't hold a thread for it.</a:t>
            </a:r>
          </a:p>
          <a:p>
            <a:r>
              <a:rPr lang="en-US" dirty="0"/>
              <a:t>Ask: Resizing 1,000 images vs downloading 1,000 images: which tool for each?</a:t>
            </a:r>
          </a:p>
          <a:p>
            <a:r>
              <a:rPr lang="en-US" dirty="0"/>
              <a:t>Clicks: 1: CPU-bound tools · 2: I/O-bound tools · 3: the rule.</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Task.Run takes a pool thread to do computation, so Main stays free meanwhile. We read .Result at the end only because this is a small console demo. For waiting on files or the network there is a better tool: async I/O, coming up.</a:t>
            </a:r>
          </a:p>
          <a:p>
            <a:r>
              <a:rPr lang="en-US" dirty="0"/>
              <a:t>Ask: Would Task.Run make a database query faster?</a:t>
            </a:r>
          </a:p>
          <a:p>
            <a:r>
              <a:rPr lang="en-US" dirty="0"/>
              <a:t>Clicks: 1: the code · 2: good use · 3: not a speed boost · 4: don't wrap I/O · 5: the rule.</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most common place you will meet Task.FromResult is in tests. The real repository talks to a database, but the interface just says "return a Task&lt;Employee?&gt;". A fake for unit tests can answer instantly with Task.FromResult, and Task.CompletedTask for methods with no value. The trap: Task.FromResult(SlowCalculation()) does NOT run the calculation in the background. C# evaluates the argument first, on your thread, for the full 5 seconds, and only then wraps the finished number in a completed Task. If you really need to move CPU work off the thread, that is Task.Run.</a:t>
            </a:r>
          </a:p>
          <a:p>
            <a:r>
              <a:rPr lang="en-US" dirty="0"/>
              <a:t>Ask: How long does Task.FromResult(SlowCalculation()) block the calling thread?</a:t>
            </a:r>
          </a:p>
          <a:p>
            <a:r>
              <a:rPr lang="en-US" dirty="0"/>
              <a:t>Clicks: 1: the interface and the fake · 2: FromResult in a fake · 3: CompletedTask and good uses · 4: the trap · 5: not async · 6: the rule.</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Wait for slow operations without blocking a thread.</a:t>
            </a:r>
          </a:p>
          <a:p>
            <a:r>
              <a:rPr lang="en-US" dirty="0"/>
              <a:t>Ask: What do you already know about async / await?</a:t>
            </a:r>
          </a:p>
          <a:p>
            <a:r>
              <a:rPr lang="en-US" dirty="0"/>
              <a:t>Clicks: 1: the topics of this part.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The thread sits blocked for 2 seconds. During that time it cannot serve anyone else. THE FIX: await pauses the METHOD, not the thread. The thread is released while waiting; the method resumes when the result arrives.</a:t>
            </a:r>
          </a:p>
          <a:p>
            <a:r>
              <a:rPr lang="en-US" dirty="0"/>
              <a:t>Ask: Both versions print the same thing. So what is the difference?</a:t>
            </a:r>
          </a:p>
          <a:p>
            <a:r>
              <a:rPr lang="en-US" dirty="0"/>
              <a:t>Clicks: 1: blocking code · 2: the problem · 3: async code · 4: the fix.</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Task.Delay uses a timer. No thread sits waiting; when the timer fires, the rest of the method continues on a thread.</a:t>
            </a:r>
          </a:p>
          <a:p>
            <a:r>
              <a:rPr lang="en-US" dirty="0"/>
              <a:t>Ask: During the 5-second delay, how many threads are busy waiting?</a:t>
            </a:r>
          </a:p>
          <a:p>
            <a:r>
              <a:rPr lang="en-US" dirty="0"/>
              <a:t>Clicks: 1: the question and code · 2: the choices (pause and let students vote) · 3: the answer.</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Compare the two timelines. Synchronous: the thread runs your code, then sits BLOCKED while the database works, then continues. Asynchronous: the thread runs your code until await, is released and serves other work while the database works, and the method resumes when the answer arrives. Notice that in both cases the database takes the same time: async does not make the query faster, it stops a thread from being wasted. Two common misconceptions. First, async is not multithreading: async can run entirely on a single thread; a UI app runs all its awaits on its one UI thread, and while an I/O operation is pending no thread is used at all. Second, async is not parallel: if you await one call and then the next, they run one after another. Doing several things at once is a separate decision (start first, await later, coming soon). async is about not blocking.</a:t>
            </a:r>
          </a:p>
          <a:p>
            <a:r>
              <a:rPr lang="en-US" dirty="0"/>
              <a:t>Ask: The database takes 2 seconds in both timelines. So what exactly did async improve?</a:t>
            </a:r>
          </a:p>
          <a:p>
            <a:r>
              <a:rPr lang="en-US" dirty="0"/>
              <a:t>Clicks: 1: synchronous timeline · 2: what it costs · 3: asynchronous timeline · 4: what it gives · 5: not multithreading · 6: not parallel · 7: the rule.</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diagram matters more than the syntax. The thread runs the method until await meets an unfinished task. Then the method returns, and the thread is free for other work. When the network answers, the rest of the method (the continuation) runs.</a:t>
            </a:r>
          </a:p>
          <a:p>
            <a:r>
              <a:rPr lang="en-US" dirty="0"/>
              <a:t>Ask: During the network call, what is the thread doing?</a:t>
            </a:r>
          </a:p>
          <a:p>
            <a:r>
              <a:rPr lang="en-US" dirty="0"/>
              <a:t>Clicks: 1: the thread enters the method · 2: it starts the network call · 3: await: incomplete, so the method returns and the thread is free · 4: the network answers · 5: the continuation resumes · 6: the rule.</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Follow the bookmark. Thread 7 calls GetSummaryAsync; MoveNext runs piece 0 and prints Start. At the first await, GetByIdAsync is not finished, so the state machine stores state = 1 and MoveNext returns: thread 7 is released and serves other work. When the order arrives, the awaited Task completes and schedules the continuation: a pool thread (thread 9 here) calls MoveNext again. The switch reads state = 1 and jumps straight to case 1, which is the code right after the first await, with order already stored in a field. The second await repeats the story with state = 2. In the end MoveNext runs the last piece and completes the Task returned to the caller. So the answer to "from what point does it continue?" is: exactly after the await that paused it, possibly on a different thread in console apps and ASP.NET Core, or back on the UI thread in UI apps. And if an awaited Task is already completed, there is no pause at all: MoveNext just keeps going.</a:t>
            </a:r>
          </a:p>
          <a:p>
            <a:r>
              <a:rPr lang="en-US" dirty="0"/>
              <a:t>Ask: Which variable tells MoveNext where to jump? Which thread prints "Got order"?</a:t>
            </a:r>
          </a:p>
          <a:p>
            <a:r>
              <a:rPr lang="en-US" dirty="0"/>
              <a:t>Clicks: 1: the method and state 0 · 2: thread 7 runs piece 0 · 3: first await: state 1, thread free · 4: thread 9 resumes after the await · 5: second await and completion · 6: the answer.</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Only the calls, no business logic. A request arrives at an ASP.NET Core endpoint. Thread 7 runs it: the endpoint calls OrderService.GetOrderSummaryAsync, which calls OrderRepository.GetByIdAsync, which calls EF Core's FirstAsync, which sends the SQL to the database. Now nothing needs computing; we only wait for the network. Each await sees a Task that is not finished, so each method returns an unfinished Task to its caller, all the way up to ASP.NET Core, and thread 7 goes back to the ThreadPool to serve other requests. When the rows arrive, a pool thread (maybe thread 9, maybe thread 7 again) resumes the repository right after its await, which completes its Task, which resumes the service, which resumes the endpoint, and the response is sent. That is why we say async all the way: if any layer blocked with .Result, a thread would be held for the whole wait.</a:t>
            </a:r>
          </a:p>
          <a:p>
            <a:r>
              <a:rPr lang="en-US" dirty="0"/>
              <a:t>Ask: What would happen to thread 7 if OrderService used .Result instead of await?</a:t>
            </a:r>
          </a:p>
          <a:p>
            <a:r>
              <a:rPr lang="en-US" dirty="0"/>
              <a:t>Clicks: 1: the layers · 2: thread 7 runs down the chain · 3: the query is in flight · 4: each layer returns an unfinished Task, thread 7 goes back to the pool · 5: rows arrive, methods resume bottom up · 6: the response · 7: the rule.</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async keyword tells the C# compiler to transform the method into an asynchronous state machine. Simplified: the compiler cuts your method into pieces at every await (blue, amber, green). It creates a class with a state field, which is the bookmark that remembers which piece runs next, and turns your local variables (id, order) into fields, so their values survive while no thread is running the method. Its MoveNext method uses a switch on state: it runs one piece, starts the next awaited operation, and if that operation is not finished yet it sets state to the next number and returns. That return is the moment the thread is released. The right side is a simplified idea, not real generated code: the real code uses awaiters, a builder and try/catch, but the shape is the same.</a:t>
            </a:r>
          </a:p>
          <a:p>
            <a:r>
              <a:rPr lang="en-US" dirty="0"/>
              <a:t>Ask: Why must the local variable order become a field? (Between pieces, no thread is running the method, so its stack frame is gone.)</a:t>
            </a:r>
          </a:p>
          <a:p>
            <a:r>
              <a:rPr lang="en-US" dirty="0"/>
              <a:t>Clicks: 1: your method · 2: the three pieces · 3: what the compiler builds · 4–6: one case per piece · 7: the bookmark and fields · 8: MoveNext · 9: the rule.</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PrintAsync runs synchronously until its first await: it prints 2 before returning to the caller, which prints 3, then waits.</a:t>
            </a:r>
          </a:p>
          <a:p>
            <a:r>
              <a:rPr lang="en-US" dirty="0"/>
              <a:t>Ask: What does this program print?</a:t>
            </a:r>
          </a:p>
          <a:p>
            <a:r>
              <a:rPr lang="en-US" dirty="0"/>
              <a:t>Clicks: 1: the question and code · 2: the choices (pause and let students vote) · 3: the answer.</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wait 3 seconds. Thread.Sleep holds the thread for the whole time. await Task.Delay releases it: a timer completes the task and the method continues afterwards. In async code always use Task.Delay.</a:t>
            </a:r>
          </a:p>
          <a:p>
            <a:r>
              <a:rPr lang="en-US" dirty="0"/>
              <a:t>Ask: On a server with 100 threads, how many requests can sleep at once with each approach?</a:t>
            </a:r>
          </a:p>
          <a:p>
            <a:r>
              <a:rPr lang="en-US" dirty="0"/>
              <a:t>Clicks: 1: the code · 2: Thread.Sleep holds the thread · 3: Task.Delay frees it · 4: the rule.</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The keyword async does not change what Thread.Sleep does. The method blocks exactly as before; the compiler even warns that there is no await. THE FIX: Call the asynchronous version of the operation and await it: Task.Delay, File.ReadAllTextAsync, httpClient.GetStringAsync ...</a:t>
            </a:r>
          </a:p>
          <a:p>
            <a:r>
              <a:rPr lang="en-US" dirty="0"/>
              <a:t>Ask: What does the async keyword actually allow you to do?</a:t>
            </a:r>
          </a:p>
          <a:p>
            <a:r>
              <a:rPr lang="en-US" dirty="0"/>
              <a:t>Clicks: 1: before code · 2: the problem · 3: after code · 4: the fix.</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The caller cannot await async void, so it cannot know when it ends or catch its exception. Here the exception escapes and crashes the process. THE FIX: Return Task and await it: the exception arrives at the await and the normal try/catch works.</a:t>
            </a:r>
          </a:p>
          <a:p>
            <a:r>
              <a:rPr lang="en-US" dirty="0"/>
              <a:t>Ask: In BEFORE, which line does the try/catch actually protect?</a:t>
            </a:r>
          </a:p>
          <a:p>
            <a:r>
              <a:rPr lang="en-US" dirty="0"/>
              <a:t>Clicks: 1: before code · 2: the problem · 3: after code · 4: the fix.</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Compare the two side by side, one row per click. async Task returns a Task; async void returns nothing, so the caller has no object to work with. Because there is no Task, you cannot await an async void method, and you cannot directly track when it completes. With async Task, an exception is stored in the returned Task and re-thrown at the await, so a normal try/catch around the await handles it. With async void there is no Task to store it in: the exception is raised on the context the method was running on, and in many apps that crashes the process. Rule: always write async Task (or Task&lt;T&gt;); async void only for event handlers such as a button click, where the delegate signature requires void.</a:t>
            </a:r>
          </a:p>
          <a:p>
            <a:r>
              <a:rPr lang="en-US" dirty="0"/>
              <a:t>Ask: You wrap a call to an async void method in try/catch. Will the catch block see its exception?</a:t>
            </a:r>
          </a:p>
          <a:p>
            <a:r>
              <a:rPr lang="en-US" dirty="0"/>
              <a:t>Clicks: 1: the two options · 2: return type · 3: await · 4: tracking completion · 5: where the exception goes · 6: crash vs try/catch · 7: the rule.</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await waits for its operation before the next line starts. Three 1-second calls awaited one after another take 3 seconds. That is sequential asynchronous code.</a:t>
            </a:r>
          </a:p>
          <a:p>
            <a:r>
              <a:rPr lang="en-US" dirty="0"/>
              <a:t>Ask: The three calls don't depend on each other. Why wait for one before starting the next?</a:t>
            </a:r>
          </a:p>
          <a:p>
            <a:r>
              <a:rPr lang="en-US" dirty="0"/>
              <a:t>Clicks: 1: the code · 2–4: one call after another · 5: the total time · 6: the rule.</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Calling an async method starts the operation and gives back its Task immediately. Start all three, then await them: they wait at the same time, so the page loads in about 1 second.</a:t>
            </a:r>
          </a:p>
          <a:p>
            <a:r>
              <a:rPr lang="en-US" dirty="0"/>
              <a:t>Ask: What would happen if one call took 2 seconds?</a:t>
            </a:r>
          </a:p>
          <a:p>
            <a:r>
              <a:rPr lang="en-US" dirty="0"/>
              <a:t>Clicks: 1: the code · 2: all three start at once · 3: await the results · 4: the total time · 5: the rule.</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timers start immediately when Task.Delay is called. After first completes (2 s), second only has 1 s left.</a:t>
            </a:r>
          </a:p>
          <a:p>
            <a:r>
              <a:rPr lang="en-US" dirty="0"/>
              <a:t>Ask: Roughly how long until Done is printed?</a:t>
            </a:r>
          </a:p>
          <a:p>
            <a:r>
              <a:rPr lang="en-US" dirty="0"/>
              <a:t>Clicks: 1: the question and code · 2: the choices (pause and let students vote) · 3: the answer.</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Now we practice async on something that looks like real work: an employee database. To keep it simple we fake it. Employee is a record with Id, Name and Salary. EmployeeRepository keeps the "table" in a List&lt;Employee&gt;. Every method starts with await Task.Delay(...), which plays the role of the time a real database query takes over the network. While that delay runs, no thread is blocked, exactly like a real async database call with EF Core or Dapper. GetAllAsync returns Task&lt;List&lt;Employee&gt;&gt; and gives back a copy of the list, like rows returned from a query. Over the next slides we add Get by id, Add and Delete.</a:t>
            </a:r>
          </a:p>
          <a:p>
            <a:r>
              <a:rPr lang="en-US" dirty="0"/>
              <a:t>Ask: Why does GetAllAsync return Task&lt;List&lt;Employee&gt;&gt; and not List&lt;Employee&gt;?</a:t>
            </a:r>
          </a:p>
          <a:p>
            <a:r>
              <a:rPr lang="en-US" dirty="0"/>
              <a:t>Clicks: 1: the Employee record · 2: the fake table · 3: GetAllAsync · 4: why async · 5: the rule.</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GetByIdAsync waits for the simulated query, then searches the list. FirstOrDefault returns null when nothing matches, so the return type is Task&lt;Employee?&gt;: a future employee, or null. The caller writes await repo.GetByIdAsync(2): await unwraps the Task and gives back an Employee?. Follow the thread: it calls the method, is released during the 300 ms query (free to do other work), and resumes with Ali. For id 99 we get null, and ?. plus ?? print "Not found" without a NullReferenceException.</a:t>
            </a:r>
          </a:p>
          <a:p>
            <a:r>
              <a:rPr lang="en-US" dirty="0"/>
              <a:t>Ask: What would happen without the ? in Employee? if the id does not exist?</a:t>
            </a:r>
          </a:p>
          <a:p>
            <a:r>
              <a:rPr lang="en-US" dirty="0"/>
              <a:t>Clicks: 1: the method · 2: the table · 3: the call: thread free, then Ali · 4: a missing id · 5: the rule.</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AddAsync returns a plain Task: there is no value to give back, but the operation still takes time. The caller awaits it, so the next line ("Saved") only runs after the row exists, and if the insert fails the exception arrives at the await. Watch the table: Sara appears after the simulated 400 ms insert. If you forget the await, the method starts, Main moves on immediately and prints "Saved" before the row is there; any exception is lost.</a:t>
            </a:r>
          </a:p>
          <a:p>
            <a:r>
              <a:rPr lang="en-US" dirty="0"/>
              <a:t>Ask: Since AddAsync returns nothing, why not make it async void?</a:t>
            </a:r>
          </a:p>
          <a:p>
            <a:r>
              <a:rPr lang="en-US" dirty="0"/>
              <a:t>Clicks: 1: the method · 2: the table · 3: the call: Sara is inserted · 4: async Task · 5: forgetting await · 6: the rule.</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DeleteAsync simulates the DELETE, then removes every row with that id. RemoveAll returns how many rows it removed, so "&gt; 0" tells us whether the employee existed. The return type is Task&lt;bool&gt;; the caller awaits it and gets a plain bool. Watch Mona disappear from the table after the 400 ms delay. Deleting id 1 again would print "Not found".</a:t>
            </a:r>
          </a:p>
          <a:p>
            <a:r>
              <a:rPr lang="en-US" dirty="0"/>
              <a:t>Ask: What does await repo.DeleteAsync(1) print if you run it twice?</a:t>
            </a:r>
          </a:p>
          <a:p>
            <a:r>
              <a:rPr lang="en-US" dirty="0"/>
              <a:t>Clicks: 1: the method · 2: the table · 3: the call: Mona is removed · 4: Task&lt;bool&gt; · 5: the output · 6: the rule.</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small program that uses the whole repository. Each line awaits the previous call, so the four calls take about 400 + 400 + 300 + 500 = 1.6 seconds in total. That is fine here: we want the final list AFTER the add and the delete, so the order matters. Notice how async code reads top to bottom, just like normal synchronous code, yet the thread is never blocked during the waits. Output: Ali and Sara remain, Mona was deleted.</a:t>
            </a:r>
          </a:p>
          <a:p>
            <a:r>
              <a:rPr lang="en-US" dirty="0"/>
              <a:t>Ask: Which of these four calls could safely run at the same time as another? (Careful: reading while deleting may give an old list.)</a:t>
            </a:r>
          </a:p>
          <a:p>
            <a:r>
              <a:rPr lang="en-US" dirty="0"/>
              <a:t>Clicks: 1: the program · 2: the timeline · 3: the output · 4: sequential on purpose · 5: the rule.</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DeleteAsync returns Task&lt;bool&gt;: a promise of a bool, not the bool itself. Without await the compiler refuses to assign it to a bool variable. await unwraps the Task and gives back the bool. This compile error is your friend: it reminds you that you forgot to await.</a:t>
            </a:r>
          </a:p>
          <a:p>
            <a:r>
              <a:rPr lang="en-US" dirty="0"/>
              <a:t>Ask: What happens?</a:t>
            </a:r>
          </a:p>
          <a:p>
            <a:r>
              <a:rPr lang="en-US" dirty="0"/>
              <a:t>Clicks: 1: the code and question · 2: the choices (pause and let students vote) · 3: the answer.</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endpoint returns the right data, so in a quick test nothing looks wrong. But .Result blocks the request thread for the whole 500 ms query. With many users, many pool threads sit blocked and the server runs into thread pool starvation. The fix is async all the way: async (EmployeeRepository repo) =&gt; Results.Ok(await repo.GetAllAsync()).</a:t>
            </a:r>
          </a:p>
          <a:p>
            <a:r>
              <a:rPr lang="en-US" dirty="0"/>
              <a:t>Ask: It works. What is the problem when many users call it?</a:t>
            </a:r>
          </a:p>
          <a:p>
            <a:r>
              <a:rPr lang="en-US" dirty="0"/>
              <a:t>Clicks: 1: the code and question · 2: the choices (pause and let students vote) · 3: the answer.</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Students add the U of CRUD themselves. The method must simulate the UPDATE with await Task.Delay(400), find the employee, return false when the id does not exist, and otherwise replace the employee with a copy that has the new salary, returning true. Reveal the hints one at a time only if students are stuck. Run the test: it must print True False.</a:t>
            </a:r>
          </a:p>
          <a:p>
            <a:r>
              <a:rPr lang="en-US" dirty="0"/>
              <a:t>Ask: Why can we not just write employee.Salary = newSalary?  (A positional record has init-only properties.)</a:t>
            </a:r>
          </a:p>
          <a:p>
            <a:r>
              <a:rPr lang="en-US" dirty="0"/>
              <a:t>Clicks: 1: the task · 2–4: one hint per click.</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First await the simulated UPDATE. Then FindIndex returns the position of the employee, or -1, so we return false when it is missing. Employee is a positional record, so its properties cannot be changed; the with expression creates a copy with only Salary changed, and we store that copy back in the list. Return true. Ali's salary changes from 12000 to 13500, and the test prints True False.</a:t>
            </a:r>
          </a:p>
          <a:p>
            <a:r>
              <a:rPr lang="en-US" dirty="0"/>
              <a:t>Ask: Where would the thread be during the 400 ms UPDATE?</a:t>
            </a:r>
          </a:p>
          <a:p>
            <a:r>
              <a:rPr lang="en-US" dirty="0"/>
              <a:t>Clicks: 1: the solution · 2: await the update · 3: not found · 4: replace with a changed copy · 5: the output · 6: the rule.</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user opens the page of a restaurant called Zooba. The backend needs three things: the restaurant info (name, location, status), the menu, and the customer reviews. Each comes from a different service and each takes time: 800 ms, 1200 ms and 1000 ms. Question: do we have to get the info first, then the menu, then the reviews? No: the three operations are independent of each other. Now look at the code. Each line awaits before the next one starts: we start GetInfoAsync and wait for it to finish; then we start GetMenuAsync and wait; then GetReviewsAsync and wait. The thread is not blocked during the waits, but the user still waits for all three in a row: about 3 seconds.</a:t>
            </a:r>
          </a:p>
          <a:p>
            <a:r>
              <a:rPr lang="en-US" dirty="0"/>
              <a:t>Ask: The calls are independent. How could we make the page load in about 1.2 seconds instead?</a:t>
            </a:r>
          </a:p>
          <a:p>
            <a:r>
              <a:rPr lang="en-US" dirty="0"/>
              <a:t>Clicks: 1: the three calls and their times · 2: the question · 3: no, they are independent · 4: the code · 5–7: one call at a time · 8: the total · 9: the rule.</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SwiftBite restaurant page needs details, menu and reviews from three services. Task.WhenAll gives one task that completes when all of them complete. The page takes as long as the slowest call.</a:t>
            </a:r>
          </a:p>
          <a:p>
            <a:r>
              <a:rPr lang="en-US" dirty="0"/>
              <a:t>Ask: If reviews took 3 s, how long would the page take?</a:t>
            </a:r>
          </a:p>
          <a:p>
            <a:r>
              <a:rPr lang="en-US" dirty="0"/>
              <a:t>Clicks: 1: start the three calls · 2: the services · 3: WhenAll: each call in parallel · 4: the output · 5: the rule.</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After the await, the three continuations can run at the same moment on different pool threads. List&lt;T&gt; is not thread-safe, so Add can lose items or throw. WhenAll, WhenAny, WhenEach and Parallel all run work concurrently. THE FIX: Let each task return its result and combine after WhenAll, or use a thread-safe type. Note for later: EF Core's DbContext is NOT thread-safe, so never run two queries on the same DbContext with WhenAll.</a:t>
            </a:r>
          </a:p>
          <a:p>
            <a:r>
              <a:rPr lang="en-US" dirty="0"/>
              <a:t>Ask: Which other objects that you'll meet later might not be thread-safe?</a:t>
            </a:r>
          </a:p>
          <a:p>
            <a:r>
              <a:rPr lang="en-US" dirty="0"/>
              <a:t>Clicks: 1: shared code · 2: the problem · 3: safe code · 4: the fix.</a:t>
            </a:r>
          </a:p>
        </p:txBody>
      </p:sp>
    </p:spTree>
    <p:extLst>
      <p:ext uri="{BB962C8B-B14F-4D97-AF65-F5344CB8AC3E}">
        <p14:creationId xmlns:p14="http://schemas.microsoft.com/office/powerpoint/2010/main" val="295792367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classic pattern: whichever finishes first decides. Users see the cached menu after 2 seconds instead of staring at a spinner for 5.</a:t>
            </a:r>
          </a:p>
          <a:p>
            <a:r>
              <a:rPr lang="en-US" dirty="0"/>
              <a:t>Ask: What prints here?</a:t>
            </a:r>
          </a:p>
          <a:p>
            <a:r>
              <a:rPr lang="en-US" dirty="0"/>
              <a:t>Clicks: 1: the code · 2: race a timer · 3: compare · 4: next.</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newest combinator: iterate over tasks as they complete. Less important than WhenAll, so it comes last.</a:t>
            </a:r>
          </a:p>
          <a:p>
            <a:r>
              <a:rPr lang="en-US" dirty="0"/>
              <a:t>Ask: In what order are the dishes printed?</a:t>
            </a:r>
          </a:p>
          <a:p>
            <a:r>
              <a:rPr lang="en-US" dirty="0"/>
              <a:t>Clicks: 1: the code · 2: completion order · 3: no waiting · 4: version.</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Pick the combinator by the question you are asking: do I need everything, the first one, or each one as soon as it's ready?</a:t>
            </a:r>
          </a:p>
          <a:p>
            <a:r>
              <a:rPr lang="en-US" dirty="0"/>
              <a:t>Ask: A dashboard shows 6 widgets that load independently. Which one would you use?</a:t>
            </a:r>
          </a:p>
          <a:p>
            <a:r>
              <a:rPr lang="en-US" dirty="0"/>
              <a:t>Clicks: 1–3: one combinator per click · 4: the rule.</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exception happens later, on another thread maybe, but await brings it back to your code at the await line.</a:t>
            </a:r>
          </a:p>
          <a:p>
            <a:r>
              <a:rPr lang="en-US" dirty="0"/>
              <a:t>Ask: Where is the exception between the throw and the catch?</a:t>
            </a:r>
          </a:p>
          <a:p>
            <a:r>
              <a:rPr lang="en-US" dirty="0"/>
              <a:t>Clicks: 1: the code · 2: stored · 3: rethrown · 4: try/catch.</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When several tasks fail, the combined task holds all the failures. await rethrows the first one. To see every failure, keep the tasks and inspect them after completion. AggregateException is only an overview: await hides it.</a:t>
            </a:r>
          </a:p>
          <a:p>
            <a:r>
              <a:rPr lang="en-US" dirty="0"/>
              <a:t>Ask: Did the SMS failure disappear?</a:t>
            </a:r>
          </a:p>
          <a:p>
            <a:r>
              <a:rPr lang="en-US" dirty="0"/>
              <a:t>Clicks: 1: the code · 2: what catch receives · 3: inspecting every task · 4: the rule.</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Ask running work to stop, politely.</a:t>
            </a:r>
          </a:p>
          <a:p>
            <a:r>
              <a:rPr lang="en-US" dirty="0"/>
              <a:t>Ask: What do you already know about cancellation?</a:t>
            </a:r>
          </a:p>
          <a:p>
            <a:r>
              <a:rPr lang="en-US" dirty="0"/>
              <a:t>Clicks: 1: the topics of this part.</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runtime never kills your method. The caller holds a CancellationTokenSource and hands a token to the work. Cancel() flips the token; the work checks it at safe points and stops itself.</a:t>
            </a:r>
          </a:p>
          <a:p>
            <a:r>
              <a:rPr lang="en-US" dirty="0"/>
              <a:t>Ask: Why is killing a method in the middle dangerous?</a:t>
            </a:r>
          </a:p>
          <a:p>
            <a:r>
              <a:rPr lang="en-US" dirty="0"/>
              <a:t>Clicks: 1: the caller owns the source · 2: the work receives the token · 3: Cancel() · 4: the work notices and stops · 5: the rule.</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Split of responsibilities: whoever owns the source decides; everyone with the token just listens.</a:t>
            </a:r>
          </a:p>
          <a:p>
            <a:r>
              <a:rPr lang="en-US" dirty="0"/>
              <a:t>Ask: Why can't the work cancel itself through the token?</a:t>
            </a:r>
          </a:p>
          <a:p>
            <a:r>
              <a:rPr lang="en-US" dirty="0"/>
              <a:t>Clicks: 1: the code · 2: source · 3: token · 4: using · 5: the rule.</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order method accepts a CancellationToken and passes it to Task.Delay (a real I/O method would accept it too). When the user cancels, the delay ends early and throws OperationCanceledException at the await.</a:t>
            </a:r>
          </a:p>
          <a:p>
            <a:r>
              <a:rPr lang="en-US" dirty="0"/>
              <a:t>Ask: What would happen if ProcessOrderAsync did not pass the token to Task.Delay?</a:t>
            </a:r>
          </a:p>
          <a:p>
            <a:r>
              <a:rPr lang="en-US" dirty="0"/>
              <a:t>Clicks: 1: the code · 2: the order starts · 3: the user cancels: the delay stops early · 4: the output · 5: the rule.</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CPU-bound code has no I/O to cancel, so it must look at the token itself. One line per iteration is enough.</a:t>
            </a:r>
          </a:p>
          <a:p>
            <a:r>
              <a:rPr lang="en-US" dirty="0"/>
              <a:t>Ask: Why check before adding the amount and not after?</a:t>
            </a:r>
          </a:p>
          <a:p>
            <a:r>
              <a:rPr lang="en-US" dirty="0"/>
              <a:t>Clicks: 1: the code · 2: your code must check · 3: safe points · 4: throws · 5: the rule.</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Compare with the WhenAny timeout from Part 6: there the slow task kept running; here it is actually canceled.</a:t>
            </a:r>
          </a:p>
          <a:p>
            <a:r>
              <a:rPr lang="en-US" dirty="0"/>
              <a:t>Ask: What prints here, and after how many seconds?</a:t>
            </a:r>
          </a:p>
          <a:p>
            <a:r>
              <a:rPr lang="en-US" dirty="0"/>
              <a:t>Clicks: 1: the code · 2: automatic cancel · 3: really stops · 4: same catch.</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canceled task ends in the Canceled state; an exception ends in Faulted. Treat them differently: a user who pressed Cancel is not an error to log at 3 a.m.</a:t>
            </a:r>
          </a:p>
          <a:p>
            <a:r>
              <a:rPr lang="en-US" dirty="0"/>
              <a:t>Ask: Should a canceled order show the user an error message?</a:t>
            </a:r>
          </a:p>
          <a:p>
            <a:r>
              <a:rPr lang="en-US" dirty="0"/>
              <a:t>Clicks: 1: the code · 2: the two states · 3: three different outcomes · 4: the rule.</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Publishing a restaurant video has four steps. The user taps Cancel during processing. Because the token flows through every step, processing stops and the thumbnail step never starts: no 10 minutes of wasted work.</a:t>
            </a:r>
          </a:p>
          <a:p>
            <a:r>
              <a:rPr lang="en-US" dirty="0"/>
              <a:t>Ask: Without the token, how much work would still run after Cancel?</a:t>
            </a:r>
          </a:p>
          <a:p>
            <a:r>
              <a:rPr lang="en-US" dirty="0"/>
              <a:t>Clicks: 1: the flow · 2: the step helper · 3: steps run · 4: cancel during processing · 5: the output.</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Cancellation is cooperative. ProcessAsync never checks the token or passes it on, so nothing stops: all five steps run.</a:t>
            </a:r>
          </a:p>
          <a:p>
            <a:r>
              <a:rPr lang="en-US" dirty="0"/>
              <a:t>Ask: The token is canceled after 1 second. What happens?</a:t>
            </a:r>
          </a:p>
          <a:p>
            <a:r>
              <a:rPr lang="en-US" dirty="0"/>
              <a:t>Clicks: 1: the question and code · 2: the choices (pause and let students vote) · 3: the answer.</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mistakes that turn async code into slow or crashing code.</a:t>
            </a:r>
          </a:p>
          <a:p>
            <a:r>
              <a:rPr lang="en-US" dirty="0"/>
              <a:t>Ask: What do you already know about async pitfalls &amp; good design?</a:t>
            </a:r>
          </a:p>
          <a:p>
            <a:r>
              <a:rPr lang="en-US" dirty="0"/>
              <a:t>Clicks: 1: the topics of this part.</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ValueTask&lt;T&gt; is a struct that can return a result synchronously without allocating a Task, useful when the result is usually already available (a cache). It has rules and extra complexity: Task stays the default; use ValueTask only when measurements show it helps.</a:t>
            </a:r>
          </a:p>
          <a:p>
            <a:r>
              <a:rPr lang="en-US" dirty="0"/>
              <a:t>Ask: Why not use ValueTask everywhere?</a:t>
            </a:r>
          </a:p>
          <a:p>
            <a:r>
              <a:rPr lang="en-US" dirty="0"/>
              <a:t>Clicks: 1: the code · 2: fast path vs slow path · 3: the rules · 4: the rule.</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Connect to delegates: what matters is the delegate type. Func&lt;..., Task&gt; can be awaited; Action&lt;...&gt; cannot, which leads to the next trap.</a:t>
            </a:r>
          </a:p>
          <a:p>
            <a:r>
              <a:rPr lang="en-US" dirty="0"/>
              <a:t>Ask: What type would make this lambda async void?</a:t>
            </a:r>
          </a:p>
          <a:p>
            <a:r>
              <a:rPr lang="en-US" dirty="0"/>
              <a:t>Clicks: 1: the code · 2: Func returns Task · 3: same as a method · 4: watch the type · 5: the rule.</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List&lt;T&gt;.ForEach takes an Action&lt;T&gt;, so the async lambda is async void. ForEach does not wait, 'All shipped' prints first, and exceptions are lost. THE FIX: Use a normal foreach with await (one by one), or start all the tasks and await Task.WhenAll (together).</a:t>
            </a:r>
          </a:p>
          <a:p>
            <a:r>
              <a:rPr lang="en-US" dirty="0"/>
              <a:t>Ask: In BEFORE, what does the console show?</a:t>
            </a:r>
          </a:p>
          <a:p>
            <a:r>
              <a:rPr lang="en-US" dirty="0"/>
              <a:t>Clicks: 1: before code · 2: the problem · 3: after code · 4: the fix.</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These conventions come from the Task-based Asynchronous Pattern used across .NET, so your methods feel familiar to every C# developer.</a:t>
            </a:r>
          </a:p>
          <a:p>
            <a:r>
              <a:rPr lang="en-US" dirty="0"/>
              <a:t>Ask: What is wrong with each Bad example?</a:t>
            </a:r>
          </a:p>
          <a:p>
            <a:r>
              <a:rPr lang="en-US" dirty="0"/>
              <a:t>Clicks: 1: the code · 2–5: one rule per click · 6: the rule.</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Async suffix, returns Task&lt;Order&gt; so callers can await it, and accepts a CancellationToken as the last parameter.</a:t>
            </a:r>
          </a:p>
          <a:p>
            <a:r>
              <a:rPr lang="en-US" dirty="0"/>
              <a:t>Ask: Which declaration follows good async design?</a:t>
            </a:r>
          </a:p>
          <a:p>
            <a:r>
              <a:rPr lang="en-US" dirty="0"/>
              <a:t>Clicks: 1: the question and code · 2: the choices (pause and let students vote) · 3: the answer.</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Parallel.For splits independent iterations across the available cores. For CPU-bound work like image processing it can be several times faster. The numbers depend on the machine.</a:t>
            </a:r>
          </a:p>
          <a:p>
            <a:r>
              <a:rPr lang="en-US" dirty="0"/>
              <a:t>Ask: What must be true about each iteration for Parallel.For to be safe?</a:t>
            </a:r>
          </a:p>
          <a:p>
            <a:r>
              <a:rPr lang="en-US" dirty="0"/>
              <a:t>Clicks: 1: the code · 2: a normal for: one core · 3: Parallel.For: all cores · 4: the output.</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Generating invoice PDFs is CPU work: a perfect fit. Downloading 1,000 files is not: those threads would just sit and wait.</a:t>
            </a:r>
          </a:p>
          <a:p>
            <a:r>
              <a:rPr lang="en-US" dirty="0"/>
              <a:t>Ask: Would Parallel.ForEach be a good way to send 1,000 SMS messages?</a:t>
            </a:r>
          </a:p>
          <a:p>
            <a:r>
              <a:rPr lang="en-US" dirty="0"/>
              <a:t>Clicks: 1: the code · 2: any collection · 3: order · 4: not for I/O.</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For I/O work, Parallel.ForEachAsync runs an async body for each item with a maximum number in flight. It is the built-in version of the SemaphoreSlim throttling pattern, and it passes a cancellation token to the body.</a:t>
            </a:r>
          </a:p>
          <a:p>
            <a:r>
              <a:rPr lang="en-US" dirty="0"/>
              <a:t>Ask: How long do 10 downloads take with MaxDegreeOfParallelism = 5 and 1 s each?</a:t>
            </a:r>
          </a:p>
          <a:p>
            <a:r>
              <a:rPr lang="en-US" dirty="0"/>
              <a:t>Clicks: 1: the code · 2: at most 5 at a time · 3: the second wave · 4: the rule.</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'do many things at once', but for opposite kinds of work. Parallel.For/ForEach is for CPU work: it keeps pool threads (and the calling thread) busy computing on every core, and it blocks the caller until all items finish. Task.WhenAll is for I/O work that has already started: nobody computes while waiting, so no thread is used during the wait, and you await it. Parallel.ForEachAsync sits between: async I/O bodies, with a limit on how many run at once.</a:t>
            </a:r>
          </a:p>
          <a:p>
            <a:r>
              <a:rPr lang="en-US" dirty="0"/>
              <a:t>Ask: Loading 3 web APIs with Parallel.For and .Result: what goes wrong?</a:t>
            </a:r>
          </a:p>
          <a:p>
            <a:r>
              <a:rPr lang="en-US" dirty="0"/>
              <a:t>Clicks: 1: the CPU example · 2: the I/O example · 3–7: compare row by row.</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Parallel is for CPU work. Here each thread just sits on .Result. Start the three calls and await Task.WhenAll instead.</a:t>
            </a:r>
          </a:p>
          <a:p>
            <a:r>
              <a:rPr lang="en-US" dirty="0"/>
              <a:t>Ask: What is wrong with this code?</a:t>
            </a:r>
          </a:p>
          <a:p>
            <a:r>
              <a:rPr lang="en-US" dirty="0"/>
              <a:t>Clicks: 1: the question and code · 2: the choices (pause and let students vote) · 3: the answer.</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 an 8-core machine, CPU-bound work gets faster up to about 8 workers. Beyond that, workers fight for cores: more context switching, more contention on shared data, more memory. The chart is illustrative.</a:t>
            </a:r>
          </a:p>
          <a:p>
            <a:r>
              <a:rPr lang="en-US" dirty="0"/>
              <a:t>Ask: Why would 64 threads be slower than 8 on an 8-core CPU?</a:t>
            </a:r>
          </a:p>
          <a:p>
            <a:r>
              <a:rPr lang="en-US" dirty="0"/>
              <a:t>Clicks: 1: the chart · 2: the sweet spot · 3: why it gets worse · 4: the rule.</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Almost every concurrency bug in this lecture needed three things together: data that is shared between threads, that can be changed, and that holds state. Remove any one of them and the problem disappears.</a:t>
            </a:r>
          </a:p>
          <a:p>
            <a:r>
              <a:rPr lang="en-US" dirty="0"/>
              <a:t>Ask: How could you make the menu prices safe without any lock?</a:t>
            </a:r>
          </a:p>
          <a:p>
            <a:r>
              <a:rPr lang="en-US" dirty="0"/>
              <a:t>Clicks: 1–3: the three ingredients · 4: removing one · 5: the rule.</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Thread-safe means the code stays correct when used from many threads at once. Locks are only one option, and often not the best one.</a:t>
            </a:r>
          </a:p>
          <a:p>
            <a:r>
              <a:rPr lang="en-US" dirty="0"/>
              <a:t>Ask: Which of these did we use in today's examples?</a:t>
            </a:r>
          </a:p>
          <a:p>
            <a:r>
              <a:rPr lang="en-US" dirty="0"/>
              <a:t>Clicks: 1–6: one technique per click · 7: the rule.</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Independent CPU-bound items: Parallel.ForEach spreads them across the cores using pool threads.</a:t>
            </a:r>
          </a:p>
          <a:p>
            <a:r>
              <a:rPr lang="en-US" dirty="0"/>
              <a:t>Ask: Resize 5,000 uploaded photos as fast as possible on an 8-core server. Which tool?</a:t>
            </a:r>
          </a:p>
          <a:p>
            <a:r>
              <a:rPr lang="en-US" dirty="0"/>
              <a:t>Clicks: 1: the question and code · 2: the choices (pause and let students vote) · 3: the answer.</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I/O-bound work with a limit: Parallel.ForEachAsync (or SemaphoreSlim.WaitAsync) keeps 10 calls in flight without blocking threads.</a:t>
            </a:r>
          </a:p>
          <a:p>
            <a:r>
              <a:rPr lang="en-US" dirty="0"/>
              <a:t>Ask: Call a partner API for 200 restaurants, but never more than 10 calls at once. Which tool?</a:t>
            </a:r>
          </a:p>
          <a:p>
            <a:r>
              <a:rPr lang="en-US" dirty="0"/>
              <a:t>Clicks: 1: the question and code · 2: the choices (pause and let students vote) · 3: the answer.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8"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9"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0"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ADVANCED 03</a:t>
            </a:r>
            <a:endParaRPr lang="en-US" sz="850" dirty="0"/>
          </a:p>
        </p:txBody>
      </p:sp>
      <p:sp>
        <p:nvSpPr>
          <p:cNvPr id="11"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2"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01</a:t>
            </a:r>
            <a:endParaRPr lang="en-US" sz="850" dirty="0"/>
          </a:p>
        </p:txBody>
      </p:sp>
      <p:pic>
        <p:nvPicPr>
          <p:cNvPr id="13" name="Logo_cover" descr="SIMULATION logo"/>
          <p:cNvPicPr>
            <a:picLocks noChangeAspect="1"/>
          </p:cNvPicPr>
          <p:nvPr/>
        </p:nvPicPr>
        <p:blipFill>
          <a:blip r:embed="rId3"/>
          <a:stretch>
            <a:fillRect/>
          </a:stretch>
        </p:blipFill>
        <p:spPr>
          <a:xfrm>
            <a:off x="638251" y="495330"/>
            <a:ext cx="657225" cy="495330"/>
          </a:xfrm>
          <a:prstGeom prst="rect">
            <a:avLst/>
          </a:prstGeom>
        </p:spPr>
      </p:pic>
      <p:sp>
        <p:nvSpPr>
          <p:cNvPr id="14" name="Brand_name"/>
          <p:cNvSpPr txBox="1"/>
          <p:nvPr/>
        </p:nvSpPr>
        <p:spPr>
          <a:xfrm>
            <a:off x="1409730" y="523860"/>
            <a:ext cx="4572000" cy="3429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800" b="1" dirty="0">
                <a:solidFill>
                  <a:srgbClr val="FFFFFF"/>
                </a:solidFill>
                <a:latin typeface="Segoe UI"/>
                <a:ea typeface="Segoe UI"/>
                <a:cs typeface="Segoe UI"/>
              </a:rPr>
              <a:t>SIMULATION</a:t>
            </a:r>
            <a:endParaRPr lang="en-US" sz="1800" dirty="0"/>
          </a:p>
        </p:txBody>
      </p:sp>
      <p:sp>
        <p:nvSpPr>
          <p:cNvPr id="15" name="Brand_sub"/>
          <p:cNvSpPr txBox="1"/>
          <p:nvPr/>
        </p:nvSpPr>
        <p:spPr>
          <a:xfrm>
            <a:off x="1409730" y="866760"/>
            <a:ext cx="4572000" cy="2476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Software House &amp; Academy</a:t>
            </a:r>
            <a:endParaRPr lang="en-US" sz="1050" dirty="0"/>
          </a:p>
        </p:txBody>
      </p:sp>
      <p:sp>
        <p:nvSpPr>
          <p:cNvPr id="16" name="Tag_pill"/>
          <p:cNvSpPr/>
          <p:nvPr/>
        </p:nvSpPr>
        <p:spPr>
          <a:xfrm>
            <a:off x="9325051" y="523860"/>
            <a:ext cx="2009851" cy="285750"/>
          </a:xfrm>
          <a:prstGeom prst="roundRect">
            <a:avLst>
              <a:gd name="adj" fmla="val 23333"/>
            </a:avLst>
          </a:prstGeom>
          <a:solidFill>
            <a:srgbClr val="005EB5">
              <a:alpha val="18000"/>
            </a:srgbClr>
          </a:solidFill>
          <a:ln w="12700">
            <a:solidFill>
              <a:srgbClr val="005EB5"/>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D6E3FF"/>
                </a:solidFill>
                <a:latin typeface="Segoe UI"/>
                <a:ea typeface="Segoe UI"/>
                <a:cs typeface="Segoe UI"/>
              </a:rPr>
              <a:t>ADVANCED C#</a:t>
            </a:r>
            <a:endParaRPr lang="en-US" sz="1000" dirty="0"/>
          </a:p>
        </p:txBody>
      </p:sp>
      <p:sp>
        <p:nvSpPr>
          <p:cNvPr id="17" name="Cover_kicker"/>
          <p:cNvSpPr txBox="1"/>
          <p:nvPr/>
        </p:nvSpPr>
        <p:spPr>
          <a:xfrm>
            <a:off x="638251" y="1783080"/>
            <a:ext cx="640080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50" b="1" dirty="0">
                <a:solidFill>
                  <a:srgbClr val="13D0F7"/>
                </a:solidFill>
                <a:latin typeface="Segoe UI"/>
                <a:ea typeface="Segoe UI"/>
                <a:cs typeface="Segoe UI"/>
              </a:rPr>
              <a:t>ADVANCED C#  ·  LECTURE 03</a:t>
            </a:r>
            <a:endParaRPr lang="en-US" sz="1250" dirty="0"/>
          </a:p>
        </p:txBody>
      </p:sp>
      <p:sp>
        <p:nvSpPr>
          <p:cNvPr id="18" name="Title"/>
          <p:cNvSpPr txBox="1"/>
          <p:nvPr/>
        </p:nvSpPr>
        <p:spPr>
          <a:xfrm>
            <a:off x="590702" y="2057400"/>
            <a:ext cx="6766560" cy="123444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3700" b="1" dirty="0">
                <a:solidFill>
                  <a:srgbClr val="FFFFFF"/>
                </a:solidFill>
                <a:latin typeface="Segoe UI"/>
                <a:ea typeface="Segoe UI"/>
                <a:cs typeface="Segoe UI"/>
              </a:rPr>
              <a:t>Threads, Tasks &amp; Async</a:t>
            </a:r>
            <a:endParaRPr lang="en-US" sz="3700" dirty="0"/>
          </a:p>
          <a:p>
            <a:pPr marL="0" indent="0" algn="l">
              <a:spcBef>
                <a:spcPts val="0"/>
              </a:spcBef>
              <a:spcAft>
                <a:spcPts val="0"/>
              </a:spcAft>
              <a:buNone/>
            </a:pPr>
            <a:r>
              <a:rPr lang="en-US" sz="3000" b="1" dirty="0">
                <a:solidFill>
                  <a:srgbClr val="13D0F7"/>
                </a:solidFill>
                <a:latin typeface="Segoe UI"/>
                <a:ea typeface="Segoe UI"/>
                <a:cs typeface="Segoe UI"/>
              </a:rPr>
              <a:t>Files, Streams &amp; Testing</a:t>
            </a:r>
            <a:endParaRPr lang="en-US" sz="3000" dirty="0"/>
          </a:p>
        </p:txBody>
      </p:sp>
      <p:sp>
        <p:nvSpPr>
          <p:cNvPr id="19" name="Cover_sub"/>
          <p:cNvSpPr txBox="1"/>
          <p:nvPr/>
        </p:nvSpPr>
        <p:spPr>
          <a:xfrm>
            <a:off x="638251" y="3429000"/>
            <a:ext cx="6583680" cy="7315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000" b="0" dirty="0">
                <a:solidFill>
                  <a:srgbClr val="CBD5E1"/>
                </a:solidFill>
                <a:latin typeface="Segoe UI"/>
                <a:ea typeface="Segoe UI"/>
                <a:cs typeface="Segoe UI"/>
              </a:rPr>
              <a:t>Do many things at once, safely, and prove your code works</a:t>
            </a:r>
            <a:endParaRPr lang="en-US" sz="2000" dirty="0"/>
          </a:p>
        </p:txBody>
      </p:sp>
      <p:sp>
        <p:nvSpPr>
          <p:cNvPr id="20" name="Cover_topics"/>
          <p:cNvSpPr txBox="1"/>
          <p:nvPr/>
        </p:nvSpPr>
        <p:spPr>
          <a:xfrm>
            <a:off x="638251" y="4343400"/>
            <a:ext cx="6583680" cy="8229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0" dirty="0">
                <a:solidFill>
                  <a:srgbClr val="94A3B8"/>
                </a:solidFill>
                <a:latin typeface="Segoe UI"/>
                <a:ea typeface="Segoe UI"/>
                <a:cs typeface="Segoe UI"/>
              </a:rPr>
              <a:t>Processes &amp; threads · Race conditions · lock · SemaphoreSlim · Deadlock · ThreadPool · Task · async / await · WhenAll · Cancellation · Concurrent collections · Parallel · Streams · IDisposable · xUnit · Test doubles · TDD</a:t>
            </a:r>
            <a:endParaRPr lang="en-US" sz="1300" dirty="0"/>
          </a:p>
        </p:txBody>
      </p:sp>
      <p:sp>
        <p:nvSpPr>
          <p:cNvPr id="21" name="cw_win"/>
          <p:cNvSpPr/>
          <p:nvPr/>
        </p:nvSpPr>
        <p:spPr>
          <a:xfrm>
            <a:off x="7543800" y="1828800"/>
            <a:ext cx="4087368" cy="2023872"/>
          </a:xfrm>
          <a:prstGeom prst="roundRect">
            <a:avLst>
              <a:gd name="adj" fmla="val 3388"/>
            </a:avLst>
          </a:prstGeom>
          <a:solidFill>
            <a:srgbClr val="060D18"/>
          </a:solidFill>
          <a:ln w="12700">
            <a:solidFill>
              <a:srgbClr val="1E3A5F"/>
            </a:solidFill>
            <a:prstDash val="solid"/>
          </a:ln>
        </p:spPr>
        <p:txBody>
          <a:bodyPr/>
          <a:lstStyle/>
          <a:p>
            <a:endParaRPr lang="en-US"/>
          </a:p>
        </p:txBody>
      </p:sp>
      <p:sp>
        <p:nvSpPr>
          <p:cNvPr id="22" name="cw_bar"/>
          <p:cNvSpPr/>
          <p:nvPr/>
        </p:nvSpPr>
        <p:spPr>
          <a:xfrm>
            <a:off x="7543800" y="1828800"/>
            <a:ext cx="4087368"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3" name="cw_barfill"/>
          <p:cNvSpPr/>
          <p:nvPr/>
        </p:nvSpPr>
        <p:spPr>
          <a:xfrm>
            <a:off x="7543800" y="2000250"/>
            <a:ext cx="4087368" cy="171450"/>
          </a:xfrm>
          <a:prstGeom prst="rect">
            <a:avLst/>
          </a:prstGeom>
          <a:solidFill>
            <a:srgbClr val="0A1220"/>
          </a:solidFill>
          <a:ln w="12700">
            <a:solidFill>
              <a:srgbClr val="0A1220"/>
            </a:solidFill>
            <a:prstDash val="solid"/>
          </a:ln>
        </p:spPr>
        <p:txBody>
          <a:bodyPr/>
          <a:lstStyle/>
          <a:p>
            <a:endParaRPr lang="en-US"/>
          </a:p>
        </p:txBody>
      </p:sp>
      <p:sp>
        <p:nvSpPr>
          <p:cNvPr id="24" name="cw_dot0"/>
          <p:cNvSpPr/>
          <p:nvPr/>
        </p:nvSpPr>
        <p:spPr>
          <a:xfrm>
            <a:off x="7705649" y="1952610"/>
            <a:ext cx="95098" cy="95098"/>
          </a:xfrm>
          <a:prstGeom prst="ellipse">
            <a:avLst/>
          </a:prstGeom>
          <a:solidFill>
            <a:srgbClr val="F87171"/>
          </a:solidFill>
          <a:ln w="12700">
            <a:solidFill>
              <a:srgbClr val="F87171"/>
            </a:solidFill>
            <a:prstDash val="solid"/>
          </a:ln>
        </p:spPr>
        <p:txBody>
          <a:bodyPr/>
          <a:lstStyle/>
          <a:p>
            <a:endParaRPr lang="en-US"/>
          </a:p>
        </p:txBody>
      </p:sp>
      <p:sp>
        <p:nvSpPr>
          <p:cNvPr id="25" name="cw_dot1"/>
          <p:cNvSpPr/>
          <p:nvPr/>
        </p:nvSpPr>
        <p:spPr>
          <a:xfrm>
            <a:off x="7891272" y="1952610"/>
            <a:ext cx="95098" cy="95098"/>
          </a:xfrm>
          <a:prstGeom prst="ellipse">
            <a:avLst/>
          </a:prstGeom>
          <a:solidFill>
            <a:srgbClr val="FBBF24"/>
          </a:solidFill>
          <a:ln w="12700">
            <a:solidFill>
              <a:srgbClr val="FBBF24"/>
            </a:solidFill>
            <a:prstDash val="solid"/>
          </a:ln>
        </p:spPr>
        <p:txBody>
          <a:bodyPr/>
          <a:lstStyle/>
          <a:p>
            <a:endParaRPr lang="en-US"/>
          </a:p>
        </p:txBody>
      </p:sp>
      <p:sp>
        <p:nvSpPr>
          <p:cNvPr id="26" name="cw_dot2"/>
          <p:cNvSpPr/>
          <p:nvPr/>
        </p:nvSpPr>
        <p:spPr>
          <a:xfrm>
            <a:off x="8076895" y="1952610"/>
            <a:ext cx="95098" cy="95098"/>
          </a:xfrm>
          <a:prstGeom prst="ellipse">
            <a:avLst/>
          </a:prstGeom>
          <a:solidFill>
            <a:srgbClr val="34D399"/>
          </a:solidFill>
          <a:ln w="12700">
            <a:solidFill>
              <a:srgbClr val="34D399"/>
            </a:solidFill>
            <a:prstDash val="solid"/>
          </a:ln>
        </p:spPr>
        <p:txBody>
          <a:bodyPr/>
          <a:lstStyle/>
          <a:p>
            <a:endParaRPr lang="en-US"/>
          </a:p>
        </p:txBody>
      </p:sp>
      <p:sp>
        <p:nvSpPr>
          <p:cNvPr id="27" name="cw_tab"/>
          <p:cNvSpPr/>
          <p:nvPr/>
        </p:nvSpPr>
        <p:spPr>
          <a:xfrm>
            <a:off x="8324698" y="1876349"/>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8" name="cw_L00"/>
          <p:cNvSpPr txBox="1"/>
          <p:nvPr/>
        </p:nvSpPr>
        <p:spPr>
          <a:xfrm>
            <a:off x="7772400" y="230428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Task&lt;Menu&gt; menu = GetMenuAsync();</a:t>
            </a:r>
            <a:endParaRPr lang="en-US" sz="1150" dirty="0"/>
          </a:p>
        </p:txBody>
      </p:sp>
      <p:sp>
        <p:nvSpPr>
          <p:cNvPr id="29" name="cw_L01"/>
          <p:cNvSpPr txBox="1"/>
          <p:nvPr/>
        </p:nvSpPr>
        <p:spPr>
          <a:xfrm>
            <a:off x="7772400" y="253796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Task&lt;Reviews&gt; reviews = GetReviewsAsync();</a:t>
            </a:r>
            <a:endParaRPr lang="en-US" sz="1150" dirty="0"/>
          </a:p>
        </p:txBody>
      </p:sp>
      <p:sp>
        <p:nvSpPr>
          <p:cNvPr id="30" name="cw_hl03"/>
          <p:cNvSpPr/>
          <p:nvPr/>
        </p:nvSpPr>
        <p:spPr>
          <a:xfrm>
            <a:off x="7677302" y="2987040"/>
            <a:ext cx="3820363" cy="270256"/>
          </a:xfrm>
          <a:prstGeom prst="rect">
            <a:avLst/>
          </a:prstGeom>
          <a:solidFill>
            <a:srgbClr val="005EB5">
              <a:alpha val="25000"/>
            </a:srgbClr>
          </a:solidFill>
          <a:ln w="12700">
            <a:solidFill>
              <a:srgbClr val="13D0F7"/>
            </a:solidFill>
            <a:prstDash val="solid"/>
          </a:ln>
        </p:spPr>
        <p:txBody>
          <a:bodyPr/>
          <a:lstStyle/>
          <a:p>
            <a:endParaRPr lang="en-US"/>
          </a:p>
        </p:txBody>
      </p:sp>
      <p:sp>
        <p:nvSpPr>
          <p:cNvPr id="31" name="cw_L03"/>
          <p:cNvSpPr txBox="1"/>
          <p:nvPr/>
        </p:nvSpPr>
        <p:spPr>
          <a:xfrm>
            <a:off x="7772400" y="300532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Task.WhenAll(menu, reviews);</a:t>
            </a:r>
            <a:endParaRPr lang="en-US" sz="1150" dirty="0"/>
          </a:p>
        </p:txBody>
      </p:sp>
      <p:sp>
        <p:nvSpPr>
          <p:cNvPr id="32" name="cw_L05"/>
          <p:cNvSpPr txBox="1"/>
          <p:nvPr/>
        </p:nvSpPr>
        <p:spPr>
          <a:xfrm>
            <a:off x="7772400" y="347268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Show(</a:t>
            </a: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menu, </a:t>
            </a: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reviews);</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ROADMAP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From One Thread to Many, Safely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ADVANCED 03</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02</a:t>
            </a:r>
            <a:endParaRPr lang="en-US" sz="850" dirty="0"/>
          </a:p>
        </p:txBody>
      </p:sp>
      <p:sp>
        <p:nvSpPr>
          <p:cNvPr id="15" name="road"/>
          <p:cNvSpPr/>
          <p:nvPr/>
        </p:nvSpPr>
        <p:spPr>
          <a:xfrm>
            <a:off x="543154" y="1572768"/>
            <a:ext cx="2497455" cy="548640"/>
          </a:xfrm>
          <a:prstGeom prst="roundRect">
            <a:avLst>
              <a:gd name="adj" fmla="val 12500"/>
            </a:avLst>
          </a:prstGeom>
          <a:solidFill>
            <a:srgbClr val="111B2E"/>
          </a:solidFill>
          <a:ln w="12700">
            <a:solidFill>
              <a:srgbClr val="13D0F7"/>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13D0F7"/>
                </a:solidFill>
                <a:latin typeface="Consolas"/>
                <a:ea typeface="Consolas"/>
                <a:cs typeface="Consolas"/>
              </a:rPr>
              <a:t>01  </a:t>
            </a:r>
            <a:r>
              <a:rPr lang="en-US" sz="1250" b="1" dirty="0">
                <a:solidFill>
                  <a:srgbClr val="FFFFFF"/>
                </a:solidFill>
                <a:latin typeface="Segoe UI"/>
                <a:ea typeface="Segoe UI"/>
                <a:cs typeface="Segoe UI"/>
              </a:rPr>
              <a:t>Processes &amp; cores</a:t>
            </a:r>
            <a:endParaRPr lang="en-US" sz="1250" dirty="0"/>
          </a:p>
        </p:txBody>
      </p:sp>
      <p:cxnSp>
        <p:nvCxnSpPr>
          <p:cNvPr id="16" name="arrow"/>
          <p:cNvCxnSpPr/>
          <p:nvPr/>
        </p:nvCxnSpPr>
        <p:spPr>
          <a:xfrm>
            <a:off x="3086329" y="1847088"/>
            <a:ext cx="274320" cy="0"/>
          </a:xfrm>
          <a:prstGeom prst="line">
            <a:avLst/>
          </a:prstGeom>
          <a:ln w="28575">
            <a:solidFill>
              <a:srgbClr val="13D0F7"/>
            </a:solidFill>
            <a:tailEnd type="triangle" w="med" len="med"/>
          </a:ln>
        </p:spPr>
      </p:cxnSp>
      <p:sp>
        <p:nvSpPr>
          <p:cNvPr id="17" name="road"/>
          <p:cNvSpPr/>
          <p:nvPr/>
        </p:nvSpPr>
        <p:spPr>
          <a:xfrm>
            <a:off x="3406369" y="1572768"/>
            <a:ext cx="2497455" cy="548640"/>
          </a:xfrm>
          <a:prstGeom prst="roundRect">
            <a:avLst>
              <a:gd name="adj" fmla="val 12500"/>
            </a:avLst>
          </a:prstGeom>
          <a:solidFill>
            <a:srgbClr val="111B2E"/>
          </a:solidFill>
          <a:ln w="12700">
            <a:solidFill>
              <a:srgbClr val="13D0F7"/>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13D0F7"/>
                </a:solidFill>
                <a:latin typeface="Consolas"/>
                <a:ea typeface="Consolas"/>
                <a:cs typeface="Consolas"/>
              </a:rPr>
              <a:t>02  </a:t>
            </a:r>
            <a:r>
              <a:rPr lang="en-US" sz="1250" b="1" dirty="0">
                <a:solidFill>
                  <a:srgbClr val="FFFFFF"/>
                </a:solidFill>
                <a:latin typeface="Segoe UI"/>
                <a:ea typeface="Segoe UI"/>
                <a:cs typeface="Segoe UI"/>
              </a:rPr>
              <a:t>Threads</a:t>
            </a:r>
            <a:endParaRPr lang="en-US" sz="1250" dirty="0"/>
          </a:p>
        </p:txBody>
      </p:sp>
      <p:cxnSp>
        <p:nvCxnSpPr>
          <p:cNvPr id="18" name="arrow"/>
          <p:cNvCxnSpPr/>
          <p:nvPr/>
        </p:nvCxnSpPr>
        <p:spPr>
          <a:xfrm>
            <a:off x="5949544" y="1847088"/>
            <a:ext cx="274320" cy="0"/>
          </a:xfrm>
          <a:prstGeom prst="line">
            <a:avLst/>
          </a:prstGeom>
          <a:ln w="28575">
            <a:solidFill>
              <a:srgbClr val="13D0F7"/>
            </a:solidFill>
            <a:tailEnd type="triangle" w="med" len="med"/>
          </a:ln>
        </p:spPr>
      </p:cxnSp>
      <p:sp>
        <p:nvSpPr>
          <p:cNvPr id="19" name="road"/>
          <p:cNvSpPr/>
          <p:nvPr/>
        </p:nvSpPr>
        <p:spPr>
          <a:xfrm>
            <a:off x="6269584" y="1572768"/>
            <a:ext cx="2497455" cy="548640"/>
          </a:xfrm>
          <a:prstGeom prst="roundRect">
            <a:avLst>
              <a:gd name="adj" fmla="val 12500"/>
            </a:avLst>
          </a:prstGeom>
          <a:solidFill>
            <a:srgbClr val="111B2E"/>
          </a:solidFill>
          <a:ln w="12700">
            <a:solidFill>
              <a:srgbClr val="13D0F7"/>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13D0F7"/>
                </a:solidFill>
                <a:latin typeface="Consolas"/>
                <a:ea typeface="Consolas"/>
                <a:cs typeface="Consolas"/>
              </a:rPr>
              <a:t>03  </a:t>
            </a:r>
            <a:r>
              <a:rPr lang="en-US" sz="1250" b="1" dirty="0">
                <a:solidFill>
                  <a:srgbClr val="FFFFFF"/>
                </a:solidFill>
                <a:latin typeface="Segoe UI"/>
                <a:ea typeface="Segoe UI"/>
                <a:cs typeface="Segoe UI"/>
              </a:rPr>
              <a:t>Race conditions &amp; lock</a:t>
            </a:r>
            <a:endParaRPr lang="en-US" sz="1250" dirty="0"/>
          </a:p>
        </p:txBody>
      </p:sp>
      <p:cxnSp>
        <p:nvCxnSpPr>
          <p:cNvPr id="20" name="arrow"/>
          <p:cNvCxnSpPr/>
          <p:nvPr/>
        </p:nvCxnSpPr>
        <p:spPr>
          <a:xfrm>
            <a:off x="8812759" y="1847088"/>
            <a:ext cx="274320" cy="0"/>
          </a:xfrm>
          <a:prstGeom prst="line">
            <a:avLst/>
          </a:prstGeom>
          <a:ln w="28575">
            <a:solidFill>
              <a:srgbClr val="13D0F7"/>
            </a:solidFill>
            <a:tailEnd type="triangle" w="med" len="med"/>
          </a:ln>
        </p:spPr>
      </p:cxnSp>
      <p:sp>
        <p:nvSpPr>
          <p:cNvPr id="21" name="road"/>
          <p:cNvSpPr/>
          <p:nvPr/>
        </p:nvSpPr>
        <p:spPr>
          <a:xfrm>
            <a:off x="9132799" y="1572768"/>
            <a:ext cx="2497455" cy="548640"/>
          </a:xfrm>
          <a:prstGeom prst="roundRect">
            <a:avLst>
              <a:gd name="adj" fmla="val 12500"/>
            </a:avLst>
          </a:prstGeom>
          <a:solidFill>
            <a:srgbClr val="111B2E"/>
          </a:solidFill>
          <a:ln w="12700">
            <a:solidFill>
              <a:srgbClr val="13D0F7"/>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13D0F7"/>
                </a:solidFill>
                <a:latin typeface="Consolas"/>
                <a:ea typeface="Consolas"/>
                <a:cs typeface="Consolas"/>
              </a:rPr>
              <a:t>04  </a:t>
            </a:r>
            <a:r>
              <a:rPr lang="en-US" sz="1250" b="1" dirty="0">
                <a:solidFill>
                  <a:srgbClr val="FFFFFF"/>
                </a:solidFill>
                <a:latin typeface="Segoe UI"/>
                <a:ea typeface="Segoe UI"/>
                <a:cs typeface="Segoe UI"/>
              </a:rPr>
              <a:t>Semaphore &amp; deadlock</a:t>
            </a:r>
            <a:endParaRPr lang="en-US" sz="1250" dirty="0"/>
          </a:p>
        </p:txBody>
      </p:sp>
      <p:sp>
        <p:nvSpPr>
          <p:cNvPr id="22" name="road"/>
          <p:cNvSpPr/>
          <p:nvPr/>
        </p:nvSpPr>
        <p:spPr>
          <a:xfrm>
            <a:off x="543154" y="2359152"/>
            <a:ext cx="2497455" cy="548640"/>
          </a:xfrm>
          <a:prstGeom prst="roundRect">
            <a:avLst>
              <a:gd name="adj" fmla="val 12500"/>
            </a:avLst>
          </a:prstGeom>
          <a:solidFill>
            <a:srgbClr val="111B2E"/>
          </a:solidFill>
          <a:ln w="12700">
            <a:solidFill>
              <a:srgbClr val="A78BFA"/>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A78BFA"/>
                </a:solidFill>
                <a:latin typeface="Consolas"/>
                <a:ea typeface="Consolas"/>
                <a:cs typeface="Consolas"/>
              </a:rPr>
              <a:t>05  </a:t>
            </a:r>
            <a:r>
              <a:rPr lang="en-US" sz="1250" b="1" dirty="0">
                <a:solidFill>
                  <a:srgbClr val="FFFFFF"/>
                </a:solidFill>
                <a:latin typeface="Segoe UI"/>
                <a:ea typeface="Segoe UI"/>
                <a:cs typeface="Segoe UI"/>
              </a:rPr>
              <a:t>ThreadPool</a:t>
            </a:r>
            <a:endParaRPr lang="en-US" sz="1250" dirty="0"/>
          </a:p>
        </p:txBody>
      </p:sp>
      <p:cxnSp>
        <p:nvCxnSpPr>
          <p:cNvPr id="23" name="arrow"/>
          <p:cNvCxnSpPr/>
          <p:nvPr/>
        </p:nvCxnSpPr>
        <p:spPr>
          <a:xfrm>
            <a:off x="3086329" y="2633472"/>
            <a:ext cx="274320" cy="0"/>
          </a:xfrm>
          <a:prstGeom prst="line">
            <a:avLst/>
          </a:prstGeom>
          <a:ln w="28575">
            <a:solidFill>
              <a:srgbClr val="A78BFA"/>
            </a:solidFill>
            <a:tailEnd type="triangle" w="med" len="med"/>
          </a:ln>
        </p:spPr>
      </p:cxnSp>
      <p:sp>
        <p:nvSpPr>
          <p:cNvPr id="24" name="road"/>
          <p:cNvSpPr/>
          <p:nvPr/>
        </p:nvSpPr>
        <p:spPr>
          <a:xfrm>
            <a:off x="3406369" y="2359152"/>
            <a:ext cx="2497455" cy="548640"/>
          </a:xfrm>
          <a:prstGeom prst="roundRect">
            <a:avLst>
              <a:gd name="adj" fmla="val 12500"/>
            </a:avLst>
          </a:prstGeom>
          <a:solidFill>
            <a:srgbClr val="111B2E"/>
          </a:solidFill>
          <a:ln w="12700">
            <a:solidFill>
              <a:srgbClr val="A78BFA"/>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A78BFA"/>
                </a:solidFill>
                <a:latin typeface="Consolas"/>
                <a:ea typeface="Consolas"/>
                <a:cs typeface="Consolas"/>
              </a:rPr>
              <a:t>06  </a:t>
            </a:r>
            <a:r>
              <a:rPr lang="en-US" sz="1250" b="1" dirty="0">
                <a:solidFill>
                  <a:srgbClr val="FFFFFF"/>
                </a:solidFill>
                <a:latin typeface="Segoe UI"/>
                <a:ea typeface="Segoe UI"/>
                <a:cs typeface="Segoe UI"/>
              </a:rPr>
              <a:t>Task</a:t>
            </a:r>
            <a:endParaRPr lang="en-US" sz="1250" dirty="0"/>
          </a:p>
        </p:txBody>
      </p:sp>
      <p:cxnSp>
        <p:nvCxnSpPr>
          <p:cNvPr id="25" name="arrow"/>
          <p:cNvCxnSpPr/>
          <p:nvPr/>
        </p:nvCxnSpPr>
        <p:spPr>
          <a:xfrm>
            <a:off x="5949544" y="2633472"/>
            <a:ext cx="274320" cy="0"/>
          </a:xfrm>
          <a:prstGeom prst="line">
            <a:avLst/>
          </a:prstGeom>
          <a:ln w="28575">
            <a:solidFill>
              <a:srgbClr val="A78BFA"/>
            </a:solidFill>
            <a:tailEnd type="triangle" w="med" len="med"/>
          </a:ln>
        </p:spPr>
      </p:cxnSp>
      <p:sp>
        <p:nvSpPr>
          <p:cNvPr id="26" name="road"/>
          <p:cNvSpPr/>
          <p:nvPr/>
        </p:nvSpPr>
        <p:spPr>
          <a:xfrm>
            <a:off x="6269584" y="2359152"/>
            <a:ext cx="2497455" cy="548640"/>
          </a:xfrm>
          <a:prstGeom prst="roundRect">
            <a:avLst>
              <a:gd name="adj" fmla="val 12500"/>
            </a:avLst>
          </a:prstGeom>
          <a:solidFill>
            <a:srgbClr val="111B2E"/>
          </a:solidFill>
          <a:ln w="12700">
            <a:solidFill>
              <a:srgbClr val="A78BFA"/>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A78BFA"/>
                </a:solidFill>
                <a:latin typeface="Consolas"/>
                <a:ea typeface="Consolas"/>
                <a:cs typeface="Consolas"/>
              </a:rPr>
              <a:t>07  </a:t>
            </a:r>
            <a:r>
              <a:rPr lang="en-US" sz="1250" b="1" dirty="0">
                <a:solidFill>
                  <a:srgbClr val="FFFFFF"/>
                </a:solidFill>
                <a:latin typeface="Segoe UI"/>
                <a:ea typeface="Segoe UI"/>
                <a:cs typeface="Segoe UI"/>
              </a:rPr>
              <a:t>async / await</a:t>
            </a:r>
            <a:endParaRPr lang="en-US" sz="1250" dirty="0"/>
          </a:p>
        </p:txBody>
      </p:sp>
      <p:cxnSp>
        <p:nvCxnSpPr>
          <p:cNvPr id="27" name="arrow"/>
          <p:cNvCxnSpPr/>
          <p:nvPr/>
        </p:nvCxnSpPr>
        <p:spPr>
          <a:xfrm>
            <a:off x="8812759" y="2633472"/>
            <a:ext cx="274320" cy="0"/>
          </a:xfrm>
          <a:prstGeom prst="line">
            <a:avLst/>
          </a:prstGeom>
          <a:ln w="28575">
            <a:solidFill>
              <a:srgbClr val="A78BFA"/>
            </a:solidFill>
            <a:tailEnd type="triangle" w="med" len="med"/>
          </a:ln>
        </p:spPr>
      </p:cxnSp>
      <p:sp>
        <p:nvSpPr>
          <p:cNvPr id="28" name="road"/>
          <p:cNvSpPr/>
          <p:nvPr/>
        </p:nvSpPr>
        <p:spPr>
          <a:xfrm>
            <a:off x="9132799" y="2359152"/>
            <a:ext cx="2497455" cy="548640"/>
          </a:xfrm>
          <a:prstGeom prst="roundRect">
            <a:avLst>
              <a:gd name="adj" fmla="val 12500"/>
            </a:avLst>
          </a:prstGeom>
          <a:solidFill>
            <a:srgbClr val="111B2E"/>
          </a:solidFill>
          <a:ln w="12700">
            <a:solidFill>
              <a:srgbClr val="A78BFA"/>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A78BFA"/>
                </a:solidFill>
                <a:latin typeface="Consolas"/>
                <a:ea typeface="Consolas"/>
                <a:cs typeface="Consolas"/>
              </a:rPr>
              <a:t>08  </a:t>
            </a:r>
            <a:r>
              <a:rPr lang="en-US" sz="1250" b="1" dirty="0">
                <a:solidFill>
                  <a:srgbClr val="FFFFFF"/>
                </a:solidFill>
                <a:latin typeface="Segoe UI"/>
                <a:ea typeface="Segoe UI"/>
                <a:cs typeface="Segoe UI"/>
              </a:rPr>
              <a:t>WhenAll / WhenAny</a:t>
            </a:r>
            <a:endParaRPr lang="en-US" sz="1250" dirty="0"/>
          </a:p>
        </p:txBody>
      </p:sp>
      <p:sp>
        <p:nvSpPr>
          <p:cNvPr id="29" name="road"/>
          <p:cNvSpPr/>
          <p:nvPr/>
        </p:nvSpPr>
        <p:spPr>
          <a:xfrm>
            <a:off x="543154" y="3145536"/>
            <a:ext cx="2497455" cy="548640"/>
          </a:xfrm>
          <a:prstGeom prst="roundRect">
            <a:avLst>
              <a:gd name="adj" fmla="val 12500"/>
            </a:avLst>
          </a:prstGeom>
          <a:solidFill>
            <a:srgbClr val="111B2E"/>
          </a:solidFill>
          <a:ln w="12700">
            <a:solidFill>
              <a:srgbClr val="34D399"/>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34D399"/>
                </a:solidFill>
                <a:latin typeface="Consolas"/>
                <a:ea typeface="Consolas"/>
                <a:cs typeface="Consolas"/>
              </a:rPr>
              <a:t>09  </a:t>
            </a:r>
            <a:r>
              <a:rPr lang="en-US" sz="1250" b="1" dirty="0">
                <a:solidFill>
                  <a:srgbClr val="FFFFFF"/>
                </a:solidFill>
                <a:latin typeface="Segoe UI"/>
                <a:ea typeface="Segoe UI"/>
                <a:cs typeface="Segoe UI"/>
              </a:rPr>
              <a:t>Cancellation</a:t>
            </a:r>
            <a:endParaRPr lang="en-US" sz="1250" dirty="0"/>
          </a:p>
        </p:txBody>
      </p:sp>
      <p:cxnSp>
        <p:nvCxnSpPr>
          <p:cNvPr id="30" name="arrow"/>
          <p:cNvCxnSpPr/>
          <p:nvPr/>
        </p:nvCxnSpPr>
        <p:spPr>
          <a:xfrm>
            <a:off x="3086329" y="3419856"/>
            <a:ext cx="274320" cy="0"/>
          </a:xfrm>
          <a:prstGeom prst="line">
            <a:avLst/>
          </a:prstGeom>
          <a:ln w="28575">
            <a:solidFill>
              <a:srgbClr val="34D399"/>
            </a:solidFill>
            <a:tailEnd type="triangle" w="med" len="med"/>
          </a:ln>
        </p:spPr>
      </p:cxnSp>
      <p:sp>
        <p:nvSpPr>
          <p:cNvPr id="31" name="road"/>
          <p:cNvSpPr/>
          <p:nvPr/>
        </p:nvSpPr>
        <p:spPr>
          <a:xfrm>
            <a:off x="3406369" y="3145536"/>
            <a:ext cx="2497455" cy="548640"/>
          </a:xfrm>
          <a:prstGeom prst="roundRect">
            <a:avLst>
              <a:gd name="adj" fmla="val 12500"/>
            </a:avLst>
          </a:prstGeom>
          <a:solidFill>
            <a:srgbClr val="111B2E"/>
          </a:solidFill>
          <a:ln w="12700">
            <a:solidFill>
              <a:srgbClr val="34D399"/>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34D399"/>
                </a:solidFill>
                <a:latin typeface="Consolas"/>
                <a:ea typeface="Consolas"/>
                <a:cs typeface="Consolas"/>
              </a:rPr>
              <a:t>10  </a:t>
            </a:r>
            <a:r>
              <a:rPr lang="en-US" sz="1250" b="1" dirty="0">
                <a:solidFill>
                  <a:srgbClr val="FFFFFF"/>
                </a:solidFill>
                <a:latin typeface="Segoe UI"/>
                <a:ea typeface="Segoe UI"/>
                <a:cs typeface="Segoe UI"/>
              </a:rPr>
              <a:t>Async pitfalls</a:t>
            </a:r>
            <a:endParaRPr lang="en-US" sz="1250" dirty="0"/>
          </a:p>
        </p:txBody>
      </p:sp>
      <p:cxnSp>
        <p:nvCxnSpPr>
          <p:cNvPr id="32" name="arrow"/>
          <p:cNvCxnSpPr/>
          <p:nvPr/>
        </p:nvCxnSpPr>
        <p:spPr>
          <a:xfrm>
            <a:off x="5949544" y="3419856"/>
            <a:ext cx="274320" cy="0"/>
          </a:xfrm>
          <a:prstGeom prst="line">
            <a:avLst/>
          </a:prstGeom>
          <a:ln w="28575">
            <a:solidFill>
              <a:srgbClr val="34D399"/>
            </a:solidFill>
            <a:tailEnd type="triangle" w="med" len="med"/>
          </a:ln>
        </p:spPr>
      </p:cxnSp>
      <p:sp>
        <p:nvSpPr>
          <p:cNvPr id="33" name="road"/>
          <p:cNvSpPr/>
          <p:nvPr/>
        </p:nvSpPr>
        <p:spPr>
          <a:xfrm>
            <a:off x="6269584" y="3145536"/>
            <a:ext cx="2497455" cy="548640"/>
          </a:xfrm>
          <a:prstGeom prst="roundRect">
            <a:avLst>
              <a:gd name="adj" fmla="val 12500"/>
            </a:avLst>
          </a:prstGeom>
          <a:solidFill>
            <a:srgbClr val="111B2E"/>
          </a:solidFill>
          <a:ln w="12700">
            <a:solidFill>
              <a:srgbClr val="34D399"/>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34D399"/>
                </a:solidFill>
                <a:latin typeface="Consolas"/>
                <a:ea typeface="Consolas"/>
                <a:cs typeface="Consolas"/>
              </a:rPr>
              <a:t>11  </a:t>
            </a:r>
            <a:r>
              <a:rPr lang="en-US" sz="1250" b="1" dirty="0">
                <a:solidFill>
                  <a:srgbClr val="FFFFFF"/>
                </a:solidFill>
                <a:latin typeface="Segoe UI"/>
                <a:ea typeface="Segoe UI"/>
                <a:cs typeface="Segoe UI"/>
              </a:rPr>
              <a:t>Concurrent tools</a:t>
            </a:r>
            <a:endParaRPr lang="en-US" sz="1250" dirty="0"/>
          </a:p>
        </p:txBody>
      </p:sp>
      <p:cxnSp>
        <p:nvCxnSpPr>
          <p:cNvPr id="34" name="arrow"/>
          <p:cNvCxnSpPr/>
          <p:nvPr/>
        </p:nvCxnSpPr>
        <p:spPr>
          <a:xfrm>
            <a:off x="8812759" y="3419856"/>
            <a:ext cx="274320" cy="0"/>
          </a:xfrm>
          <a:prstGeom prst="line">
            <a:avLst/>
          </a:prstGeom>
          <a:ln w="28575">
            <a:solidFill>
              <a:srgbClr val="34D399"/>
            </a:solidFill>
            <a:tailEnd type="triangle" w="med" len="med"/>
          </a:ln>
        </p:spPr>
      </p:cxnSp>
      <p:sp>
        <p:nvSpPr>
          <p:cNvPr id="35" name="road"/>
          <p:cNvSpPr/>
          <p:nvPr/>
        </p:nvSpPr>
        <p:spPr>
          <a:xfrm>
            <a:off x="9132799" y="3145536"/>
            <a:ext cx="2497455" cy="548640"/>
          </a:xfrm>
          <a:prstGeom prst="roundRect">
            <a:avLst>
              <a:gd name="adj" fmla="val 12500"/>
            </a:avLst>
          </a:prstGeom>
          <a:solidFill>
            <a:srgbClr val="111B2E"/>
          </a:solidFill>
          <a:ln w="12700">
            <a:solidFill>
              <a:srgbClr val="34D399"/>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34D399"/>
                </a:solidFill>
                <a:latin typeface="Consolas"/>
                <a:ea typeface="Consolas"/>
                <a:cs typeface="Consolas"/>
              </a:rPr>
              <a:t>12  </a:t>
            </a:r>
            <a:r>
              <a:rPr lang="en-US" sz="1250" b="1" dirty="0">
                <a:solidFill>
                  <a:srgbClr val="FFFFFF"/>
                </a:solidFill>
                <a:latin typeface="Segoe UI"/>
                <a:ea typeface="Segoe UI"/>
                <a:cs typeface="Segoe UI"/>
              </a:rPr>
              <a:t>Files &amp; paths</a:t>
            </a:r>
            <a:endParaRPr lang="en-US" sz="1250" dirty="0"/>
          </a:p>
        </p:txBody>
      </p:sp>
      <p:sp>
        <p:nvSpPr>
          <p:cNvPr id="36" name="road"/>
          <p:cNvSpPr/>
          <p:nvPr/>
        </p:nvSpPr>
        <p:spPr>
          <a:xfrm>
            <a:off x="543154" y="3931920"/>
            <a:ext cx="2497455" cy="548640"/>
          </a:xfrm>
          <a:prstGeom prst="roundRect">
            <a:avLst>
              <a:gd name="adj" fmla="val 12500"/>
            </a:avLst>
          </a:prstGeom>
          <a:solidFill>
            <a:srgbClr val="111B2E"/>
          </a:solidFill>
          <a:ln w="12700">
            <a:solidFill>
              <a:srgbClr val="4D91F0"/>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4D91F0"/>
                </a:solidFill>
                <a:latin typeface="Consolas"/>
                <a:ea typeface="Consolas"/>
                <a:cs typeface="Consolas"/>
              </a:rPr>
              <a:t>13  </a:t>
            </a:r>
            <a:r>
              <a:rPr lang="en-US" sz="1250" b="1" dirty="0">
                <a:solidFill>
                  <a:srgbClr val="FFFFFF"/>
                </a:solidFill>
                <a:latin typeface="Segoe UI"/>
                <a:ea typeface="Segoe UI"/>
                <a:cs typeface="Segoe UI"/>
              </a:rPr>
              <a:t>Streams &amp; IDisposable</a:t>
            </a:r>
            <a:endParaRPr lang="en-US" sz="1250" dirty="0"/>
          </a:p>
        </p:txBody>
      </p:sp>
      <p:cxnSp>
        <p:nvCxnSpPr>
          <p:cNvPr id="37" name="arrow"/>
          <p:cNvCxnSpPr/>
          <p:nvPr/>
        </p:nvCxnSpPr>
        <p:spPr>
          <a:xfrm>
            <a:off x="3086329" y="4206240"/>
            <a:ext cx="274320" cy="0"/>
          </a:xfrm>
          <a:prstGeom prst="line">
            <a:avLst/>
          </a:prstGeom>
          <a:ln w="28575">
            <a:solidFill>
              <a:srgbClr val="4D91F0"/>
            </a:solidFill>
            <a:tailEnd type="triangle" w="med" len="med"/>
          </a:ln>
        </p:spPr>
      </p:cxnSp>
      <p:sp>
        <p:nvSpPr>
          <p:cNvPr id="38" name="road"/>
          <p:cNvSpPr/>
          <p:nvPr/>
        </p:nvSpPr>
        <p:spPr>
          <a:xfrm>
            <a:off x="3406369" y="3931920"/>
            <a:ext cx="2497455" cy="548640"/>
          </a:xfrm>
          <a:prstGeom prst="roundRect">
            <a:avLst>
              <a:gd name="adj" fmla="val 12500"/>
            </a:avLst>
          </a:prstGeom>
          <a:solidFill>
            <a:srgbClr val="111B2E"/>
          </a:solidFill>
          <a:ln w="12700">
            <a:solidFill>
              <a:srgbClr val="4D91F0"/>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4D91F0"/>
                </a:solidFill>
                <a:latin typeface="Consolas"/>
                <a:ea typeface="Consolas"/>
                <a:cs typeface="Consolas"/>
              </a:rPr>
              <a:t>14  </a:t>
            </a:r>
            <a:r>
              <a:rPr lang="en-US" sz="1250" b="1" dirty="0">
                <a:solidFill>
                  <a:srgbClr val="FFFFFF"/>
                </a:solidFill>
                <a:latin typeface="Segoe UI"/>
                <a:ea typeface="Segoe UI"/>
                <a:cs typeface="Segoe UI"/>
              </a:rPr>
              <a:t>Unit testing</a:t>
            </a:r>
            <a:endParaRPr lang="en-US" sz="1250" dirty="0"/>
          </a:p>
        </p:txBody>
      </p:sp>
      <p:cxnSp>
        <p:nvCxnSpPr>
          <p:cNvPr id="39" name="arrow"/>
          <p:cNvCxnSpPr/>
          <p:nvPr/>
        </p:nvCxnSpPr>
        <p:spPr>
          <a:xfrm>
            <a:off x="5949544" y="4206240"/>
            <a:ext cx="274320" cy="0"/>
          </a:xfrm>
          <a:prstGeom prst="line">
            <a:avLst/>
          </a:prstGeom>
          <a:ln w="28575">
            <a:solidFill>
              <a:srgbClr val="4D91F0"/>
            </a:solidFill>
            <a:tailEnd type="triangle" w="med" len="med"/>
          </a:ln>
        </p:spPr>
      </p:cxnSp>
      <p:sp>
        <p:nvSpPr>
          <p:cNvPr id="40" name="road"/>
          <p:cNvSpPr/>
          <p:nvPr/>
        </p:nvSpPr>
        <p:spPr>
          <a:xfrm>
            <a:off x="6269584" y="3931920"/>
            <a:ext cx="2497455" cy="548640"/>
          </a:xfrm>
          <a:prstGeom prst="roundRect">
            <a:avLst>
              <a:gd name="adj" fmla="val 12500"/>
            </a:avLst>
          </a:prstGeom>
          <a:solidFill>
            <a:srgbClr val="111B2E"/>
          </a:solidFill>
          <a:ln w="12700">
            <a:solidFill>
              <a:srgbClr val="4D91F0"/>
            </a:solidFill>
            <a:prstDash val="solid"/>
          </a:ln>
        </p:spPr>
        <p:txBody>
          <a:bodyPr wrap="square" lIns="164592" tIns="18288" rIns="91440" bIns="18288" rtlCol="0" anchor="ctr">
            <a:noAutofit/>
          </a:bodyPr>
          <a:lstStyle/>
          <a:p>
            <a:pPr marL="0" indent="0" algn="l">
              <a:spcBef>
                <a:spcPts val="0"/>
              </a:spcBef>
              <a:spcAft>
                <a:spcPts val="0"/>
              </a:spcAft>
              <a:buNone/>
            </a:pPr>
            <a:r>
              <a:rPr lang="en-US" sz="1250" b="1" dirty="0">
                <a:solidFill>
                  <a:srgbClr val="4D91F0"/>
                </a:solidFill>
                <a:latin typeface="Consolas"/>
                <a:ea typeface="Consolas"/>
                <a:cs typeface="Consolas"/>
              </a:rPr>
              <a:t>15  </a:t>
            </a:r>
            <a:r>
              <a:rPr lang="en-US" sz="1250" b="1" dirty="0">
                <a:solidFill>
                  <a:srgbClr val="FFFFFF"/>
                </a:solidFill>
                <a:latin typeface="Segoe UI"/>
                <a:ea typeface="Segoe UI"/>
                <a:cs typeface="Segoe UI"/>
              </a:rPr>
              <a:t>TDD</a:t>
            </a:r>
            <a:endParaRPr lang="en-US" sz="1250" dirty="0"/>
          </a:p>
        </p:txBody>
      </p:sp>
      <p:sp>
        <p:nvSpPr>
          <p:cNvPr id="41"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One running example all lecture long: SwiftBite, a food delivery app that must do many things at once.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250"/>
                                        <p:tgtEl>
                                          <p:spTgt spid="22"/>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5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25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25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50"/>
                                        <p:tgtEl>
                                          <p:spTgt spid="26"/>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25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25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50"/>
                                        <p:tgtEl>
                                          <p:spTgt spid="29"/>
                                        </p:tgtEl>
                                      </p:cBhvr>
                                    </p:animEffect>
                                  </p:childTnLst>
                                </p:cTn>
                              </p:par>
                              <p:par>
                                <p:cTn id="54" presetID="10" presetClass="entr" presetSubtype="0" fill="hold"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25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250"/>
                                        <p:tgtEl>
                                          <p:spTgt spid="31"/>
                                        </p:tgtEl>
                                      </p:cBhvr>
                                    </p:animEffect>
                                  </p:childTnLst>
                                </p:cTn>
                              </p:par>
                              <p:par>
                                <p:cTn id="60" presetID="10" presetClass="entr" presetSubtype="0"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25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250"/>
                                        <p:tgtEl>
                                          <p:spTgt spid="33"/>
                                        </p:tgtEl>
                                      </p:cBhvr>
                                    </p:animEffect>
                                  </p:childTnLst>
                                </p:cTn>
                              </p:par>
                              <p:par>
                                <p:cTn id="66" presetID="10" presetClass="entr" presetSubtype="0" fill="hold"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25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250"/>
                                        <p:tgtEl>
                                          <p:spTgt spid="3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25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25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25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250"/>
                                        <p:tgtEl>
                                          <p:spTgt spid="3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250"/>
                                        <p:tgtEl>
                                          <p:spTgt spid="4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2" grpId="0" animBg="1"/>
      <p:bldP spid="24" grpId="0" animBg="1"/>
      <p:bldP spid="26" grpId="0" animBg="1"/>
      <p:bldP spid="28" grpId="0" animBg="1"/>
      <p:bldP spid="29" grpId="0" animBg="1"/>
      <p:bldP spid="31" grpId="0" animBg="1"/>
      <p:bldP spid="33" grpId="0" animBg="1"/>
      <p:bldP spid="35" grpId="0" animBg="1"/>
      <p:bldP spid="36" grpId="0" animBg="1"/>
      <p:bldP spid="38" grpId="0" animBg="1"/>
      <p:bldP spid="40"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PART 1</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03</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4D91F0"/>
                </a:solidFill>
                <a:latin typeface="Segoe UI"/>
                <a:ea typeface="Segoe UI"/>
                <a:cs typeface="Segoe UI"/>
              </a:rPr>
              <a:t>01</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How Programs Run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Before threads: programs, processes, CPUs and cores.</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Program vs process  ·  What a process owns  ·  The CPU  ·  Double click to running code  ·  Cores  ·  Cores run threads  ·  Time slicing  ·  Concurrency vs parallelism  ·  More programs than cores  ·  Logical vs physical cores  ·  CPU scheduling  ·  Context switching  ·  CPU-bound vs I/O-bound  ·  Process vs thread  ·  A browser's threads  ·  The main thread in C#</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CPU</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CPU Executes Instructions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04</a:t>
            </a:r>
            <a:endParaRPr lang="en-US" sz="850" dirty="0"/>
          </a:p>
        </p:txBody>
      </p:sp>
      <p:sp>
        <p:nvSpPr>
          <p:cNvPr id="15" name="cw_win"/>
          <p:cNvSpPr/>
          <p:nvPr/>
        </p:nvSpPr>
        <p:spPr>
          <a:xfrm>
            <a:off x="543154" y="1572768"/>
            <a:ext cx="4023360" cy="1600200"/>
          </a:xfrm>
          <a:prstGeom prst="roundRect">
            <a:avLst>
              <a:gd name="adj" fmla="val 4285"/>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4023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4023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3639312" cy="3048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500" b="0" dirty="0">
                <a:solidFill>
                  <a:srgbClr val="60A5FA"/>
                </a:solidFill>
                <a:latin typeface="Consolas"/>
                <a:ea typeface="Consolas"/>
                <a:cs typeface="Consolas"/>
              </a:rPr>
              <a:t>int</a:t>
            </a:r>
            <a:r>
              <a:rPr lang="en-US" sz="1500" b="0" dirty="0">
                <a:solidFill>
                  <a:srgbClr val="E2E8F0"/>
                </a:solidFill>
                <a:latin typeface="Consolas"/>
                <a:ea typeface="Consolas"/>
                <a:cs typeface="Consolas"/>
              </a:rPr>
              <a:t> x = 10;</a:t>
            </a:r>
            <a:endParaRPr lang="en-US" sz="1500" dirty="0"/>
          </a:p>
        </p:txBody>
      </p:sp>
      <p:sp>
        <p:nvSpPr>
          <p:cNvPr id="23" name="cw_L01"/>
          <p:cNvSpPr txBox="1"/>
          <p:nvPr/>
        </p:nvSpPr>
        <p:spPr>
          <a:xfrm>
            <a:off x="771754" y="2353056"/>
            <a:ext cx="3639312" cy="3048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500" b="0" dirty="0">
                <a:solidFill>
                  <a:srgbClr val="60A5FA"/>
                </a:solidFill>
                <a:latin typeface="Consolas"/>
                <a:ea typeface="Consolas"/>
                <a:cs typeface="Consolas"/>
              </a:rPr>
              <a:t>int</a:t>
            </a:r>
            <a:r>
              <a:rPr lang="en-US" sz="1500" b="0" dirty="0">
                <a:solidFill>
                  <a:srgbClr val="E2E8F0"/>
                </a:solidFill>
                <a:latin typeface="Consolas"/>
                <a:ea typeface="Consolas"/>
                <a:cs typeface="Consolas"/>
              </a:rPr>
              <a:t> y = 20;</a:t>
            </a:r>
            <a:endParaRPr lang="en-US" sz="1500" dirty="0"/>
          </a:p>
        </p:txBody>
      </p:sp>
      <p:sp>
        <p:nvSpPr>
          <p:cNvPr id="24" name="cw_L02"/>
          <p:cNvSpPr txBox="1"/>
          <p:nvPr/>
        </p:nvSpPr>
        <p:spPr>
          <a:xfrm>
            <a:off x="771754" y="2657856"/>
            <a:ext cx="3639312" cy="3048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500" b="0" dirty="0">
                <a:solidFill>
                  <a:srgbClr val="60A5FA"/>
                </a:solidFill>
                <a:latin typeface="Consolas"/>
                <a:ea typeface="Consolas"/>
                <a:cs typeface="Consolas"/>
              </a:rPr>
              <a:t>int</a:t>
            </a:r>
            <a:r>
              <a:rPr lang="en-US" sz="1500" b="0" dirty="0">
                <a:solidFill>
                  <a:srgbClr val="E2E8F0"/>
                </a:solidFill>
                <a:latin typeface="Consolas"/>
                <a:ea typeface="Consolas"/>
                <a:cs typeface="Consolas"/>
              </a:rPr>
              <a:t> result = x + y;</a:t>
            </a:r>
            <a:endParaRPr lang="en-US" sz="1500" dirty="0"/>
          </a:p>
        </p:txBody>
      </p:sp>
      <p:cxnSp>
        <p:nvCxnSpPr>
          <p:cNvPr id="25" name="arrow"/>
          <p:cNvCxnSpPr/>
          <p:nvPr/>
        </p:nvCxnSpPr>
        <p:spPr>
          <a:xfrm>
            <a:off x="4657954" y="2395728"/>
            <a:ext cx="457200" cy="0"/>
          </a:xfrm>
          <a:prstGeom prst="line">
            <a:avLst/>
          </a:prstGeom>
          <a:ln w="28575">
            <a:solidFill>
              <a:srgbClr val="13D0F7"/>
            </a:solidFill>
            <a:tailEnd type="triangle" w="med" len="med"/>
          </a:ln>
        </p:spPr>
      </p:cxnSp>
      <p:sp>
        <p:nvSpPr>
          <p:cNvPr id="26" name="card"/>
          <p:cNvSpPr/>
          <p:nvPr/>
        </p:nvSpPr>
        <p:spPr>
          <a:xfrm>
            <a:off x="5206594" y="1572768"/>
            <a:ext cx="3108960" cy="3310128"/>
          </a:xfrm>
          <a:prstGeom prst="roundRect">
            <a:avLst>
              <a:gd name="adj" fmla="val 2647"/>
            </a:avLst>
          </a:prstGeom>
          <a:solidFill>
            <a:srgbClr val="111B2E"/>
          </a:solidFill>
          <a:ln w="12700">
            <a:solidFill>
              <a:srgbClr val="13D0F7"/>
            </a:solidFill>
            <a:prstDash val="solid"/>
          </a:ln>
        </p:spPr>
        <p:txBody>
          <a:bodyPr wrap="square" lIns="201168" tIns="182880" rIns="137160" bIns="91440" rtlCol="0" anchor="t">
            <a:noAutofit/>
          </a:bodyPr>
          <a:lstStyle/>
          <a:p>
            <a:pPr marL="0" indent="0" algn="l">
              <a:spcBef>
                <a:spcPts val="0"/>
              </a:spcBef>
              <a:spcAft>
                <a:spcPts val="300"/>
              </a:spcAft>
              <a:buNone/>
            </a:pPr>
            <a:r>
              <a:rPr lang="en-US" sz="1050" b="1" dirty="0">
                <a:solidFill>
                  <a:srgbClr val="13D0F7"/>
                </a:solidFill>
                <a:latin typeface="Segoe UI"/>
                <a:ea typeface="Segoe UI"/>
                <a:cs typeface="Segoe UI"/>
              </a:rPr>
              <a:t>INSTRUCTIONS (SIMPLIFIED)</a:t>
            </a:r>
            <a:endParaRPr lang="en-US" sz="1050" dirty="0"/>
          </a:p>
          <a:p>
            <a:pPr marL="0" indent="0" algn="l">
              <a:spcBef>
                <a:spcPts val="0"/>
              </a:spcBef>
              <a:spcAft>
                <a:spcPts val="300"/>
              </a:spcAft>
              <a:buNone/>
            </a:pPr>
            <a:r>
              <a:rPr lang="en-US" sz="1250" b="1" dirty="0">
                <a:solidFill>
                  <a:srgbClr val="E2E8F0"/>
                </a:solidFill>
                <a:latin typeface="Consolas"/>
                <a:ea typeface="Consolas"/>
                <a:cs typeface="Consolas"/>
              </a:rPr>
              <a:t>load 10 → x</a:t>
            </a:r>
            <a:endParaRPr lang="en-US" sz="1250" dirty="0"/>
          </a:p>
          <a:p>
            <a:pPr marL="0" indent="0" algn="l">
              <a:spcBef>
                <a:spcPts val="0"/>
              </a:spcBef>
              <a:spcAft>
                <a:spcPts val="300"/>
              </a:spcAft>
              <a:buNone/>
            </a:pPr>
            <a:r>
              <a:rPr lang="en-US" sz="1250" b="1" dirty="0">
                <a:solidFill>
                  <a:srgbClr val="E2E8F0"/>
                </a:solidFill>
                <a:latin typeface="Consolas"/>
                <a:ea typeface="Consolas"/>
                <a:cs typeface="Consolas"/>
              </a:rPr>
              <a:t>load 20 → y</a:t>
            </a:r>
            <a:endParaRPr lang="en-US" sz="1250" dirty="0"/>
          </a:p>
          <a:p>
            <a:pPr marL="0" indent="0" algn="l">
              <a:spcBef>
                <a:spcPts val="0"/>
              </a:spcBef>
              <a:spcAft>
                <a:spcPts val="300"/>
              </a:spcAft>
              <a:buNone/>
            </a:pPr>
            <a:r>
              <a:rPr lang="en-US" sz="1250" b="1" dirty="0">
                <a:solidFill>
                  <a:srgbClr val="E2E8F0"/>
                </a:solidFill>
                <a:latin typeface="Consolas"/>
                <a:ea typeface="Consolas"/>
                <a:cs typeface="Consolas"/>
              </a:rPr>
              <a:t>add x, y</a:t>
            </a:r>
            <a:endParaRPr lang="en-US" sz="1250" dirty="0"/>
          </a:p>
          <a:p>
            <a:pPr marL="0" indent="0" algn="l">
              <a:spcBef>
                <a:spcPts val="0"/>
              </a:spcBef>
              <a:spcAft>
                <a:spcPts val="0"/>
              </a:spcAft>
              <a:buNone/>
            </a:pPr>
            <a:r>
              <a:rPr lang="en-US" sz="1250" b="1" dirty="0">
                <a:solidFill>
                  <a:srgbClr val="E2E8F0"/>
                </a:solidFill>
                <a:latin typeface="Consolas"/>
                <a:ea typeface="Consolas"/>
                <a:cs typeface="Consolas"/>
              </a:rPr>
              <a:t>store → result</a:t>
            </a:r>
            <a:endParaRPr lang="en-US" sz="1250" dirty="0"/>
          </a:p>
        </p:txBody>
      </p:sp>
      <p:cxnSp>
        <p:nvCxnSpPr>
          <p:cNvPr id="27" name="arrow"/>
          <p:cNvCxnSpPr/>
          <p:nvPr/>
        </p:nvCxnSpPr>
        <p:spPr>
          <a:xfrm>
            <a:off x="8406994" y="3218688"/>
            <a:ext cx="457200" cy="0"/>
          </a:xfrm>
          <a:prstGeom prst="line">
            <a:avLst/>
          </a:prstGeom>
          <a:ln w="28575">
            <a:solidFill>
              <a:srgbClr val="FBBF24"/>
            </a:solidFill>
            <a:tailEnd type="triangle" w="med" len="med"/>
          </a:ln>
        </p:spPr>
      </p:cxnSp>
      <p:sp>
        <p:nvSpPr>
          <p:cNvPr id="28" name="card"/>
          <p:cNvSpPr/>
          <p:nvPr/>
        </p:nvSpPr>
        <p:spPr>
          <a:xfrm>
            <a:off x="8955634" y="2395728"/>
            <a:ext cx="2674620" cy="1645920"/>
          </a:xfrm>
          <a:prstGeom prst="roundRect">
            <a:avLst>
              <a:gd name="adj" fmla="val 5000"/>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ctr">
              <a:spcBef>
                <a:spcPts val="0"/>
              </a:spcBef>
              <a:spcAft>
                <a:spcPts val="500"/>
              </a:spcAft>
              <a:buNone/>
            </a:pPr>
            <a:r>
              <a:rPr lang="en-US" sz="2400" b="1" dirty="0">
                <a:solidFill>
                  <a:srgbClr val="FBBF24"/>
                </a:solidFill>
                <a:latin typeface="Segoe UI"/>
                <a:ea typeface="Segoe UI"/>
                <a:cs typeface="Segoe UI"/>
              </a:rPr>
              <a:t>CPU</a:t>
            </a:r>
            <a:endParaRPr lang="en-US" sz="2400" dirty="0"/>
          </a:p>
          <a:p>
            <a:pPr marL="0" indent="0" algn="ctr">
              <a:spcBef>
                <a:spcPts val="0"/>
              </a:spcBef>
              <a:spcAft>
                <a:spcPts val="0"/>
              </a:spcAft>
              <a:buNone/>
            </a:pPr>
            <a:r>
              <a:rPr lang="en-US" sz="1200" b="0" dirty="0">
                <a:solidFill>
                  <a:srgbClr val="CBD5E1"/>
                </a:solidFill>
                <a:latin typeface="Segoe UI"/>
                <a:ea typeface="Segoe UI"/>
                <a:cs typeface="Segoe UI"/>
              </a:rPr>
              <a:t>executes them, one by one</a:t>
            </a:r>
            <a:endParaRPr lang="en-US" sz="1200" dirty="0"/>
          </a:p>
        </p:txBody>
      </p:sp>
      <p:sp>
        <p:nvSpPr>
          <p:cNvPr id="29"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Everything your program does ends as instructions executed by the CPU.</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25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25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25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5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6"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PROCESS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Program Becomes a Process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05</a:t>
            </a:r>
            <a:endParaRPr lang="en-US" sz="850" dirty="0"/>
          </a:p>
        </p:txBody>
      </p:sp>
      <p:sp>
        <p:nvSpPr>
          <p:cNvPr id="15" name="card"/>
          <p:cNvSpPr/>
          <p:nvPr/>
        </p:nvSpPr>
        <p:spPr>
          <a:xfrm>
            <a:off x="543154" y="1572768"/>
            <a:ext cx="3291840" cy="3310128"/>
          </a:xfrm>
          <a:prstGeom prst="roundRect">
            <a:avLst>
              <a:gd name="adj" fmla="val 2500"/>
            </a:avLst>
          </a:prstGeom>
          <a:solidFill>
            <a:srgbClr val="111B2E"/>
          </a:solidFill>
          <a:ln w="12700">
            <a:solidFill>
              <a:srgbClr val="64748B"/>
            </a:solidFill>
            <a:prstDash val="solid"/>
          </a:ln>
        </p:spPr>
        <p:txBody>
          <a:bodyPr wrap="square" lIns="228600" tIns="182880" rIns="182880" bIns="91440" rtlCol="0" anchor="t">
            <a:noAutofit/>
          </a:bodyPr>
          <a:lstStyle/>
          <a:p>
            <a:pPr marL="0" indent="0" algn="l">
              <a:spcBef>
                <a:spcPts val="0"/>
              </a:spcBef>
              <a:spcAft>
                <a:spcPts val="300"/>
              </a:spcAft>
              <a:buNone/>
            </a:pPr>
            <a:r>
              <a:rPr lang="en-US" sz="1100" b="1" dirty="0">
                <a:solidFill>
                  <a:srgbClr val="94A3B8"/>
                </a:solidFill>
                <a:latin typeface="Segoe UI"/>
                <a:ea typeface="Segoe UI"/>
                <a:cs typeface="Segoe UI"/>
              </a:rPr>
              <a:t>ON THE DISK</a:t>
            </a:r>
            <a:endParaRPr lang="en-US" sz="1100" dirty="0"/>
          </a:p>
          <a:p>
            <a:pPr marL="0" indent="0" algn="l">
              <a:spcBef>
                <a:spcPts val="0"/>
              </a:spcBef>
              <a:spcAft>
                <a:spcPts val="300"/>
              </a:spcAft>
              <a:buNone/>
            </a:pPr>
            <a:r>
              <a:rPr lang="en-US" sz="1300" b="1" dirty="0">
                <a:solidFill>
                  <a:srgbClr val="E2E8F0"/>
                </a:solidFill>
                <a:latin typeface="Consolas"/>
                <a:ea typeface="Consolas"/>
                <a:cs typeface="Consolas"/>
              </a:rPr>
              <a:t>Chrome.exe</a:t>
            </a:r>
            <a:endParaRPr lang="en-US" sz="1300" dirty="0"/>
          </a:p>
          <a:p>
            <a:pPr marL="0" indent="0" algn="l">
              <a:spcBef>
                <a:spcPts val="0"/>
              </a:spcBef>
              <a:spcAft>
                <a:spcPts val="300"/>
              </a:spcAft>
              <a:buNone/>
            </a:pPr>
            <a:r>
              <a:rPr lang="en-US" sz="1300" b="1" dirty="0">
                <a:solidFill>
                  <a:srgbClr val="E2E8F0"/>
                </a:solidFill>
                <a:latin typeface="Consolas"/>
                <a:ea typeface="Consolas"/>
                <a:cs typeface="Consolas"/>
              </a:rPr>
              <a:t>Rider.exe</a:t>
            </a:r>
            <a:endParaRPr lang="en-US" sz="1300" dirty="0"/>
          </a:p>
          <a:p>
            <a:pPr marL="0" indent="0" algn="l">
              <a:spcBef>
                <a:spcPts val="0"/>
              </a:spcBef>
              <a:spcAft>
                <a:spcPts val="300"/>
              </a:spcAft>
              <a:buNone/>
            </a:pPr>
            <a:r>
              <a:rPr lang="en-US" sz="1300" b="1" dirty="0">
                <a:solidFill>
                  <a:srgbClr val="E2E8F0"/>
                </a:solidFill>
                <a:latin typeface="Consolas"/>
                <a:ea typeface="Consolas"/>
                <a:cs typeface="Consolas"/>
              </a:rPr>
              <a:t>SwiftBite.exe</a:t>
            </a:r>
            <a:endParaRPr lang="en-US" sz="1300" dirty="0"/>
          </a:p>
          <a:p>
            <a:pPr marL="0" indent="0" algn="l">
              <a:spcBef>
                <a:spcPts val="0"/>
              </a:spcBef>
              <a:spcAft>
                <a:spcPts val="0"/>
              </a:spcAft>
              <a:buNone/>
            </a:pPr>
            <a:r>
              <a:rPr lang="en-US" sz="1200" b="0" dirty="0">
                <a:solidFill>
                  <a:srgbClr val="94A3B8"/>
                </a:solidFill>
                <a:latin typeface="Segoe UI"/>
                <a:ea typeface="Segoe UI"/>
                <a:cs typeface="Segoe UI"/>
              </a:rPr>
              <a:t>just files: nothing runs</a:t>
            </a:r>
            <a:endParaRPr lang="en-US" sz="1200" dirty="0"/>
          </a:p>
        </p:txBody>
      </p:sp>
      <p:cxnSp>
        <p:nvCxnSpPr>
          <p:cNvPr id="16" name="arrow"/>
          <p:cNvCxnSpPr/>
          <p:nvPr/>
        </p:nvCxnSpPr>
        <p:spPr>
          <a:xfrm>
            <a:off x="3926434" y="3218688"/>
            <a:ext cx="822960" cy="0"/>
          </a:xfrm>
          <a:prstGeom prst="line">
            <a:avLst/>
          </a:prstGeom>
          <a:ln w="28575">
            <a:solidFill>
              <a:srgbClr val="13D0F7"/>
            </a:solidFill>
            <a:tailEnd type="triangle" w="med" len="med"/>
          </a:ln>
        </p:spPr>
      </p:cxnSp>
      <p:sp>
        <p:nvSpPr>
          <p:cNvPr id="17" name="lab"/>
          <p:cNvSpPr txBox="1"/>
          <p:nvPr/>
        </p:nvSpPr>
        <p:spPr>
          <a:xfrm>
            <a:off x="3789274" y="2807208"/>
            <a:ext cx="109728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13D0F7"/>
                </a:solidFill>
                <a:latin typeface="Segoe UI"/>
                <a:ea typeface="Segoe UI"/>
                <a:cs typeface="Segoe UI"/>
              </a:rPr>
              <a:t>double click</a:t>
            </a:r>
            <a:endParaRPr lang="en-US" sz="1050" dirty="0"/>
          </a:p>
        </p:txBody>
      </p:sp>
      <p:sp>
        <p:nvSpPr>
          <p:cNvPr id="18" name="card"/>
          <p:cNvSpPr/>
          <p:nvPr/>
        </p:nvSpPr>
        <p:spPr>
          <a:xfrm>
            <a:off x="4886554" y="1572768"/>
            <a:ext cx="6743700" cy="960120"/>
          </a:xfrm>
          <a:prstGeom prst="roundRect">
            <a:avLst>
              <a:gd name="adj" fmla="val 8571"/>
            </a:avLst>
          </a:prstGeom>
          <a:solidFill>
            <a:srgbClr val="111B2E"/>
          </a:solidFill>
          <a:ln w="12700">
            <a:solidFill>
              <a:srgbClr val="4D91F0"/>
            </a:solidFill>
            <a:prstDash val="solid"/>
          </a:ln>
        </p:spPr>
        <p:txBody>
          <a:bodyPr wrap="square" lIns="228600" tIns="27432" rIns="182880" bIns="27432" rtlCol="0" anchor="ctr">
            <a:noAutofit/>
          </a:bodyPr>
          <a:lstStyle/>
          <a:p>
            <a:pPr marL="0" indent="0" algn="l">
              <a:spcBef>
                <a:spcPts val="0"/>
              </a:spcBef>
              <a:spcAft>
                <a:spcPts val="0"/>
              </a:spcAft>
              <a:buNone/>
            </a:pPr>
            <a:r>
              <a:rPr lang="en-US" sz="1300" b="1" dirty="0">
                <a:solidFill>
                  <a:srgbClr val="4D91F0"/>
                </a:solidFill>
                <a:latin typeface="Segoe UI"/>
                <a:ea typeface="Segoe UI"/>
                <a:cs typeface="Segoe UI"/>
              </a:rPr>
              <a:t>Process 1   </a:t>
            </a:r>
            <a:r>
              <a:rPr lang="en-US" sz="1300" b="0" dirty="0">
                <a:solidFill>
                  <a:srgbClr val="CBD5E1"/>
                </a:solidFill>
                <a:latin typeface="Segoe UI"/>
                <a:ea typeface="Segoe UI"/>
                <a:cs typeface="Segoe UI"/>
              </a:rPr>
              <a:t>SwiftBite.exe  ·  its own memory, its own threads</a:t>
            </a:r>
            <a:endParaRPr lang="en-US" sz="1300" dirty="0"/>
          </a:p>
        </p:txBody>
      </p:sp>
      <p:sp>
        <p:nvSpPr>
          <p:cNvPr id="19" name="card"/>
          <p:cNvSpPr/>
          <p:nvPr/>
        </p:nvSpPr>
        <p:spPr>
          <a:xfrm>
            <a:off x="4886554" y="2715768"/>
            <a:ext cx="6743700" cy="960120"/>
          </a:xfrm>
          <a:prstGeom prst="roundRect">
            <a:avLst>
              <a:gd name="adj" fmla="val 8571"/>
            </a:avLst>
          </a:prstGeom>
          <a:solidFill>
            <a:srgbClr val="111B2E"/>
          </a:solidFill>
          <a:ln w="12700">
            <a:solidFill>
              <a:srgbClr val="4D91F0"/>
            </a:solidFill>
            <a:prstDash val="solid"/>
          </a:ln>
        </p:spPr>
        <p:txBody>
          <a:bodyPr wrap="square" lIns="228600" tIns="27432" rIns="182880" bIns="27432" rtlCol="0" anchor="ctr">
            <a:noAutofit/>
          </a:bodyPr>
          <a:lstStyle/>
          <a:p>
            <a:pPr marL="0" indent="0" algn="l">
              <a:spcBef>
                <a:spcPts val="0"/>
              </a:spcBef>
              <a:spcAft>
                <a:spcPts val="0"/>
              </a:spcAft>
              <a:buNone/>
            </a:pPr>
            <a:r>
              <a:rPr lang="en-US" sz="1300" b="1" dirty="0">
                <a:solidFill>
                  <a:srgbClr val="4D91F0"/>
                </a:solidFill>
                <a:latin typeface="Segoe UI"/>
                <a:ea typeface="Segoe UI"/>
                <a:cs typeface="Segoe UI"/>
              </a:rPr>
              <a:t>Process 2   </a:t>
            </a:r>
            <a:r>
              <a:rPr lang="en-US" sz="1300" b="0" dirty="0">
                <a:solidFill>
                  <a:srgbClr val="CBD5E1"/>
                </a:solidFill>
                <a:latin typeface="Segoe UI"/>
                <a:ea typeface="Segoe UI"/>
                <a:cs typeface="Segoe UI"/>
              </a:rPr>
              <a:t>SwiftBite.exe  ·  its own memory, its own threads</a:t>
            </a:r>
            <a:endParaRPr lang="en-US" sz="1300" dirty="0"/>
          </a:p>
        </p:txBody>
      </p:sp>
      <p:sp>
        <p:nvSpPr>
          <p:cNvPr id="20" name="card"/>
          <p:cNvSpPr/>
          <p:nvPr/>
        </p:nvSpPr>
        <p:spPr>
          <a:xfrm>
            <a:off x="4886554" y="3858768"/>
            <a:ext cx="6743700" cy="960120"/>
          </a:xfrm>
          <a:prstGeom prst="roundRect">
            <a:avLst>
              <a:gd name="adj" fmla="val 8571"/>
            </a:avLst>
          </a:prstGeom>
          <a:solidFill>
            <a:srgbClr val="111B2E"/>
          </a:solidFill>
          <a:ln w="12700">
            <a:solidFill>
              <a:srgbClr val="4D91F0"/>
            </a:solidFill>
            <a:prstDash val="solid"/>
          </a:ln>
        </p:spPr>
        <p:txBody>
          <a:bodyPr wrap="square" lIns="228600" tIns="27432" rIns="182880" bIns="27432" rtlCol="0" anchor="ctr">
            <a:noAutofit/>
          </a:bodyPr>
          <a:lstStyle/>
          <a:p>
            <a:pPr marL="0" indent="0" algn="l">
              <a:spcBef>
                <a:spcPts val="0"/>
              </a:spcBef>
              <a:spcAft>
                <a:spcPts val="0"/>
              </a:spcAft>
              <a:buNone/>
            </a:pPr>
            <a:r>
              <a:rPr lang="en-US" sz="1300" b="1" dirty="0">
                <a:solidFill>
                  <a:srgbClr val="4D91F0"/>
                </a:solidFill>
                <a:latin typeface="Segoe UI"/>
                <a:ea typeface="Segoe UI"/>
                <a:cs typeface="Segoe UI"/>
              </a:rPr>
              <a:t>Process 3   </a:t>
            </a:r>
            <a:r>
              <a:rPr lang="en-US" sz="1300" b="0" dirty="0">
                <a:solidFill>
                  <a:srgbClr val="CBD5E1"/>
                </a:solidFill>
                <a:latin typeface="Segoe UI"/>
                <a:ea typeface="Segoe UI"/>
                <a:cs typeface="Segoe UI"/>
              </a:rPr>
              <a:t>SwiftBite.exe  ·  its own memory, its own threads</a:t>
            </a:r>
            <a:endParaRPr lang="en-US" sz="1300" dirty="0"/>
          </a:p>
        </p:txBody>
      </p:sp>
      <p:sp>
        <p:nvSpPr>
          <p:cNvPr id="21"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 program is a file. A process is that program running, with its own resources.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25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RESOURCES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a Process Owns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06</a:t>
            </a:r>
            <a:endParaRPr lang="en-US" sz="850" dirty="0"/>
          </a:p>
        </p:txBody>
      </p:sp>
      <p:sp>
        <p:nvSpPr>
          <p:cNvPr id="15" name="root"/>
          <p:cNvSpPr/>
          <p:nvPr/>
        </p:nvSpPr>
        <p:spPr>
          <a:xfrm>
            <a:off x="4475074" y="1572768"/>
            <a:ext cx="3200400" cy="731520"/>
          </a:xfrm>
          <a:prstGeom prst="roundRect">
            <a:avLst>
              <a:gd name="adj" fmla="val 11249"/>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600" b="1" dirty="0">
                <a:solidFill>
                  <a:srgbClr val="FFFFFF"/>
                </a:solidFill>
                <a:latin typeface="Segoe UI"/>
                <a:ea typeface="Segoe UI"/>
                <a:cs typeface="Segoe UI"/>
              </a:rPr>
              <a:t>SwiftBite process</a:t>
            </a:r>
            <a:endParaRPr lang="en-US" sz="1600" dirty="0"/>
          </a:p>
        </p:txBody>
      </p:sp>
      <p:cxnSp>
        <p:nvCxnSpPr>
          <p:cNvPr id="16" name="arrow"/>
          <p:cNvCxnSpPr/>
          <p:nvPr/>
        </p:nvCxnSpPr>
        <p:spPr>
          <a:xfrm flipH="1">
            <a:off x="1597000" y="2322576"/>
            <a:ext cx="4478274" cy="603504"/>
          </a:xfrm>
          <a:prstGeom prst="line">
            <a:avLst/>
          </a:prstGeom>
          <a:ln w="28575">
            <a:solidFill>
              <a:srgbClr val="4D91F0"/>
            </a:solidFill>
            <a:tailEnd type="triangle" w="med" len="med"/>
          </a:ln>
        </p:spPr>
      </p:cxnSp>
      <p:sp>
        <p:nvSpPr>
          <p:cNvPr id="17" name="card"/>
          <p:cNvSpPr/>
          <p:nvPr/>
        </p:nvSpPr>
        <p:spPr>
          <a:xfrm>
            <a:off x="543154" y="2944368"/>
            <a:ext cx="2107692" cy="1920240"/>
          </a:xfrm>
          <a:prstGeom prst="roundRect">
            <a:avLst>
              <a:gd name="adj" fmla="val 4285"/>
            </a:avLst>
          </a:prstGeom>
          <a:solidFill>
            <a:srgbClr val="111B2E"/>
          </a:solidFill>
          <a:ln w="12700">
            <a:solidFill>
              <a:srgbClr val="4D91F0"/>
            </a:solidFill>
            <a:prstDash val="solid"/>
          </a:ln>
        </p:spPr>
        <p:txBody>
          <a:bodyPr wrap="square" lIns="146304" tIns="164592" rIns="109728" bIns="91440" rtlCol="0" anchor="t">
            <a:noAutofit/>
          </a:bodyPr>
          <a:lstStyle/>
          <a:p>
            <a:pPr marL="0" indent="0" algn="l">
              <a:spcBef>
                <a:spcPts val="0"/>
              </a:spcBef>
              <a:spcAft>
                <a:spcPts val="250"/>
              </a:spcAft>
              <a:buNone/>
            </a:pPr>
            <a:r>
              <a:rPr lang="en-US" sz="1100" b="1" dirty="0">
                <a:solidFill>
                  <a:srgbClr val="4D91F0"/>
                </a:solidFill>
                <a:latin typeface="Segoe UI"/>
                <a:ea typeface="Segoe UI"/>
                <a:cs typeface="Segoe UI"/>
              </a:rPr>
              <a:t>MEMORY</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stack · heap · static data</a:t>
            </a:r>
            <a:endParaRPr lang="en-US" sz="1250" dirty="0"/>
          </a:p>
        </p:txBody>
      </p:sp>
      <p:cxnSp>
        <p:nvCxnSpPr>
          <p:cNvPr id="18" name="arrow"/>
          <p:cNvCxnSpPr/>
          <p:nvPr/>
        </p:nvCxnSpPr>
        <p:spPr>
          <a:xfrm flipH="1">
            <a:off x="3841852" y="2322576"/>
            <a:ext cx="2233422" cy="603504"/>
          </a:xfrm>
          <a:prstGeom prst="line">
            <a:avLst/>
          </a:prstGeom>
          <a:ln w="28575">
            <a:solidFill>
              <a:srgbClr val="A78BFA"/>
            </a:solidFill>
            <a:tailEnd type="triangle" w="med" len="med"/>
          </a:ln>
        </p:spPr>
      </p:cxnSp>
      <p:sp>
        <p:nvSpPr>
          <p:cNvPr id="19" name="card"/>
          <p:cNvSpPr/>
          <p:nvPr/>
        </p:nvSpPr>
        <p:spPr>
          <a:xfrm>
            <a:off x="2788006" y="2944368"/>
            <a:ext cx="2107692" cy="1920240"/>
          </a:xfrm>
          <a:prstGeom prst="roundRect">
            <a:avLst>
              <a:gd name="adj" fmla="val 4285"/>
            </a:avLst>
          </a:prstGeom>
          <a:solidFill>
            <a:srgbClr val="111B2E"/>
          </a:solidFill>
          <a:ln w="12700">
            <a:solidFill>
              <a:srgbClr val="A78BFA"/>
            </a:solidFill>
            <a:prstDash val="solid"/>
          </a:ln>
        </p:spPr>
        <p:txBody>
          <a:bodyPr wrap="square" lIns="146304" tIns="164592" rIns="109728" bIns="91440" rtlCol="0" anchor="t">
            <a:noAutofit/>
          </a:bodyPr>
          <a:lstStyle/>
          <a:p>
            <a:pPr marL="0" indent="0" algn="l">
              <a:spcBef>
                <a:spcPts val="0"/>
              </a:spcBef>
              <a:spcAft>
                <a:spcPts val="250"/>
              </a:spcAft>
              <a:buNone/>
            </a:pPr>
            <a:r>
              <a:rPr lang="en-US" sz="1100" b="1" dirty="0">
                <a:solidFill>
                  <a:srgbClr val="A78BFA"/>
                </a:solidFill>
                <a:latin typeface="Segoe UI"/>
                <a:ea typeface="Segoe UI"/>
                <a:cs typeface="Segoe UI"/>
              </a:rPr>
              <a:t>THREADS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workers that run code</a:t>
            </a:r>
            <a:endParaRPr lang="en-US" sz="1250" dirty="0"/>
          </a:p>
        </p:txBody>
      </p:sp>
      <p:cxnSp>
        <p:nvCxnSpPr>
          <p:cNvPr id="20" name="arrow"/>
          <p:cNvCxnSpPr/>
          <p:nvPr/>
        </p:nvCxnSpPr>
        <p:spPr>
          <a:xfrm>
            <a:off x="6075274" y="2322576"/>
            <a:ext cx="11430" cy="603504"/>
          </a:xfrm>
          <a:prstGeom prst="line">
            <a:avLst/>
          </a:prstGeom>
          <a:ln w="28575">
            <a:solidFill>
              <a:srgbClr val="13D0F7"/>
            </a:solidFill>
            <a:tailEnd type="triangle" w="med" len="med"/>
          </a:ln>
        </p:spPr>
      </p:cxnSp>
      <p:sp>
        <p:nvSpPr>
          <p:cNvPr id="21" name="card"/>
          <p:cNvSpPr/>
          <p:nvPr/>
        </p:nvSpPr>
        <p:spPr>
          <a:xfrm>
            <a:off x="5032858" y="2944368"/>
            <a:ext cx="2107692" cy="1920240"/>
          </a:xfrm>
          <a:prstGeom prst="roundRect">
            <a:avLst>
              <a:gd name="adj" fmla="val 4285"/>
            </a:avLst>
          </a:prstGeom>
          <a:solidFill>
            <a:srgbClr val="111B2E"/>
          </a:solidFill>
          <a:ln w="12700">
            <a:solidFill>
              <a:srgbClr val="13D0F7"/>
            </a:solidFill>
            <a:prstDash val="solid"/>
          </a:ln>
        </p:spPr>
        <p:txBody>
          <a:bodyPr wrap="square" lIns="146304" tIns="164592" rIns="109728" bIns="91440" rtlCol="0" anchor="t">
            <a:noAutofit/>
          </a:bodyPr>
          <a:lstStyle/>
          <a:p>
            <a:pPr marL="0" indent="0" algn="l">
              <a:spcBef>
                <a:spcPts val="0"/>
              </a:spcBef>
              <a:spcAft>
                <a:spcPts val="250"/>
              </a:spcAft>
              <a:buNone/>
            </a:pPr>
            <a:r>
              <a:rPr lang="en-US" sz="1100" b="1" dirty="0">
                <a:solidFill>
                  <a:srgbClr val="13D0F7"/>
                </a:solidFill>
                <a:latin typeface="Segoe UI"/>
                <a:ea typeface="Segoe UI"/>
                <a:cs typeface="Segoe UI"/>
              </a:rPr>
              <a:t>HANDLES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references to OS objects</a:t>
            </a:r>
            <a:endParaRPr lang="en-US" sz="1250" dirty="0"/>
          </a:p>
        </p:txBody>
      </p:sp>
      <p:cxnSp>
        <p:nvCxnSpPr>
          <p:cNvPr id="22" name="arrow"/>
          <p:cNvCxnSpPr/>
          <p:nvPr/>
        </p:nvCxnSpPr>
        <p:spPr>
          <a:xfrm>
            <a:off x="6075274" y="2322576"/>
            <a:ext cx="2256282" cy="603504"/>
          </a:xfrm>
          <a:prstGeom prst="line">
            <a:avLst/>
          </a:prstGeom>
          <a:ln w="28575">
            <a:solidFill>
              <a:srgbClr val="34D399"/>
            </a:solidFill>
            <a:tailEnd type="triangle" w="med" len="med"/>
          </a:ln>
        </p:spPr>
      </p:cxnSp>
      <p:sp>
        <p:nvSpPr>
          <p:cNvPr id="23" name="card"/>
          <p:cNvSpPr/>
          <p:nvPr/>
        </p:nvSpPr>
        <p:spPr>
          <a:xfrm>
            <a:off x="7277710" y="2944368"/>
            <a:ext cx="2107692" cy="1920240"/>
          </a:xfrm>
          <a:prstGeom prst="roundRect">
            <a:avLst>
              <a:gd name="adj" fmla="val 4285"/>
            </a:avLst>
          </a:prstGeom>
          <a:solidFill>
            <a:srgbClr val="111B2E"/>
          </a:solidFill>
          <a:ln w="12700">
            <a:solidFill>
              <a:srgbClr val="34D399"/>
            </a:solidFill>
            <a:prstDash val="solid"/>
          </a:ln>
        </p:spPr>
        <p:txBody>
          <a:bodyPr wrap="square" lIns="146304" tIns="164592" rIns="109728" bIns="91440" rtlCol="0" anchor="t">
            <a:noAutofit/>
          </a:bodyPr>
          <a:lstStyle/>
          <a:p>
            <a:pPr marL="0" indent="0" algn="l">
              <a:spcBef>
                <a:spcPts val="0"/>
              </a:spcBef>
              <a:spcAft>
                <a:spcPts val="250"/>
              </a:spcAft>
              <a:buNone/>
            </a:pPr>
            <a:r>
              <a:rPr lang="en-US" sz="1100" b="1" dirty="0">
                <a:solidFill>
                  <a:srgbClr val="34D399"/>
                </a:solidFill>
                <a:latin typeface="Segoe UI"/>
                <a:ea typeface="Segoe UI"/>
                <a:cs typeface="Segoe UI"/>
              </a:rPr>
              <a:t>FILES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open files and sockets</a:t>
            </a:r>
            <a:endParaRPr lang="en-US" sz="1250" dirty="0"/>
          </a:p>
        </p:txBody>
      </p:sp>
      <p:cxnSp>
        <p:nvCxnSpPr>
          <p:cNvPr id="24" name="arrow"/>
          <p:cNvCxnSpPr/>
          <p:nvPr/>
        </p:nvCxnSpPr>
        <p:spPr>
          <a:xfrm>
            <a:off x="6075274" y="2322576"/>
            <a:ext cx="4501134" cy="603504"/>
          </a:xfrm>
          <a:prstGeom prst="line">
            <a:avLst/>
          </a:prstGeom>
          <a:ln w="28575">
            <a:solidFill>
              <a:srgbClr val="FBBF24"/>
            </a:solidFill>
            <a:tailEnd type="triangle" w="med" len="med"/>
          </a:ln>
        </p:spPr>
      </p:cxnSp>
      <p:sp>
        <p:nvSpPr>
          <p:cNvPr id="25" name="card"/>
          <p:cNvSpPr/>
          <p:nvPr/>
        </p:nvSpPr>
        <p:spPr>
          <a:xfrm>
            <a:off x="9522562" y="2944368"/>
            <a:ext cx="2107692" cy="1920240"/>
          </a:xfrm>
          <a:prstGeom prst="roundRect">
            <a:avLst>
              <a:gd name="adj" fmla="val 4285"/>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50"/>
              </a:spcAft>
              <a:buNone/>
            </a:pPr>
            <a:r>
              <a:rPr lang="en-US" sz="1100" b="1" dirty="0">
                <a:solidFill>
                  <a:srgbClr val="FBBF24"/>
                </a:solidFill>
                <a:latin typeface="Segoe UI"/>
                <a:ea typeface="Segoe UI"/>
                <a:cs typeface="Segoe UI"/>
              </a:rPr>
              <a:t>OTHER OS RESOURCES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timers, locks, environment</a:t>
            </a:r>
            <a:endParaRPr lang="en-US" sz="1250" dirty="0"/>
          </a:p>
        </p:txBody>
      </p:sp>
      <p:sp>
        <p:nvSpPr>
          <p:cNvPr id="26"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Each process lives in its own box: its own memory, threads and OS resources.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5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25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2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2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FULL FLOW</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From Double Click to Running Code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07</a:t>
            </a:r>
            <a:endParaRPr lang="en-US" sz="850" dirty="0"/>
          </a:p>
        </p:txBody>
      </p:sp>
      <p:sp>
        <p:nvSpPr>
          <p:cNvPr id="15" name="card"/>
          <p:cNvSpPr/>
          <p:nvPr/>
        </p:nvSpPr>
        <p:spPr>
          <a:xfrm>
            <a:off x="543154" y="1572768"/>
            <a:ext cx="2560320" cy="1371600"/>
          </a:xfrm>
          <a:prstGeom prst="roundRect">
            <a:avLst>
              <a:gd name="adj" fmla="val 6000"/>
            </a:avLst>
          </a:prstGeom>
          <a:solidFill>
            <a:srgbClr val="111B2E"/>
          </a:solidFill>
          <a:ln w="12700">
            <a:solidFill>
              <a:srgbClr val="64748B"/>
            </a:solidFill>
            <a:prstDash val="solid"/>
          </a:ln>
        </p:spPr>
        <p:txBody>
          <a:bodyPr wrap="square" lIns="164592" tIns="109728" rIns="91440" bIns="45720" rtlCol="0" anchor="t">
            <a:noAutofit/>
          </a:bodyPr>
          <a:lstStyle/>
          <a:p>
            <a:pPr marL="0" indent="0" algn="l">
              <a:spcBef>
                <a:spcPts val="0"/>
              </a:spcBef>
              <a:spcAft>
                <a:spcPts val="120"/>
              </a:spcAft>
              <a:buNone/>
            </a:pPr>
            <a:r>
              <a:rPr lang="en-US" sz="1050" b="1" dirty="0">
                <a:solidFill>
                  <a:srgbClr val="94A3B8"/>
                </a:solidFill>
                <a:latin typeface="Segoe UI"/>
                <a:ea typeface="Segoe UI"/>
                <a:cs typeface="Segoe UI"/>
              </a:rPr>
              <a:t>DISK (SSD)</a:t>
            </a:r>
            <a:endParaRPr lang="en-US" sz="1050" dirty="0"/>
          </a:p>
          <a:p>
            <a:pPr marL="0" indent="0" algn="l">
              <a:spcBef>
                <a:spcPts val="0"/>
              </a:spcBef>
              <a:spcAft>
                <a:spcPts val="120"/>
              </a:spcAft>
              <a:buNone/>
            </a:pPr>
            <a:r>
              <a:rPr lang="en-US" sz="1100" b="1" dirty="0">
                <a:solidFill>
                  <a:srgbClr val="E2E8F0"/>
                </a:solidFill>
                <a:latin typeface="Consolas"/>
                <a:ea typeface="Consolas"/>
                <a:cs typeface="Consolas"/>
              </a:rPr>
              <a:t>SwiftBite.exe</a:t>
            </a:r>
            <a:endParaRPr lang="en-US" sz="1100" dirty="0"/>
          </a:p>
          <a:p>
            <a:pPr marL="0" indent="0" algn="l">
              <a:spcBef>
                <a:spcPts val="0"/>
              </a:spcBef>
              <a:spcAft>
                <a:spcPts val="0"/>
              </a:spcAft>
              <a:buNone/>
            </a:pPr>
            <a:r>
              <a:rPr lang="en-US" sz="1100" b="1" dirty="0">
                <a:solidFill>
                  <a:srgbClr val="E2E8F0"/>
                </a:solidFill>
                <a:latin typeface="Consolas"/>
                <a:ea typeface="Consolas"/>
                <a:cs typeface="Consolas"/>
              </a:rPr>
              <a:t>SwiftBite.dll</a:t>
            </a:r>
            <a:endParaRPr lang="en-US" sz="1100" dirty="0"/>
          </a:p>
        </p:txBody>
      </p:sp>
      <p:sp>
        <p:nvSpPr>
          <p:cNvPr id="16" name="ram"/>
          <p:cNvSpPr/>
          <p:nvPr/>
        </p:nvSpPr>
        <p:spPr>
          <a:xfrm>
            <a:off x="3652114" y="1572768"/>
            <a:ext cx="4206240" cy="1371600"/>
          </a:xfrm>
          <a:prstGeom prst="roundRect">
            <a:avLst>
              <a:gd name="adj" fmla="val 5000"/>
            </a:avLst>
          </a:prstGeom>
          <a:solidFill>
            <a:srgbClr val="0A1322"/>
          </a:solidFill>
          <a:ln w="19050">
            <a:solidFill>
              <a:srgbClr val="4D91F0"/>
            </a:solidFill>
            <a:prstDash val="solid"/>
          </a:ln>
        </p:spPr>
        <p:txBody>
          <a:bodyPr wrap="square" lIns="137160" tIns="73152" rIns="91440" bIns="45720" rtlCol="0" anchor="t">
            <a:noAutofit/>
          </a:bodyPr>
          <a:lstStyle/>
          <a:p>
            <a:pPr marL="0" indent="0" algn="l">
              <a:spcBef>
                <a:spcPts val="0"/>
              </a:spcBef>
              <a:spcAft>
                <a:spcPts val="0"/>
              </a:spcAft>
              <a:buNone/>
            </a:pPr>
            <a:r>
              <a:rPr lang="en-US" sz="1050" b="1" dirty="0">
                <a:solidFill>
                  <a:srgbClr val="4D91F0"/>
                </a:solidFill>
                <a:latin typeface="Segoe UI"/>
                <a:ea typeface="Segoe UI"/>
                <a:cs typeface="Segoe UI"/>
              </a:rPr>
              <a:t>RAM</a:t>
            </a:r>
            <a:endParaRPr lang="en-US" sz="1050" dirty="0"/>
          </a:p>
        </p:txBody>
      </p:sp>
      <p:sp>
        <p:nvSpPr>
          <p:cNvPr id="17" name="procbox"/>
          <p:cNvSpPr/>
          <p:nvPr/>
        </p:nvSpPr>
        <p:spPr>
          <a:xfrm>
            <a:off x="3789274" y="1920240"/>
            <a:ext cx="3931920" cy="914400"/>
          </a:xfrm>
          <a:prstGeom prst="roundRect">
            <a:avLst>
              <a:gd name="adj" fmla="val 8000"/>
            </a:avLst>
          </a:prstGeom>
          <a:solidFill>
            <a:srgbClr val="101F3A"/>
          </a:solidFill>
          <a:ln w="15875">
            <a:solidFill>
              <a:srgbClr val="FBBF24"/>
            </a:solidFill>
            <a:prstDash val="solid"/>
          </a:ln>
        </p:spPr>
        <p:txBody>
          <a:bodyPr wrap="square" lIns="91440" tIns="36576" rIns="91440" bIns="27432" rtlCol="0" anchor="t">
            <a:noAutofit/>
          </a:bodyPr>
          <a:lstStyle/>
          <a:p>
            <a:pPr marL="0" indent="0" algn="l">
              <a:spcBef>
                <a:spcPts val="0"/>
              </a:spcBef>
              <a:spcAft>
                <a:spcPts val="0"/>
              </a:spcAft>
              <a:buNone/>
            </a:pPr>
            <a:r>
              <a:rPr lang="en-US" sz="950" b="1" dirty="0">
                <a:solidFill>
                  <a:srgbClr val="FBBF24"/>
                </a:solidFill>
                <a:latin typeface="Segoe UI"/>
                <a:ea typeface="Segoe UI"/>
                <a:cs typeface="Segoe UI"/>
              </a:rPr>
              <a:t>SwiftBite process · PID 4812</a:t>
            </a:r>
            <a:endParaRPr lang="en-US" sz="950" dirty="0"/>
          </a:p>
        </p:txBody>
      </p:sp>
      <p:sp>
        <p:nvSpPr>
          <p:cNvPr id="18" name="pill"/>
          <p:cNvSpPr/>
          <p:nvPr/>
        </p:nvSpPr>
        <p:spPr>
          <a:xfrm>
            <a:off x="3926434" y="2258568"/>
            <a:ext cx="1143000" cy="292608"/>
          </a:xfrm>
          <a:prstGeom prst="roundRect">
            <a:avLst>
              <a:gd name="adj" fmla="val 30000"/>
            </a:avLst>
          </a:prstGeom>
          <a:solidFill>
            <a:srgbClr val="4D91F0">
              <a:alpha val="20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4D91F0"/>
                </a:solidFill>
                <a:latin typeface="Segoe UI"/>
                <a:ea typeface="Segoe UI"/>
                <a:cs typeface="Segoe UI"/>
              </a:rPr>
              <a:t>code</a:t>
            </a:r>
            <a:endParaRPr lang="en-US" sz="950" dirty="0"/>
          </a:p>
        </p:txBody>
      </p:sp>
      <p:sp>
        <p:nvSpPr>
          <p:cNvPr id="19" name="pill"/>
          <p:cNvSpPr/>
          <p:nvPr/>
        </p:nvSpPr>
        <p:spPr>
          <a:xfrm>
            <a:off x="5160874" y="2258568"/>
            <a:ext cx="1143000" cy="292608"/>
          </a:xfrm>
          <a:prstGeom prst="roundRect">
            <a:avLst>
              <a:gd name="adj" fmla="val 30000"/>
            </a:avLst>
          </a:prstGeom>
          <a:solidFill>
            <a:srgbClr val="4D91F0">
              <a:alpha val="20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4D91F0"/>
                </a:solidFill>
                <a:latin typeface="Segoe UI"/>
                <a:ea typeface="Segoe UI"/>
                <a:cs typeface="Segoe UI"/>
              </a:rPr>
              <a:t>data · heap</a:t>
            </a:r>
            <a:endParaRPr lang="en-US" sz="950" dirty="0"/>
          </a:p>
        </p:txBody>
      </p:sp>
      <p:sp>
        <p:nvSpPr>
          <p:cNvPr id="20" name="pill"/>
          <p:cNvSpPr/>
          <p:nvPr/>
        </p:nvSpPr>
        <p:spPr>
          <a:xfrm>
            <a:off x="6395314" y="2258568"/>
            <a:ext cx="1188720" cy="292608"/>
          </a:xfrm>
          <a:prstGeom prst="roundRect">
            <a:avLst>
              <a:gd name="adj" fmla="val 30000"/>
            </a:avLst>
          </a:prstGeom>
          <a:solidFill>
            <a:srgbClr val="A78BFA">
              <a:alpha val="20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A78BFA"/>
                </a:solidFill>
                <a:latin typeface="Segoe UI"/>
                <a:ea typeface="Segoe UI"/>
                <a:cs typeface="Segoe UI"/>
              </a:rPr>
              <a:t>main thread</a:t>
            </a:r>
            <a:endParaRPr lang="en-US" sz="950" dirty="0"/>
          </a:p>
        </p:txBody>
      </p:sp>
      <p:sp>
        <p:nvSpPr>
          <p:cNvPr id="21" name="card"/>
          <p:cNvSpPr/>
          <p:nvPr/>
        </p:nvSpPr>
        <p:spPr>
          <a:xfrm>
            <a:off x="8406994" y="1572768"/>
            <a:ext cx="3223260" cy="1371600"/>
          </a:xfrm>
          <a:prstGeom prst="roundRect">
            <a:avLst>
              <a:gd name="adj" fmla="val 6000"/>
            </a:avLst>
          </a:prstGeom>
          <a:solidFill>
            <a:srgbClr val="111B2E"/>
          </a:solidFill>
          <a:ln w="12700">
            <a:solidFill>
              <a:srgbClr val="34D399"/>
            </a:solidFill>
            <a:prstDash val="solid"/>
          </a:ln>
        </p:spPr>
        <p:txBody>
          <a:bodyPr wrap="square" lIns="164592" tIns="109728" rIns="91440" bIns="45720" rtlCol="0" anchor="t">
            <a:noAutofit/>
          </a:bodyPr>
          <a:lstStyle/>
          <a:p>
            <a:pPr marL="0" indent="0" algn="l">
              <a:spcBef>
                <a:spcPts val="0"/>
              </a:spcBef>
              <a:spcAft>
                <a:spcPts val="0"/>
              </a:spcAft>
              <a:buNone/>
            </a:pPr>
            <a:r>
              <a:rPr lang="en-US" sz="1050" b="1" dirty="0">
                <a:solidFill>
                  <a:srgbClr val="34D399"/>
                </a:solidFill>
                <a:latin typeface="Segoe UI"/>
                <a:ea typeface="Segoe UI"/>
                <a:cs typeface="Segoe UI"/>
              </a:rPr>
              <a:t>CPU · CORE 1</a:t>
            </a:r>
            <a:endParaRPr lang="en-US" sz="1050" dirty="0"/>
          </a:p>
        </p:txBody>
      </p:sp>
      <p:sp>
        <p:nvSpPr>
          <p:cNvPr id="22" name="pill"/>
          <p:cNvSpPr/>
          <p:nvPr/>
        </p:nvSpPr>
        <p:spPr>
          <a:xfrm>
            <a:off x="8544154" y="2121408"/>
            <a:ext cx="2948940" cy="36576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fetch → decode → execute</a:t>
            </a:r>
            <a:endParaRPr lang="en-US" sz="1000" dirty="0"/>
          </a:p>
        </p:txBody>
      </p:sp>
      <p:sp>
        <p:nvSpPr>
          <p:cNvPr id="23" name="lab"/>
          <p:cNvSpPr txBox="1"/>
          <p:nvPr/>
        </p:nvSpPr>
        <p:spPr>
          <a:xfrm>
            <a:off x="8544154" y="2560320"/>
            <a:ext cx="29489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1" dirty="0">
                <a:solidFill>
                  <a:srgbClr val="64748B"/>
                </a:solidFill>
                <a:latin typeface="Segoe UI"/>
                <a:ea typeface="Segoe UI"/>
                <a:cs typeface="Segoe UI"/>
              </a:rPr>
              <a:t>billions of times per second</a:t>
            </a:r>
            <a:endParaRPr lang="en-US" sz="900" dirty="0"/>
          </a:p>
        </p:txBody>
      </p:sp>
      <p:cxnSp>
        <p:nvCxnSpPr>
          <p:cNvPr id="24" name="arrow"/>
          <p:cNvCxnSpPr/>
          <p:nvPr/>
        </p:nvCxnSpPr>
        <p:spPr>
          <a:xfrm>
            <a:off x="3121762" y="2395728"/>
            <a:ext cx="649224" cy="0"/>
          </a:xfrm>
          <a:prstGeom prst="line">
            <a:avLst/>
          </a:prstGeom>
          <a:ln w="28575">
            <a:solidFill>
              <a:srgbClr val="4D91F0"/>
            </a:solidFill>
            <a:tailEnd type="triangle" w="med" len="med"/>
          </a:ln>
        </p:spPr>
      </p:cxnSp>
      <p:sp>
        <p:nvSpPr>
          <p:cNvPr id="25" name="lab"/>
          <p:cNvSpPr txBox="1"/>
          <p:nvPr/>
        </p:nvSpPr>
        <p:spPr>
          <a:xfrm>
            <a:off x="3057754" y="2075688"/>
            <a:ext cx="73152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1" dirty="0">
                <a:solidFill>
                  <a:srgbClr val="4D91F0"/>
                </a:solidFill>
                <a:latin typeface="Segoe UI"/>
                <a:ea typeface="Segoe UI"/>
                <a:cs typeface="Segoe UI"/>
              </a:rPr>
              <a:t>load</a:t>
            </a:r>
            <a:endParaRPr lang="en-US" sz="900" dirty="0"/>
          </a:p>
        </p:txBody>
      </p:sp>
      <p:cxnSp>
        <p:nvCxnSpPr>
          <p:cNvPr id="26" name="arrow"/>
          <p:cNvCxnSpPr/>
          <p:nvPr/>
        </p:nvCxnSpPr>
        <p:spPr>
          <a:xfrm>
            <a:off x="7876642" y="2304288"/>
            <a:ext cx="512064" cy="0"/>
          </a:xfrm>
          <a:prstGeom prst="line">
            <a:avLst/>
          </a:prstGeom>
          <a:ln w="28575">
            <a:solidFill>
              <a:srgbClr val="34D399"/>
            </a:solidFill>
            <a:tailEnd type="triangle" w="med" len="med"/>
          </a:ln>
        </p:spPr>
      </p:cxnSp>
      <p:sp>
        <p:nvSpPr>
          <p:cNvPr id="27" name="lab"/>
          <p:cNvSpPr txBox="1"/>
          <p:nvPr/>
        </p:nvSpPr>
        <p:spPr>
          <a:xfrm>
            <a:off x="7812634" y="1984248"/>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fetch</a:t>
            </a:r>
            <a:endParaRPr lang="en-US" sz="900" dirty="0"/>
          </a:p>
        </p:txBody>
      </p:sp>
      <p:sp>
        <p:nvSpPr>
          <p:cNvPr id="28" name="os"/>
          <p:cNvSpPr/>
          <p:nvPr/>
        </p:nvSpPr>
        <p:spPr>
          <a:xfrm>
            <a:off x="543154" y="3054096"/>
            <a:ext cx="11087100" cy="384048"/>
          </a:xfrm>
          <a:prstGeom prst="roundRect">
            <a:avLst>
              <a:gd name="adj" fmla="val 20000"/>
            </a:avLst>
          </a:prstGeom>
          <a:solidFill>
            <a:srgbClr val="1A1033"/>
          </a:solidFill>
          <a:ln w="15875">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A78BFA"/>
                </a:solidFill>
                <a:latin typeface="Segoe UI"/>
                <a:ea typeface="Segoe UI"/>
                <a:cs typeface="Segoe UI"/>
              </a:rPr>
              <a:t>OPERATING SYSTEM   </a:t>
            </a:r>
            <a:r>
              <a:rPr lang="en-US" sz="1000" b="0" dirty="0">
                <a:solidFill>
                  <a:srgbClr val="CBD5E1"/>
                </a:solidFill>
                <a:latin typeface="Segoe UI"/>
                <a:ea typeface="Segoe UI"/>
                <a:cs typeface="Segoe UI"/>
              </a:rPr>
              <a:t>loader · memory manager · scheduler · files</a:t>
            </a:r>
            <a:endParaRPr lang="en-US" sz="1000" dirty="0"/>
          </a:p>
        </p:txBody>
      </p:sp>
      <p:sp>
        <p:nvSpPr>
          <p:cNvPr id="29" name="card"/>
          <p:cNvSpPr/>
          <p:nvPr/>
        </p:nvSpPr>
        <p:spPr>
          <a:xfrm>
            <a:off x="543154" y="3584448"/>
            <a:ext cx="5452110" cy="548640"/>
          </a:xfrm>
          <a:prstGeom prst="roundRect">
            <a:avLst>
              <a:gd name="adj" fmla="val 12500"/>
            </a:avLst>
          </a:prstGeom>
          <a:solidFill>
            <a:srgbClr val="111B2E"/>
          </a:solidFill>
          <a:ln w="12700">
            <a:solidFill>
              <a:srgbClr val="13D0F7"/>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1   </a:t>
            </a:r>
            <a:r>
              <a:rPr lang="en-US" sz="1150" b="0" dirty="0">
                <a:solidFill>
                  <a:srgbClr val="CBD5E1"/>
                </a:solidFill>
                <a:latin typeface="Segoe UI"/>
                <a:ea typeface="Segoe UI"/>
                <a:cs typeface="Segoe UI"/>
              </a:rPr>
              <a:t>Double click: you ask the OS to run SwiftBite.exe.</a:t>
            </a:r>
            <a:endParaRPr lang="en-US" sz="1150" dirty="0"/>
          </a:p>
        </p:txBody>
      </p:sp>
      <p:sp>
        <p:nvSpPr>
          <p:cNvPr id="30" name="card"/>
          <p:cNvSpPr/>
          <p:nvPr/>
        </p:nvSpPr>
        <p:spPr>
          <a:xfrm>
            <a:off x="543154" y="4197096"/>
            <a:ext cx="5452110" cy="548640"/>
          </a:xfrm>
          <a:prstGeom prst="roundRect">
            <a:avLst>
              <a:gd name="adj" fmla="val 12500"/>
            </a:avLst>
          </a:prstGeom>
          <a:solidFill>
            <a:srgbClr val="111B2E"/>
          </a:solidFill>
          <a:ln w="12700">
            <a:solidFill>
              <a:srgbClr val="FBBF24"/>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2   </a:t>
            </a:r>
            <a:r>
              <a:rPr lang="en-US" sz="1150" b="0" dirty="0">
                <a:solidFill>
                  <a:srgbClr val="CBD5E1"/>
                </a:solidFill>
                <a:latin typeface="Segoe UI"/>
                <a:ea typeface="Segoe UI"/>
                <a:cs typeface="Segoe UI"/>
              </a:rPr>
              <a:t>The OS creates a process: private memory + an ID (PID).</a:t>
            </a:r>
            <a:endParaRPr lang="en-US" sz="1150" dirty="0"/>
          </a:p>
        </p:txBody>
      </p:sp>
      <p:sp>
        <p:nvSpPr>
          <p:cNvPr id="31" name="card"/>
          <p:cNvSpPr/>
          <p:nvPr/>
        </p:nvSpPr>
        <p:spPr>
          <a:xfrm>
            <a:off x="543154" y="4809744"/>
            <a:ext cx="5452110" cy="548640"/>
          </a:xfrm>
          <a:prstGeom prst="roundRect">
            <a:avLst>
              <a:gd name="adj" fmla="val 12500"/>
            </a:avLst>
          </a:prstGeom>
          <a:solidFill>
            <a:srgbClr val="111B2E"/>
          </a:solidFill>
          <a:ln w="12700">
            <a:solidFill>
              <a:srgbClr val="4D91F0"/>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3   </a:t>
            </a:r>
            <a:r>
              <a:rPr lang="en-US" sz="1150" b="0" dirty="0">
                <a:solidFill>
                  <a:srgbClr val="CBD5E1"/>
                </a:solidFill>
                <a:latin typeface="Segoe UI"/>
                <a:ea typeface="Segoe UI"/>
                <a:cs typeface="Segoe UI"/>
              </a:rPr>
              <a:t>The loader copies code and data from the disk into RAM.</a:t>
            </a:r>
            <a:endParaRPr lang="en-US" sz="1150" dirty="0"/>
          </a:p>
        </p:txBody>
      </p:sp>
      <p:sp>
        <p:nvSpPr>
          <p:cNvPr id="32" name="card"/>
          <p:cNvSpPr/>
          <p:nvPr/>
        </p:nvSpPr>
        <p:spPr>
          <a:xfrm>
            <a:off x="543154" y="5422392"/>
            <a:ext cx="5452110" cy="548640"/>
          </a:xfrm>
          <a:prstGeom prst="roundRect">
            <a:avLst>
              <a:gd name="adj" fmla="val 12500"/>
            </a:avLst>
          </a:prstGeom>
          <a:solidFill>
            <a:srgbClr val="111B2E"/>
          </a:solidFill>
          <a:ln w="12700">
            <a:solidFill>
              <a:srgbClr val="A78BFA"/>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A78BFA"/>
                </a:solidFill>
                <a:latin typeface="Consolas"/>
                <a:ea typeface="Consolas"/>
                <a:cs typeface="Consolas"/>
              </a:rPr>
              <a:t>4   </a:t>
            </a:r>
            <a:r>
              <a:rPr lang="en-US" sz="1150" b="0" dirty="0">
                <a:solidFill>
                  <a:srgbClr val="CBD5E1"/>
                </a:solidFill>
                <a:latin typeface="Segoe UI"/>
                <a:ea typeface="Segoe UI"/>
                <a:cs typeface="Segoe UI"/>
              </a:rPr>
              <a:t>The OS creates the main thread; the scheduler gives it a core.</a:t>
            </a:r>
            <a:endParaRPr lang="en-US" sz="1150" dirty="0"/>
          </a:p>
        </p:txBody>
      </p:sp>
      <p:sp>
        <p:nvSpPr>
          <p:cNvPr id="33" name="card"/>
          <p:cNvSpPr/>
          <p:nvPr/>
        </p:nvSpPr>
        <p:spPr>
          <a:xfrm>
            <a:off x="6178144" y="3584448"/>
            <a:ext cx="5452110" cy="502920"/>
          </a:xfrm>
          <a:prstGeom prst="roundRect">
            <a:avLst>
              <a:gd name="adj" fmla="val 12500"/>
            </a:avLst>
          </a:prstGeom>
          <a:solidFill>
            <a:srgbClr val="111B2E"/>
          </a:solidFill>
          <a:ln w="12700">
            <a:solidFill>
              <a:srgbClr val="34D399"/>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5   </a:t>
            </a:r>
            <a:r>
              <a:rPr lang="en-US" sz="1150" b="0" dirty="0">
                <a:solidFill>
                  <a:srgbClr val="CBD5E1"/>
                </a:solidFill>
                <a:latin typeface="Segoe UI"/>
                <a:ea typeface="Segoe UI"/>
                <a:cs typeface="Segoe UI"/>
              </a:rPr>
              <a:t>The core fetches instructions from RAM and executes them.</a:t>
            </a:r>
            <a:endParaRPr lang="en-US" sz="1150" dirty="0"/>
          </a:p>
        </p:txBody>
      </p:sp>
      <p:sp>
        <p:nvSpPr>
          <p:cNvPr id="34" name="card"/>
          <p:cNvSpPr/>
          <p:nvPr/>
        </p:nvSpPr>
        <p:spPr>
          <a:xfrm>
            <a:off x="6178144" y="4151376"/>
            <a:ext cx="5452110" cy="502920"/>
          </a:xfrm>
          <a:prstGeom prst="roundRect">
            <a:avLst>
              <a:gd name="adj" fmla="val 12500"/>
            </a:avLst>
          </a:prstGeom>
          <a:solidFill>
            <a:srgbClr val="111B2E"/>
          </a:solidFill>
          <a:ln w="12700">
            <a:solidFill>
              <a:srgbClr val="13D0F7"/>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6   </a:t>
            </a:r>
            <a:r>
              <a:rPr lang="en-US" sz="1150" b="0" dirty="0">
                <a:solidFill>
                  <a:srgbClr val="CBD5E1"/>
                </a:solidFill>
                <a:latin typeface="Segoe UI"/>
                <a:ea typeface="Segoe UI"/>
                <a:cs typeface="Segoe UI"/>
              </a:rPr>
              <a:t>.NET: the CLR starts, JIT-compiles IL to machine code, calls Main.</a:t>
            </a:r>
            <a:endParaRPr lang="en-US" sz="1150" dirty="0"/>
          </a:p>
        </p:txBody>
      </p:sp>
      <p:sp>
        <p:nvSpPr>
          <p:cNvPr id="35" name="card"/>
          <p:cNvSpPr/>
          <p:nvPr/>
        </p:nvSpPr>
        <p:spPr>
          <a:xfrm>
            <a:off x="6178144" y="4718304"/>
            <a:ext cx="5452110" cy="502920"/>
          </a:xfrm>
          <a:prstGeom prst="roundRect">
            <a:avLst>
              <a:gd name="adj" fmla="val 12500"/>
            </a:avLst>
          </a:prstGeom>
          <a:solidFill>
            <a:srgbClr val="111B2E"/>
          </a:solidFill>
          <a:ln w="12700">
            <a:solidFill>
              <a:srgbClr val="F87171"/>
            </a:solidFill>
            <a:prstDash val="solid"/>
          </a:ln>
        </p:spPr>
        <p:txBody>
          <a:bodyPr wrap="square" lIns="182880" tIns="18288" rIns="91440" bIns="18288"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7   </a:t>
            </a:r>
            <a:r>
              <a:rPr lang="en-US" sz="1150" b="0" dirty="0">
                <a:solidFill>
                  <a:srgbClr val="CBD5E1"/>
                </a:solidFill>
                <a:latin typeface="Segoe UI"/>
                <a:ea typeface="Segoe UI"/>
                <a:cs typeface="Segoe UI"/>
              </a:rPr>
              <a:t>Main returns: the OS frees the memory; the process is gone.</a:t>
            </a:r>
            <a:endParaRPr lang="en-US" sz="1150" dirty="0"/>
          </a:p>
        </p:txBody>
      </p:sp>
      <p:sp>
        <p:nvSpPr>
          <p:cNvPr id="36" name="cw_win"/>
          <p:cNvSpPr/>
          <p:nvPr/>
        </p:nvSpPr>
        <p:spPr>
          <a:xfrm>
            <a:off x="6178144" y="5266944"/>
            <a:ext cx="5452110" cy="786384"/>
          </a:xfrm>
          <a:prstGeom prst="roundRect">
            <a:avLst>
              <a:gd name="adj" fmla="val 8720"/>
            </a:avLst>
          </a:prstGeom>
          <a:solidFill>
            <a:srgbClr val="060D18"/>
          </a:solidFill>
          <a:ln w="12700">
            <a:solidFill>
              <a:srgbClr val="1E3A5F"/>
            </a:solidFill>
            <a:prstDash val="solid"/>
          </a:ln>
        </p:spPr>
        <p:txBody>
          <a:bodyPr/>
          <a:lstStyle/>
          <a:p>
            <a:endParaRPr lang="en-US"/>
          </a:p>
        </p:txBody>
      </p:sp>
      <p:sp>
        <p:nvSpPr>
          <p:cNvPr id="37" name="cw_bar"/>
          <p:cNvSpPr/>
          <p:nvPr/>
        </p:nvSpPr>
        <p:spPr>
          <a:xfrm>
            <a:off x="6178144" y="5266944"/>
            <a:ext cx="545211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8" name="cw_barfill"/>
          <p:cNvSpPr/>
          <p:nvPr/>
        </p:nvSpPr>
        <p:spPr>
          <a:xfrm>
            <a:off x="6178144" y="5438394"/>
            <a:ext cx="5452110" cy="171450"/>
          </a:xfrm>
          <a:prstGeom prst="rect">
            <a:avLst/>
          </a:prstGeom>
          <a:solidFill>
            <a:srgbClr val="0A1220"/>
          </a:solidFill>
          <a:ln w="12700">
            <a:solidFill>
              <a:srgbClr val="0A1220"/>
            </a:solidFill>
            <a:prstDash val="solid"/>
          </a:ln>
        </p:spPr>
        <p:txBody>
          <a:bodyPr/>
          <a:lstStyle/>
          <a:p>
            <a:endParaRPr lang="en-US"/>
          </a:p>
        </p:txBody>
      </p:sp>
      <p:sp>
        <p:nvSpPr>
          <p:cNvPr id="39" name="cw_dot0"/>
          <p:cNvSpPr/>
          <p:nvPr/>
        </p:nvSpPr>
        <p:spPr>
          <a:xfrm>
            <a:off x="6339992" y="5390754"/>
            <a:ext cx="95098" cy="95098"/>
          </a:xfrm>
          <a:prstGeom prst="ellipse">
            <a:avLst/>
          </a:prstGeom>
          <a:solidFill>
            <a:srgbClr val="F87171"/>
          </a:solidFill>
          <a:ln w="12700">
            <a:solidFill>
              <a:srgbClr val="F87171"/>
            </a:solidFill>
            <a:prstDash val="solid"/>
          </a:ln>
        </p:spPr>
        <p:txBody>
          <a:bodyPr/>
          <a:lstStyle/>
          <a:p>
            <a:endParaRPr lang="en-US"/>
          </a:p>
        </p:txBody>
      </p:sp>
      <p:sp>
        <p:nvSpPr>
          <p:cNvPr id="40" name="cw_dot1"/>
          <p:cNvSpPr/>
          <p:nvPr/>
        </p:nvSpPr>
        <p:spPr>
          <a:xfrm>
            <a:off x="6525616" y="5390754"/>
            <a:ext cx="95098" cy="95098"/>
          </a:xfrm>
          <a:prstGeom prst="ellipse">
            <a:avLst/>
          </a:prstGeom>
          <a:solidFill>
            <a:srgbClr val="FBBF24"/>
          </a:solidFill>
          <a:ln w="12700">
            <a:solidFill>
              <a:srgbClr val="FBBF24"/>
            </a:solidFill>
            <a:prstDash val="solid"/>
          </a:ln>
        </p:spPr>
        <p:txBody>
          <a:bodyPr/>
          <a:lstStyle/>
          <a:p>
            <a:endParaRPr lang="en-US"/>
          </a:p>
        </p:txBody>
      </p:sp>
      <p:sp>
        <p:nvSpPr>
          <p:cNvPr id="41" name="cw_dot2"/>
          <p:cNvSpPr/>
          <p:nvPr/>
        </p:nvSpPr>
        <p:spPr>
          <a:xfrm>
            <a:off x="6711239" y="5390754"/>
            <a:ext cx="95098" cy="95098"/>
          </a:xfrm>
          <a:prstGeom prst="ellipse">
            <a:avLst/>
          </a:prstGeom>
          <a:solidFill>
            <a:srgbClr val="34D399"/>
          </a:solidFill>
          <a:ln w="12700">
            <a:solidFill>
              <a:srgbClr val="34D399"/>
            </a:solidFill>
            <a:prstDash val="solid"/>
          </a:ln>
        </p:spPr>
        <p:txBody>
          <a:bodyPr/>
          <a:lstStyle/>
          <a:p>
            <a:endParaRPr lang="en-US"/>
          </a:p>
        </p:txBody>
      </p:sp>
      <p:sp>
        <p:nvSpPr>
          <p:cNvPr id="42" name="cw_tab"/>
          <p:cNvSpPr/>
          <p:nvPr/>
        </p:nvSpPr>
        <p:spPr>
          <a:xfrm>
            <a:off x="6959041" y="5314493"/>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43" name="cw_L00"/>
          <p:cNvSpPr txBox="1"/>
          <p:nvPr/>
        </p:nvSpPr>
        <p:spPr>
          <a:xfrm>
            <a:off x="6406744" y="5742432"/>
            <a:ext cx="506806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Console.WriteLine(Environment.ProcessId);   </a:t>
            </a:r>
            <a:r>
              <a:rPr lang="en-US" sz="950" b="0" dirty="0">
                <a:solidFill>
                  <a:srgbClr val="6FAE7A"/>
                </a:solidFill>
                <a:latin typeface="Consolas"/>
                <a:ea typeface="Consolas"/>
                <a:cs typeface="Consolas"/>
              </a:rPr>
              <a:t>// step 2: the PID</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25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25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250"/>
                                        <p:tgtEl>
                                          <p:spTgt spid="2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25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25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25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2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25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25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25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2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25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25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2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25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25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25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25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250"/>
                                        <p:tgtEl>
                                          <p:spTgt spid="4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2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p:bldP spid="25" grpId="0"/>
      <p:bldP spid="27" grpId="0"/>
      <p:bldP spid="28" grpId="0" animBg="1"/>
      <p:bldP spid="29" grpId="0" animBg="1"/>
      <p:bldP spid="30" grpId="0" animBg="1"/>
      <p:bldP spid="31" grpId="0" animBg="1"/>
      <p:bldP spid="32" grpId="0" animBg="1"/>
      <p:bldP spid="33" grpId="0" animBg="1"/>
      <p:bldP spid="34" grpId="0" animBg="1"/>
      <p:bldP spid="35" grpId="0" animBg="1"/>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CORES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Core Is an Independent Execution Unit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08</a:t>
            </a:r>
            <a:endParaRPr lang="en-US" sz="850" dirty="0"/>
          </a:p>
        </p:txBody>
      </p:sp>
      <p:sp>
        <p:nvSpPr>
          <p:cNvPr id="15" name="chip"/>
          <p:cNvSpPr/>
          <p:nvPr/>
        </p:nvSpPr>
        <p:spPr>
          <a:xfrm>
            <a:off x="543154" y="1572768"/>
            <a:ext cx="11087100" cy="3310128"/>
          </a:xfrm>
          <a:prstGeom prst="roundRect">
            <a:avLst>
              <a:gd name="adj" fmla="val 2486"/>
            </a:avLst>
          </a:prstGeom>
          <a:solidFill>
            <a:srgbClr val="111B2E"/>
          </a:solidFill>
          <a:ln w="12700">
            <a:solidFill>
              <a:srgbClr val="1E3A5F"/>
            </a:solidFill>
            <a:prstDash val="solid"/>
          </a:ln>
        </p:spPr>
        <p:txBody>
          <a:bodyPr wrap="square" lIns="228600" tIns="137160" rIns="182880" bIns="91440" rtlCol="0" anchor="t">
            <a:noAutofit/>
          </a:bodyPr>
          <a:lstStyle/>
          <a:p>
            <a:pPr marL="0" indent="0" algn="l">
              <a:spcBef>
                <a:spcPts val="0"/>
              </a:spcBef>
              <a:spcAft>
                <a:spcPts val="0"/>
              </a:spcAft>
              <a:buNone/>
            </a:pPr>
            <a:r>
              <a:rPr lang="en-US" sz="1100" b="1" dirty="0">
                <a:solidFill>
                  <a:srgbClr val="94A3B8"/>
                </a:solidFill>
                <a:latin typeface="Segoe UI"/>
                <a:ea typeface="Segoe UI"/>
                <a:cs typeface="Segoe UI"/>
              </a:rPr>
              <a:t>ONE CPU, 4 CORES</a:t>
            </a:r>
            <a:endParaRPr lang="en-US" sz="1100" dirty="0"/>
          </a:p>
        </p:txBody>
      </p:sp>
      <p:sp>
        <p:nvSpPr>
          <p:cNvPr id="16" name="card"/>
          <p:cNvSpPr/>
          <p:nvPr/>
        </p:nvSpPr>
        <p:spPr>
          <a:xfrm>
            <a:off x="771754" y="2258568"/>
            <a:ext cx="2486025" cy="2377440"/>
          </a:xfrm>
          <a:prstGeom prst="roundRect">
            <a:avLst>
              <a:gd name="adj" fmla="val 3461"/>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ctr">
              <a:spcBef>
                <a:spcPts val="0"/>
              </a:spcBef>
              <a:spcAft>
                <a:spcPts val="350"/>
              </a:spcAft>
              <a:buNone/>
            </a:pPr>
            <a:r>
              <a:rPr lang="en-US" sz="1800" b="1" dirty="0">
                <a:solidFill>
                  <a:srgbClr val="4D91F0"/>
                </a:solidFill>
                <a:latin typeface="Segoe UI"/>
                <a:ea typeface="Segoe UI"/>
                <a:cs typeface="Segoe UI"/>
              </a:rPr>
              <a:t>Core 1</a:t>
            </a:r>
            <a:endParaRPr lang="en-US" sz="1800" dirty="0"/>
          </a:p>
          <a:p>
            <a:pPr marL="0" indent="0" algn="ctr">
              <a:spcBef>
                <a:spcPts val="0"/>
              </a:spcBef>
              <a:spcAft>
                <a:spcPts val="350"/>
              </a:spcAft>
              <a:buNone/>
            </a:pPr>
            <a:r>
              <a:rPr lang="en-US" sz="1150" b="0" dirty="0">
                <a:solidFill>
                  <a:srgbClr val="94A3B8"/>
                </a:solidFill>
                <a:latin typeface="Segoe UI"/>
                <a:ea typeface="Segoe UI"/>
                <a:cs typeface="Segoe UI"/>
              </a:rPr>
              <a:t>running</a:t>
            </a:r>
            <a:endParaRPr lang="en-US" sz="1150" dirty="0"/>
          </a:p>
          <a:p>
            <a:pPr marL="0" indent="0" algn="ctr">
              <a:spcBef>
                <a:spcPts val="0"/>
              </a:spcBef>
              <a:spcAft>
                <a:spcPts val="0"/>
              </a:spcAft>
              <a:buNone/>
            </a:pPr>
            <a:r>
              <a:rPr lang="en-US" sz="1500" b="1" dirty="0">
                <a:solidFill>
                  <a:srgbClr val="FFFFFF"/>
                </a:solidFill>
                <a:latin typeface="Segoe UI"/>
                <a:ea typeface="Segoe UI"/>
                <a:cs typeface="Segoe UI"/>
              </a:rPr>
              <a:t>Chrome</a:t>
            </a:r>
            <a:endParaRPr lang="en-US" sz="1500" dirty="0"/>
          </a:p>
        </p:txBody>
      </p:sp>
      <p:sp>
        <p:nvSpPr>
          <p:cNvPr id="17" name="card"/>
          <p:cNvSpPr/>
          <p:nvPr/>
        </p:nvSpPr>
        <p:spPr>
          <a:xfrm>
            <a:off x="3486379" y="2258568"/>
            <a:ext cx="2486025" cy="2377440"/>
          </a:xfrm>
          <a:prstGeom prst="roundRect">
            <a:avLst>
              <a:gd name="adj" fmla="val 3461"/>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ctr">
              <a:spcBef>
                <a:spcPts val="0"/>
              </a:spcBef>
              <a:spcAft>
                <a:spcPts val="350"/>
              </a:spcAft>
              <a:buNone/>
            </a:pPr>
            <a:r>
              <a:rPr lang="en-US" sz="1800" b="1" dirty="0">
                <a:solidFill>
                  <a:srgbClr val="A78BFA"/>
                </a:solidFill>
                <a:latin typeface="Segoe UI"/>
                <a:ea typeface="Segoe UI"/>
                <a:cs typeface="Segoe UI"/>
              </a:rPr>
              <a:t>Core 2</a:t>
            </a:r>
            <a:endParaRPr lang="en-US" sz="1800" dirty="0"/>
          </a:p>
          <a:p>
            <a:pPr marL="0" indent="0" algn="ctr">
              <a:spcBef>
                <a:spcPts val="0"/>
              </a:spcBef>
              <a:spcAft>
                <a:spcPts val="350"/>
              </a:spcAft>
              <a:buNone/>
            </a:pPr>
            <a:r>
              <a:rPr lang="en-US" sz="1150" b="0" dirty="0">
                <a:solidFill>
                  <a:srgbClr val="94A3B8"/>
                </a:solidFill>
                <a:latin typeface="Segoe UI"/>
                <a:ea typeface="Segoe UI"/>
                <a:cs typeface="Segoe UI"/>
              </a:rPr>
              <a:t>running</a:t>
            </a:r>
            <a:endParaRPr lang="en-US" sz="1150" dirty="0"/>
          </a:p>
          <a:p>
            <a:pPr marL="0" indent="0" algn="ctr">
              <a:spcBef>
                <a:spcPts val="0"/>
              </a:spcBef>
              <a:spcAft>
                <a:spcPts val="0"/>
              </a:spcAft>
              <a:buNone/>
            </a:pPr>
            <a:r>
              <a:rPr lang="en-US" sz="1500" b="1" dirty="0">
                <a:solidFill>
                  <a:srgbClr val="FFFFFF"/>
                </a:solidFill>
                <a:latin typeface="Segoe UI"/>
                <a:ea typeface="Segoe UI"/>
                <a:cs typeface="Segoe UI"/>
              </a:rPr>
              <a:t>Visual Studio</a:t>
            </a:r>
            <a:endParaRPr lang="en-US" sz="1500" dirty="0"/>
          </a:p>
        </p:txBody>
      </p:sp>
      <p:sp>
        <p:nvSpPr>
          <p:cNvPr id="18" name="card"/>
          <p:cNvSpPr/>
          <p:nvPr/>
        </p:nvSpPr>
        <p:spPr>
          <a:xfrm>
            <a:off x="6201004" y="2258568"/>
            <a:ext cx="2486025" cy="2377440"/>
          </a:xfrm>
          <a:prstGeom prst="roundRect">
            <a:avLst>
              <a:gd name="adj" fmla="val 3461"/>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ctr">
              <a:spcBef>
                <a:spcPts val="0"/>
              </a:spcBef>
              <a:spcAft>
                <a:spcPts val="350"/>
              </a:spcAft>
              <a:buNone/>
            </a:pPr>
            <a:r>
              <a:rPr lang="en-US" sz="1800" b="1" dirty="0">
                <a:solidFill>
                  <a:srgbClr val="34D399"/>
                </a:solidFill>
                <a:latin typeface="Segoe UI"/>
                <a:ea typeface="Segoe UI"/>
                <a:cs typeface="Segoe UI"/>
              </a:rPr>
              <a:t>Core 3</a:t>
            </a:r>
            <a:endParaRPr lang="en-US" sz="1800" dirty="0"/>
          </a:p>
          <a:p>
            <a:pPr marL="0" indent="0" algn="ctr">
              <a:spcBef>
                <a:spcPts val="0"/>
              </a:spcBef>
              <a:spcAft>
                <a:spcPts val="350"/>
              </a:spcAft>
              <a:buNone/>
            </a:pPr>
            <a:r>
              <a:rPr lang="en-US" sz="1150" b="0" dirty="0">
                <a:solidFill>
                  <a:srgbClr val="94A3B8"/>
                </a:solidFill>
                <a:latin typeface="Segoe UI"/>
                <a:ea typeface="Segoe UI"/>
                <a:cs typeface="Segoe UI"/>
              </a:rPr>
              <a:t>running</a:t>
            </a:r>
            <a:endParaRPr lang="en-US" sz="1150" dirty="0"/>
          </a:p>
          <a:p>
            <a:pPr marL="0" indent="0" algn="ctr">
              <a:spcBef>
                <a:spcPts val="0"/>
              </a:spcBef>
              <a:spcAft>
                <a:spcPts val="0"/>
              </a:spcAft>
              <a:buNone/>
            </a:pPr>
            <a:r>
              <a:rPr lang="en-US" sz="1500" b="1" dirty="0">
                <a:solidFill>
                  <a:srgbClr val="FFFFFF"/>
                </a:solidFill>
                <a:latin typeface="Segoe UI"/>
                <a:ea typeface="Segoe UI"/>
                <a:cs typeface="Segoe UI"/>
              </a:rPr>
              <a:t>Spotify</a:t>
            </a:r>
            <a:endParaRPr lang="en-US" sz="1500" dirty="0"/>
          </a:p>
        </p:txBody>
      </p:sp>
      <p:sp>
        <p:nvSpPr>
          <p:cNvPr id="19" name="card"/>
          <p:cNvSpPr/>
          <p:nvPr/>
        </p:nvSpPr>
        <p:spPr>
          <a:xfrm>
            <a:off x="8915629" y="2258568"/>
            <a:ext cx="2486025" cy="2377440"/>
          </a:xfrm>
          <a:prstGeom prst="roundRect">
            <a:avLst>
              <a:gd name="adj" fmla="val 3461"/>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ctr">
              <a:spcBef>
                <a:spcPts val="0"/>
              </a:spcBef>
              <a:spcAft>
                <a:spcPts val="350"/>
              </a:spcAft>
              <a:buNone/>
            </a:pPr>
            <a:r>
              <a:rPr lang="en-US" sz="1800" b="1" dirty="0">
                <a:solidFill>
                  <a:srgbClr val="FBBF24"/>
                </a:solidFill>
                <a:latin typeface="Segoe UI"/>
                <a:ea typeface="Segoe UI"/>
                <a:cs typeface="Segoe UI"/>
              </a:rPr>
              <a:t>Core 4</a:t>
            </a:r>
            <a:endParaRPr lang="en-US" sz="1800" dirty="0"/>
          </a:p>
          <a:p>
            <a:pPr marL="0" indent="0" algn="ctr">
              <a:spcBef>
                <a:spcPts val="0"/>
              </a:spcBef>
              <a:spcAft>
                <a:spcPts val="350"/>
              </a:spcAft>
              <a:buNone/>
            </a:pPr>
            <a:r>
              <a:rPr lang="en-US" sz="1150" b="0" dirty="0">
                <a:solidFill>
                  <a:srgbClr val="94A3B8"/>
                </a:solidFill>
                <a:latin typeface="Segoe UI"/>
                <a:ea typeface="Segoe UI"/>
                <a:cs typeface="Segoe UI"/>
              </a:rPr>
              <a:t>running</a:t>
            </a:r>
            <a:endParaRPr lang="en-US" sz="1150" dirty="0"/>
          </a:p>
          <a:p>
            <a:pPr marL="0" indent="0" algn="ctr">
              <a:spcBef>
                <a:spcPts val="0"/>
              </a:spcBef>
              <a:spcAft>
                <a:spcPts val="0"/>
              </a:spcAft>
              <a:buNone/>
            </a:pPr>
            <a:r>
              <a:rPr lang="en-US" sz="1500" b="1" dirty="0">
                <a:solidFill>
                  <a:srgbClr val="FFFFFF"/>
                </a:solidFill>
                <a:latin typeface="Segoe UI"/>
                <a:ea typeface="Segoe UI"/>
                <a:cs typeface="Segoe UI"/>
              </a:rPr>
              <a:t>SwiftBite.exe</a:t>
            </a:r>
            <a:endParaRPr lang="en-US" sz="1500" dirty="0"/>
          </a:p>
        </p:txBody>
      </p:sp>
      <p:sp>
        <p:nvSpPr>
          <p:cNvPr id="20"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More cores = more work can physically run at the same time.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25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25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25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8590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CORES &amp; THREADS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Cores Run Threads, Not Processes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09</a:t>
            </a:r>
            <a:endParaRPr lang="en-US" sz="850" dirty="0"/>
          </a:p>
        </p:txBody>
      </p:sp>
      <p:sp>
        <p:nvSpPr>
          <p:cNvPr id="15" name="card"/>
          <p:cNvSpPr/>
          <p:nvPr/>
        </p:nvSpPr>
        <p:spPr>
          <a:xfrm>
            <a:off x="1731874" y="1572768"/>
            <a:ext cx="3154680" cy="347472"/>
          </a:xfrm>
          <a:prstGeom prst="roundRect">
            <a:avLst>
              <a:gd name="adj" fmla="val 12500"/>
            </a:avLst>
          </a:prstGeom>
          <a:solidFill>
            <a:srgbClr val="111B2E"/>
          </a:solidFill>
          <a:ln w="12700">
            <a:solidFill>
              <a:srgbClr val="4D91F0"/>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Chrome   </a:t>
            </a:r>
            <a:r>
              <a:rPr lang="en-US" sz="1100" b="0" dirty="0">
                <a:solidFill>
                  <a:srgbClr val="CBD5E1"/>
                </a:solidFill>
                <a:latin typeface="Consolas"/>
                <a:ea typeface="Consolas"/>
                <a:cs typeface="Consolas"/>
              </a:rPr>
              <a:t>threads C1 · C2</a:t>
            </a:r>
            <a:endParaRPr lang="en-US" sz="1100" dirty="0"/>
          </a:p>
        </p:txBody>
      </p:sp>
      <p:sp>
        <p:nvSpPr>
          <p:cNvPr id="16" name="card"/>
          <p:cNvSpPr/>
          <p:nvPr/>
        </p:nvSpPr>
        <p:spPr>
          <a:xfrm>
            <a:off x="5069434" y="1572768"/>
            <a:ext cx="3154680" cy="347472"/>
          </a:xfrm>
          <a:prstGeom prst="roundRect">
            <a:avLst>
              <a:gd name="adj" fmla="val 12500"/>
            </a:avLst>
          </a:prstGeom>
          <a:solidFill>
            <a:srgbClr val="111B2E"/>
          </a:solidFill>
          <a:ln w="12700">
            <a:solidFill>
              <a:srgbClr val="FBBF24"/>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SwiftBite   </a:t>
            </a:r>
            <a:r>
              <a:rPr lang="en-US" sz="1100" b="0" dirty="0">
                <a:solidFill>
                  <a:srgbClr val="CBD5E1"/>
                </a:solidFill>
                <a:latin typeface="Consolas"/>
                <a:ea typeface="Consolas"/>
                <a:cs typeface="Consolas"/>
              </a:rPr>
              <a:t>threads S1 · S2 · S3</a:t>
            </a:r>
            <a:endParaRPr lang="en-US" sz="1100" dirty="0"/>
          </a:p>
        </p:txBody>
      </p:sp>
      <p:sp>
        <p:nvSpPr>
          <p:cNvPr id="17" name="card"/>
          <p:cNvSpPr/>
          <p:nvPr/>
        </p:nvSpPr>
        <p:spPr>
          <a:xfrm>
            <a:off x="8406994" y="1572768"/>
            <a:ext cx="3154680" cy="347472"/>
          </a:xfrm>
          <a:prstGeom prst="roundRect">
            <a:avLst>
              <a:gd name="adj" fmla="val 12500"/>
            </a:avLst>
          </a:prstGeom>
          <a:solidFill>
            <a:srgbClr val="111B2E"/>
          </a:solidFill>
          <a:ln w="12700">
            <a:solidFill>
              <a:srgbClr val="34D399"/>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Spotify   </a:t>
            </a:r>
            <a:r>
              <a:rPr lang="en-US" sz="1100" b="0" dirty="0">
                <a:solidFill>
                  <a:srgbClr val="CBD5E1"/>
                </a:solidFill>
                <a:latin typeface="Consolas"/>
                <a:ea typeface="Consolas"/>
                <a:cs typeface="Consolas"/>
              </a:rPr>
              <a:t>threads G1</a:t>
            </a:r>
            <a:endParaRPr lang="en-US" sz="1100" dirty="0"/>
          </a:p>
        </p:txBody>
      </p:sp>
      <p:sp>
        <p:nvSpPr>
          <p:cNvPr id="18" name="lab"/>
          <p:cNvSpPr txBox="1"/>
          <p:nvPr/>
        </p:nvSpPr>
        <p:spPr>
          <a:xfrm>
            <a:off x="543154" y="1618488"/>
            <a:ext cx="109728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PROCESSES</a:t>
            </a:r>
            <a:endParaRPr lang="en-US" sz="1000" dirty="0"/>
          </a:p>
        </p:txBody>
      </p:sp>
      <p:sp>
        <p:nvSpPr>
          <p:cNvPr id="19" name="lab"/>
          <p:cNvSpPr txBox="1"/>
          <p:nvPr/>
        </p:nvSpPr>
        <p:spPr>
          <a:xfrm>
            <a:off x="543154" y="212140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Core 1</a:t>
            </a:r>
            <a:endParaRPr lang="en-US" sz="1100" dirty="0"/>
          </a:p>
        </p:txBody>
      </p:sp>
      <p:sp>
        <p:nvSpPr>
          <p:cNvPr id="20" name="lane"/>
          <p:cNvSpPr/>
          <p:nvPr/>
        </p:nvSpPr>
        <p:spPr>
          <a:xfrm>
            <a:off x="1731874" y="2560320"/>
            <a:ext cx="9898380" cy="18288"/>
          </a:xfrm>
          <a:prstGeom prst="rect">
            <a:avLst/>
          </a:prstGeom>
          <a:solidFill>
            <a:srgbClr val="1E3A5F"/>
          </a:solidFill>
          <a:ln w="12700">
            <a:solidFill>
              <a:srgbClr val="1E3A5F"/>
            </a:solidFill>
            <a:prstDash val="solid"/>
          </a:ln>
        </p:spPr>
        <p:txBody>
          <a:bodyPr/>
          <a:lstStyle/>
          <a:p>
            <a:endParaRPr lang="en-US"/>
          </a:p>
        </p:txBody>
      </p:sp>
      <p:sp>
        <p:nvSpPr>
          <p:cNvPr id="21" name="bar"/>
          <p:cNvSpPr/>
          <p:nvPr/>
        </p:nvSpPr>
        <p:spPr>
          <a:xfrm>
            <a:off x="1777594" y="2157984"/>
            <a:ext cx="1570482"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C1</a:t>
            </a:r>
            <a:endParaRPr lang="en-US" sz="1100" dirty="0"/>
          </a:p>
        </p:txBody>
      </p:sp>
      <p:sp>
        <p:nvSpPr>
          <p:cNvPr id="22" name="bar"/>
          <p:cNvSpPr/>
          <p:nvPr/>
        </p:nvSpPr>
        <p:spPr>
          <a:xfrm>
            <a:off x="3412084" y="215798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S1</a:t>
            </a:r>
            <a:endParaRPr lang="en-US" sz="1100" dirty="0"/>
          </a:p>
        </p:txBody>
      </p:sp>
      <p:sp>
        <p:nvSpPr>
          <p:cNvPr id="23" name="bar"/>
          <p:cNvSpPr/>
          <p:nvPr/>
        </p:nvSpPr>
        <p:spPr>
          <a:xfrm>
            <a:off x="5046574" y="2157984"/>
            <a:ext cx="1570482"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G1</a:t>
            </a:r>
            <a:endParaRPr lang="en-US" sz="1100" dirty="0"/>
          </a:p>
        </p:txBody>
      </p:sp>
      <p:sp>
        <p:nvSpPr>
          <p:cNvPr id="24" name="bar"/>
          <p:cNvSpPr/>
          <p:nvPr/>
        </p:nvSpPr>
        <p:spPr>
          <a:xfrm>
            <a:off x="6681064" y="215798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S2</a:t>
            </a:r>
            <a:endParaRPr lang="en-US" sz="1100" dirty="0"/>
          </a:p>
        </p:txBody>
      </p:sp>
      <p:sp>
        <p:nvSpPr>
          <p:cNvPr id="25" name="bar"/>
          <p:cNvSpPr/>
          <p:nvPr/>
        </p:nvSpPr>
        <p:spPr>
          <a:xfrm>
            <a:off x="8315554" y="2157984"/>
            <a:ext cx="1570482"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C1</a:t>
            </a:r>
            <a:endParaRPr lang="en-US" sz="1100" dirty="0"/>
          </a:p>
        </p:txBody>
      </p:sp>
      <p:sp>
        <p:nvSpPr>
          <p:cNvPr id="26" name="bar"/>
          <p:cNvSpPr/>
          <p:nvPr/>
        </p:nvSpPr>
        <p:spPr>
          <a:xfrm>
            <a:off x="9950044" y="215798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S3</a:t>
            </a:r>
            <a:endParaRPr lang="en-US" sz="1100" dirty="0"/>
          </a:p>
        </p:txBody>
      </p:sp>
      <p:sp>
        <p:nvSpPr>
          <p:cNvPr id="27" name="lab"/>
          <p:cNvSpPr txBox="1"/>
          <p:nvPr/>
        </p:nvSpPr>
        <p:spPr>
          <a:xfrm>
            <a:off x="543154" y="276148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Core 2</a:t>
            </a:r>
            <a:endParaRPr lang="en-US" sz="1100" dirty="0"/>
          </a:p>
        </p:txBody>
      </p:sp>
      <p:sp>
        <p:nvSpPr>
          <p:cNvPr id="28" name="lane"/>
          <p:cNvSpPr/>
          <p:nvPr/>
        </p:nvSpPr>
        <p:spPr>
          <a:xfrm>
            <a:off x="1731874" y="3200400"/>
            <a:ext cx="9898380" cy="18288"/>
          </a:xfrm>
          <a:prstGeom prst="rect">
            <a:avLst/>
          </a:prstGeom>
          <a:solidFill>
            <a:srgbClr val="1E3A5F"/>
          </a:solidFill>
          <a:ln w="12700">
            <a:solidFill>
              <a:srgbClr val="1E3A5F"/>
            </a:solidFill>
            <a:prstDash val="solid"/>
          </a:ln>
        </p:spPr>
        <p:txBody>
          <a:bodyPr/>
          <a:lstStyle/>
          <a:p>
            <a:endParaRPr lang="en-US"/>
          </a:p>
        </p:txBody>
      </p:sp>
      <p:sp>
        <p:nvSpPr>
          <p:cNvPr id="29" name="bar"/>
          <p:cNvSpPr/>
          <p:nvPr/>
        </p:nvSpPr>
        <p:spPr>
          <a:xfrm>
            <a:off x="1777594" y="279806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S2</a:t>
            </a:r>
            <a:endParaRPr lang="en-US" sz="1100" dirty="0"/>
          </a:p>
        </p:txBody>
      </p:sp>
      <p:sp>
        <p:nvSpPr>
          <p:cNvPr id="30" name="bar"/>
          <p:cNvSpPr/>
          <p:nvPr/>
        </p:nvSpPr>
        <p:spPr>
          <a:xfrm>
            <a:off x="3412084" y="2798064"/>
            <a:ext cx="1570482"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C2</a:t>
            </a:r>
            <a:endParaRPr lang="en-US" sz="1100" dirty="0"/>
          </a:p>
        </p:txBody>
      </p:sp>
      <p:sp>
        <p:nvSpPr>
          <p:cNvPr id="31" name="bar"/>
          <p:cNvSpPr/>
          <p:nvPr/>
        </p:nvSpPr>
        <p:spPr>
          <a:xfrm>
            <a:off x="5046574" y="279806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S1</a:t>
            </a:r>
            <a:endParaRPr lang="en-US" sz="1100" dirty="0"/>
          </a:p>
        </p:txBody>
      </p:sp>
      <p:sp>
        <p:nvSpPr>
          <p:cNvPr id="32" name="bar"/>
          <p:cNvSpPr/>
          <p:nvPr/>
        </p:nvSpPr>
        <p:spPr>
          <a:xfrm>
            <a:off x="6681064" y="2798064"/>
            <a:ext cx="1570482"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C2</a:t>
            </a:r>
            <a:endParaRPr lang="en-US" sz="1100" dirty="0"/>
          </a:p>
        </p:txBody>
      </p:sp>
      <p:sp>
        <p:nvSpPr>
          <p:cNvPr id="33" name="bar"/>
          <p:cNvSpPr/>
          <p:nvPr/>
        </p:nvSpPr>
        <p:spPr>
          <a:xfrm>
            <a:off x="8315554" y="2798064"/>
            <a:ext cx="1570482"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G1</a:t>
            </a:r>
            <a:endParaRPr lang="en-US" sz="1100" dirty="0"/>
          </a:p>
        </p:txBody>
      </p:sp>
      <p:sp>
        <p:nvSpPr>
          <p:cNvPr id="34" name="bar"/>
          <p:cNvSpPr/>
          <p:nvPr/>
        </p:nvSpPr>
        <p:spPr>
          <a:xfrm>
            <a:off x="9950044" y="2798064"/>
            <a:ext cx="1570482"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S1</a:t>
            </a:r>
            <a:endParaRPr lang="en-US" sz="1100" dirty="0"/>
          </a:p>
        </p:txBody>
      </p:sp>
      <p:cxnSp>
        <p:nvCxnSpPr>
          <p:cNvPr id="35" name="arrow"/>
          <p:cNvCxnSpPr/>
          <p:nvPr/>
        </p:nvCxnSpPr>
        <p:spPr>
          <a:xfrm>
            <a:off x="4229329" y="2542032"/>
            <a:ext cx="1634490" cy="246888"/>
          </a:xfrm>
          <a:prstGeom prst="line">
            <a:avLst/>
          </a:prstGeom>
          <a:ln w="34925">
            <a:solidFill>
              <a:srgbClr val="F87171"/>
            </a:solidFill>
            <a:tailEnd type="triangle" w="med" len="med"/>
          </a:ln>
        </p:spPr>
      </p:cxnSp>
      <p:sp>
        <p:nvSpPr>
          <p:cNvPr id="36" name="ring"/>
          <p:cNvSpPr/>
          <p:nvPr/>
        </p:nvSpPr>
        <p:spPr>
          <a:xfrm>
            <a:off x="3393796" y="2139696"/>
            <a:ext cx="1607058" cy="420624"/>
          </a:xfrm>
          <a:prstGeom prst="roundRect">
            <a:avLst>
              <a:gd name="adj" fmla="val 20000"/>
            </a:avLst>
          </a:prstGeom>
          <a:noFill/>
          <a:ln w="28575">
            <a:solidFill>
              <a:srgbClr val="F87171"/>
            </a:solidFill>
            <a:prstDash val="solid"/>
          </a:ln>
        </p:spPr>
        <p:txBody>
          <a:bodyPr/>
          <a:lstStyle/>
          <a:p>
            <a:endParaRPr lang="en-US"/>
          </a:p>
        </p:txBody>
      </p:sp>
      <p:sp>
        <p:nvSpPr>
          <p:cNvPr id="37" name="ring"/>
          <p:cNvSpPr/>
          <p:nvPr/>
        </p:nvSpPr>
        <p:spPr>
          <a:xfrm>
            <a:off x="5028286" y="2779776"/>
            <a:ext cx="1607058" cy="420624"/>
          </a:xfrm>
          <a:prstGeom prst="roundRect">
            <a:avLst>
              <a:gd name="adj" fmla="val 20000"/>
            </a:avLst>
          </a:prstGeom>
          <a:noFill/>
          <a:ln w="28575">
            <a:solidFill>
              <a:srgbClr val="F87171"/>
            </a:solidFill>
            <a:prstDash val="solid"/>
          </a:ln>
        </p:spPr>
        <p:txBody>
          <a:bodyPr/>
          <a:lstStyle/>
          <a:p>
            <a:endParaRPr lang="en-US"/>
          </a:p>
        </p:txBody>
      </p:sp>
      <p:sp>
        <p:nvSpPr>
          <p:cNvPr id="38" name="lab"/>
          <p:cNvSpPr txBox="1"/>
          <p:nvPr/>
        </p:nvSpPr>
        <p:spPr>
          <a:xfrm>
            <a:off x="6027268" y="3264408"/>
            <a:ext cx="36576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S1 ran on Core 1, then on Core 2</a:t>
            </a:r>
            <a:endParaRPr lang="en-US" sz="1100" dirty="0"/>
          </a:p>
        </p:txBody>
      </p:sp>
      <p:sp>
        <p:nvSpPr>
          <p:cNvPr id="39" name="card"/>
          <p:cNvSpPr/>
          <p:nvPr/>
        </p:nvSpPr>
        <p:spPr>
          <a:xfrm>
            <a:off x="543154" y="3584448"/>
            <a:ext cx="2634615" cy="1298448"/>
          </a:xfrm>
          <a:prstGeom prst="roundRect">
            <a:avLst>
              <a:gd name="adj" fmla="val 6338"/>
            </a:avLst>
          </a:prstGeom>
          <a:solidFill>
            <a:srgbClr val="111B2E"/>
          </a:solidFill>
          <a:ln w="12700">
            <a:solidFill>
              <a:srgbClr val="A78BFA"/>
            </a:solidFill>
            <a:prstDash val="solid"/>
          </a:ln>
        </p:spPr>
        <p:txBody>
          <a:bodyPr wrap="square" lIns="164592" tIns="137160" rIns="128016" bIns="73152" rtlCol="0" anchor="t">
            <a:noAutofit/>
          </a:bodyPr>
          <a:lstStyle/>
          <a:p>
            <a:pPr marL="0" indent="0" algn="l">
              <a:spcBef>
                <a:spcPts val="0"/>
              </a:spcBef>
              <a:spcAft>
                <a:spcPts val="120"/>
              </a:spcAft>
              <a:buNone/>
            </a:pPr>
            <a:r>
              <a:rPr lang="en-US" sz="1050" b="1" dirty="0">
                <a:solidFill>
                  <a:srgbClr val="A78BFA"/>
                </a:solidFill>
                <a:latin typeface="Segoe UI"/>
                <a:ea typeface="Segoe UI"/>
                <a:cs typeface="Segoe UI"/>
              </a:rPr>
              <a:t>ONE AT A TIME</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Each core runs exactly one thread at any instant.</a:t>
            </a:r>
            <a:endParaRPr lang="en-US" sz="1200" dirty="0"/>
          </a:p>
        </p:txBody>
      </p:sp>
      <p:sp>
        <p:nvSpPr>
          <p:cNvPr id="40" name="card"/>
          <p:cNvSpPr/>
          <p:nvPr/>
        </p:nvSpPr>
        <p:spPr>
          <a:xfrm>
            <a:off x="3360649" y="3584448"/>
            <a:ext cx="2634615" cy="1298448"/>
          </a:xfrm>
          <a:prstGeom prst="roundRect">
            <a:avLst>
              <a:gd name="adj" fmla="val 6338"/>
            </a:avLst>
          </a:prstGeom>
          <a:solidFill>
            <a:srgbClr val="111B2E"/>
          </a:solidFill>
          <a:ln w="12700">
            <a:solidFill>
              <a:srgbClr val="4D91F0"/>
            </a:solidFill>
            <a:prstDash val="solid"/>
          </a:ln>
        </p:spPr>
        <p:txBody>
          <a:bodyPr wrap="square" lIns="164592" tIns="137160" rIns="128016" bIns="73152" rtlCol="0" anchor="t">
            <a:noAutofit/>
          </a:bodyPr>
          <a:lstStyle/>
          <a:p>
            <a:pPr marL="0" indent="0" algn="l">
              <a:spcBef>
                <a:spcPts val="0"/>
              </a:spcBef>
              <a:spcAft>
                <a:spcPts val="120"/>
              </a:spcAft>
              <a:buNone/>
            </a:pPr>
            <a:r>
              <a:rPr lang="en-US" sz="1050" b="1" dirty="0">
                <a:solidFill>
                  <a:srgbClr val="4D91F0"/>
                </a:solidFill>
                <a:latin typeface="Segoe UI"/>
                <a:ea typeface="Segoe UI"/>
                <a:cs typeface="Segoe UI"/>
              </a:rPr>
              <a:t>NO OWNERSHIP</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A core runs threads from any process; it owns none of them.</a:t>
            </a:r>
            <a:endParaRPr lang="en-US" sz="1200" dirty="0"/>
          </a:p>
        </p:txBody>
      </p:sp>
      <p:sp>
        <p:nvSpPr>
          <p:cNvPr id="41" name="card"/>
          <p:cNvSpPr/>
          <p:nvPr/>
        </p:nvSpPr>
        <p:spPr>
          <a:xfrm>
            <a:off x="6178144" y="3584448"/>
            <a:ext cx="2634615" cy="1298448"/>
          </a:xfrm>
          <a:prstGeom prst="roundRect">
            <a:avLst>
              <a:gd name="adj" fmla="val 6338"/>
            </a:avLst>
          </a:prstGeom>
          <a:solidFill>
            <a:srgbClr val="111B2E"/>
          </a:solidFill>
          <a:ln w="12700">
            <a:solidFill>
              <a:srgbClr val="F87171"/>
            </a:solidFill>
            <a:prstDash val="solid"/>
          </a:ln>
        </p:spPr>
        <p:txBody>
          <a:bodyPr wrap="square" lIns="164592" tIns="137160" rIns="128016" bIns="73152" rtlCol="0" anchor="t">
            <a:noAutofit/>
          </a:bodyPr>
          <a:lstStyle/>
          <a:p>
            <a:pPr marL="0" indent="0" algn="l">
              <a:spcBef>
                <a:spcPts val="0"/>
              </a:spcBef>
              <a:spcAft>
                <a:spcPts val="120"/>
              </a:spcAft>
              <a:buNone/>
            </a:pPr>
            <a:r>
              <a:rPr lang="en-US" sz="1050" b="1" dirty="0">
                <a:solidFill>
                  <a:srgbClr val="F87171"/>
                </a:solidFill>
                <a:latin typeface="Segoe UI"/>
                <a:ea typeface="Segoe UI"/>
                <a:cs typeface="Segoe UI"/>
              </a:rPr>
              <a:t>THREADS MOVE</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A thread can run on Core 1 now and on Core 2 a moment later.</a:t>
            </a:r>
            <a:endParaRPr lang="en-US" sz="1200" dirty="0"/>
          </a:p>
        </p:txBody>
      </p:sp>
      <p:sp>
        <p:nvSpPr>
          <p:cNvPr id="42" name="card"/>
          <p:cNvSpPr/>
          <p:nvPr/>
        </p:nvSpPr>
        <p:spPr>
          <a:xfrm>
            <a:off x="8995639" y="3584448"/>
            <a:ext cx="2634615" cy="1298448"/>
          </a:xfrm>
          <a:prstGeom prst="roundRect">
            <a:avLst>
              <a:gd name="adj" fmla="val 6338"/>
            </a:avLst>
          </a:prstGeom>
          <a:solidFill>
            <a:srgbClr val="111B2E"/>
          </a:solidFill>
          <a:ln w="12700">
            <a:solidFill>
              <a:srgbClr val="34D399"/>
            </a:solidFill>
            <a:prstDash val="solid"/>
          </a:ln>
        </p:spPr>
        <p:txBody>
          <a:bodyPr wrap="square" lIns="164592" tIns="137160" rIns="128016" bIns="73152" rtlCol="0" anchor="t">
            <a:noAutofit/>
          </a:bodyPr>
          <a:lstStyle/>
          <a:p>
            <a:pPr marL="0" indent="0" algn="l">
              <a:spcBef>
                <a:spcPts val="0"/>
              </a:spcBef>
              <a:spcAft>
                <a:spcPts val="120"/>
              </a:spcAft>
              <a:buNone/>
            </a:pPr>
            <a:r>
              <a:rPr lang="en-US" sz="1050" b="1" dirty="0">
                <a:solidFill>
                  <a:srgbClr val="34D399"/>
                </a:solidFill>
                <a:latin typeface="Segoe UI"/>
                <a:ea typeface="Segoe UI"/>
                <a:cs typeface="Segoe UI"/>
              </a:rPr>
              <a:t>THE OS DECIDES</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Which thread, on which core, for how long.</a:t>
            </a:r>
            <a:endParaRPr lang="en-US" sz="1200" dirty="0"/>
          </a:p>
        </p:txBody>
      </p:sp>
      <p:sp>
        <p:nvSpPr>
          <p:cNvPr id="43"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 core runs one thread at a time; threads from any process take turns and can move between cores.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25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25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25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25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25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25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25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25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25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25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5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25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25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250"/>
                                        <p:tgtEl>
                                          <p:spTgt spid="35"/>
                                        </p:tgtEl>
                                      </p:cBhvr>
                                    </p:animEffect>
                                  </p:childTnLst>
                                </p:cTn>
                              </p:par>
                              <p:par>
                                <p:cTn id="72" presetID="10" presetClass="entr" presetSubtype="0" fill="hold"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250"/>
                                        <p:tgtEl>
                                          <p:spTgt spid="36"/>
                                        </p:tgtEl>
                                      </p:cBhvr>
                                    </p:animEffect>
                                  </p:childTnLst>
                                </p:cTn>
                              </p:par>
                              <p:par>
                                <p:cTn id="75" presetID="10" presetClass="entr" presetSubtype="0" fill="hold"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25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250"/>
                                        <p:tgtEl>
                                          <p:spTgt spid="3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250"/>
                                        <p:tgtEl>
                                          <p:spTgt spid="3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25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25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25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p:bldP spid="19" grpId="0"/>
      <p:bldP spid="20" grpId="0" animBg="1"/>
      <p:bldP spid="21" grpId="0" animBg="1"/>
      <p:bldP spid="22" grpId="0" animBg="1"/>
      <p:bldP spid="23" grpId="0" animBg="1"/>
      <p:bldP spid="24" grpId="0" animBg="1"/>
      <p:bldP spid="25" grpId="0" animBg="1"/>
      <p:bldP spid="26" grpId="0" animBg="1"/>
      <p:bldP spid="27" grpId="0"/>
      <p:bldP spid="28" grpId="0" animBg="1"/>
      <p:bldP spid="29" grpId="0" animBg="1"/>
      <p:bldP spid="30" grpId="0" animBg="1"/>
      <p:bldP spid="31" grpId="0" animBg="1"/>
      <p:bldP spid="32" grpId="0" animBg="1"/>
      <p:bldP spid="33" grpId="0" animBg="1"/>
      <p:bldP spid="34" grpId="0" animBg="1"/>
      <p:bldP spid="38" grpId="0"/>
      <p:bldP spid="39" grpId="0" animBg="1"/>
      <p:bldP spid="40" grpId="0" animBg="1"/>
      <p:bldP spid="41" grpId="0" animBg="1"/>
      <p:bldP spid="42" grpId="0" animBg="1"/>
      <p:bldP spid="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TIME SLICING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One Core, Many Programs: Time Slicing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a:t>
            </a:r>
            <a:endParaRPr lang="en-US" sz="850" dirty="0"/>
          </a:p>
        </p:txBody>
      </p:sp>
      <p:sp>
        <p:nvSpPr>
          <p:cNvPr id="15" name="lab"/>
          <p:cNvSpPr txBox="1"/>
          <p:nvPr/>
        </p:nvSpPr>
        <p:spPr>
          <a:xfrm>
            <a:off x="543154" y="184708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Core 1</a:t>
            </a:r>
            <a:endParaRPr lang="en-US" sz="1100" dirty="0"/>
          </a:p>
        </p:txBody>
      </p:sp>
      <p:sp>
        <p:nvSpPr>
          <p:cNvPr id="16" name="lane"/>
          <p:cNvSpPr/>
          <p:nvPr/>
        </p:nvSpPr>
        <p:spPr>
          <a:xfrm>
            <a:off x="2006194" y="2286000"/>
            <a:ext cx="9624060" cy="18288"/>
          </a:xfrm>
          <a:prstGeom prst="rect">
            <a:avLst/>
          </a:prstGeom>
          <a:solidFill>
            <a:srgbClr val="1E3A5F"/>
          </a:solidFill>
          <a:ln w="12700">
            <a:solidFill>
              <a:srgbClr val="1E3A5F"/>
            </a:solidFill>
            <a:prstDash val="solid"/>
          </a:ln>
        </p:spPr>
        <p:txBody>
          <a:bodyPr/>
          <a:lstStyle/>
          <a:p>
            <a:endParaRPr lang="en-US"/>
          </a:p>
        </p:txBody>
      </p:sp>
      <p:sp>
        <p:nvSpPr>
          <p:cNvPr id="17" name="bar"/>
          <p:cNvSpPr/>
          <p:nvPr/>
        </p:nvSpPr>
        <p:spPr>
          <a:xfrm>
            <a:off x="2051914" y="186537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Chrome 5 ms</a:t>
            </a:r>
            <a:endParaRPr lang="en-US" sz="950" dirty="0"/>
          </a:p>
        </p:txBody>
      </p:sp>
      <p:sp>
        <p:nvSpPr>
          <p:cNvPr id="18" name="bar"/>
          <p:cNvSpPr/>
          <p:nvPr/>
        </p:nvSpPr>
        <p:spPr>
          <a:xfrm>
            <a:off x="3243491" y="1865376"/>
            <a:ext cx="1136714"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Spotify 5 ms</a:t>
            </a:r>
            <a:endParaRPr lang="en-US" sz="950" dirty="0"/>
          </a:p>
        </p:txBody>
      </p:sp>
      <p:sp>
        <p:nvSpPr>
          <p:cNvPr id="19" name="bar"/>
          <p:cNvSpPr/>
          <p:nvPr/>
        </p:nvSpPr>
        <p:spPr>
          <a:xfrm>
            <a:off x="4435069" y="1865376"/>
            <a:ext cx="1136714" cy="384048"/>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VS 5 ms</a:t>
            </a:r>
            <a:endParaRPr lang="en-US" sz="950" dirty="0"/>
          </a:p>
        </p:txBody>
      </p:sp>
      <p:sp>
        <p:nvSpPr>
          <p:cNvPr id="20" name="bar"/>
          <p:cNvSpPr/>
          <p:nvPr/>
        </p:nvSpPr>
        <p:spPr>
          <a:xfrm>
            <a:off x="5626646" y="1865376"/>
            <a:ext cx="1136714"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Discord 5 ms</a:t>
            </a:r>
            <a:endParaRPr lang="en-US" sz="950" dirty="0"/>
          </a:p>
        </p:txBody>
      </p:sp>
      <p:sp>
        <p:nvSpPr>
          <p:cNvPr id="21" name="bar"/>
          <p:cNvSpPr/>
          <p:nvPr/>
        </p:nvSpPr>
        <p:spPr>
          <a:xfrm>
            <a:off x="6818224" y="186537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Chrome 5 ms</a:t>
            </a:r>
            <a:endParaRPr lang="en-US" sz="950" dirty="0"/>
          </a:p>
        </p:txBody>
      </p:sp>
      <p:sp>
        <p:nvSpPr>
          <p:cNvPr id="22" name="bar"/>
          <p:cNvSpPr/>
          <p:nvPr/>
        </p:nvSpPr>
        <p:spPr>
          <a:xfrm>
            <a:off x="8009801" y="1865376"/>
            <a:ext cx="1136714"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Spotify 5 ms</a:t>
            </a:r>
            <a:endParaRPr lang="en-US" sz="950" dirty="0"/>
          </a:p>
        </p:txBody>
      </p:sp>
      <p:sp>
        <p:nvSpPr>
          <p:cNvPr id="23" name="bar"/>
          <p:cNvSpPr/>
          <p:nvPr/>
        </p:nvSpPr>
        <p:spPr>
          <a:xfrm>
            <a:off x="9201379" y="1865376"/>
            <a:ext cx="1136714" cy="384048"/>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VS 5 ms</a:t>
            </a:r>
            <a:endParaRPr lang="en-US" sz="950" dirty="0"/>
          </a:p>
        </p:txBody>
      </p:sp>
      <p:sp>
        <p:nvSpPr>
          <p:cNvPr id="24" name="bar"/>
          <p:cNvSpPr/>
          <p:nvPr/>
        </p:nvSpPr>
        <p:spPr>
          <a:xfrm>
            <a:off x="10392956" y="1865376"/>
            <a:ext cx="1136714"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Discord 5 ms</a:t>
            </a:r>
            <a:endParaRPr lang="en-US" sz="950" dirty="0"/>
          </a:p>
        </p:txBody>
      </p:sp>
      <p:sp>
        <p:nvSpPr>
          <p:cNvPr id="25" name="switch"/>
          <p:cNvSpPr/>
          <p:nvPr/>
        </p:nvSpPr>
        <p:spPr>
          <a:xfrm>
            <a:off x="3202343"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26" name="switch"/>
          <p:cNvSpPr/>
          <p:nvPr/>
        </p:nvSpPr>
        <p:spPr>
          <a:xfrm>
            <a:off x="4393921"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27" name="switch"/>
          <p:cNvSpPr/>
          <p:nvPr/>
        </p:nvSpPr>
        <p:spPr>
          <a:xfrm>
            <a:off x="5585498"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28" name="switch"/>
          <p:cNvSpPr/>
          <p:nvPr/>
        </p:nvSpPr>
        <p:spPr>
          <a:xfrm>
            <a:off x="6777076"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29" name="switch"/>
          <p:cNvSpPr/>
          <p:nvPr/>
        </p:nvSpPr>
        <p:spPr>
          <a:xfrm>
            <a:off x="7968653"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30" name="switch"/>
          <p:cNvSpPr/>
          <p:nvPr/>
        </p:nvSpPr>
        <p:spPr>
          <a:xfrm>
            <a:off x="9160231"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31" name="switch"/>
          <p:cNvSpPr/>
          <p:nvPr/>
        </p:nvSpPr>
        <p:spPr>
          <a:xfrm>
            <a:off x="10351808" y="1755648"/>
            <a:ext cx="27432" cy="621792"/>
          </a:xfrm>
          <a:prstGeom prst="rect">
            <a:avLst/>
          </a:prstGeom>
          <a:solidFill>
            <a:srgbClr val="F87171"/>
          </a:solidFill>
          <a:ln w="12700">
            <a:solidFill>
              <a:srgbClr val="F87171"/>
            </a:solidFill>
            <a:prstDash val="solid"/>
          </a:ln>
        </p:spPr>
        <p:txBody>
          <a:bodyPr/>
          <a:lstStyle/>
          <a:p>
            <a:endParaRPr lang="en-US"/>
          </a:p>
        </p:txBody>
      </p:sp>
      <p:sp>
        <p:nvSpPr>
          <p:cNvPr id="32" name="lab"/>
          <p:cNvSpPr txBox="1"/>
          <p:nvPr/>
        </p:nvSpPr>
        <p:spPr>
          <a:xfrm>
            <a:off x="2051914" y="2441448"/>
            <a:ext cx="5486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Segoe UI"/>
                <a:ea typeface="Segoe UI"/>
                <a:cs typeface="Segoe UI"/>
              </a:rPr>
              <a:t>red lines: context switches</a:t>
            </a:r>
            <a:endParaRPr lang="en-US" sz="1050" dirty="0"/>
          </a:p>
        </p:txBody>
      </p:sp>
      <p:sp>
        <p:nvSpPr>
          <p:cNvPr id="33" name="lab"/>
          <p:cNvSpPr txBox="1"/>
          <p:nvPr/>
        </p:nvSpPr>
        <p:spPr>
          <a:xfrm>
            <a:off x="543154" y="299008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You see</a:t>
            </a:r>
            <a:endParaRPr lang="en-US" sz="1100" dirty="0"/>
          </a:p>
        </p:txBody>
      </p:sp>
      <p:sp>
        <p:nvSpPr>
          <p:cNvPr id="34" name="lane"/>
          <p:cNvSpPr/>
          <p:nvPr/>
        </p:nvSpPr>
        <p:spPr>
          <a:xfrm>
            <a:off x="2006194" y="3429000"/>
            <a:ext cx="9624060" cy="18288"/>
          </a:xfrm>
          <a:prstGeom prst="rect">
            <a:avLst/>
          </a:prstGeom>
          <a:solidFill>
            <a:srgbClr val="1E3A5F"/>
          </a:solidFill>
          <a:ln w="12700">
            <a:solidFill>
              <a:srgbClr val="1E3A5F"/>
            </a:solidFill>
            <a:prstDash val="solid"/>
          </a:ln>
        </p:spPr>
        <p:txBody>
          <a:bodyPr/>
          <a:lstStyle/>
          <a:p>
            <a:endParaRPr lang="en-US"/>
          </a:p>
        </p:txBody>
      </p:sp>
      <p:sp>
        <p:nvSpPr>
          <p:cNvPr id="35" name="bar"/>
          <p:cNvSpPr/>
          <p:nvPr/>
        </p:nvSpPr>
        <p:spPr>
          <a:xfrm>
            <a:off x="2051914" y="3035808"/>
            <a:ext cx="9532620" cy="365760"/>
          </a:xfrm>
          <a:prstGeom prst="roundRect">
            <a:avLst>
              <a:gd name="adj" fmla="val 20000"/>
            </a:avLst>
          </a:prstGeom>
          <a:solidFill>
            <a:srgbClr val="4D91F0">
              <a:alpha val="15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Chrome: running all the time?</a:t>
            </a:r>
            <a:endParaRPr lang="en-US" sz="1000" dirty="0"/>
          </a:p>
        </p:txBody>
      </p:sp>
      <p:sp>
        <p:nvSpPr>
          <p:cNvPr id="36" name="bar"/>
          <p:cNvSpPr/>
          <p:nvPr/>
        </p:nvSpPr>
        <p:spPr>
          <a:xfrm>
            <a:off x="2051914" y="3474720"/>
            <a:ext cx="9532620" cy="365760"/>
          </a:xfrm>
          <a:prstGeom prst="roundRect">
            <a:avLst>
              <a:gd name="adj" fmla="val 20000"/>
            </a:avLst>
          </a:prstGeom>
          <a:solidFill>
            <a:srgbClr val="34D399">
              <a:alpha val="15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Spotify: running all the time?</a:t>
            </a:r>
            <a:endParaRPr lang="en-US" sz="1000" dirty="0"/>
          </a:p>
        </p:txBody>
      </p:sp>
      <p:sp>
        <p:nvSpPr>
          <p:cNvPr id="37" name="bar"/>
          <p:cNvSpPr/>
          <p:nvPr/>
        </p:nvSpPr>
        <p:spPr>
          <a:xfrm>
            <a:off x="2051914" y="3913632"/>
            <a:ext cx="9532620" cy="365760"/>
          </a:xfrm>
          <a:prstGeom prst="roundRect">
            <a:avLst>
              <a:gd name="adj" fmla="val 20000"/>
            </a:avLst>
          </a:prstGeom>
          <a:solidFill>
            <a:srgbClr val="A78BFA">
              <a:alpha val="15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VS: running all the time?</a:t>
            </a:r>
            <a:endParaRPr lang="en-US" sz="1000" dirty="0"/>
          </a:p>
        </p:txBody>
      </p:sp>
      <p:sp>
        <p:nvSpPr>
          <p:cNvPr id="38" name="bar"/>
          <p:cNvSpPr/>
          <p:nvPr/>
        </p:nvSpPr>
        <p:spPr>
          <a:xfrm>
            <a:off x="2051914" y="4352544"/>
            <a:ext cx="9532620" cy="365760"/>
          </a:xfrm>
          <a:prstGeom prst="roundRect">
            <a:avLst>
              <a:gd name="adj" fmla="val 20000"/>
            </a:avLst>
          </a:prstGeom>
          <a:solidFill>
            <a:srgbClr val="13D0F7">
              <a:alpha val="15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Discord: running all the time?</a:t>
            </a:r>
            <a:endParaRPr lang="en-US" sz="1000" dirty="0"/>
          </a:p>
        </p:txBody>
      </p:sp>
      <p:sp>
        <p:nvSpPr>
          <p:cNvPr id="39"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On one core the OS switches between threads so fast that they look simultaneous.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5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25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250"/>
                                        <p:tgtEl>
                                          <p:spTgt spid="2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25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25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25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25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25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25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25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25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250"/>
                                        <p:tgtEl>
                                          <p:spTgt spid="2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250"/>
                                        <p:tgtEl>
                                          <p:spTgt spid="2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250"/>
                                        <p:tgtEl>
                                          <p:spTgt spid="3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25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25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25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25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25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25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fade">
                                      <p:cBhvr>
                                        <p:cTn id="87"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animBg="1"/>
      <p:bldP spid="35" grpId="0" animBg="1"/>
      <p:bldP spid="36" grpId="0" animBg="1"/>
      <p:bldP spid="37"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CONCURRENCY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Concurrency Is Not Parallelism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a:t>
            </a:r>
            <a:endParaRPr lang="en-US" sz="850" dirty="0"/>
          </a:p>
        </p:txBody>
      </p:sp>
      <p:sp>
        <p:nvSpPr>
          <p:cNvPr id="15" name="lab"/>
          <p:cNvSpPr txBox="1"/>
          <p:nvPr/>
        </p:nvSpPr>
        <p:spPr>
          <a:xfrm>
            <a:off x="543154" y="1572768"/>
            <a:ext cx="5486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CONCURRENCY  ·  1 core, taking turns</a:t>
            </a:r>
            <a:endParaRPr lang="en-US" sz="1200" dirty="0"/>
          </a:p>
        </p:txBody>
      </p:sp>
      <p:sp>
        <p:nvSpPr>
          <p:cNvPr id="16" name="lab"/>
          <p:cNvSpPr txBox="1"/>
          <p:nvPr/>
        </p:nvSpPr>
        <p:spPr>
          <a:xfrm>
            <a:off x="543154" y="189280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Core 1</a:t>
            </a:r>
            <a:endParaRPr lang="en-US" sz="1100" dirty="0"/>
          </a:p>
        </p:txBody>
      </p:sp>
      <p:sp>
        <p:nvSpPr>
          <p:cNvPr id="17" name="lane"/>
          <p:cNvSpPr/>
          <p:nvPr/>
        </p:nvSpPr>
        <p:spPr>
          <a:xfrm>
            <a:off x="2006194" y="2331720"/>
            <a:ext cx="9624060" cy="18288"/>
          </a:xfrm>
          <a:prstGeom prst="rect">
            <a:avLst/>
          </a:prstGeom>
          <a:solidFill>
            <a:srgbClr val="1E3A5F"/>
          </a:solidFill>
          <a:ln w="12700">
            <a:solidFill>
              <a:srgbClr val="1E3A5F"/>
            </a:solidFill>
            <a:prstDash val="solid"/>
          </a:ln>
        </p:spPr>
        <p:txBody>
          <a:bodyPr/>
          <a:lstStyle/>
          <a:p>
            <a:endParaRPr lang="en-US"/>
          </a:p>
        </p:txBody>
      </p:sp>
      <p:sp>
        <p:nvSpPr>
          <p:cNvPr id="18" name="bar"/>
          <p:cNvSpPr/>
          <p:nvPr/>
        </p:nvSpPr>
        <p:spPr>
          <a:xfrm>
            <a:off x="2051914" y="191109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A</a:t>
            </a:r>
            <a:endParaRPr lang="en-US" sz="950" dirty="0"/>
          </a:p>
        </p:txBody>
      </p:sp>
      <p:sp>
        <p:nvSpPr>
          <p:cNvPr id="19" name="bar"/>
          <p:cNvSpPr/>
          <p:nvPr/>
        </p:nvSpPr>
        <p:spPr>
          <a:xfrm>
            <a:off x="3243491" y="1911096"/>
            <a:ext cx="1136714"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B</a:t>
            </a:r>
            <a:endParaRPr lang="en-US" sz="950" dirty="0"/>
          </a:p>
        </p:txBody>
      </p:sp>
      <p:sp>
        <p:nvSpPr>
          <p:cNvPr id="20" name="bar"/>
          <p:cNvSpPr/>
          <p:nvPr/>
        </p:nvSpPr>
        <p:spPr>
          <a:xfrm>
            <a:off x="4435069" y="191109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A</a:t>
            </a:r>
            <a:endParaRPr lang="en-US" sz="950" dirty="0"/>
          </a:p>
        </p:txBody>
      </p:sp>
      <p:sp>
        <p:nvSpPr>
          <p:cNvPr id="21" name="bar"/>
          <p:cNvSpPr/>
          <p:nvPr/>
        </p:nvSpPr>
        <p:spPr>
          <a:xfrm>
            <a:off x="5626646" y="1911096"/>
            <a:ext cx="1136714"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B</a:t>
            </a:r>
            <a:endParaRPr lang="en-US" sz="950" dirty="0"/>
          </a:p>
        </p:txBody>
      </p:sp>
      <p:sp>
        <p:nvSpPr>
          <p:cNvPr id="22" name="bar"/>
          <p:cNvSpPr/>
          <p:nvPr/>
        </p:nvSpPr>
        <p:spPr>
          <a:xfrm>
            <a:off x="6818224" y="191109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A</a:t>
            </a:r>
            <a:endParaRPr lang="en-US" sz="950" dirty="0"/>
          </a:p>
        </p:txBody>
      </p:sp>
      <p:sp>
        <p:nvSpPr>
          <p:cNvPr id="23" name="bar"/>
          <p:cNvSpPr/>
          <p:nvPr/>
        </p:nvSpPr>
        <p:spPr>
          <a:xfrm>
            <a:off x="8009801" y="1911096"/>
            <a:ext cx="1136714"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B</a:t>
            </a:r>
            <a:endParaRPr lang="en-US" sz="950" dirty="0"/>
          </a:p>
        </p:txBody>
      </p:sp>
      <p:sp>
        <p:nvSpPr>
          <p:cNvPr id="24" name="bar"/>
          <p:cNvSpPr/>
          <p:nvPr/>
        </p:nvSpPr>
        <p:spPr>
          <a:xfrm>
            <a:off x="9201379" y="1911096"/>
            <a:ext cx="1136714"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A</a:t>
            </a:r>
            <a:endParaRPr lang="en-US" sz="950" dirty="0"/>
          </a:p>
        </p:txBody>
      </p:sp>
      <p:sp>
        <p:nvSpPr>
          <p:cNvPr id="25" name="bar"/>
          <p:cNvSpPr/>
          <p:nvPr/>
        </p:nvSpPr>
        <p:spPr>
          <a:xfrm>
            <a:off x="10392956" y="1911096"/>
            <a:ext cx="1136714"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Task B</a:t>
            </a:r>
            <a:endParaRPr lang="en-US" sz="950" dirty="0"/>
          </a:p>
        </p:txBody>
      </p:sp>
      <p:sp>
        <p:nvSpPr>
          <p:cNvPr id="26" name="lab"/>
          <p:cNvSpPr txBox="1"/>
          <p:nvPr/>
        </p:nvSpPr>
        <p:spPr>
          <a:xfrm>
            <a:off x="543154" y="2624328"/>
            <a:ext cx="5486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PARALLELISM  ·  2 cores, at the same instant</a:t>
            </a:r>
            <a:endParaRPr lang="en-US" sz="1200" dirty="0"/>
          </a:p>
        </p:txBody>
      </p:sp>
      <p:sp>
        <p:nvSpPr>
          <p:cNvPr id="27" name="lab"/>
          <p:cNvSpPr txBox="1"/>
          <p:nvPr/>
        </p:nvSpPr>
        <p:spPr>
          <a:xfrm>
            <a:off x="543154" y="294436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Core 1</a:t>
            </a:r>
            <a:endParaRPr lang="en-US" sz="1100" dirty="0"/>
          </a:p>
        </p:txBody>
      </p:sp>
      <p:sp>
        <p:nvSpPr>
          <p:cNvPr id="28" name="lane"/>
          <p:cNvSpPr/>
          <p:nvPr/>
        </p:nvSpPr>
        <p:spPr>
          <a:xfrm>
            <a:off x="2006194" y="3383280"/>
            <a:ext cx="9624060" cy="18288"/>
          </a:xfrm>
          <a:prstGeom prst="rect">
            <a:avLst/>
          </a:prstGeom>
          <a:solidFill>
            <a:srgbClr val="1E3A5F"/>
          </a:solidFill>
          <a:ln w="12700">
            <a:solidFill>
              <a:srgbClr val="1E3A5F"/>
            </a:solidFill>
            <a:prstDash val="solid"/>
          </a:ln>
        </p:spPr>
        <p:txBody>
          <a:bodyPr/>
          <a:lstStyle/>
          <a:p>
            <a:endParaRPr lang="en-US"/>
          </a:p>
        </p:txBody>
      </p:sp>
      <p:sp>
        <p:nvSpPr>
          <p:cNvPr id="29" name="bar"/>
          <p:cNvSpPr/>
          <p:nvPr/>
        </p:nvSpPr>
        <p:spPr>
          <a:xfrm>
            <a:off x="2051914" y="2962656"/>
            <a:ext cx="4711446"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Task A</a:t>
            </a:r>
            <a:endParaRPr lang="en-US" sz="1000" dirty="0"/>
          </a:p>
        </p:txBody>
      </p:sp>
      <p:sp>
        <p:nvSpPr>
          <p:cNvPr id="30" name="lab"/>
          <p:cNvSpPr txBox="1"/>
          <p:nvPr/>
        </p:nvSpPr>
        <p:spPr>
          <a:xfrm>
            <a:off x="543154" y="344728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Core 2</a:t>
            </a:r>
            <a:endParaRPr lang="en-US" sz="1100" dirty="0"/>
          </a:p>
        </p:txBody>
      </p:sp>
      <p:sp>
        <p:nvSpPr>
          <p:cNvPr id="31" name="lane"/>
          <p:cNvSpPr/>
          <p:nvPr/>
        </p:nvSpPr>
        <p:spPr>
          <a:xfrm>
            <a:off x="2006194" y="3886200"/>
            <a:ext cx="9624060" cy="18288"/>
          </a:xfrm>
          <a:prstGeom prst="rect">
            <a:avLst/>
          </a:prstGeom>
          <a:solidFill>
            <a:srgbClr val="1E3A5F"/>
          </a:solidFill>
          <a:ln w="12700">
            <a:solidFill>
              <a:srgbClr val="1E3A5F"/>
            </a:solidFill>
            <a:prstDash val="solid"/>
          </a:ln>
        </p:spPr>
        <p:txBody>
          <a:bodyPr/>
          <a:lstStyle/>
          <a:p>
            <a:endParaRPr lang="en-US"/>
          </a:p>
        </p:txBody>
      </p:sp>
      <p:sp>
        <p:nvSpPr>
          <p:cNvPr id="32" name="bar"/>
          <p:cNvSpPr/>
          <p:nvPr/>
        </p:nvSpPr>
        <p:spPr>
          <a:xfrm>
            <a:off x="2051914" y="3465576"/>
            <a:ext cx="4711446"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Task B</a:t>
            </a:r>
            <a:endParaRPr lang="en-US" sz="1000" dirty="0"/>
          </a:p>
        </p:txBody>
      </p:sp>
      <p:sp>
        <p:nvSpPr>
          <p:cNvPr id="33" name="lab"/>
          <p:cNvSpPr txBox="1"/>
          <p:nvPr/>
        </p:nvSpPr>
        <p:spPr>
          <a:xfrm>
            <a:off x="6909664" y="3172968"/>
            <a:ext cx="45720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both finish in half the time</a:t>
            </a:r>
            <a:endParaRPr lang="en-US" sz="1100" dirty="0"/>
          </a:p>
        </p:txBody>
      </p:sp>
      <p:sp>
        <p:nvSpPr>
          <p:cNvPr id="34" name="card"/>
          <p:cNvSpPr/>
          <p:nvPr/>
        </p:nvSpPr>
        <p:spPr>
          <a:xfrm>
            <a:off x="543154" y="4087368"/>
            <a:ext cx="5440680" cy="795528"/>
          </a:xfrm>
          <a:prstGeom prst="roundRect">
            <a:avLst>
              <a:gd name="adj" fmla="val 10344"/>
            </a:avLst>
          </a:prstGeom>
          <a:solidFill>
            <a:srgbClr val="111B2E"/>
          </a:solidFill>
          <a:ln w="12700">
            <a:solidFill>
              <a:srgbClr val="13D0F7"/>
            </a:solidFill>
            <a:prstDash val="solid"/>
          </a:ln>
        </p:spPr>
        <p:txBody>
          <a:bodyPr wrap="square" lIns="182880" tIns="27432" rIns="137160" bIns="27432" rtlCol="0" anchor="ctr">
            <a:noAutofit/>
          </a:bodyPr>
          <a:lstStyle/>
          <a:p>
            <a:pPr marL="0" indent="0" algn="l">
              <a:spcBef>
                <a:spcPts val="0"/>
              </a:spcBef>
              <a:spcAft>
                <a:spcPts val="0"/>
              </a:spcAft>
              <a:buNone/>
            </a:pPr>
            <a:r>
              <a:rPr lang="en-US" sz="1250" b="1" dirty="0">
                <a:solidFill>
                  <a:srgbClr val="13D0F7"/>
                </a:solidFill>
                <a:latin typeface="Segoe UI"/>
                <a:ea typeface="Segoe UI"/>
                <a:cs typeface="Segoe UI"/>
              </a:rPr>
              <a:t>CONCURRENCY   </a:t>
            </a:r>
            <a:r>
              <a:rPr lang="en-US" sz="1250" b="0" dirty="0">
                <a:solidFill>
                  <a:srgbClr val="CBD5E1"/>
                </a:solidFill>
                <a:latin typeface="Segoe UI"/>
                <a:ea typeface="Segoe UI"/>
                <a:cs typeface="Segoe UI"/>
              </a:rPr>
              <a:t>progress in the same period</a:t>
            </a:r>
            <a:endParaRPr lang="en-US" sz="1250" dirty="0"/>
          </a:p>
        </p:txBody>
      </p:sp>
      <p:sp>
        <p:nvSpPr>
          <p:cNvPr id="35" name="card"/>
          <p:cNvSpPr/>
          <p:nvPr/>
        </p:nvSpPr>
        <p:spPr>
          <a:xfrm>
            <a:off x="6189574" y="4087368"/>
            <a:ext cx="5440680" cy="795528"/>
          </a:xfrm>
          <a:prstGeom prst="roundRect">
            <a:avLst>
              <a:gd name="adj" fmla="val 10344"/>
            </a:avLst>
          </a:prstGeom>
          <a:solidFill>
            <a:srgbClr val="111B2E"/>
          </a:solidFill>
          <a:ln w="12700">
            <a:solidFill>
              <a:srgbClr val="34D399"/>
            </a:solidFill>
            <a:prstDash val="solid"/>
          </a:ln>
        </p:spPr>
        <p:txBody>
          <a:bodyPr wrap="square" lIns="182880" tIns="27432" rIns="137160" bIns="27432" rtlCol="0" anchor="ctr">
            <a:noAutofit/>
          </a:bodyPr>
          <a:lstStyle/>
          <a:p>
            <a:pPr marL="0" indent="0" algn="l">
              <a:spcBef>
                <a:spcPts val="0"/>
              </a:spcBef>
              <a:spcAft>
                <a:spcPts val="0"/>
              </a:spcAft>
              <a:buNone/>
            </a:pPr>
            <a:r>
              <a:rPr lang="en-US" sz="1250" b="1" dirty="0">
                <a:solidFill>
                  <a:srgbClr val="34D399"/>
                </a:solidFill>
                <a:latin typeface="Segoe UI"/>
                <a:ea typeface="Segoe UI"/>
                <a:cs typeface="Segoe UI"/>
              </a:rPr>
              <a:t>PARALLELISM   </a:t>
            </a:r>
            <a:r>
              <a:rPr lang="en-US" sz="1250" b="0" dirty="0">
                <a:solidFill>
                  <a:srgbClr val="CBD5E1"/>
                </a:solidFill>
                <a:latin typeface="Segoe UI"/>
                <a:ea typeface="Segoe UI"/>
                <a:cs typeface="Segoe UI"/>
              </a:rPr>
              <a:t>execution at the same instant</a:t>
            </a:r>
            <a:endParaRPr lang="en-US" sz="1250" dirty="0"/>
          </a:p>
        </p:txBody>
      </p:sp>
      <p:sp>
        <p:nvSpPr>
          <p:cNvPr id="36"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1 core: concurrency yes, parallelism no. Many cores: both are possible.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5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5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5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25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25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25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25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25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5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25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25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250"/>
                                        <p:tgtEl>
                                          <p:spTgt spid="3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P spid="28" grpId="0" animBg="1"/>
      <p:bldP spid="29" grpId="0" animBg="1"/>
      <p:bldP spid="30" grpId="0"/>
      <p:bldP spid="31" grpId="0" animBg="1"/>
      <p:bldP spid="32" grpId="0" animBg="1"/>
      <p:bldP spid="33" grpId="0"/>
      <p:bldP spid="34" grpId="0" animBg="1"/>
      <p:bldP spid="35" grpId="0" animBg="1"/>
      <p:bldP spid="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SCHEDULER</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CPU Scheduling, Simply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a:t>
            </a:r>
            <a:endParaRPr lang="en-US" sz="850" dirty="0"/>
          </a:p>
        </p:txBody>
      </p:sp>
      <p:sp>
        <p:nvSpPr>
          <p:cNvPr id="15" name="frame"/>
          <p:cNvSpPr/>
          <p:nvPr/>
        </p:nvSpPr>
        <p:spPr>
          <a:xfrm>
            <a:off x="543154" y="1847088"/>
            <a:ext cx="2377440" cy="1600200"/>
          </a:xfrm>
          <a:prstGeom prst="roundRect">
            <a:avLst>
              <a:gd name="adj" fmla="val 6000"/>
            </a:avLst>
          </a:prstGeom>
          <a:solidFill>
            <a:srgbClr val="101F3A"/>
          </a:solidFill>
          <a:ln w="15875">
            <a:solidFill>
              <a:srgbClr val="FBBF24"/>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FBBF24"/>
                </a:solidFill>
                <a:latin typeface="Segoe UI"/>
                <a:ea typeface="Segoe UI"/>
                <a:cs typeface="Segoe UI"/>
              </a:rPr>
              <a:t>READY · want a core</a:t>
            </a:r>
            <a:endParaRPr lang="en-US" sz="1000" dirty="0"/>
          </a:p>
        </p:txBody>
      </p:sp>
      <p:sp>
        <p:nvSpPr>
          <p:cNvPr id="16" name="pill"/>
          <p:cNvSpPr/>
          <p:nvPr/>
        </p:nvSpPr>
        <p:spPr>
          <a:xfrm>
            <a:off x="726034" y="2350008"/>
            <a:ext cx="594360" cy="329184"/>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T3</a:t>
            </a:r>
            <a:endParaRPr lang="en-US" sz="1000" dirty="0"/>
          </a:p>
        </p:txBody>
      </p:sp>
      <p:sp>
        <p:nvSpPr>
          <p:cNvPr id="17" name="pill"/>
          <p:cNvSpPr/>
          <p:nvPr/>
        </p:nvSpPr>
        <p:spPr>
          <a:xfrm>
            <a:off x="1439266" y="2350008"/>
            <a:ext cx="594360" cy="329184"/>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T7</a:t>
            </a:r>
            <a:endParaRPr lang="en-US" sz="1000" dirty="0"/>
          </a:p>
        </p:txBody>
      </p:sp>
      <p:sp>
        <p:nvSpPr>
          <p:cNvPr id="18" name="pill"/>
          <p:cNvSpPr/>
          <p:nvPr/>
        </p:nvSpPr>
        <p:spPr>
          <a:xfrm>
            <a:off x="2152498" y="2350008"/>
            <a:ext cx="594360" cy="329184"/>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T9</a:t>
            </a:r>
            <a:endParaRPr lang="en-US" sz="1000" dirty="0"/>
          </a:p>
        </p:txBody>
      </p:sp>
      <p:sp>
        <p:nvSpPr>
          <p:cNvPr id="19" name="sched"/>
          <p:cNvSpPr/>
          <p:nvPr/>
        </p:nvSpPr>
        <p:spPr>
          <a:xfrm>
            <a:off x="3469234" y="2167128"/>
            <a:ext cx="2011680" cy="731520"/>
          </a:xfrm>
          <a:prstGeom prst="roundRect">
            <a:avLst>
              <a:gd name="adj" fmla="val 15000"/>
            </a:avLst>
          </a:prstGeom>
          <a:solidFill>
            <a:srgbClr val="1A1033"/>
          </a:solidFill>
          <a:ln w="22225">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200" b="1" dirty="0">
                <a:solidFill>
                  <a:srgbClr val="A78BFA"/>
                </a:solidFill>
                <a:latin typeface="Segoe UI"/>
                <a:ea typeface="Segoe UI"/>
                <a:cs typeface="Segoe UI"/>
              </a:rPr>
              <a:t>OS SCHEDULER</a:t>
            </a:r>
            <a:endParaRPr lang="en-US" sz="1200" dirty="0"/>
          </a:p>
          <a:p>
            <a:pPr marL="0" indent="0" algn="ctr">
              <a:spcBef>
                <a:spcPts val="0"/>
              </a:spcBef>
              <a:spcAft>
                <a:spcPts val="0"/>
              </a:spcAft>
              <a:buNone/>
            </a:pPr>
            <a:r>
              <a:rPr lang="en-US" sz="900" b="0" dirty="0">
                <a:solidFill>
                  <a:srgbClr val="CBD5E1"/>
                </a:solidFill>
                <a:latin typeface="Segoe UI"/>
                <a:ea typeface="Segoe UI"/>
                <a:cs typeface="Segoe UI"/>
              </a:rPr>
              <a:t>decides who runs</a:t>
            </a:r>
            <a:endParaRPr lang="en-US" sz="900" dirty="0"/>
          </a:p>
        </p:txBody>
      </p:sp>
      <p:sp>
        <p:nvSpPr>
          <p:cNvPr id="20" name="box"/>
          <p:cNvSpPr/>
          <p:nvPr/>
        </p:nvSpPr>
        <p:spPr>
          <a:xfrm>
            <a:off x="5983834" y="1847088"/>
            <a:ext cx="2011680" cy="50292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34D399"/>
                </a:solidFill>
                <a:latin typeface="Consolas"/>
                <a:ea typeface="Consolas"/>
                <a:cs typeface="Consolas"/>
              </a:rPr>
              <a:t>Core 1 · T2</a:t>
            </a:r>
            <a:endParaRPr lang="en-US" sz="1100" dirty="0"/>
          </a:p>
        </p:txBody>
      </p:sp>
      <p:sp>
        <p:nvSpPr>
          <p:cNvPr id="21" name="box"/>
          <p:cNvSpPr/>
          <p:nvPr/>
        </p:nvSpPr>
        <p:spPr>
          <a:xfrm>
            <a:off x="5983834" y="2624328"/>
            <a:ext cx="2011680" cy="50292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34D399"/>
                </a:solidFill>
                <a:latin typeface="Consolas"/>
                <a:ea typeface="Consolas"/>
                <a:cs typeface="Consolas"/>
              </a:rPr>
              <a:t>Core 2 · T5</a:t>
            </a:r>
            <a:endParaRPr lang="en-US" sz="1100" dirty="0"/>
          </a:p>
        </p:txBody>
      </p:sp>
      <p:cxnSp>
        <p:nvCxnSpPr>
          <p:cNvPr id="22" name="arrow"/>
          <p:cNvCxnSpPr/>
          <p:nvPr/>
        </p:nvCxnSpPr>
        <p:spPr>
          <a:xfrm>
            <a:off x="2938882" y="2532888"/>
            <a:ext cx="512064" cy="0"/>
          </a:xfrm>
          <a:prstGeom prst="line">
            <a:avLst/>
          </a:prstGeom>
          <a:ln w="28575">
            <a:solidFill>
              <a:srgbClr val="FBBF24"/>
            </a:solidFill>
            <a:tailEnd type="triangle" w="med" len="med"/>
          </a:ln>
        </p:spPr>
      </p:cxnSp>
      <p:cxnSp>
        <p:nvCxnSpPr>
          <p:cNvPr id="23" name="arrow"/>
          <p:cNvCxnSpPr/>
          <p:nvPr/>
        </p:nvCxnSpPr>
        <p:spPr>
          <a:xfrm flipV="1">
            <a:off x="5499202" y="2121408"/>
            <a:ext cx="466344" cy="320040"/>
          </a:xfrm>
          <a:prstGeom prst="line">
            <a:avLst/>
          </a:prstGeom>
          <a:ln w="28575">
            <a:solidFill>
              <a:srgbClr val="A78BFA"/>
            </a:solidFill>
            <a:tailEnd type="triangle" w="med" len="med"/>
          </a:ln>
        </p:spPr>
      </p:cxnSp>
      <p:cxnSp>
        <p:nvCxnSpPr>
          <p:cNvPr id="24" name="arrow"/>
          <p:cNvCxnSpPr/>
          <p:nvPr/>
        </p:nvCxnSpPr>
        <p:spPr>
          <a:xfrm>
            <a:off x="5499202" y="2624328"/>
            <a:ext cx="466344" cy="246888"/>
          </a:xfrm>
          <a:prstGeom prst="line">
            <a:avLst/>
          </a:prstGeom>
          <a:ln w="28575">
            <a:solidFill>
              <a:srgbClr val="A78BFA"/>
            </a:solidFill>
            <a:tailEnd type="triangle" w="med" len="med"/>
          </a:ln>
        </p:spPr>
      </p:cxnSp>
      <p:cxnSp>
        <p:nvCxnSpPr>
          <p:cNvPr id="25" name="arrow"/>
          <p:cNvCxnSpPr/>
          <p:nvPr/>
        </p:nvCxnSpPr>
        <p:spPr>
          <a:xfrm flipH="1">
            <a:off x="2938882" y="1956816"/>
            <a:ext cx="3026664" cy="0"/>
          </a:xfrm>
          <a:prstGeom prst="line">
            <a:avLst/>
          </a:prstGeom>
          <a:ln w="28575">
            <a:solidFill>
              <a:srgbClr val="13D0F7"/>
            </a:solidFill>
            <a:tailEnd type="triangle" w="med" len="med"/>
          </a:ln>
        </p:spPr>
      </p:cxnSp>
      <p:sp>
        <p:nvSpPr>
          <p:cNvPr id="26" name="lab"/>
          <p:cNvSpPr txBox="1"/>
          <p:nvPr/>
        </p:nvSpPr>
        <p:spPr>
          <a:xfrm>
            <a:off x="3469234" y="1682496"/>
            <a:ext cx="210312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13D0F7"/>
                </a:solidFill>
                <a:latin typeface="Segoe UI"/>
                <a:ea typeface="Segoe UI"/>
                <a:cs typeface="Segoe UI"/>
              </a:rPr>
              <a:t>time slice over</a:t>
            </a:r>
            <a:endParaRPr lang="en-US" sz="950" dirty="0"/>
          </a:p>
        </p:txBody>
      </p:sp>
      <p:sp>
        <p:nvSpPr>
          <p:cNvPr id="27" name="frame"/>
          <p:cNvSpPr/>
          <p:nvPr/>
        </p:nvSpPr>
        <p:spPr>
          <a:xfrm>
            <a:off x="8955634" y="1847088"/>
            <a:ext cx="2674620" cy="1600200"/>
          </a:xfrm>
          <a:prstGeom prst="roundRect">
            <a:avLst>
              <a:gd name="adj" fmla="val 6000"/>
            </a:avLst>
          </a:prstGeom>
          <a:solidFill>
            <a:srgbClr val="101F3A"/>
          </a:solidFill>
          <a:ln w="15875">
            <a:solidFill>
              <a:srgbClr val="64748B"/>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64748B"/>
                </a:solidFill>
                <a:latin typeface="Segoe UI"/>
                <a:ea typeface="Segoe UI"/>
                <a:cs typeface="Segoe UI"/>
              </a:rPr>
              <a:t>WAITING · disk, network, Sleep</a:t>
            </a:r>
            <a:endParaRPr lang="en-US" sz="1000" dirty="0"/>
          </a:p>
        </p:txBody>
      </p:sp>
      <p:sp>
        <p:nvSpPr>
          <p:cNvPr id="28" name="pill"/>
          <p:cNvSpPr/>
          <p:nvPr/>
        </p:nvSpPr>
        <p:spPr>
          <a:xfrm>
            <a:off x="9138514" y="2350008"/>
            <a:ext cx="640080" cy="329184"/>
          </a:xfrm>
          <a:prstGeom prst="roundRect">
            <a:avLst>
              <a:gd name="adj" fmla="val 30000"/>
            </a:avLst>
          </a:prstGeom>
          <a:solidFill>
            <a:srgbClr val="64748B">
              <a:alpha val="20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4748B"/>
                </a:solidFill>
                <a:latin typeface="Segoe UI"/>
                <a:ea typeface="Segoe UI"/>
                <a:cs typeface="Segoe UI"/>
              </a:rPr>
              <a:t>T1</a:t>
            </a:r>
            <a:endParaRPr lang="en-US" sz="1000" dirty="0"/>
          </a:p>
        </p:txBody>
      </p:sp>
      <p:sp>
        <p:nvSpPr>
          <p:cNvPr id="29" name="pill"/>
          <p:cNvSpPr/>
          <p:nvPr/>
        </p:nvSpPr>
        <p:spPr>
          <a:xfrm>
            <a:off x="9915754" y="2350008"/>
            <a:ext cx="640080" cy="329184"/>
          </a:xfrm>
          <a:prstGeom prst="roundRect">
            <a:avLst>
              <a:gd name="adj" fmla="val 30000"/>
            </a:avLst>
          </a:prstGeom>
          <a:solidFill>
            <a:srgbClr val="64748B">
              <a:alpha val="20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4748B"/>
                </a:solidFill>
                <a:latin typeface="Segoe UI"/>
                <a:ea typeface="Segoe UI"/>
                <a:cs typeface="Segoe UI"/>
              </a:rPr>
              <a:t>T4</a:t>
            </a:r>
            <a:endParaRPr lang="en-US" sz="1000" dirty="0"/>
          </a:p>
        </p:txBody>
      </p:sp>
      <p:sp>
        <p:nvSpPr>
          <p:cNvPr id="30" name="pill"/>
          <p:cNvSpPr/>
          <p:nvPr/>
        </p:nvSpPr>
        <p:spPr>
          <a:xfrm>
            <a:off x="10692994" y="2350008"/>
            <a:ext cx="640080" cy="329184"/>
          </a:xfrm>
          <a:prstGeom prst="roundRect">
            <a:avLst>
              <a:gd name="adj" fmla="val 30000"/>
            </a:avLst>
          </a:prstGeom>
          <a:solidFill>
            <a:srgbClr val="64748B">
              <a:alpha val="20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4748B"/>
                </a:solidFill>
                <a:latin typeface="Segoe UI"/>
                <a:ea typeface="Segoe UI"/>
                <a:cs typeface="Segoe UI"/>
              </a:rPr>
              <a:t>T6</a:t>
            </a:r>
            <a:endParaRPr lang="en-US" sz="1000" dirty="0"/>
          </a:p>
        </p:txBody>
      </p:sp>
      <p:cxnSp>
        <p:nvCxnSpPr>
          <p:cNvPr id="31" name="arrow"/>
          <p:cNvCxnSpPr/>
          <p:nvPr/>
        </p:nvCxnSpPr>
        <p:spPr>
          <a:xfrm>
            <a:off x="8013802" y="2624328"/>
            <a:ext cx="923544" cy="0"/>
          </a:xfrm>
          <a:prstGeom prst="line">
            <a:avLst/>
          </a:prstGeom>
          <a:ln w="28575">
            <a:solidFill>
              <a:srgbClr val="64748B"/>
            </a:solidFill>
            <a:tailEnd type="triangle" w="med" len="med"/>
          </a:ln>
        </p:spPr>
      </p:cxnSp>
      <p:sp>
        <p:nvSpPr>
          <p:cNvPr id="32" name="lab"/>
          <p:cNvSpPr txBox="1"/>
          <p:nvPr/>
        </p:nvSpPr>
        <p:spPr>
          <a:xfrm>
            <a:off x="7949794" y="2304288"/>
            <a:ext cx="105156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1" dirty="0">
                <a:solidFill>
                  <a:srgbClr val="94A3B8"/>
                </a:solidFill>
                <a:latin typeface="Segoe UI"/>
                <a:ea typeface="Segoe UI"/>
                <a:cs typeface="Segoe UI"/>
              </a:rPr>
              <a:t>needs I/O</a:t>
            </a:r>
            <a:endParaRPr lang="en-US" sz="900" dirty="0"/>
          </a:p>
        </p:txBody>
      </p:sp>
      <p:cxnSp>
        <p:nvCxnSpPr>
          <p:cNvPr id="33" name="arrow"/>
          <p:cNvCxnSpPr/>
          <p:nvPr/>
        </p:nvCxnSpPr>
        <p:spPr>
          <a:xfrm flipH="1">
            <a:off x="2938882" y="3264408"/>
            <a:ext cx="5998464" cy="0"/>
          </a:xfrm>
          <a:prstGeom prst="line">
            <a:avLst/>
          </a:prstGeom>
          <a:ln w="28575">
            <a:solidFill>
              <a:srgbClr val="34D399"/>
            </a:solidFill>
            <a:tailEnd type="triangle" w="med" len="med"/>
          </a:ln>
        </p:spPr>
      </p:cxnSp>
      <p:sp>
        <p:nvSpPr>
          <p:cNvPr id="34" name="lab"/>
          <p:cNvSpPr txBox="1"/>
          <p:nvPr/>
        </p:nvSpPr>
        <p:spPr>
          <a:xfrm>
            <a:off x="3469234" y="3328416"/>
            <a:ext cx="45720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34D399"/>
                </a:solidFill>
                <a:latin typeface="Segoe UI"/>
                <a:ea typeface="Segoe UI"/>
                <a:cs typeface="Segoe UI"/>
              </a:rPr>
              <a:t>I/O done: ready again</a:t>
            </a:r>
            <a:endParaRPr lang="en-US" sz="950" dirty="0"/>
          </a:p>
        </p:txBody>
      </p:sp>
      <p:sp>
        <p:nvSpPr>
          <p:cNvPr id="35" name="cw_win"/>
          <p:cNvSpPr/>
          <p:nvPr/>
        </p:nvSpPr>
        <p:spPr>
          <a:xfrm>
            <a:off x="543154" y="3675888"/>
            <a:ext cx="5486400" cy="1207008"/>
          </a:xfrm>
          <a:prstGeom prst="roundRect">
            <a:avLst>
              <a:gd name="adj" fmla="val 5681"/>
            </a:avLst>
          </a:prstGeom>
          <a:solidFill>
            <a:srgbClr val="060D18"/>
          </a:solidFill>
          <a:ln w="12700">
            <a:solidFill>
              <a:srgbClr val="1E3A5F"/>
            </a:solidFill>
            <a:prstDash val="solid"/>
          </a:ln>
        </p:spPr>
        <p:txBody>
          <a:bodyPr/>
          <a:lstStyle/>
          <a:p>
            <a:endParaRPr lang="en-US"/>
          </a:p>
        </p:txBody>
      </p:sp>
      <p:sp>
        <p:nvSpPr>
          <p:cNvPr id="36" name="cw_bar"/>
          <p:cNvSpPr/>
          <p:nvPr/>
        </p:nvSpPr>
        <p:spPr>
          <a:xfrm>
            <a:off x="543154" y="367588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7" name="cw_barfill"/>
          <p:cNvSpPr/>
          <p:nvPr/>
        </p:nvSpPr>
        <p:spPr>
          <a:xfrm>
            <a:off x="543154" y="3847338"/>
            <a:ext cx="5486400" cy="171450"/>
          </a:xfrm>
          <a:prstGeom prst="rect">
            <a:avLst/>
          </a:prstGeom>
          <a:solidFill>
            <a:srgbClr val="0A1220"/>
          </a:solidFill>
          <a:ln w="12700">
            <a:solidFill>
              <a:srgbClr val="0A1220"/>
            </a:solidFill>
            <a:prstDash val="solid"/>
          </a:ln>
        </p:spPr>
        <p:txBody>
          <a:bodyPr/>
          <a:lstStyle/>
          <a:p>
            <a:endParaRPr lang="en-US"/>
          </a:p>
        </p:txBody>
      </p:sp>
      <p:sp>
        <p:nvSpPr>
          <p:cNvPr id="38" name="cw_dot0"/>
          <p:cNvSpPr/>
          <p:nvPr/>
        </p:nvSpPr>
        <p:spPr>
          <a:xfrm>
            <a:off x="705002" y="3799698"/>
            <a:ext cx="95098" cy="95098"/>
          </a:xfrm>
          <a:prstGeom prst="ellipse">
            <a:avLst/>
          </a:prstGeom>
          <a:solidFill>
            <a:srgbClr val="F87171"/>
          </a:solidFill>
          <a:ln w="12700">
            <a:solidFill>
              <a:srgbClr val="F87171"/>
            </a:solidFill>
            <a:prstDash val="solid"/>
          </a:ln>
        </p:spPr>
        <p:txBody>
          <a:bodyPr/>
          <a:lstStyle/>
          <a:p>
            <a:endParaRPr lang="en-US"/>
          </a:p>
        </p:txBody>
      </p:sp>
      <p:sp>
        <p:nvSpPr>
          <p:cNvPr id="39" name="cw_dot1"/>
          <p:cNvSpPr/>
          <p:nvPr/>
        </p:nvSpPr>
        <p:spPr>
          <a:xfrm>
            <a:off x="890626" y="3799698"/>
            <a:ext cx="95098" cy="95098"/>
          </a:xfrm>
          <a:prstGeom prst="ellipse">
            <a:avLst/>
          </a:prstGeom>
          <a:solidFill>
            <a:srgbClr val="FBBF24"/>
          </a:solidFill>
          <a:ln w="12700">
            <a:solidFill>
              <a:srgbClr val="FBBF24"/>
            </a:solidFill>
            <a:prstDash val="solid"/>
          </a:ln>
        </p:spPr>
        <p:txBody>
          <a:bodyPr/>
          <a:lstStyle/>
          <a:p>
            <a:endParaRPr lang="en-US"/>
          </a:p>
        </p:txBody>
      </p:sp>
      <p:sp>
        <p:nvSpPr>
          <p:cNvPr id="40" name="cw_dot2"/>
          <p:cNvSpPr/>
          <p:nvPr/>
        </p:nvSpPr>
        <p:spPr>
          <a:xfrm>
            <a:off x="1076249" y="3799698"/>
            <a:ext cx="95098" cy="95098"/>
          </a:xfrm>
          <a:prstGeom prst="ellipse">
            <a:avLst/>
          </a:prstGeom>
          <a:solidFill>
            <a:srgbClr val="34D399"/>
          </a:solidFill>
          <a:ln w="12700">
            <a:solidFill>
              <a:srgbClr val="34D399"/>
            </a:solidFill>
            <a:prstDash val="solid"/>
          </a:ln>
        </p:spPr>
        <p:txBody>
          <a:bodyPr/>
          <a:lstStyle/>
          <a:p>
            <a:endParaRPr lang="en-US"/>
          </a:p>
        </p:txBody>
      </p:sp>
      <p:sp>
        <p:nvSpPr>
          <p:cNvPr id="41" name="cw_tab"/>
          <p:cNvSpPr/>
          <p:nvPr/>
        </p:nvSpPr>
        <p:spPr>
          <a:xfrm>
            <a:off x="1324051" y="372343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42" name="cw_L00"/>
          <p:cNvSpPr txBox="1"/>
          <p:nvPr/>
        </p:nvSpPr>
        <p:spPr>
          <a:xfrm>
            <a:off x="771754" y="415137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report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Thread(BuildReport);</a:t>
            </a:r>
            <a:endParaRPr lang="en-US" sz="950" dirty="0"/>
          </a:p>
        </p:txBody>
      </p:sp>
      <p:sp>
        <p:nvSpPr>
          <p:cNvPr id="43" name="cw_L01"/>
          <p:cNvSpPr txBox="1"/>
          <p:nvPr/>
        </p:nvSpPr>
        <p:spPr>
          <a:xfrm>
            <a:off x="771754" y="434441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report.Priority = ThreadPriority.BelowNormal;  </a:t>
            </a:r>
            <a:r>
              <a:rPr lang="en-US" sz="950" b="0" dirty="0">
                <a:solidFill>
                  <a:srgbClr val="6FAE7A"/>
                </a:solidFill>
                <a:latin typeface="Consolas"/>
                <a:ea typeface="Consolas"/>
                <a:cs typeface="Consolas"/>
              </a:rPr>
              <a:t>// a hint only</a:t>
            </a:r>
            <a:endParaRPr lang="en-US" sz="950" dirty="0"/>
          </a:p>
        </p:txBody>
      </p:sp>
      <p:sp>
        <p:nvSpPr>
          <p:cNvPr id="44" name="cw_L02"/>
          <p:cNvSpPr txBox="1"/>
          <p:nvPr/>
        </p:nvSpPr>
        <p:spPr>
          <a:xfrm>
            <a:off x="771754" y="453745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report.Start();                     </a:t>
            </a:r>
            <a:r>
              <a:rPr lang="en-US" sz="950" b="0" dirty="0">
                <a:solidFill>
                  <a:srgbClr val="6FAE7A"/>
                </a:solidFill>
                <a:latin typeface="Consolas"/>
                <a:ea typeface="Consolas"/>
                <a:cs typeface="Consolas"/>
              </a:rPr>
              <a:t>// READY, not running yet</a:t>
            </a:r>
            <a:endParaRPr lang="en-US" sz="950" dirty="0"/>
          </a:p>
        </p:txBody>
      </p:sp>
      <p:sp>
        <p:nvSpPr>
          <p:cNvPr id="45" name="card"/>
          <p:cNvSpPr/>
          <p:nvPr/>
        </p:nvSpPr>
        <p:spPr>
          <a:xfrm>
            <a:off x="6258154" y="3675888"/>
            <a:ext cx="1699260" cy="1207008"/>
          </a:xfrm>
          <a:prstGeom prst="roundRect">
            <a:avLst>
              <a:gd name="adj" fmla="val 6818"/>
            </a:avLst>
          </a:prstGeom>
          <a:solidFill>
            <a:srgbClr val="111B2E"/>
          </a:solidFill>
          <a:ln w="12700">
            <a:solidFill>
              <a:srgbClr val="4D91F0"/>
            </a:solidFill>
            <a:prstDash val="solid"/>
          </a:ln>
        </p:spPr>
        <p:txBody>
          <a:bodyPr wrap="square" lIns="137160" tIns="137160" rIns="91440" bIns="45720" rtlCol="0" anchor="t">
            <a:noAutofit/>
          </a:bodyPr>
          <a:lstStyle/>
          <a:p>
            <a:pPr marL="0" indent="0" algn="l">
              <a:spcBef>
                <a:spcPts val="0"/>
              </a:spcBef>
              <a:spcAft>
                <a:spcPts val="100"/>
              </a:spcAft>
              <a:buNone/>
            </a:pPr>
            <a:r>
              <a:rPr lang="en-US" sz="1000" b="1" dirty="0">
                <a:solidFill>
                  <a:srgbClr val="4D91F0"/>
                </a:solidFill>
                <a:latin typeface="Segoe UI"/>
                <a:ea typeface="Segoe UI"/>
                <a:cs typeface="Segoe UI"/>
              </a:rPr>
              <a:t>FAIRNESS</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every ready thread gets turns</a:t>
            </a:r>
            <a:endParaRPr lang="en-US" sz="1150" dirty="0"/>
          </a:p>
        </p:txBody>
      </p:sp>
      <p:sp>
        <p:nvSpPr>
          <p:cNvPr id="46" name="card"/>
          <p:cNvSpPr/>
          <p:nvPr/>
        </p:nvSpPr>
        <p:spPr>
          <a:xfrm>
            <a:off x="8094574" y="3675888"/>
            <a:ext cx="1699260" cy="1207008"/>
          </a:xfrm>
          <a:prstGeom prst="roundRect">
            <a:avLst>
              <a:gd name="adj" fmla="val 6818"/>
            </a:avLst>
          </a:prstGeom>
          <a:solidFill>
            <a:srgbClr val="111B2E"/>
          </a:solidFill>
          <a:ln w="12700">
            <a:solidFill>
              <a:srgbClr val="A78BFA"/>
            </a:solidFill>
            <a:prstDash val="solid"/>
          </a:ln>
        </p:spPr>
        <p:txBody>
          <a:bodyPr wrap="square" lIns="137160" tIns="137160" rIns="91440" bIns="45720" rtlCol="0" anchor="t">
            <a:noAutofit/>
          </a:bodyPr>
          <a:lstStyle/>
          <a:p>
            <a:pPr marL="0" indent="0" algn="l">
              <a:spcBef>
                <a:spcPts val="0"/>
              </a:spcBef>
              <a:spcAft>
                <a:spcPts val="100"/>
              </a:spcAft>
              <a:buNone/>
            </a:pPr>
            <a:r>
              <a:rPr lang="en-US" sz="1000" b="1" dirty="0">
                <a:solidFill>
                  <a:srgbClr val="A78BFA"/>
                </a:solidFill>
                <a:latin typeface="Segoe UI"/>
                <a:ea typeface="Segoe UI"/>
                <a:cs typeface="Segoe UI"/>
              </a:rPr>
              <a:t>PRIORITY</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important threads go first</a:t>
            </a:r>
            <a:endParaRPr lang="en-US" sz="1150" dirty="0"/>
          </a:p>
        </p:txBody>
      </p:sp>
      <p:sp>
        <p:nvSpPr>
          <p:cNvPr id="47" name="card"/>
          <p:cNvSpPr/>
          <p:nvPr/>
        </p:nvSpPr>
        <p:spPr>
          <a:xfrm>
            <a:off x="9930994" y="3675888"/>
            <a:ext cx="1699260" cy="1207008"/>
          </a:xfrm>
          <a:prstGeom prst="roundRect">
            <a:avLst>
              <a:gd name="adj" fmla="val 6818"/>
            </a:avLst>
          </a:prstGeom>
          <a:solidFill>
            <a:srgbClr val="111B2E"/>
          </a:solidFill>
          <a:ln w="12700">
            <a:solidFill>
              <a:srgbClr val="64748B"/>
            </a:solidFill>
            <a:prstDash val="solid"/>
          </a:ln>
        </p:spPr>
        <p:txBody>
          <a:bodyPr wrap="square" lIns="137160" tIns="137160" rIns="91440" bIns="45720" rtlCol="0" anchor="t">
            <a:noAutofit/>
          </a:bodyPr>
          <a:lstStyle/>
          <a:p>
            <a:pPr marL="0" indent="0" algn="l">
              <a:spcBef>
                <a:spcPts val="0"/>
              </a:spcBef>
              <a:spcAft>
                <a:spcPts val="100"/>
              </a:spcAft>
              <a:buNone/>
            </a:pPr>
            <a:r>
              <a:rPr lang="en-US" sz="1000" b="1" dirty="0">
                <a:solidFill>
                  <a:srgbClr val="94A3B8"/>
                </a:solidFill>
                <a:latin typeface="Segoe UI"/>
                <a:ea typeface="Segoe UI"/>
                <a:cs typeface="Segoe UI"/>
              </a:rPr>
              <a:t>WAITING = SKIPPED</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no core for a thread that waits</a:t>
            </a:r>
            <a:endParaRPr lang="en-US" sz="1150" dirty="0"/>
          </a:p>
        </p:txBody>
      </p:sp>
      <p:sp>
        <p:nvSpPr>
          <p:cNvPr id="48"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The OS scheduler, not your code, decides which thread runs, on which core, and for how long.</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250"/>
                                        <p:tgtEl>
                                          <p:spTgt spid="22"/>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5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25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25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25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25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25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25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25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25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25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250"/>
                                        <p:tgtEl>
                                          <p:spTgt spid="3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25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250"/>
                                        <p:tgtEl>
                                          <p:spTgt spid="4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250"/>
                                        <p:tgtEl>
                                          <p:spTgt spid="4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fade">
                                      <p:cBhvr>
                                        <p:cTn id="86" dur="250"/>
                                        <p:tgtEl>
                                          <p:spTgt spid="4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250"/>
                                        <p:tgtEl>
                                          <p:spTgt spid="4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250"/>
                                        <p:tgtEl>
                                          <p:spTgt spid="4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fade">
                                      <p:cBhvr>
                                        <p:cTn id="97" dur="2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6" grpId="0"/>
      <p:bldP spid="27" grpId="0" animBg="1"/>
      <p:bldP spid="28" grpId="0" animBg="1"/>
      <p:bldP spid="29" grpId="0" animBg="1"/>
      <p:bldP spid="30" grpId="0" animBg="1"/>
      <p:bldP spid="32" grpId="0"/>
      <p:bldP spid="34" grpId="0"/>
      <p:bldP spid="42" grpId="0"/>
      <p:bldP spid="43" grpId="0"/>
      <p:bldP spid="44" grpId="0"/>
      <p:bldP spid="45" grpId="0" animBg="1"/>
      <p:bldP spid="46" grpId="0" animBg="1"/>
      <p:bldP spid="47" grpId="0" animBg="1"/>
      <p:bldP spid="4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8590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MORE THAN CORES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Far More Programs Than Cores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a:t>
            </a:r>
            <a:endParaRPr lang="en-US" sz="850" dirty="0"/>
          </a:p>
        </p:txBody>
      </p:sp>
      <p:sp>
        <p:nvSpPr>
          <p:cNvPr id="15" name="cw_win"/>
          <p:cNvSpPr/>
          <p:nvPr/>
        </p:nvSpPr>
        <p:spPr>
          <a:xfrm>
            <a:off x="543154" y="1572768"/>
            <a:ext cx="548640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4864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System.Diagnostics;</a:t>
            </a:r>
            <a:endParaRPr lang="en-US" sz="1000" dirty="0"/>
          </a:p>
        </p:txBody>
      </p:sp>
      <p:sp>
        <p:nvSpPr>
          <p:cNvPr id="23" name="cw_L02"/>
          <p:cNvSpPr txBox="1"/>
          <p:nvPr/>
        </p:nvSpPr>
        <p:spPr>
          <a:xfrm>
            <a:off x="771754" y="24546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$"Logical cores: {Environment.ProcessorCount}"</a:t>
            </a:r>
            <a:r>
              <a:rPr lang="en-US" sz="1000" b="0" dirty="0">
                <a:solidFill>
                  <a:srgbClr val="E2E8F0"/>
                </a:solidFill>
                <a:latin typeface="Consolas"/>
                <a:ea typeface="Consolas"/>
                <a:cs typeface="Consolas"/>
              </a:rPr>
              <a:t>);</a:t>
            </a:r>
            <a:endParaRPr lang="en-US" sz="1000" dirty="0"/>
          </a:p>
        </p:txBody>
      </p:sp>
      <p:sp>
        <p:nvSpPr>
          <p:cNvPr id="24" name="cw_L04"/>
          <p:cNvSpPr txBox="1"/>
          <p:nvPr/>
        </p:nvSpPr>
        <p:spPr>
          <a:xfrm>
            <a:off x="771754" y="28610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Process[] all = Process.GetProcesses();</a:t>
            </a:r>
            <a:endParaRPr lang="en-US" sz="1000" dirty="0"/>
          </a:p>
        </p:txBody>
      </p:sp>
      <p:sp>
        <p:nvSpPr>
          <p:cNvPr id="25" name="cw_L05"/>
          <p:cNvSpPr txBox="1"/>
          <p:nvPr/>
        </p:nvSpPr>
        <p:spPr>
          <a:xfrm>
            <a:off x="771754" y="30642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threads = 0;</a:t>
            </a:r>
            <a:endParaRPr lang="en-US" sz="1000" dirty="0"/>
          </a:p>
        </p:txBody>
      </p:sp>
      <p:sp>
        <p:nvSpPr>
          <p:cNvPr id="26" name="cw_L06"/>
          <p:cNvSpPr txBox="1"/>
          <p:nvPr/>
        </p:nvSpPr>
        <p:spPr>
          <a:xfrm>
            <a:off x="771754" y="32674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foreach</a:t>
            </a:r>
            <a:r>
              <a:rPr lang="en-US" sz="1000" b="0" dirty="0">
                <a:solidFill>
                  <a:srgbClr val="E2E8F0"/>
                </a:solidFill>
                <a:latin typeface="Consolas"/>
                <a:ea typeface="Consolas"/>
                <a:cs typeface="Consolas"/>
              </a:rPr>
              <a:t> (Process p </a:t>
            </a:r>
            <a:r>
              <a:rPr lang="en-US" sz="1000" b="0" dirty="0">
                <a:solidFill>
                  <a:srgbClr val="60A5FA"/>
                </a:solidFill>
                <a:latin typeface="Consolas"/>
                <a:ea typeface="Consolas"/>
                <a:cs typeface="Consolas"/>
              </a:rPr>
              <a:t>in</a:t>
            </a:r>
            <a:r>
              <a:rPr lang="en-US" sz="1000" b="0" dirty="0">
                <a:solidFill>
                  <a:srgbClr val="E2E8F0"/>
                </a:solidFill>
                <a:latin typeface="Consolas"/>
                <a:ea typeface="Consolas"/>
                <a:cs typeface="Consolas"/>
              </a:rPr>
              <a:t> all)</a:t>
            </a:r>
            <a:endParaRPr lang="en-US" sz="1000" dirty="0"/>
          </a:p>
        </p:txBody>
      </p:sp>
      <p:sp>
        <p:nvSpPr>
          <p:cNvPr id="27" name="cw_L07"/>
          <p:cNvSpPr txBox="1"/>
          <p:nvPr/>
        </p:nvSpPr>
        <p:spPr>
          <a:xfrm>
            <a:off x="771754" y="34706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8"/>
          <p:cNvSpPr txBox="1"/>
          <p:nvPr/>
        </p:nvSpPr>
        <p:spPr>
          <a:xfrm>
            <a:off x="771754" y="3673856"/>
            <a:ext cx="51023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try</a:t>
            </a:r>
            <a:r>
              <a:rPr lang="en-US" sz="1000" b="0" dirty="0">
                <a:solidFill>
                  <a:srgbClr val="E2E8F0"/>
                </a:solidFill>
                <a:latin typeface="Consolas"/>
                <a:ea typeface="Consolas"/>
                <a:cs typeface="Consolas"/>
              </a:rPr>
              <a:t> { threads += p.Threads.Count; }</a:t>
            </a:r>
            <a:endParaRPr lang="en-US" sz="1000" dirty="0"/>
          </a:p>
        </p:txBody>
      </p:sp>
      <p:sp>
        <p:nvSpPr>
          <p:cNvPr id="29" name="cw_L09"/>
          <p:cNvSpPr txBox="1"/>
          <p:nvPr/>
        </p:nvSpPr>
        <p:spPr>
          <a:xfrm>
            <a:off x="771754" y="3877056"/>
            <a:ext cx="51023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catch</a:t>
            </a:r>
            <a:r>
              <a:rPr lang="en-US" sz="1000" b="0" dirty="0">
                <a:solidFill>
                  <a:srgbClr val="E2E8F0"/>
                </a:solidFill>
                <a:latin typeface="Consolas"/>
                <a:ea typeface="Consolas"/>
                <a:cs typeface="Consolas"/>
              </a:rPr>
              <a:t> { }                       </a:t>
            </a:r>
            <a:r>
              <a:rPr lang="en-US" sz="1000" b="0" dirty="0">
                <a:solidFill>
                  <a:srgbClr val="6FAE7A"/>
                </a:solidFill>
                <a:latin typeface="Consolas"/>
                <a:ea typeface="Consolas"/>
                <a:cs typeface="Consolas"/>
              </a:rPr>
              <a:t>// some are protected</a:t>
            </a:r>
            <a:endParaRPr lang="en-US" sz="1000" dirty="0"/>
          </a:p>
        </p:txBody>
      </p:sp>
      <p:sp>
        <p:nvSpPr>
          <p:cNvPr id="30" name="cw_L10"/>
          <p:cNvSpPr txBox="1"/>
          <p:nvPr/>
        </p:nvSpPr>
        <p:spPr>
          <a:xfrm>
            <a:off x="771754" y="40802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1"/>
          <p:cNvSpPr txBox="1"/>
          <p:nvPr/>
        </p:nvSpPr>
        <p:spPr>
          <a:xfrm>
            <a:off x="771754" y="42834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$"Processes: {all.Length}"</a:t>
            </a:r>
            <a:r>
              <a:rPr lang="en-US" sz="1000" b="0" dirty="0">
                <a:solidFill>
                  <a:srgbClr val="E2E8F0"/>
                </a:solidFill>
                <a:latin typeface="Consolas"/>
                <a:ea typeface="Consolas"/>
                <a:cs typeface="Consolas"/>
              </a:rPr>
              <a:t>);</a:t>
            </a:r>
            <a:endParaRPr lang="en-US" sz="1000" dirty="0"/>
          </a:p>
        </p:txBody>
      </p:sp>
      <p:sp>
        <p:nvSpPr>
          <p:cNvPr id="32" name="cw_L12"/>
          <p:cNvSpPr txBox="1"/>
          <p:nvPr/>
        </p:nvSpPr>
        <p:spPr>
          <a:xfrm>
            <a:off x="771754" y="4486656"/>
            <a:ext cx="51023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$"Threads:   {threads}"</a:t>
            </a:r>
            <a:r>
              <a:rPr lang="en-US" sz="1000" b="0" dirty="0">
                <a:solidFill>
                  <a:srgbClr val="E2E8F0"/>
                </a:solidFill>
                <a:latin typeface="Consolas"/>
                <a:ea typeface="Consolas"/>
                <a:cs typeface="Consolas"/>
              </a:rPr>
              <a:t>);</a:t>
            </a:r>
            <a:endParaRPr lang="en-US" sz="1000" dirty="0"/>
          </a:p>
        </p:txBody>
      </p:sp>
      <p:sp>
        <p:nvSpPr>
          <p:cNvPr id="33" name="card"/>
          <p:cNvSpPr/>
          <p:nvPr/>
        </p:nvSpPr>
        <p:spPr>
          <a:xfrm>
            <a:off x="6258154" y="1572768"/>
            <a:ext cx="1260729" cy="868680"/>
          </a:xfrm>
          <a:prstGeom prst="roundRect">
            <a:avLst>
              <a:gd name="adj" fmla="val 9473"/>
            </a:avLst>
          </a:prstGeom>
          <a:solidFill>
            <a:srgbClr val="111B2E"/>
          </a:solidFill>
          <a:ln w="12700">
            <a:solidFill>
              <a:srgbClr val="A78BFA"/>
            </a:solidFill>
            <a:prstDash val="solid"/>
          </a:ln>
        </p:spPr>
        <p:txBody>
          <a:bodyPr wrap="square" lIns="45720" tIns="36576" rIns="45720" bIns="36576" rtlCol="0" anchor="ctr">
            <a:noAutofit/>
          </a:bodyPr>
          <a:lstStyle/>
          <a:p>
            <a:pPr marL="0" indent="0" algn="ctr">
              <a:spcBef>
                <a:spcPts val="0"/>
              </a:spcBef>
              <a:spcAft>
                <a:spcPts val="60"/>
              </a:spcAft>
              <a:buNone/>
            </a:pPr>
            <a:r>
              <a:rPr lang="en-US" sz="2000" b="1" dirty="0">
                <a:solidFill>
                  <a:srgbClr val="A78BFA"/>
                </a:solidFill>
                <a:latin typeface="Segoe UI"/>
                <a:ea typeface="Segoe UI"/>
                <a:cs typeface="Segoe UI"/>
              </a:rPr>
              <a:t>8</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logical cores</a:t>
            </a:r>
            <a:endParaRPr lang="en-US" sz="1000" dirty="0"/>
          </a:p>
        </p:txBody>
      </p:sp>
      <p:sp>
        <p:nvSpPr>
          <p:cNvPr id="34" name="card"/>
          <p:cNvSpPr/>
          <p:nvPr/>
        </p:nvSpPr>
        <p:spPr>
          <a:xfrm>
            <a:off x="7628611" y="1572768"/>
            <a:ext cx="1260729" cy="868680"/>
          </a:xfrm>
          <a:prstGeom prst="roundRect">
            <a:avLst>
              <a:gd name="adj" fmla="val 9473"/>
            </a:avLst>
          </a:prstGeom>
          <a:solidFill>
            <a:srgbClr val="111B2E"/>
          </a:solidFill>
          <a:ln w="12700">
            <a:solidFill>
              <a:srgbClr val="4D91F0"/>
            </a:solidFill>
            <a:prstDash val="solid"/>
          </a:ln>
        </p:spPr>
        <p:txBody>
          <a:bodyPr wrap="square" lIns="45720" tIns="36576" rIns="45720" bIns="36576" rtlCol="0" anchor="ctr">
            <a:noAutofit/>
          </a:bodyPr>
          <a:lstStyle/>
          <a:p>
            <a:pPr marL="0" indent="0" algn="ctr">
              <a:spcBef>
                <a:spcPts val="0"/>
              </a:spcBef>
              <a:spcAft>
                <a:spcPts val="60"/>
              </a:spcAft>
              <a:buNone/>
            </a:pPr>
            <a:r>
              <a:rPr lang="en-US" sz="2000" b="1" dirty="0">
                <a:solidFill>
                  <a:srgbClr val="4D91F0"/>
                </a:solidFill>
                <a:latin typeface="Segoe UI"/>
                <a:ea typeface="Segoe UI"/>
                <a:cs typeface="Segoe UI"/>
              </a:rPr>
              <a:t>312</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processes</a:t>
            </a:r>
            <a:endParaRPr lang="en-US" sz="1000" dirty="0"/>
          </a:p>
        </p:txBody>
      </p:sp>
      <p:sp>
        <p:nvSpPr>
          <p:cNvPr id="35" name="card"/>
          <p:cNvSpPr/>
          <p:nvPr/>
        </p:nvSpPr>
        <p:spPr>
          <a:xfrm>
            <a:off x="8999068" y="1572768"/>
            <a:ext cx="1260729" cy="868680"/>
          </a:xfrm>
          <a:prstGeom prst="roundRect">
            <a:avLst>
              <a:gd name="adj" fmla="val 9473"/>
            </a:avLst>
          </a:prstGeom>
          <a:solidFill>
            <a:srgbClr val="111B2E"/>
          </a:solidFill>
          <a:ln w="12700">
            <a:solidFill>
              <a:srgbClr val="FBBF24"/>
            </a:solidFill>
            <a:prstDash val="solid"/>
          </a:ln>
        </p:spPr>
        <p:txBody>
          <a:bodyPr wrap="square" lIns="45720" tIns="36576" rIns="45720" bIns="36576" rtlCol="0" anchor="ctr">
            <a:noAutofit/>
          </a:bodyPr>
          <a:lstStyle/>
          <a:p>
            <a:pPr marL="0" indent="0" algn="ctr">
              <a:spcBef>
                <a:spcPts val="0"/>
              </a:spcBef>
              <a:spcAft>
                <a:spcPts val="60"/>
              </a:spcAft>
              <a:buNone/>
            </a:pPr>
            <a:r>
              <a:rPr lang="en-US" sz="2000" b="1" dirty="0">
                <a:solidFill>
                  <a:srgbClr val="FBBF24"/>
                </a:solidFill>
                <a:latin typeface="Segoe UI"/>
                <a:ea typeface="Segoe UI"/>
                <a:cs typeface="Segoe UI"/>
              </a:rPr>
              <a:t>4,105</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threads</a:t>
            </a:r>
            <a:endParaRPr lang="en-US" sz="1000" dirty="0"/>
          </a:p>
        </p:txBody>
      </p:sp>
      <p:sp>
        <p:nvSpPr>
          <p:cNvPr id="36" name="card"/>
          <p:cNvSpPr/>
          <p:nvPr/>
        </p:nvSpPr>
        <p:spPr>
          <a:xfrm>
            <a:off x="10369525" y="1572768"/>
            <a:ext cx="1260729" cy="868680"/>
          </a:xfrm>
          <a:prstGeom prst="roundRect">
            <a:avLst>
              <a:gd name="adj" fmla="val 9473"/>
            </a:avLst>
          </a:prstGeom>
          <a:solidFill>
            <a:srgbClr val="111B2E"/>
          </a:solidFill>
          <a:ln w="12700">
            <a:solidFill>
              <a:srgbClr val="34D399"/>
            </a:solidFill>
            <a:prstDash val="solid"/>
          </a:ln>
        </p:spPr>
        <p:txBody>
          <a:bodyPr wrap="square" lIns="45720" tIns="36576" rIns="45720" bIns="36576" rtlCol="0" anchor="ctr">
            <a:noAutofit/>
          </a:bodyPr>
          <a:lstStyle/>
          <a:p>
            <a:pPr marL="0" indent="0" algn="ctr">
              <a:spcBef>
                <a:spcPts val="0"/>
              </a:spcBef>
              <a:spcAft>
                <a:spcPts val="60"/>
              </a:spcAft>
              <a:buNone/>
            </a:pPr>
            <a:r>
              <a:rPr lang="en-US" sz="2000" b="1" dirty="0">
                <a:solidFill>
                  <a:srgbClr val="34D399"/>
                </a:solidFill>
                <a:latin typeface="Segoe UI"/>
                <a:ea typeface="Segoe UI"/>
                <a:cs typeface="Segoe UI"/>
              </a:rPr>
              <a:t>6%</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CPU usage</a:t>
            </a:r>
            <a:endParaRPr lang="en-US" sz="1000" dirty="0"/>
          </a:p>
        </p:txBody>
      </p:sp>
      <p:sp>
        <p:nvSpPr>
          <p:cNvPr id="37" name="lab"/>
          <p:cNvSpPr txBox="1"/>
          <p:nvPr/>
        </p:nvSpPr>
        <p:spPr>
          <a:xfrm>
            <a:off x="6258154" y="2487168"/>
            <a:ext cx="53721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64748B"/>
                </a:solidFill>
                <a:latin typeface="Segoe UI"/>
                <a:ea typeface="Segoe UI"/>
                <a:cs typeface="Segoe UI"/>
              </a:rPr>
              <a:t>typical laptop (Task Manager → Performance)</a:t>
            </a:r>
            <a:endParaRPr lang="en-US" sz="950" dirty="0"/>
          </a:p>
        </p:txBody>
      </p:sp>
      <p:sp>
        <p:nvSpPr>
          <p:cNvPr id="38" name="card"/>
          <p:cNvSpPr/>
          <p:nvPr/>
        </p:nvSpPr>
        <p:spPr>
          <a:xfrm>
            <a:off x="6258154" y="2807208"/>
            <a:ext cx="5372100" cy="603504"/>
          </a:xfrm>
          <a:prstGeom prst="roundRect">
            <a:avLst>
              <a:gd name="adj" fmla="val 12500"/>
            </a:avLst>
          </a:prstGeom>
          <a:solidFill>
            <a:srgbClr val="111B2E"/>
          </a:solidFill>
          <a:ln w="12700">
            <a:solidFill>
              <a:srgbClr val="64748B"/>
            </a:solidFill>
            <a:prstDash val="solid"/>
          </a:ln>
        </p:spPr>
        <p:txBody>
          <a:bodyPr wrap="square" lIns="164592" tIns="18288" rIns="109728" bIns="18288" rtlCol="0" anchor="ctr">
            <a:noAutofit/>
          </a:bodyPr>
          <a:lstStyle/>
          <a:p>
            <a:pPr marL="0" indent="0" algn="l">
              <a:spcBef>
                <a:spcPts val="0"/>
              </a:spcBef>
              <a:spcAft>
                <a:spcPts val="0"/>
              </a:spcAft>
              <a:buNone/>
            </a:pPr>
            <a:r>
              <a:rPr lang="en-US" sz="1050" b="1" dirty="0">
                <a:solidFill>
                  <a:srgbClr val="64748B"/>
                </a:solidFill>
                <a:latin typeface="Segoe UI"/>
                <a:ea typeface="Segoe UI"/>
                <a:cs typeface="Segoe UI"/>
              </a:rPr>
              <a:t>WAITING  ·  ~4,090 threads   </a:t>
            </a:r>
            <a:r>
              <a:rPr lang="en-US" sz="1050" b="0" dirty="0">
                <a:solidFill>
                  <a:srgbClr val="CBD5E1"/>
                </a:solidFill>
                <a:latin typeface="Segoe UI"/>
                <a:ea typeface="Segoe UI"/>
                <a:cs typeface="Segoe UI"/>
              </a:rPr>
              <a:t>for a click, a packet, a timer: no core needed</a:t>
            </a:r>
            <a:endParaRPr lang="en-US" sz="1050" dirty="0"/>
          </a:p>
        </p:txBody>
      </p:sp>
      <p:sp>
        <p:nvSpPr>
          <p:cNvPr id="39" name="card"/>
          <p:cNvSpPr/>
          <p:nvPr/>
        </p:nvSpPr>
        <p:spPr>
          <a:xfrm>
            <a:off x="6669634" y="3520440"/>
            <a:ext cx="4549140" cy="603504"/>
          </a:xfrm>
          <a:prstGeom prst="roundRect">
            <a:avLst>
              <a:gd name="adj" fmla="val 12500"/>
            </a:avLst>
          </a:prstGeom>
          <a:solidFill>
            <a:srgbClr val="111B2E"/>
          </a:solidFill>
          <a:ln w="12700">
            <a:solidFill>
              <a:srgbClr val="FBBF24"/>
            </a:solidFill>
            <a:prstDash val="solid"/>
          </a:ln>
        </p:spPr>
        <p:txBody>
          <a:bodyPr wrap="square" lIns="164592" tIns="18288" rIns="109728" bIns="18288"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READY  ·  ~10 threads   </a:t>
            </a:r>
            <a:r>
              <a:rPr lang="en-US" sz="1050" b="0" dirty="0">
                <a:solidFill>
                  <a:srgbClr val="CBD5E1"/>
                </a:solidFill>
                <a:latin typeface="Segoe UI"/>
                <a:ea typeface="Segoe UI"/>
                <a:cs typeface="Segoe UI"/>
              </a:rPr>
              <a:t>want a core right now</a:t>
            </a:r>
            <a:endParaRPr lang="en-US" sz="1050" dirty="0"/>
          </a:p>
        </p:txBody>
      </p:sp>
      <p:sp>
        <p:nvSpPr>
          <p:cNvPr id="40" name="card"/>
          <p:cNvSpPr/>
          <p:nvPr/>
        </p:nvSpPr>
        <p:spPr>
          <a:xfrm>
            <a:off x="7081114" y="4233672"/>
            <a:ext cx="3726180" cy="603504"/>
          </a:xfrm>
          <a:prstGeom prst="roundRect">
            <a:avLst>
              <a:gd name="adj" fmla="val 12500"/>
            </a:avLst>
          </a:prstGeom>
          <a:solidFill>
            <a:srgbClr val="111B2E"/>
          </a:solidFill>
          <a:ln w="12700">
            <a:solidFill>
              <a:srgbClr val="34D399"/>
            </a:solidFill>
            <a:prstDash val="solid"/>
          </a:ln>
        </p:spPr>
        <p:txBody>
          <a:bodyPr wrap="square" lIns="164592" tIns="18288" rIns="109728" bIns="18288"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RUNNING  ·  8 threads   </a:t>
            </a:r>
            <a:r>
              <a:rPr lang="en-US" sz="1050" b="0" dirty="0">
                <a:solidFill>
                  <a:srgbClr val="CBD5E1"/>
                </a:solidFill>
                <a:latin typeface="Segoe UI"/>
                <a:ea typeface="Segoe UI"/>
                <a:cs typeface="Segoe UI"/>
              </a:rPr>
              <a:t>one per logical core</a:t>
            </a:r>
            <a:endParaRPr lang="en-US" sz="1050" dirty="0"/>
          </a:p>
        </p:txBody>
      </p:sp>
      <p:sp>
        <p:nvSpPr>
          <p:cNvPr id="41"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Thousands of threads share a few cores because most of them are waiting, not working.</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250"/>
                                        <p:tgtEl>
                                          <p:spTgt spid="3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250"/>
                                        <p:tgtEl>
                                          <p:spTgt spid="4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fade">
                                      <p:cBhvr>
                                        <p:cTn id="74" dur="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P spid="37" grpId="0"/>
      <p:bldP spid="38" grpId="0" animBg="1"/>
      <p:bldP spid="39" grpId="0" animBg="1"/>
      <p:bldP spid="40"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LOGICAL CORES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Logical Cores vs Physical Cores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a:t>
            </a:r>
            <a:endParaRPr lang="en-US" sz="850" dirty="0"/>
          </a:p>
        </p:txBody>
      </p:sp>
      <p:sp>
        <p:nvSpPr>
          <p:cNvPr id="15" name="phys"/>
          <p:cNvSpPr/>
          <p:nvPr/>
        </p:nvSpPr>
        <p:spPr>
          <a:xfrm>
            <a:off x="543154" y="1572768"/>
            <a:ext cx="1405890" cy="2240280"/>
          </a:xfrm>
          <a:prstGeom prst="roundRect">
            <a:avLst>
              <a:gd name="adj" fmla="val 6000"/>
            </a:avLst>
          </a:prstGeom>
          <a:solidFill>
            <a:srgbClr val="0A1322"/>
          </a:solidFill>
          <a:ln w="19050">
            <a:solidFill>
              <a:srgbClr val="4D91F0"/>
            </a:solidFill>
            <a:prstDash val="solid"/>
          </a:ln>
        </p:spPr>
        <p:txBody>
          <a:bodyPr wrap="square" lIns="45720" tIns="91440" rIns="45720" bIns="45720" rtlCol="0" anchor="t">
            <a:noAutofit/>
          </a:bodyPr>
          <a:lstStyle/>
          <a:p>
            <a:pPr marL="0" indent="0" algn="ctr">
              <a:spcBef>
                <a:spcPts val="0"/>
              </a:spcBef>
              <a:spcAft>
                <a:spcPts val="0"/>
              </a:spcAft>
              <a:buNone/>
            </a:pPr>
            <a:r>
              <a:rPr lang="en-US" sz="1300" b="1" dirty="0">
                <a:solidFill>
                  <a:srgbClr val="4D91F0"/>
                </a:solidFill>
                <a:latin typeface="Segoe UI"/>
                <a:ea typeface="Segoe UI"/>
                <a:cs typeface="Segoe UI"/>
              </a:rPr>
              <a:t>Core 1</a:t>
            </a:r>
            <a:endParaRPr lang="en-US" sz="1300" dirty="0"/>
          </a:p>
          <a:p>
            <a:pPr marL="0" indent="0" algn="ctr">
              <a:spcBef>
                <a:spcPts val="0"/>
              </a:spcBef>
              <a:spcAft>
                <a:spcPts val="0"/>
              </a:spcAft>
              <a:buNone/>
            </a:pPr>
            <a:r>
              <a:rPr lang="en-US" sz="950" b="0" dirty="0">
                <a:solidFill>
                  <a:srgbClr val="64748B"/>
                </a:solidFill>
                <a:latin typeface="Segoe UI"/>
                <a:ea typeface="Segoe UI"/>
                <a:cs typeface="Segoe UI"/>
              </a:rPr>
              <a:t>physical</a:t>
            </a:r>
            <a:endParaRPr lang="en-US" sz="950" dirty="0"/>
          </a:p>
        </p:txBody>
      </p:sp>
      <p:sp>
        <p:nvSpPr>
          <p:cNvPr id="16" name="box"/>
          <p:cNvSpPr/>
          <p:nvPr/>
        </p:nvSpPr>
        <p:spPr>
          <a:xfrm>
            <a:off x="652882" y="2258568"/>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0</a:t>
            </a:r>
            <a:endParaRPr lang="en-US" sz="1000" dirty="0"/>
          </a:p>
        </p:txBody>
      </p:sp>
      <p:sp>
        <p:nvSpPr>
          <p:cNvPr id="17" name="box"/>
          <p:cNvSpPr/>
          <p:nvPr/>
        </p:nvSpPr>
        <p:spPr>
          <a:xfrm>
            <a:off x="652882" y="2825496"/>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1</a:t>
            </a:r>
            <a:endParaRPr lang="en-US" sz="1000" dirty="0"/>
          </a:p>
        </p:txBody>
      </p:sp>
      <p:sp>
        <p:nvSpPr>
          <p:cNvPr id="18" name="lab"/>
          <p:cNvSpPr txBox="1"/>
          <p:nvPr/>
        </p:nvSpPr>
        <p:spPr>
          <a:xfrm>
            <a:off x="543154" y="3447288"/>
            <a:ext cx="140589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1" dirty="0">
                <a:solidFill>
                  <a:srgbClr val="64748B"/>
                </a:solidFill>
                <a:latin typeface="Segoe UI"/>
                <a:ea typeface="Segoe UI"/>
                <a:cs typeface="Segoe UI"/>
              </a:rPr>
              <a:t>shared engine</a:t>
            </a:r>
            <a:endParaRPr lang="en-US" sz="850" dirty="0"/>
          </a:p>
        </p:txBody>
      </p:sp>
      <p:sp>
        <p:nvSpPr>
          <p:cNvPr id="19" name="phys"/>
          <p:cNvSpPr/>
          <p:nvPr/>
        </p:nvSpPr>
        <p:spPr>
          <a:xfrm>
            <a:off x="2086204" y="1572768"/>
            <a:ext cx="1405890" cy="2240280"/>
          </a:xfrm>
          <a:prstGeom prst="roundRect">
            <a:avLst>
              <a:gd name="adj" fmla="val 6000"/>
            </a:avLst>
          </a:prstGeom>
          <a:solidFill>
            <a:srgbClr val="0A1322"/>
          </a:solidFill>
          <a:ln w="19050">
            <a:solidFill>
              <a:srgbClr val="4D91F0"/>
            </a:solidFill>
            <a:prstDash val="solid"/>
          </a:ln>
        </p:spPr>
        <p:txBody>
          <a:bodyPr wrap="square" lIns="45720" tIns="91440" rIns="45720" bIns="45720" rtlCol="0" anchor="t">
            <a:noAutofit/>
          </a:bodyPr>
          <a:lstStyle/>
          <a:p>
            <a:pPr marL="0" indent="0" algn="ctr">
              <a:spcBef>
                <a:spcPts val="0"/>
              </a:spcBef>
              <a:spcAft>
                <a:spcPts val="0"/>
              </a:spcAft>
              <a:buNone/>
            </a:pPr>
            <a:r>
              <a:rPr lang="en-US" sz="1300" b="1" dirty="0">
                <a:solidFill>
                  <a:srgbClr val="4D91F0"/>
                </a:solidFill>
                <a:latin typeface="Segoe UI"/>
                <a:ea typeface="Segoe UI"/>
                <a:cs typeface="Segoe UI"/>
              </a:rPr>
              <a:t>Core 2</a:t>
            </a:r>
            <a:endParaRPr lang="en-US" sz="1300" dirty="0"/>
          </a:p>
          <a:p>
            <a:pPr marL="0" indent="0" algn="ctr">
              <a:spcBef>
                <a:spcPts val="0"/>
              </a:spcBef>
              <a:spcAft>
                <a:spcPts val="0"/>
              </a:spcAft>
              <a:buNone/>
            </a:pPr>
            <a:r>
              <a:rPr lang="en-US" sz="950" b="0" dirty="0">
                <a:solidFill>
                  <a:srgbClr val="64748B"/>
                </a:solidFill>
                <a:latin typeface="Segoe UI"/>
                <a:ea typeface="Segoe UI"/>
                <a:cs typeface="Segoe UI"/>
              </a:rPr>
              <a:t>physical</a:t>
            </a:r>
            <a:endParaRPr lang="en-US" sz="950" dirty="0"/>
          </a:p>
        </p:txBody>
      </p:sp>
      <p:sp>
        <p:nvSpPr>
          <p:cNvPr id="20" name="box"/>
          <p:cNvSpPr/>
          <p:nvPr/>
        </p:nvSpPr>
        <p:spPr>
          <a:xfrm>
            <a:off x="2195932" y="2258568"/>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2</a:t>
            </a:r>
            <a:endParaRPr lang="en-US" sz="1000" dirty="0"/>
          </a:p>
        </p:txBody>
      </p:sp>
      <p:sp>
        <p:nvSpPr>
          <p:cNvPr id="21" name="box"/>
          <p:cNvSpPr/>
          <p:nvPr/>
        </p:nvSpPr>
        <p:spPr>
          <a:xfrm>
            <a:off x="2195932" y="2825496"/>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3</a:t>
            </a:r>
            <a:endParaRPr lang="en-US" sz="1000" dirty="0"/>
          </a:p>
        </p:txBody>
      </p:sp>
      <p:sp>
        <p:nvSpPr>
          <p:cNvPr id="22" name="lab"/>
          <p:cNvSpPr txBox="1"/>
          <p:nvPr/>
        </p:nvSpPr>
        <p:spPr>
          <a:xfrm>
            <a:off x="2086204" y="3447288"/>
            <a:ext cx="140589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1" dirty="0">
                <a:solidFill>
                  <a:srgbClr val="64748B"/>
                </a:solidFill>
                <a:latin typeface="Segoe UI"/>
                <a:ea typeface="Segoe UI"/>
                <a:cs typeface="Segoe UI"/>
              </a:rPr>
              <a:t>shared engine</a:t>
            </a:r>
            <a:endParaRPr lang="en-US" sz="850" dirty="0"/>
          </a:p>
        </p:txBody>
      </p:sp>
      <p:sp>
        <p:nvSpPr>
          <p:cNvPr id="23" name="phys"/>
          <p:cNvSpPr/>
          <p:nvPr/>
        </p:nvSpPr>
        <p:spPr>
          <a:xfrm>
            <a:off x="3629254" y="1572768"/>
            <a:ext cx="1405890" cy="2240280"/>
          </a:xfrm>
          <a:prstGeom prst="roundRect">
            <a:avLst>
              <a:gd name="adj" fmla="val 6000"/>
            </a:avLst>
          </a:prstGeom>
          <a:solidFill>
            <a:srgbClr val="0A1322"/>
          </a:solidFill>
          <a:ln w="19050">
            <a:solidFill>
              <a:srgbClr val="4D91F0"/>
            </a:solidFill>
            <a:prstDash val="solid"/>
          </a:ln>
        </p:spPr>
        <p:txBody>
          <a:bodyPr wrap="square" lIns="45720" tIns="91440" rIns="45720" bIns="45720" rtlCol="0" anchor="t">
            <a:noAutofit/>
          </a:bodyPr>
          <a:lstStyle/>
          <a:p>
            <a:pPr marL="0" indent="0" algn="ctr">
              <a:spcBef>
                <a:spcPts val="0"/>
              </a:spcBef>
              <a:spcAft>
                <a:spcPts val="0"/>
              </a:spcAft>
              <a:buNone/>
            </a:pPr>
            <a:r>
              <a:rPr lang="en-US" sz="1300" b="1" dirty="0">
                <a:solidFill>
                  <a:srgbClr val="4D91F0"/>
                </a:solidFill>
                <a:latin typeface="Segoe UI"/>
                <a:ea typeface="Segoe UI"/>
                <a:cs typeface="Segoe UI"/>
              </a:rPr>
              <a:t>Core 3</a:t>
            </a:r>
            <a:endParaRPr lang="en-US" sz="1300" dirty="0"/>
          </a:p>
          <a:p>
            <a:pPr marL="0" indent="0" algn="ctr">
              <a:spcBef>
                <a:spcPts val="0"/>
              </a:spcBef>
              <a:spcAft>
                <a:spcPts val="0"/>
              </a:spcAft>
              <a:buNone/>
            </a:pPr>
            <a:r>
              <a:rPr lang="en-US" sz="950" b="0" dirty="0">
                <a:solidFill>
                  <a:srgbClr val="64748B"/>
                </a:solidFill>
                <a:latin typeface="Segoe UI"/>
                <a:ea typeface="Segoe UI"/>
                <a:cs typeface="Segoe UI"/>
              </a:rPr>
              <a:t>physical</a:t>
            </a:r>
            <a:endParaRPr lang="en-US" sz="950" dirty="0"/>
          </a:p>
        </p:txBody>
      </p:sp>
      <p:sp>
        <p:nvSpPr>
          <p:cNvPr id="24" name="box"/>
          <p:cNvSpPr/>
          <p:nvPr/>
        </p:nvSpPr>
        <p:spPr>
          <a:xfrm>
            <a:off x="3738982" y="2258568"/>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4</a:t>
            </a:r>
            <a:endParaRPr lang="en-US" sz="1000" dirty="0"/>
          </a:p>
        </p:txBody>
      </p:sp>
      <p:sp>
        <p:nvSpPr>
          <p:cNvPr id="25" name="box"/>
          <p:cNvSpPr/>
          <p:nvPr/>
        </p:nvSpPr>
        <p:spPr>
          <a:xfrm>
            <a:off x="3738982" y="2825496"/>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5</a:t>
            </a:r>
            <a:endParaRPr lang="en-US" sz="1000" dirty="0"/>
          </a:p>
        </p:txBody>
      </p:sp>
      <p:sp>
        <p:nvSpPr>
          <p:cNvPr id="26" name="lab"/>
          <p:cNvSpPr txBox="1"/>
          <p:nvPr/>
        </p:nvSpPr>
        <p:spPr>
          <a:xfrm>
            <a:off x="3629254" y="3447288"/>
            <a:ext cx="140589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1" dirty="0">
                <a:solidFill>
                  <a:srgbClr val="64748B"/>
                </a:solidFill>
                <a:latin typeface="Segoe UI"/>
                <a:ea typeface="Segoe UI"/>
                <a:cs typeface="Segoe UI"/>
              </a:rPr>
              <a:t>shared engine</a:t>
            </a:r>
            <a:endParaRPr lang="en-US" sz="850" dirty="0"/>
          </a:p>
        </p:txBody>
      </p:sp>
      <p:sp>
        <p:nvSpPr>
          <p:cNvPr id="27" name="phys"/>
          <p:cNvSpPr/>
          <p:nvPr/>
        </p:nvSpPr>
        <p:spPr>
          <a:xfrm>
            <a:off x="5172304" y="1572768"/>
            <a:ext cx="1405890" cy="2240280"/>
          </a:xfrm>
          <a:prstGeom prst="roundRect">
            <a:avLst>
              <a:gd name="adj" fmla="val 6000"/>
            </a:avLst>
          </a:prstGeom>
          <a:solidFill>
            <a:srgbClr val="0A1322"/>
          </a:solidFill>
          <a:ln w="19050">
            <a:solidFill>
              <a:srgbClr val="4D91F0"/>
            </a:solidFill>
            <a:prstDash val="solid"/>
          </a:ln>
        </p:spPr>
        <p:txBody>
          <a:bodyPr wrap="square" lIns="45720" tIns="91440" rIns="45720" bIns="45720" rtlCol="0" anchor="t">
            <a:noAutofit/>
          </a:bodyPr>
          <a:lstStyle/>
          <a:p>
            <a:pPr marL="0" indent="0" algn="ctr">
              <a:spcBef>
                <a:spcPts val="0"/>
              </a:spcBef>
              <a:spcAft>
                <a:spcPts val="0"/>
              </a:spcAft>
              <a:buNone/>
            </a:pPr>
            <a:r>
              <a:rPr lang="en-US" sz="1300" b="1" dirty="0">
                <a:solidFill>
                  <a:srgbClr val="4D91F0"/>
                </a:solidFill>
                <a:latin typeface="Segoe UI"/>
                <a:ea typeface="Segoe UI"/>
                <a:cs typeface="Segoe UI"/>
              </a:rPr>
              <a:t>Core 4</a:t>
            </a:r>
            <a:endParaRPr lang="en-US" sz="1300" dirty="0"/>
          </a:p>
          <a:p>
            <a:pPr marL="0" indent="0" algn="ctr">
              <a:spcBef>
                <a:spcPts val="0"/>
              </a:spcBef>
              <a:spcAft>
                <a:spcPts val="0"/>
              </a:spcAft>
              <a:buNone/>
            </a:pPr>
            <a:r>
              <a:rPr lang="en-US" sz="950" b="0" dirty="0">
                <a:solidFill>
                  <a:srgbClr val="64748B"/>
                </a:solidFill>
                <a:latin typeface="Segoe UI"/>
                <a:ea typeface="Segoe UI"/>
                <a:cs typeface="Segoe UI"/>
              </a:rPr>
              <a:t>physical</a:t>
            </a:r>
            <a:endParaRPr lang="en-US" sz="950" dirty="0"/>
          </a:p>
        </p:txBody>
      </p:sp>
      <p:sp>
        <p:nvSpPr>
          <p:cNvPr id="28" name="box"/>
          <p:cNvSpPr/>
          <p:nvPr/>
        </p:nvSpPr>
        <p:spPr>
          <a:xfrm>
            <a:off x="5282032" y="2258568"/>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6</a:t>
            </a:r>
            <a:endParaRPr lang="en-US" sz="1000" dirty="0"/>
          </a:p>
        </p:txBody>
      </p:sp>
      <p:sp>
        <p:nvSpPr>
          <p:cNvPr id="29" name="box"/>
          <p:cNvSpPr/>
          <p:nvPr/>
        </p:nvSpPr>
        <p:spPr>
          <a:xfrm>
            <a:off x="5282032" y="2825496"/>
            <a:ext cx="1186434" cy="4572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logical 7</a:t>
            </a:r>
            <a:endParaRPr lang="en-US" sz="1000" dirty="0"/>
          </a:p>
        </p:txBody>
      </p:sp>
      <p:sp>
        <p:nvSpPr>
          <p:cNvPr id="30" name="lab"/>
          <p:cNvSpPr txBox="1"/>
          <p:nvPr/>
        </p:nvSpPr>
        <p:spPr>
          <a:xfrm>
            <a:off x="5172304" y="3447288"/>
            <a:ext cx="140589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1" dirty="0">
                <a:solidFill>
                  <a:srgbClr val="64748B"/>
                </a:solidFill>
                <a:latin typeface="Segoe UI"/>
                <a:ea typeface="Segoe UI"/>
                <a:cs typeface="Segoe UI"/>
              </a:rPr>
              <a:t>shared engine</a:t>
            </a:r>
            <a:endParaRPr lang="en-US" sz="850" dirty="0"/>
          </a:p>
        </p:txBody>
      </p:sp>
      <p:sp>
        <p:nvSpPr>
          <p:cNvPr id="31" name="card"/>
          <p:cNvSpPr/>
          <p:nvPr/>
        </p:nvSpPr>
        <p:spPr>
          <a:xfrm>
            <a:off x="543154" y="3950208"/>
            <a:ext cx="6035040" cy="932688"/>
          </a:xfrm>
          <a:prstGeom prst="roundRect">
            <a:avLst>
              <a:gd name="adj" fmla="val 8823"/>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80"/>
              </a:spcAft>
              <a:buNone/>
            </a:pPr>
            <a:r>
              <a:rPr lang="en-US" sz="1050" b="1" dirty="0">
                <a:solidFill>
                  <a:srgbClr val="FBBF24"/>
                </a:solidFill>
                <a:latin typeface="Segoe UI"/>
                <a:ea typeface="Segoe UI"/>
                <a:cs typeface="Segoe UI"/>
              </a:rPr>
              <a:t>LIKE ONE CHEF WITH TWO ORDERS</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While order A waits for the oven, the chef works on order B. Better use of one chef, not two chefs.</a:t>
            </a:r>
            <a:endParaRPr lang="en-US" sz="1150" dirty="0"/>
          </a:p>
        </p:txBody>
      </p:sp>
      <p:sp>
        <p:nvSpPr>
          <p:cNvPr id="32" name="card"/>
          <p:cNvSpPr/>
          <p:nvPr/>
        </p:nvSpPr>
        <p:spPr>
          <a:xfrm>
            <a:off x="6806794" y="1572768"/>
            <a:ext cx="2356866" cy="777240"/>
          </a:xfrm>
          <a:prstGeom prst="roundRect">
            <a:avLst>
              <a:gd name="adj" fmla="val 10588"/>
            </a:avLst>
          </a:prstGeom>
          <a:solidFill>
            <a:srgbClr val="111B2E"/>
          </a:solidFill>
          <a:ln w="12700">
            <a:solidFill>
              <a:srgbClr val="4D91F0"/>
            </a:solidFill>
            <a:prstDash val="solid"/>
          </a:ln>
        </p:spPr>
        <p:txBody>
          <a:bodyPr wrap="square" lIns="45720" tIns="27432" rIns="45720" bIns="27432" rtlCol="0" anchor="ctr">
            <a:noAutofit/>
          </a:bodyPr>
          <a:lstStyle/>
          <a:p>
            <a:pPr marL="0" indent="0" algn="ctr">
              <a:spcBef>
                <a:spcPts val="0"/>
              </a:spcBef>
              <a:spcAft>
                <a:spcPts val="40"/>
              </a:spcAft>
              <a:buNone/>
            </a:pPr>
            <a:r>
              <a:rPr lang="en-US" sz="2000" b="1" dirty="0">
                <a:solidFill>
                  <a:srgbClr val="4D91F0"/>
                </a:solidFill>
                <a:latin typeface="Segoe UI"/>
                <a:ea typeface="Segoe UI"/>
                <a:cs typeface="Segoe UI"/>
              </a:rPr>
              <a:t>4</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Cores</a:t>
            </a:r>
            <a:endParaRPr lang="en-US" sz="1000" dirty="0"/>
          </a:p>
        </p:txBody>
      </p:sp>
      <p:sp>
        <p:nvSpPr>
          <p:cNvPr id="33" name="card"/>
          <p:cNvSpPr/>
          <p:nvPr/>
        </p:nvSpPr>
        <p:spPr>
          <a:xfrm>
            <a:off x="9273388" y="1572768"/>
            <a:ext cx="2356866" cy="777240"/>
          </a:xfrm>
          <a:prstGeom prst="roundRect">
            <a:avLst>
              <a:gd name="adj" fmla="val 10588"/>
            </a:avLst>
          </a:prstGeom>
          <a:solidFill>
            <a:srgbClr val="111B2E"/>
          </a:solidFill>
          <a:ln w="12700">
            <a:solidFill>
              <a:srgbClr val="A78BFA"/>
            </a:solidFill>
            <a:prstDash val="solid"/>
          </a:ln>
        </p:spPr>
        <p:txBody>
          <a:bodyPr wrap="square" lIns="45720" tIns="27432" rIns="45720" bIns="27432" rtlCol="0" anchor="ctr">
            <a:noAutofit/>
          </a:bodyPr>
          <a:lstStyle/>
          <a:p>
            <a:pPr marL="0" indent="0" algn="ctr">
              <a:spcBef>
                <a:spcPts val="0"/>
              </a:spcBef>
              <a:spcAft>
                <a:spcPts val="40"/>
              </a:spcAft>
              <a:buNone/>
            </a:pPr>
            <a:r>
              <a:rPr lang="en-US" sz="2000" b="1" dirty="0">
                <a:solidFill>
                  <a:srgbClr val="A78BFA"/>
                </a:solidFill>
                <a:latin typeface="Segoe UI"/>
                <a:ea typeface="Segoe UI"/>
                <a:cs typeface="Segoe UI"/>
              </a:rPr>
              <a:t>8</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Logical processors</a:t>
            </a:r>
            <a:endParaRPr lang="en-US" sz="1000" dirty="0"/>
          </a:p>
        </p:txBody>
      </p:sp>
      <p:sp>
        <p:nvSpPr>
          <p:cNvPr id="34" name="cw_win"/>
          <p:cNvSpPr/>
          <p:nvPr/>
        </p:nvSpPr>
        <p:spPr>
          <a:xfrm>
            <a:off x="6806794" y="2459736"/>
            <a:ext cx="4823460" cy="1005840"/>
          </a:xfrm>
          <a:prstGeom prst="roundRect">
            <a:avLst>
              <a:gd name="adj" fmla="val 6818"/>
            </a:avLst>
          </a:prstGeom>
          <a:solidFill>
            <a:srgbClr val="060D18"/>
          </a:solidFill>
          <a:ln w="12700">
            <a:solidFill>
              <a:srgbClr val="1E3A5F"/>
            </a:solidFill>
            <a:prstDash val="solid"/>
          </a:ln>
        </p:spPr>
        <p:txBody>
          <a:bodyPr/>
          <a:lstStyle/>
          <a:p>
            <a:endParaRPr lang="en-US"/>
          </a:p>
        </p:txBody>
      </p:sp>
      <p:sp>
        <p:nvSpPr>
          <p:cNvPr id="35" name="cw_bar"/>
          <p:cNvSpPr/>
          <p:nvPr/>
        </p:nvSpPr>
        <p:spPr>
          <a:xfrm>
            <a:off x="6806794" y="2459736"/>
            <a:ext cx="48234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cw_barfill"/>
          <p:cNvSpPr/>
          <p:nvPr/>
        </p:nvSpPr>
        <p:spPr>
          <a:xfrm>
            <a:off x="6806794" y="2631186"/>
            <a:ext cx="4823460" cy="171450"/>
          </a:xfrm>
          <a:prstGeom prst="rect">
            <a:avLst/>
          </a:prstGeom>
          <a:solidFill>
            <a:srgbClr val="0A1220"/>
          </a:solidFill>
          <a:ln w="12700">
            <a:solidFill>
              <a:srgbClr val="0A1220"/>
            </a:solidFill>
            <a:prstDash val="solid"/>
          </a:ln>
        </p:spPr>
        <p:txBody>
          <a:bodyPr/>
          <a:lstStyle/>
          <a:p>
            <a:endParaRPr lang="en-US"/>
          </a:p>
        </p:txBody>
      </p:sp>
      <p:sp>
        <p:nvSpPr>
          <p:cNvPr id="37" name="cw_dot0"/>
          <p:cNvSpPr/>
          <p:nvPr/>
        </p:nvSpPr>
        <p:spPr>
          <a:xfrm>
            <a:off x="6968642" y="2583546"/>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cw_dot1"/>
          <p:cNvSpPr/>
          <p:nvPr/>
        </p:nvSpPr>
        <p:spPr>
          <a:xfrm>
            <a:off x="7154266" y="2583546"/>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cw_dot2"/>
          <p:cNvSpPr/>
          <p:nvPr/>
        </p:nvSpPr>
        <p:spPr>
          <a:xfrm>
            <a:off x="7339889" y="2583546"/>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cw_tab"/>
          <p:cNvSpPr/>
          <p:nvPr/>
        </p:nvSpPr>
        <p:spPr>
          <a:xfrm>
            <a:off x="7587691" y="250728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41" name="cw_L00"/>
          <p:cNvSpPr txBox="1"/>
          <p:nvPr/>
        </p:nvSpPr>
        <p:spPr>
          <a:xfrm>
            <a:off x="7035394" y="2935224"/>
            <a:ext cx="44394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Console.WriteLine(Environment.ProcessorCount);</a:t>
            </a:r>
            <a:endParaRPr lang="en-US" sz="1000" dirty="0"/>
          </a:p>
        </p:txBody>
      </p:sp>
      <p:sp>
        <p:nvSpPr>
          <p:cNvPr id="42" name="cw_L01"/>
          <p:cNvSpPr txBox="1"/>
          <p:nvPr/>
        </p:nvSpPr>
        <p:spPr>
          <a:xfrm>
            <a:off x="7035394" y="3138424"/>
            <a:ext cx="44394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8: the LOGICAL cores the OS schedules on</a:t>
            </a:r>
            <a:endParaRPr lang="en-US" sz="1000" dirty="0"/>
          </a:p>
        </p:txBody>
      </p:sp>
      <p:sp>
        <p:nvSpPr>
          <p:cNvPr id="43" name="cw2_win"/>
          <p:cNvSpPr/>
          <p:nvPr/>
        </p:nvSpPr>
        <p:spPr>
          <a:xfrm>
            <a:off x="6806794" y="3575304"/>
            <a:ext cx="4823460" cy="1307592"/>
          </a:xfrm>
          <a:prstGeom prst="roundRect">
            <a:avLst>
              <a:gd name="adj" fmla="val 5244"/>
            </a:avLst>
          </a:prstGeom>
          <a:solidFill>
            <a:srgbClr val="060D18"/>
          </a:solidFill>
          <a:ln w="12700">
            <a:solidFill>
              <a:srgbClr val="1E3A5F"/>
            </a:solidFill>
            <a:prstDash val="solid"/>
          </a:ln>
        </p:spPr>
        <p:txBody>
          <a:bodyPr/>
          <a:lstStyle/>
          <a:p>
            <a:endParaRPr lang="en-US"/>
          </a:p>
        </p:txBody>
      </p:sp>
      <p:sp>
        <p:nvSpPr>
          <p:cNvPr id="44" name="cw2_bar"/>
          <p:cNvSpPr/>
          <p:nvPr/>
        </p:nvSpPr>
        <p:spPr>
          <a:xfrm>
            <a:off x="6806794" y="3575304"/>
            <a:ext cx="48234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5" name="cw2_barfill"/>
          <p:cNvSpPr/>
          <p:nvPr/>
        </p:nvSpPr>
        <p:spPr>
          <a:xfrm>
            <a:off x="6806794" y="3746754"/>
            <a:ext cx="4823460" cy="171450"/>
          </a:xfrm>
          <a:prstGeom prst="rect">
            <a:avLst/>
          </a:prstGeom>
          <a:solidFill>
            <a:srgbClr val="0A1220"/>
          </a:solidFill>
          <a:ln w="12700">
            <a:solidFill>
              <a:srgbClr val="0A1220"/>
            </a:solidFill>
            <a:prstDash val="solid"/>
          </a:ln>
        </p:spPr>
        <p:txBody>
          <a:bodyPr/>
          <a:lstStyle/>
          <a:p>
            <a:endParaRPr lang="en-US"/>
          </a:p>
        </p:txBody>
      </p:sp>
      <p:sp>
        <p:nvSpPr>
          <p:cNvPr id="46" name="cw2_dot0"/>
          <p:cNvSpPr/>
          <p:nvPr/>
        </p:nvSpPr>
        <p:spPr>
          <a:xfrm>
            <a:off x="6968642" y="3699114"/>
            <a:ext cx="95098" cy="95098"/>
          </a:xfrm>
          <a:prstGeom prst="ellipse">
            <a:avLst/>
          </a:prstGeom>
          <a:solidFill>
            <a:srgbClr val="F87171"/>
          </a:solidFill>
          <a:ln w="12700">
            <a:solidFill>
              <a:srgbClr val="F87171"/>
            </a:solidFill>
            <a:prstDash val="solid"/>
          </a:ln>
        </p:spPr>
        <p:txBody>
          <a:bodyPr/>
          <a:lstStyle/>
          <a:p>
            <a:endParaRPr lang="en-US"/>
          </a:p>
        </p:txBody>
      </p:sp>
      <p:sp>
        <p:nvSpPr>
          <p:cNvPr id="47" name="cw2_dot1"/>
          <p:cNvSpPr/>
          <p:nvPr/>
        </p:nvSpPr>
        <p:spPr>
          <a:xfrm>
            <a:off x="7154266" y="3699114"/>
            <a:ext cx="95098" cy="95098"/>
          </a:xfrm>
          <a:prstGeom prst="ellipse">
            <a:avLst/>
          </a:prstGeom>
          <a:solidFill>
            <a:srgbClr val="FBBF24"/>
          </a:solidFill>
          <a:ln w="12700">
            <a:solidFill>
              <a:srgbClr val="FBBF24"/>
            </a:solidFill>
            <a:prstDash val="solid"/>
          </a:ln>
        </p:spPr>
        <p:txBody>
          <a:bodyPr/>
          <a:lstStyle/>
          <a:p>
            <a:endParaRPr lang="en-US"/>
          </a:p>
        </p:txBody>
      </p:sp>
      <p:sp>
        <p:nvSpPr>
          <p:cNvPr id="48" name="cw2_dot2"/>
          <p:cNvSpPr/>
          <p:nvPr/>
        </p:nvSpPr>
        <p:spPr>
          <a:xfrm>
            <a:off x="7339889" y="3699114"/>
            <a:ext cx="95098" cy="95098"/>
          </a:xfrm>
          <a:prstGeom prst="ellipse">
            <a:avLst/>
          </a:prstGeom>
          <a:solidFill>
            <a:srgbClr val="34D399"/>
          </a:solidFill>
          <a:ln w="12700">
            <a:solidFill>
              <a:srgbClr val="34D399"/>
            </a:solidFill>
            <a:prstDash val="solid"/>
          </a:ln>
        </p:spPr>
        <p:txBody>
          <a:bodyPr/>
          <a:lstStyle/>
          <a:p>
            <a:endParaRPr lang="en-US"/>
          </a:p>
        </p:txBody>
      </p:sp>
      <p:sp>
        <p:nvSpPr>
          <p:cNvPr id="49" name="cw2_tab"/>
          <p:cNvSpPr/>
          <p:nvPr/>
        </p:nvSpPr>
        <p:spPr>
          <a:xfrm>
            <a:off x="7587691" y="3622853"/>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PowerShell</a:t>
            </a:r>
            <a:endParaRPr lang="en-US" sz="950" dirty="0"/>
          </a:p>
        </p:txBody>
      </p:sp>
      <p:sp>
        <p:nvSpPr>
          <p:cNvPr id="50" name="cw2_L00"/>
          <p:cNvSpPr txBox="1"/>
          <p:nvPr/>
        </p:nvSpPr>
        <p:spPr>
          <a:xfrm>
            <a:off x="7035394" y="4050792"/>
            <a:ext cx="44394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Get-CimInstance Win32_Processor |</a:t>
            </a:r>
            <a:endParaRPr lang="en-US" sz="950" dirty="0"/>
          </a:p>
        </p:txBody>
      </p:sp>
      <p:sp>
        <p:nvSpPr>
          <p:cNvPr id="51" name="cw2_L01"/>
          <p:cNvSpPr txBox="1"/>
          <p:nvPr/>
        </p:nvSpPr>
        <p:spPr>
          <a:xfrm>
            <a:off x="7035394" y="4243832"/>
            <a:ext cx="443941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Select-Object NumberOfCores, NumberOfLogicalProcessors</a:t>
            </a:r>
            <a:endParaRPr lang="en-US" sz="950" dirty="0"/>
          </a:p>
        </p:txBody>
      </p:sp>
      <p:sp>
        <p:nvSpPr>
          <p:cNvPr id="52" name="cw2_L02"/>
          <p:cNvSpPr txBox="1"/>
          <p:nvPr/>
        </p:nvSpPr>
        <p:spPr>
          <a:xfrm>
            <a:off x="7035394" y="4436872"/>
            <a:ext cx="44394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NumberOfCores 4   NumberOfLogicalProcessors 8</a:t>
            </a:r>
            <a:endParaRPr lang="en-US" sz="950" dirty="0"/>
          </a:p>
        </p:txBody>
      </p:sp>
      <p:sp>
        <p:nvSpPr>
          <p:cNvPr id="53"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The OS sees logical cores. Two logical cores share one physical core: more throughput, not 2×.</a:t>
            </a:r>
          </a:p>
          <a:p>
            <a:pPr marL="0" indent="0" algn="ctr">
              <a:spcBef>
                <a:spcPts val="0"/>
              </a:spcBef>
              <a:spcAft>
                <a:spcPts val="0"/>
              </a:spcAft>
              <a:buNone/>
            </a:pPr>
            <a:r>
              <a:rPr lang="en-US" sz="1500" dirty="0">
                <a:solidFill>
                  <a:srgbClr val="FFFFFF"/>
                </a:solidFill>
                <a:latin typeface="Segoe UI"/>
                <a:cs typeface="Segoe UI"/>
              </a:rPr>
              <a:t>This is called : hyper-threading</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25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5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25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25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25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2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25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25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25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5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25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25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25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25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25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250"/>
                                        <p:tgtEl>
                                          <p:spTgt spid="3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25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250"/>
                                        <p:tgtEl>
                                          <p:spTgt spid="4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25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0"/>
                                        </p:tgtEl>
                                        <p:attrNameLst>
                                          <p:attrName>style.visibility</p:attrName>
                                        </p:attrNameLst>
                                      </p:cBhvr>
                                      <p:to>
                                        <p:strVal val="visible"/>
                                      </p:to>
                                    </p:set>
                                    <p:animEffect transition="in" filter="fade">
                                      <p:cBhvr>
                                        <p:cTn id="76" dur="250"/>
                                        <p:tgtEl>
                                          <p:spTgt spid="5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250"/>
                                        <p:tgtEl>
                                          <p:spTgt spid="5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25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fade">
                                      <p:cBhvr>
                                        <p:cTn id="87"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p:bldP spid="19" grpId="0" animBg="1"/>
      <p:bldP spid="20" grpId="0" animBg="1"/>
      <p:bldP spid="21" grpId="0" animBg="1"/>
      <p:bldP spid="22" grpId="0"/>
      <p:bldP spid="23" grpId="0" animBg="1"/>
      <p:bldP spid="24" grpId="0" animBg="1"/>
      <p:bldP spid="25" grpId="0" animBg="1"/>
      <p:bldP spid="26" grpId="0"/>
      <p:bldP spid="27" grpId="0" animBg="1"/>
      <p:bldP spid="28" grpId="0" animBg="1"/>
      <p:bldP spid="29" grpId="0" animBg="1"/>
      <p:bldP spid="30" grpId="0"/>
      <p:bldP spid="31" grpId="0" animBg="1"/>
      <p:bldP spid="32" grpId="0" animBg="1"/>
      <p:bldP spid="33" grpId="0" animBg="1"/>
      <p:bldP spid="41" grpId="0"/>
      <p:bldP spid="42" grpId="0"/>
      <p:bldP spid="50" grpId="0"/>
      <p:bldP spid="51" grpId="0"/>
      <p:bldP spid="52" grpId="0"/>
      <p:bldP spid="5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CPU VS I/O</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CPU-Bound vs I/O-Bound Work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a:t>
            </a:r>
            <a:endParaRPr lang="en-US" sz="850" dirty="0"/>
          </a:p>
        </p:txBody>
      </p:sp>
      <p:sp>
        <p:nvSpPr>
          <p:cNvPr id="15" name="lab"/>
          <p:cNvSpPr txBox="1"/>
          <p:nvPr/>
        </p:nvSpPr>
        <p:spPr>
          <a:xfrm>
            <a:off x="543154" y="157276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CPU-bound</a:t>
            </a:r>
            <a:endParaRPr lang="en-US" sz="1100" dirty="0"/>
          </a:p>
        </p:txBody>
      </p:sp>
      <p:sp>
        <p:nvSpPr>
          <p:cNvPr id="16" name="lane"/>
          <p:cNvSpPr/>
          <p:nvPr/>
        </p:nvSpPr>
        <p:spPr>
          <a:xfrm>
            <a:off x="2006194" y="2011680"/>
            <a:ext cx="9624060" cy="18288"/>
          </a:xfrm>
          <a:prstGeom prst="rect">
            <a:avLst/>
          </a:prstGeom>
          <a:solidFill>
            <a:srgbClr val="1E3A5F"/>
          </a:solidFill>
          <a:ln w="12700">
            <a:solidFill>
              <a:srgbClr val="1E3A5F"/>
            </a:solidFill>
            <a:prstDash val="solid"/>
          </a:ln>
        </p:spPr>
        <p:txBody>
          <a:bodyPr/>
          <a:lstStyle/>
          <a:p>
            <a:endParaRPr lang="en-US"/>
          </a:p>
        </p:txBody>
      </p:sp>
      <p:sp>
        <p:nvSpPr>
          <p:cNvPr id="17" name="bar"/>
          <p:cNvSpPr/>
          <p:nvPr/>
        </p:nvSpPr>
        <p:spPr>
          <a:xfrm>
            <a:off x="2051914" y="1609344"/>
            <a:ext cx="9532620"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core busy: calculating the whole time</a:t>
            </a:r>
            <a:endParaRPr lang="en-US" sz="1050" dirty="0"/>
          </a:p>
        </p:txBody>
      </p:sp>
      <p:sp>
        <p:nvSpPr>
          <p:cNvPr id="18" name="lab"/>
          <p:cNvSpPr txBox="1"/>
          <p:nvPr/>
        </p:nvSpPr>
        <p:spPr>
          <a:xfrm>
            <a:off x="543154" y="216712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I/O-bound</a:t>
            </a:r>
            <a:endParaRPr lang="en-US" sz="1100" dirty="0"/>
          </a:p>
        </p:txBody>
      </p:sp>
      <p:sp>
        <p:nvSpPr>
          <p:cNvPr id="19" name="lane"/>
          <p:cNvSpPr/>
          <p:nvPr/>
        </p:nvSpPr>
        <p:spPr>
          <a:xfrm>
            <a:off x="2006194" y="2606040"/>
            <a:ext cx="9624060" cy="18288"/>
          </a:xfrm>
          <a:prstGeom prst="rect">
            <a:avLst/>
          </a:prstGeom>
          <a:solidFill>
            <a:srgbClr val="1E3A5F"/>
          </a:solidFill>
          <a:ln w="12700">
            <a:solidFill>
              <a:srgbClr val="1E3A5F"/>
            </a:solidFill>
            <a:prstDash val="solid"/>
          </a:ln>
        </p:spPr>
        <p:txBody>
          <a:bodyPr/>
          <a:lstStyle/>
          <a:p>
            <a:endParaRPr lang="en-US"/>
          </a:p>
        </p:txBody>
      </p:sp>
      <p:sp>
        <p:nvSpPr>
          <p:cNvPr id="20" name="bar"/>
          <p:cNvSpPr/>
          <p:nvPr/>
        </p:nvSpPr>
        <p:spPr>
          <a:xfrm>
            <a:off x="2051914" y="2203704"/>
            <a:ext cx="731520"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send</a:t>
            </a:r>
            <a:endParaRPr lang="en-US" sz="950" dirty="0"/>
          </a:p>
        </p:txBody>
      </p:sp>
      <p:sp>
        <p:nvSpPr>
          <p:cNvPr id="21" name="bar"/>
          <p:cNvSpPr/>
          <p:nvPr/>
        </p:nvSpPr>
        <p:spPr>
          <a:xfrm>
            <a:off x="2829154" y="2203704"/>
            <a:ext cx="7978140" cy="384048"/>
          </a:xfrm>
          <a:prstGeom prst="roundRect">
            <a:avLst>
              <a:gd name="adj" fmla="val 20000"/>
            </a:avLst>
          </a:prstGeom>
          <a:solidFill>
            <a:srgbClr val="64748B">
              <a:alpha val="12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waiting for the disk / network …  the core is FREE for other threads</a:t>
            </a:r>
            <a:endParaRPr lang="en-US" sz="1050" dirty="0"/>
          </a:p>
        </p:txBody>
      </p:sp>
      <p:sp>
        <p:nvSpPr>
          <p:cNvPr id="22" name="bar"/>
          <p:cNvSpPr/>
          <p:nvPr/>
        </p:nvSpPr>
        <p:spPr>
          <a:xfrm>
            <a:off x="10853014" y="2203704"/>
            <a:ext cx="731520"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use</a:t>
            </a:r>
            <a:endParaRPr lang="en-US" sz="950" dirty="0"/>
          </a:p>
        </p:txBody>
      </p:sp>
      <p:sp>
        <p:nvSpPr>
          <p:cNvPr id="23" name="cw_win"/>
          <p:cNvSpPr/>
          <p:nvPr/>
        </p:nvSpPr>
        <p:spPr>
          <a:xfrm>
            <a:off x="543154" y="2852928"/>
            <a:ext cx="6035040" cy="2944368"/>
          </a:xfrm>
          <a:prstGeom prst="roundRect">
            <a:avLst>
              <a:gd name="adj" fmla="val 2329"/>
            </a:avLst>
          </a:prstGeom>
          <a:solidFill>
            <a:srgbClr val="060D18"/>
          </a:solidFill>
          <a:ln w="12700">
            <a:solidFill>
              <a:srgbClr val="1E3A5F"/>
            </a:solidFill>
            <a:prstDash val="solid"/>
          </a:ln>
        </p:spPr>
        <p:txBody>
          <a:bodyPr/>
          <a:lstStyle/>
          <a:p>
            <a:endParaRPr lang="en-US"/>
          </a:p>
        </p:txBody>
      </p:sp>
      <p:sp>
        <p:nvSpPr>
          <p:cNvPr id="24" name="cw_bar"/>
          <p:cNvSpPr/>
          <p:nvPr/>
        </p:nvSpPr>
        <p:spPr>
          <a:xfrm>
            <a:off x="543154" y="285292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5" name="cw_barfill"/>
          <p:cNvSpPr/>
          <p:nvPr/>
        </p:nvSpPr>
        <p:spPr>
          <a:xfrm>
            <a:off x="543154" y="3024378"/>
            <a:ext cx="6035040" cy="171450"/>
          </a:xfrm>
          <a:prstGeom prst="rect">
            <a:avLst/>
          </a:prstGeom>
          <a:solidFill>
            <a:srgbClr val="0A1220"/>
          </a:solidFill>
          <a:ln w="12700">
            <a:solidFill>
              <a:srgbClr val="0A1220"/>
            </a:solidFill>
            <a:prstDash val="solid"/>
          </a:ln>
        </p:spPr>
        <p:txBody>
          <a:bodyPr/>
          <a:lstStyle/>
          <a:p>
            <a:endParaRPr lang="en-US"/>
          </a:p>
        </p:txBody>
      </p:sp>
      <p:sp>
        <p:nvSpPr>
          <p:cNvPr id="26" name="cw_dot0"/>
          <p:cNvSpPr/>
          <p:nvPr/>
        </p:nvSpPr>
        <p:spPr>
          <a:xfrm>
            <a:off x="705002" y="2976738"/>
            <a:ext cx="95098" cy="95098"/>
          </a:xfrm>
          <a:prstGeom prst="ellipse">
            <a:avLst/>
          </a:prstGeom>
          <a:solidFill>
            <a:srgbClr val="F87171"/>
          </a:solidFill>
          <a:ln w="12700">
            <a:solidFill>
              <a:srgbClr val="F87171"/>
            </a:solidFill>
            <a:prstDash val="solid"/>
          </a:ln>
        </p:spPr>
        <p:txBody>
          <a:bodyPr/>
          <a:lstStyle/>
          <a:p>
            <a:endParaRPr lang="en-US"/>
          </a:p>
        </p:txBody>
      </p:sp>
      <p:sp>
        <p:nvSpPr>
          <p:cNvPr id="27" name="cw_dot1"/>
          <p:cNvSpPr/>
          <p:nvPr/>
        </p:nvSpPr>
        <p:spPr>
          <a:xfrm>
            <a:off x="890626" y="2976738"/>
            <a:ext cx="95098" cy="95098"/>
          </a:xfrm>
          <a:prstGeom prst="ellipse">
            <a:avLst/>
          </a:prstGeom>
          <a:solidFill>
            <a:srgbClr val="FBBF24"/>
          </a:solidFill>
          <a:ln w="12700">
            <a:solidFill>
              <a:srgbClr val="FBBF24"/>
            </a:solidFill>
            <a:prstDash val="solid"/>
          </a:ln>
        </p:spPr>
        <p:txBody>
          <a:bodyPr/>
          <a:lstStyle/>
          <a:p>
            <a:endParaRPr lang="en-US"/>
          </a:p>
        </p:txBody>
      </p:sp>
      <p:sp>
        <p:nvSpPr>
          <p:cNvPr id="28" name="cw_dot2"/>
          <p:cNvSpPr/>
          <p:nvPr/>
        </p:nvSpPr>
        <p:spPr>
          <a:xfrm>
            <a:off x="1076249" y="2976738"/>
            <a:ext cx="95098" cy="95098"/>
          </a:xfrm>
          <a:prstGeom prst="ellipse">
            <a:avLst/>
          </a:prstGeom>
          <a:solidFill>
            <a:srgbClr val="34D399"/>
          </a:solidFill>
          <a:ln w="12700">
            <a:solidFill>
              <a:srgbClr val="34D399"/>
            </a:solidFill>
            <a:prstDash val="solid"/>
          </a:ln>
        </p:spPr>
        <p:txBody>
          <a:bodyPr/>
          <a:lstStyle/>
          <a:p>
            <a:endParaRPr lang="en-US"/>
          </a:p>
        </p:txBody>
      </p:sp>
      <p:sp>
        <p:nvSpPr>
          <p:cNvPr id="29" name="cw_tab"/>
          <p:cNvSpPr/>
          <p:nvPr/>
        </p:nvSpPr>
        <p:spPr>
          <a:xfrm>
            <a:off x="1324051" y="2900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30" name="cw_L00"/>
          <p:cNvSpPr txBox="1"/>
          <p:nvPr/>
        </p:nvSpPr>
        <p:spPr>
          <a:xfrm>
            <a:off x="771754" y="33284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double</a:t>
            </a:r>
            <a:r>
              <a:rPr lang="en-US" sz="950" b="0" dirty="0">
                <a:solidFill>
                  <a:srgbClr val="E2E8F0"/>
                </a:solidFill>
                <a:latin typeface="Consolas"/>
                <a:ea typeface="Consolas"/>
                <a:cs typeface="Consolas"/>
              </a:rPr>
              <a:t> image = ResizeImage(50_000_000);   </a:t>
            </a:r>
            <a:r>
              <a:rPr lang="en-US" sz="950" b="0" dirty="0">
                <a:solidFill>
                  <a:srgbClr val="6FAE7A"/>
                </a:solidFill>
                <a:latin typeface="Consolas"/>
                <a:ea typeface="Consolas"/>
                <a:cs typeface="Consolas"/>
              </a:rPr>
              <a:t>// CPU-bound</a:t>
            </a:r>
            <a:endParaRPr lang="en-US" sz="950" dirty="0"/>
          </a:p>
        </p:txBody>
      </p:sp>
      <p:sp>
        <p:nvSpPr>
          <p:cNvPr id="31" name="cw_L01"/>
          <p:cNvSpPr txBox="1"/>
          <p:nvPr/>
        </p:nvSpPr>
        <p:spPr>
          <a:xfrm>
            <a:off x="771754" y="35214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menu = LoadMenu();                  </a:t>
            </a:r>
            <a:r>
              <a:rPr lang="en-US" sz="950" b="0" dirty="0">
                <a:solidFill>
                  <a:srgbClr val="6FAE7A"/>
                </a:solidFill>
                <a:latin typeface="Consolas"/>
                <a:ea typeface="Consolas"/>
                <a:cs typeface="Consolas"/>
              </a:rPr>
              <a:t>// I/O-bound</a:t>
            </a:r>
            <a:endParaRPr lang="en-US" sz="950" dirty="0"/>
          </a:p>
        </p:txBody>
      </p:sp>
      <p:sp>
        <p:nvSpPr>
          <p:cNvPr id="32" name="cw_L02"/>
          <p:cNvSpPr txBox="1"/>
          <p:nvPr/>
        </p:nvSpPr>
        <p:spPr>
          <a:xfrm>
            <a:off x="771754" y="37144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CPU-bound: the core calculates the whole time</a:t>
            </a:r>
            <a:endParaRPr lang="en-US" sz="950" dirty="0"/>
          </a:p>
        </p:txBody>
      </p:sp>
      <p:sp>
        <p:nvSpPr>
          <p:cNvPr id="33" name="cw_L03"/>
          <p:cNvSpPr txBox="1"/>
          <p:nvPr/>
        </p:nvSpPr>
        <p:spPr>
          <a:xfrm>
            <a:off x="771754" y="39075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double</a:t>
            </a:r>
            <a:r>
              <a:rPr lang="en-US" sz="950" b="0" dirty="0">
                <a:solidFill>
                  <a:srgbClr val="E2E8F0"/>
                </a:solidFill>
                <a:latin typeface="Consolas"/>
                <a:ea typeface="Consolas"/>
                <a:cs typeface="Consolas"/>
              </a:rPr>
              <a:t> ResizeImage(</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pixels)</a:t>
            </a:r>
            <a:endParaRPr lang="en-US" sz="950" dirty="0"/>
          </a:p>
        </p:txBody>
      </p:sp>
      <p:sp>
        <p:nvSpPr>
          <p:cNvPr id="34" name="cw_L04"/>
          <p:cNvSpPr txBox="1"/>
          <p:nvPr/>
        </p:nvSpPr>
        <p:spPr>
          <a:xfrm>
            <a:off x="771754" y="41005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5" name="cw_L05"/>
          <p:cNvSpPr txBox="1"/>
          <p:nvPr/>
        </p:nvSpPr>
        <p:spPr>
          <a:xfrm>
            <a:off x="771754" y="429361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double</a:t>
            </a:r>
            <a:r>
              <a:rPr lang="en-US" sz="950" b="0" dirty="0">
                <a:solidFill>
                  <a:srgbClr val="E2E8F0"/>
                </a:solidFill>
                <a:latin typeface="Consolas"/>
                <a:ea typeface="Consolas"/>
                <a:cs typeface="Consolas"/>
              </a:rPr>
              <a:t> x = 0;</a:t>
            </a:r>
            <a:endParaRPr lang="en-US" sz="950" dirty="0"/>
          </a:p>
        </p:txBody>
      </p:sp>
      <p:sp>
        <p:nvSpPr>
          <p:cNvPr id="36" name="cw_L06"/>
          <p:cNvSpPr txBox="1"/>
          <p:nvPr/>
        </p:nvSpPr>
        <p:spPr>
          <a:xfrm>
            <a:off x="771754" y="448665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p = 0; p &lt; pixels; p++)</a:t>
            </a:r>
            <a:endParaRPr lang="en-US" sz="950" dirty="0"/>
          </a:p>
        </p:txBody>
      </p:sp>
      <p:sp>
        <p:nvSpPr>
          <p:cNvPr id="37" name="cw_L07"/>
          <p:cNvSpPr txBox="1"/>
          <p:nvPr/>
        </p:nvSpPr>
        <p:spPr>
          <a:xfrm>
            <a:off x="771754" y="4679696"/>
            <a:ext cx="565099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x += Math.Sqrt(p);                 </a:t>
            </a:r>
            <a:r>
              <a:rPr lang="en-US" sz="950" b="0" dirty="0">
                <a:solidFill>
                  <a:srgbClr val="6FAE7A"/>
                </a:solidFill>
                <a:latin typeface="Consolas"/>
                <a:ea typeface="Consolas"/>
                <a:cs typeface="Consolas"/>
              </a:rPr>
              <a:t>// pure math</a:t>
            </a:r>
            <a:endParaRPr lang="en-US" sz="950" dirty="0"/>
          </a:p>
        </p:txBody>
      </p:sp>
      <p:sp>
        <p:nvSpPr>
          <p:cNvPr id="38" name="cw_L08"/>
          <p:cNvSpPr txBox="1"/>
          <p:nvPr/>
        </p:nvSpPr>
        <p:spPr>
          <a:xfrm>
            <a:off x="771754" y="487273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x;</a:t>
            </a:r>
            <a:endParaRPr lang="en-US" sz="950" dirty="0"/>
          </a:p>
        </p:txBody>
      </p:sp>
      <p:sp>
        <p:nvSpPr>
          <p:cNvPr id="39" name="cw_L09"/>
          <p:cNvSpPr txBox="1"/>
          <p:nvPr/>
        </p:nvSpPr>
        <p:spPr>
          <a:xfrm>
            <a:off x="771754" y="50657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0" name="cw_L10"/>
          <p:cNvSpPr txBox="1"/>
          <p:nvPr/>
        </p:nvSpPr>
        <p:spPr>
          <a:xfrm>
            <a:off x="771754" y="52588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I/O-bound: the core mostly WAITS for the disk</a:t>
            </a:r>
            <a:endParaRPr lang="en-US" sz="950" dirty="0"/>
          </a:p>
        </p:txBody>
      </p:sp>
      <p:sp>
        <p:nvSpPr>
          <p:cNvPr id="41" name="cw_L11"/>
          <p:cNvSpPr txBox="1"/>
          <p:nvPr/>
        </p:nvSpPr>
        <p:spPr>
          <a:xfrm>
            <a:off x="771754" y="54518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LoadMenu() =&gt; File.ReadAllText(</a:t>
            </a:r>
            <a:r>
              <a:rPr lang="en-US" sz="950" b="0" dirty="0">
                <a:solidFill>
                  <a:srgbClr val="F0A98B"/>
                </a:solidFill>
                <a:latin typeface="Consolas"/>
                <a:ea typeface="Consolas"/>
                <a:cs typeface="Consolas"/>
              </a:rPr>
              <a:t>"menu.json"</a:t>
            </a:r>
            <a:r>
              <a:rPr lang="en-US" sz="950" b="0" dirty="0">
                <a:solidFill>
                  <a:srgbClr val="E2E8F0"/>
                </a:solidFill>
                <a:latin typeface="Consolas"/>
                <a:ea typeface="Consolas"/>
                <a:cs typeface="Consolas"/>
              </a:rPr>
              <a:t>);</a:t>
            </a:r>
            <a:endParaRPr lang="en-US" sz="950" dirty="0"/>
          </a:p>
        </p:txBody>
      </p:sp>
      <p:sp>
        <p:nvSpPr>
          <p:cNvPr id="42" name="card"/>
          <p:cNvSpPr/>
          <p:nvPr/>
        </p:nvSpPr>
        <p:spPr>
          <a:xfrm>
            <a:off x="6806794" y="2852928"/>
            <a:ext cx="4823460" cy="1403604"/>
          </a:xfrm>
          <a:prstGeom prst="roundRect">
            <a:avLst>
              <a:gd name="adj" fmla="val 5863"/>
            </a:avLst>
          </a:prstGeom>
          <a:solidFill>
            <a:srgbClr val="111B2E"/>
          </a:solidFill>
          <a:ln w="12700">
            <a:solidFill>
              <a:srgbClr val="4D91F0"/>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4D91F0"/>
                </a:solidFill>
                <a:latin typeface="Segoe UI"/>
                <a:ea typeface="Segoe UI"/>
                <a:cs typeface="Segoe UI"/>
              </a:rPr>
              <a:t>CPU-BOUND EXAMPLES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image and video processing · encryption · compression · reports with heavy math</a:t>
            </a:r>
            <a:endParaRPr lang="en-US" sz="1200" dirty="0"/>
          </a:p>
        </p:txBody>
      </p:sp>
      <p:sp>
        <p:nvSpPr>
          <p:cNvPr id="43" name="card"/>
          <p:cNvSpPr/>
          <p:nvPr/>
        </p:nvSpPr>
        <p:spPr>
          <a:xfrm>
            <a:off x="6806794" y="4393692"/>
            <a:ext cx="4823460" cy="1403604"/>
          </a:xfrm>
          <a:prstGeom prst="roundRect">
            <a:avLst>
              <a:gd name="adj" fmla="val 5863"/>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I/O-BOUND EXAMPLES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HTTP calls · database queries · reading files · waiting for the user</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5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25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250"/>
                                        <p:tgtEl>
                                          <p:spTgt spid="2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25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25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250"/>
                                        <p:tgtEl>
                                          <p:spTgt spid="3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25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250"/>
                                        <p:tgtEl>
                                          <p:spTgt spid="3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25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25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25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25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2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2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250"/>
                                        <p:tgtEl>
                                          <p:spTgt spid="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25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p:bldP spid="19" grpId="0" animBg="1"/>
      <p:bldP spid="20" grpId="0" animBg="1"/>
      <p:bldP spid="21" grpId="0" animBg="1"/>
      <p:bldP spid="22" grpId="0" animBg="1"/>
      <p:bldP spid="30" grpId="0"/>
      <p:bldP spid="31" grpId="0"/>
      <p:bldP spid="32" grpId="0"/>
      <p:bldP spid="33" grpId="0"/>
      <p:bldP spid="34" grpId="0"/>
      <p:bldP spid="35" grpId="0"/>
      <p:bldP spid="36" grpId="0"/>
      <p:bldP spid="37" grpId="0"/>
      <p:bldP spid="38" grpId="0"/>
      <p:bldP spid="39" grpId="0"/>
      <p:bldP spid="40" grpId="0"/>
      <p:bldP spid="41" grpId="0"/>
      <p:bldP spid="42" grpId="0" animBg="1"/>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THREAD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Who Runs the Code Inside a Process? A Thread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16</a:t>
            </a:r>
            <a:endParaRPr lang="en-US" sz="850" dirty="0"/>
          </a:p>
        </p:txBody>
      </p:sp>
      <p:sp>
        <p:nvSpPr>
          <p:cNvPr id="15" name="proc"/>
          <p:cNvSpPr/>
          <p:nvPr/>
        </p:nvSpPr>
        <p:spPr>
          <a:xfrm>
            <a:off x="543154" y="1572768"/>
            <a:ext cx="11087100" cy="3310128"/>
          </a:xfrm>
          <a:prstGeom prst="roundRect">
            <a:avLst>
              <a:gd name="adj" fmla="val 2486"/>
            </a:avLst>
          </a:prstGeom>
          <a:solidFill>
            <a:srgbClr val="111B2E"/>
          </a:solidFill>
          <a:ln w="12700">
            <a:solidFill>
              <a:srgbClr val="4D91F0"/>
            </a:solidFill>
            <a:prstDash val="solid"/>
          </a:ln>
        </p:spPr>
        <p:txBody>
          <a:bodyPr wrap="square" lIns="228600" tIns="137160" rIns="182880" bIns="91440" rtlCol="0" anchor="t">
            <a:noAutofit/>
          </a:bodyPr>
          <a:lstStyle/>
          <a:p>
            <a:pPr marL="0" indent="0" algn="l">
              <a:spcBef>
                <a:spcPts val="0"/>
              </a:spcBef>
              <a:spcAft>
                <a:spcPts val="0"/>
              </a:spcAft>
              <a:buNone/>
            </a:pPr>
            <a:r>
              <a:rPr lang="en-US" sz="1100" b="1" dirty="0">
                <a:solidFill>
                  <a:srgbClr val="4D91F0"/>
                </a:solidFill>
                <a:latin typeface="Segoe UI"/>
                <a:ea typeface="Segoe UI"/>
                <a:cs typeface="Segoe UI"/>
              </a:rPr>
              <a:t>SWIFTBITE PROCESS</a:t>
            </a:r>
            <a:endParaRPr lang="en-US" sz="1100" dirty="0"/>
          </a:p>
        </p:txBody>
      </p:sp>
      <p:sp>
        <p:nvSpPr>
          <p:cNvPr id="16" name="card"/>
          <p:cNvSpPr/>
          <p:nvPr/>
        </p:nvSpPr>
        <p:spPr>
          <a:xfrm>
            <a:off x="817474" y="2121408"/>
            <a:ext cx="3291840" cy="822960"/>
          </a:xfrm>
          <a:prstGeom prst="roundRect">
            <a:avLst>
              <a:gd name="adj" fmla="val 10000"/>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ctr">
              <a:spcBef>
                <a:spcPts val="0"/>
              </a:spcBef>
              <a:spcAft>
                <a:spcPts val="100"/>
              </a:spcAft>
              <a:buNone/>
            </a:pPr>
            <a:r>
              <a:rPr lang="en-US" sz="1500" b="1" dirty="0">
                <a:solidFill>
                  <a:srgbClr val="FBBF24"/>
                </a:solidFill>
                <a:latin typeface="Segoe UI"/>
                <a:ea typeface="Segoe UI"/>
                <a:cs typeface="Segoe UI"/>
              </a:rPr>
              <a:t>shared memory</a:t>
            </a:r>
            <a:endParaRPr lang="en-US" sz="1500" dirty="0"/>
          </a:p>
          <a:p>
            <a:pPr marL="0" indent="0" algn="ctr">
              <a:spcBef>
                <a:spcPts val="0"/>
              </a:spcBef>
              <a:spcAft>
                <a:spcPts val="0"/>
              </a:spcAft>
              <a:buNone/>
            </a:pPr>
            <a:r>
              <a:rPr lang="en-US" sz="1100" b="0" dirty="0">
                <a:solidFill>
                  <a:srgbClr val="94A3B8"/>
                </a:solidFill>
                <a:latin typeface="Segoe UI"/>
                <a:ea typeface="Segoe UI"/>
                <a:cs typeface="Segoe UI"/>
              </a:rPr>
              <a:t>heap · static data</a:t>
            </a:r>
            <a:endParaRPr lang="en-US" sz="1100" dirty="0"/>
          </a:p>
        </p:txBody>
      </p:sp>
      <p:sp>
        <p:nvSpPr>
          <p:cNvPr id="17" name="card"/>
          <p:cNvSpPr/>
          <p:nvPr/>
        </p:nvSpPr>
        <p:spPr>
          <a:xfrm>
            <a:off x="817474" y="3172968"/>
            <a:ext cx="3291840" cy="640080"/>
          </a:xfrm>
          <a:prstGeom prst="roundRect">
            <a:avLst>
              <a:gd name="adj" fmla="val 12500"/>
            </a:avLst>
          </a:prstGeom>
          <a:solidFill>
            <a:srgbClr val="111B2E"/>
          </a:solidFill>
          <a:ln w="12700">
            <a:solidFill>
              <a:srgbClr val="A78BFA"/>
            </a:solidFill>
            <a:prstDash val="solid"/>
          </a:ln>
        </p:spPr>
        <p:txBody>
          <a:bodyPr wrap="square" lIns="182880" tIns="18288" rIns="91440" bIns="18288" rtlCol="0" anchor="ctr">
            <a:noAutofit/>
          </a:bodyPr>
          <a:lstStyle/>
          <a:p>
            <a:pPr marL="0" indent="0" algn="l">
              <a:spcBef>
                <a:spcPts val="0"/>
              </a:spcBef>
              <a:spcAft>
                <a:spcPts val="0"/>
              </a:spcAft>
              <a:buNone/>
            </a:pPr>
            <a:r>
              <a:rPr lang="en-US" sz="1300" b="1" dirty="0">
                <a:solidFill>
                  <a:srgbClr val="A78BFA"/>
                </a:solidFill>
                <a:latin typeface="Segoe UI"/>
                <a:ea typeface="Segoe UI"/>
                <a:cs typeface="Segoe UI"/>
              </a:rPr>
              <a:t>Main thread   </a:t>
            </a:r>
            <a:r>
              <a:rPr lang="en-US" sz="1300" b="0" dirty="0">
                <a:solidFill>
                  <a:srgbClr val="CBD5E1"/>
                </a:solidFill>
                <a:latin typeface="Segoe UI"/>
                <a:ea typeface="Segoe UI"/>
                <a:cs typeface="Segoe UI"/>
              </a:rPr>
              <a:t>runs Main()</a:t>
            </a:r>
            <a:endParaRPr lang="en-US" sz="1300" dirty="0"/>
          </a:p>
        </p:txBody>
      </p:sp>
      <p:sp>
        <p:nvSpPr>
          <p:cNvPr id="18" name="card"/>
          <p:cNvSpPr/>
          <p:nvPr/>
        </p:nvSpPr>
        <p:spPr>
          <a:xfrm>
            <a:off x="4475074" y="3172968"/>
            <a:ext cx="3291840" cy="640080"/>
          </a:xfrm>
          <a:prstGeom prst="roundRect">
            <a:avLst>
              <a:gd name="adj" fmla="val 12500"/>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300" b="1" dirty="0">
                <a:solidFill>
                  <a:srgbClr val="A78BFA"/>
                </a:solidFill>
                <a:latin typeface="Segoe UI"/>
                <a:ea typeface="Segoe UI"/>
                <a:cs typeface="Segoe UI"/>
              </a:rPr>
              <a:t>Worker thread 1</a:t>
            </a:r>
            <a:endParaRPr lang="en-US" sz="1300" dirty="0"/>
          </a:p>
        </p:txBody>
      </p:sp>
      <p:cxnSp>
        <p:nvCxnSpPr>
          <p:cNvPr id="19" name="arrow"/>
          <p:cNvCxnSpPr/>
          <p:nvPr/>
        </p:nvCxnSpPr>
        <p:spPr>
          <a:xfrm flipH="1" flipV="1">
            <a:off x="4155034" y="2578608"/>
            <a:ext cx="1965960" cy="576072"/>
          </a:xfrm>
          <a:prstGeom prst="line">
            <a:avLst/>
          </a:prstGeom>
          <a:ln w="28575">
            <a:solidFill>
              <a:srgbClr val="FBBF24"/>
            </a:solidFill>
            <a:tailEnd type="triangle" w="med" len="med"/>
          </a:ln>
        </p:spPr>
      </p:cxnSp>
      <p:sp>
        <p:nvSpPr>
          <p:cNvPr id="20" name="card"/>
          <p:cNvSpPr/>
          <p:nvPr/>
        </p:nvSpPr>
        <p:spPr>
          <a:xfrm>
            <a:off x="8041234" y="3172968"/>
            <a:ext cx="3291840" cy="640080"/>
          </a:xfrm>
          <a:prstGeom prst="roundRect">
            <a:avLst>
              <a:gd name="adj" fmla="val 12500"/>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300" b="1" dirty="0">
                <a:solidFill>
                  <a:srgbClr val="A78BFA"/>
                </a:solidFill>
                <a:latin typeface="Segoe UI"/>
                <a:ea typeface="Segoe UI"/>
                <a:cs typeface="Segoe UI"/>
              </a:rPr>
              <a:t>Worker thread 2</a:t>
            </a:r>
            <a:endParaRPr lang="en-US" sz="1300" dirty="0"/>
          </a:p>
        </p:txBody>
      </p:sp>
      <p:cxnSp>
        <p:nvCxnSpPr>
          <p:cNvPr id="21" name="arrow"/>
          <p:cNvCxnSpPr/>
          <p:nvPr/>
        </p:nvCxnSpPr>
        <p:spPr>
          <a:xfrm flipH="1" flipV="1">
            <a:off x="4155034" y="2578608"/>
            <a:ext cx="5532120" cy="576072"/>
          </a:xfrm>
          <a:prstGeom prst="line">
            <a:avLst/>
          </a:prstGeom>
          <a:ln w="28575">
            <a:solidFill>
              <a:srgbClr val="FBBF24"/>
            </a:solidFill>
            <a:tailEnd type="triangle" w="med" len="med"/>
          </a:ln>
        </p:spPr>
      </p:cxnSp>
      <p:sp>
        <p:nvSpPr>
          <p:cNvPr id="22" name="card"/>
          <p:cNvSpPr/>
          <p:nvPr/>
        </p:nvSpPr>
        <p:spPr>
          <a:xfrm>
            <a:off x="817474" y="4041648"/>
            <a:ext cx="10538460" cy="640080"/>
          </a:xfrm>
          <a:prstGeom prst="roundRect">
            <a:avLst>
              <a:gd name="adj" fmla="val 12500"/>
            </a:avLst>
          </a:prstGeom>
          <a:solidFill>
            <a:srgbClr val="111B2E"/>
          </a:solidFill>
          <a:ln w="12700">
            <a:solidFill>
              <a:srgbClr val="A78BFA"/>
            </a:solidFill>
            <a:prstDash val="solid"/>
          </a:ln>
        </p:spPr>
        <p:txBody>
          <a:bodyPr wrap="square" lIns="182880" tIns="18288" rIns="137160" bIns="18288" rtlCol="0" anchor="ctr">
            <a:noAutofit/>
          </a:bodyPr>
          <a:lstStyle/>
          <a:p>
            <a:pPr marL="0" indent="0" algn="l">
              <a:spcBef>
                <a:spcPts val="0"/>
              </a:spcBef>
              <a:spcAft>
                <a:spcPts val="0"/>
              </a:spcAft>
              <a:buNone/>
            </a:pPr>
            <a:r>
              <a:rPr lang="en-US" sz="1250" b="0" dirty="0">
                <a:solidFill>
                  <a:srgbClr val="CBD5E1"/>
                </a:solidFill>
                <a:latin typeface="Segoe UI"/>
                <a:ea typeface="Segoe UI"/>
                <a:cs typeface="Segoe UI"/>
              </a:rPr>
              <a:t>The threads of one process share its memory, so they can work on the same data. Next: what each thread owns for itself.</a:t>
            </a:r>
            <a:endParaRPr lang="en-US" sz="1250" dirty="0"/>
          </a:p>
        </p:txBody>
      </p:sp>
      <p:sp>
        <p:nvSpPr>
          <p:cNvPr id="23"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 thread is a path of execution inside a process; every process has at least one.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par>
                                <p:cTn id="21" presetID="10"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250"/>
                                        <p:tgtEl>
                                          <p:spTgt spid="20"/>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25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25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0" grpId="0" animBg="1"/>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STACK &amp; HEAP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Own Stack per Thread, One Shared Heap</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17</a:t>
            </a:r>
            <a:endParaRPr lang="en-US" sz="850" dirty="0"/>
          </a:p>
        </p:txBody>
      </p:sp>
      <p:sp>
        <p:nvSpPr>
          <p:cNvPr id="15" name="cw_win"/>
          <p:cNvSpPr/>
          <p:nvPr/>
        </p:nvSpPr>
        <p:spPr>
          <a:xfrm>
            <a:off x="543154" y="1572768"/>
            <a:ext cx="5120640" cy="3200400"/>
          </a:xfrm>
          <a:prstGeom prst="roundRect">
            <a:avLst>
              <a:gd name="adj" fmla="val 2142"/>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1206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Order order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ONE object on the heap</a:t>
            </a:r>
            <a:endParaRPr lang="en-US" sz="950" dirty="0"/>
          </a:p>
        </p:txBody>
      </p:sp>
      <p:sp>
        <p:nvSpPr>
          <p:cNvPr id="23" name="cw_L02"/>
          <p:cNvSpPr txBox="1"/>
          <p:nvPr/>
        </p:nvSpPr>
        <p:spPr>
          <a:xfrm>
            <a:off x="771754" y="243433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t1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(Cook);</a:t>
            </a:r>
            <a:endParaRPr lang="en-US" sz="950" dirty="0"/>
          </a:p>
        </p:txBody>
      </p:sp>
      <p:sp>
        <p:nvSpPr>
          <p:cNvPr id="24" name="cw_L03"/>
          <p:cNvSpPr txBox="1"/>
          <p:nvPr/>
        </p:nvSpPr>
        <p:spPr>
          <a:xfrm>
            <a:off x="771754" y="262737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t2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(Cook);</a:t>
            </a:r>
            <a:endParaRPr lang="en-US" sz="950" dirty="0"/>
          </a:p>
        </p:txBody>
      </p:sp>
      <p:sp>
        <p:nvSpPr>
          <p:cNvPr id="25" name="cw_L04"/>
          <p:cNvSpPr txBox="1"/>
          <p:nvPr/>
        </p:nvSpPr>
        <p:spPr>
          <a:xfrm>
            <a:off x="771754" y="282041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t1.Start(); t2.Start();</a:t>
            </a:r>
            <a:endParaRPr lang="en-US" sz="950" dirty="0"/>
          </a:p>
        </p:txBody>
      </p:sp>
      <p:sp>
        <p:nvSpPr>
          <p:cNvPr id="26" name="cw_L05"/>
          <p:cNvSpPr txBox="1"/>
          <p:nvPr/>
        </p:nvSpPr>
        <p:spPr>
          <a:xfrm>
            <a:off x="771754" y="301345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t1.Join(); t2.Join();</a:t>
            </a:r>
            <a:endParaRPr lang="en-US" sz="950" dirty="0"/>
          </a:p>
        </p:txBody>
      </p:sp>
      <p:sp>
        <p:nvSpPr>
          <p:cNvPr id="27" name="cw_L06"/>
          <p:cNvSpPr txBox="1"/>
          <p:nvPr/>
        </p:nvSpPr>
        <p:spPr>
          <a:xfrm>
            <a:off x="771754" y="320649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Cook()</a:t>
            </a:r>
            <a:endParaRPr lang="en-US" sz="950" dirty="0"/>
          </a:p>
        </p:txBody>
      </p:sp>
      <p:sp>
        <p:nvSpPr>
          <p:cNvPr id="28" name="cw_L07"/>
          <p:cNvSpPr txBox="1"/>
          <p:nvPr/>
        </p:nvSpPr>
        <p:spPr>
          <a:xfrm>
            <a:off x="771754" y="339953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_L08"/>
          <p:cNvSpPr txBox="1"/>
          <p:nvPr/>
        </p:nvSpPr>
        <p:spPr>
          <a:xfrm>
            <a:off x="771754" y="3592576"/>
            <a:ext cx="47365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count = 0;                </a:t>
            </a:r>
            <a:r>
              <a:rPr lang="en-US" sz="950" b="0" dirty="0">
                <a:solidFill>
                  <a:srgbClr val="6FAE7A"/>
                </a:solidFill>
                <a:latin typeface="Consolas"/>
                <a:ea typeface="Consolas"/>
                <a:cs typeface="Consolas"/>
              </a:rPr>
              <a:t>// each thread: its own copy</a:t>
            </a:r>
            <a:endParaRPr lang="en-US" sz="950" dirty="0"/>
          </a:p>
        </p:txBody>
      </p:sp>
      <p:sp>
        <p:nvSpPr>
          <p:cNvPr id="30" name="cw_L09"/>
          <p:cNvSpPr txBox="1"/>
          <p:nvPr/>
        </p:nvSpPr>
        <p:spPr>
          <a:xfrm>
            <a:off x="771754" y="3785616"/>
            <a:ext cx="47365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count++;</a:t>
            </a:r>
            <a:endParaRPr lang="en-US" sz="950" dirty="0"/>
          </a:p>
        </p:txBody>
      </p:sp>
      <p:sp>
        <p:nvSpPr>
          <p:cNvPr id="31" name="cw_L10"/>
          <p:cNvSpPr txBox="1"/>
          <p:nvPr/>
        </p:nvSpPr>
        <p:spPr>
          <a:xfrm>
            <a:off x="771754" y="3978656"/>
            <a:ext cx="47365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order.Items++;                </a:t>
            </a:r>
            <a:r>
              <a:rPr lang="en-US" sz="950" b="0" dirty="0">
                <a:solidFill>
                  <a:srgbClr val="6FAE7A"/>
                </a:solidFill>
                <a:latin typeface="Consolas"/>
                <a:ea typeface="Consolas"/>
                <a:cs typeface="Consolas"/>
              </a:rPr>
              <a:t>// both: the SAME object</a:t>
            </a:r>
            <a:endParaRPr lang="en-US" sz="950" dirty="0"/>
          </a:p>
        </p:txBody>
      </p:sp>
      <p:sp>
        <p:nvSpPr>
          <p:cNvPr id="32" name="cw_L11"/>
          <p:cNvSpPr txBox="1"/>
          <p:nvPr/>
        </p:nvSpPr>
        <p:spPr>
          <a:xfrm>
            <a:off x="771754" y="417169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_L12"/>
          <p:cNvSpPr txBox="1"/>
          <p:nvPr/>
        </p:nvSpPr>
        <p:spPr>
          <a:xfrm>
            <a:off x="771754" y="4364736"/>
            <a:ext cx="47365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Order { </a:t>
            </a: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Items; }</a:t>
            </a:r>
            <a:endParaRPr lang="en-US" sz="950" dirty="0"/>
          </a:p>
        </p:txBody>
      </p:sp>
      <p:sp>
        <p:nvSpPr>
          <p:cNvPr id="34" name="cmark"/>
          <p:cNvSpPr/>
          <p:nvPr/>
        </p:nvSpPr>
        <p:spPr>
          <a:xfrm>
            <a:off x="676656" y="3574288"/>
            <a:ext cx="4853635" cy="229616"/>
          </a:xfrm>
          <a:prstGeom prst="rect">
            <a:avLst/>
          </a:prstGeom>
          <a:solidFill>
            <a:srgbClr val="34D399">
              <a:alpha val="16000"/>
            </a:srgbClr>
          </a:solidFill>
          <a:ln w="15875">
            <a:solidFill>
              <a:srgbClr val="34D399"/>
            </a:solidFill>
            <a:prstDash val="solid"/>
          </a:ln>
        </p:spPr>
        <p:txBody>
          <a:bodyPr/>
          <a:lstStyle/>
          <a:p>
            <a:endParaRPr lang="en-US"/>
          </a:p>
        </p:txBody>
      </p:sp>
      <p:sp>
        <p:nvSpPr>
          <p:cNvPr id="35" name="cmark"/>
          <p:cNvSpPr/>
          <p:nvPr/>
        </p:nvSpPr>
        <p:spPr>
          <a:xfrm>
            <a:off x="676656" y="3960368"/>
            <a:ext cx="4853635" cy="229616"/>
          </a:xfrm>
          <a:prstGeom prst="rect">
            <a:avLst/>
          </a:prstGeom>
          <a:solidFill>
            <a:srgbClr val="F87171">
              <a:alpha val="16000"/>
            </a:srgbClr>
          </a:solidFill>
          <a:ln w="15875">
            <a:solidFill>
              <a:srgbClr val="F87171"/>
            </a:solidFill>
            <a:prstDash val="solid"/>
          </a:ln>
        </p:spPr>
        <p:txBody>
          <a:bodyPr/>
          <a:lstStyle/>
          <a:p>
            <a:endParaRPr lang="en-US"/>
          </a:p>
        </p:txBody>
      </p:sp>
      <p:sp>
        <p:nvSpPr>
          <p:cNvPr id="36" name="proc"/>
          <p:cNvSpPr/>
          <p:nvPr/>
        </p:nvSpPr>
        <p:spPr>
          <a:xfrm>
            <a:off x="5892394" y="1572768"/>
            <a:ext cx="5737860" cy="3200400"/>
          </a:xfrm>
          <a:prstGeom prst="roundRect">
            <a:avLst>
              <a:gd name="adj" fmla="val 3500"/>
            </a:avLst>
          </a:prstGeom>
          <a:solidFill>
            <a:srgbClr val="0A1322"/>
          </a:solidFill>
          <a:ln w="15875">
            <a:solidFill>
              <a:srgbClr val="4D91F0">
                <a:alpha val="75000"/>
              </a:srgbClr>
            </a:solidFill>
            <a:prstDash val="solid"/>
          </a:ln>
        </p:spPr>
        <p:txBody>
          <a:bodyPr/>
          <a:lstStyle/>
          <a:p>
            <a:endParaRPr lang="en-US"/>
          </a:p>
        </p:txBody>
      </p:sp>
      <p:sp>
        <p:nvSpPr>
          <p:cNvPr id="37" name="lab"/>
          <p:cNvSpPr txBox="1"/>
          <p:nvPr/>
        </p:nvSpPr>
        <p:spPr>
          <a:xfrm>
            <a:off x="6038698" y="1618488"/>
            <a:ext cx="36576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SWIFTBITE PROCESS</a:t>
            </a:r>
            <a:endParaRPr lang="en-US" sz="1100" dirty="0"/>
          </a:p>
        </p:txBody>
      </p:sp>
      <p:sp>
        <p:nvSpPr>
          <p:cNvPr id="38" name="frame"/>
          <p:cNvSpPr/>
          <p:nvPr/>
        </p:nvSpPr>
        <p:spPr>
          <a:xfrm>
            <a:off x="6029554" y="1938528"/>
            <a:ext cx="1729740" cy="1417320"/>
          </a:xfrm>
          <a:prstGeom prst="roundRect">
            <a:avLst>
              <a:gd name="adj" fmla="val 6000"/>
            </a:avLst>
          </a:prstGeom>
          <a:solidFill>
            <a:srgbClr val="101F3A"/>
          </a:solidFill>
          <a:ln w="15875">
            <a:solidFill>
              <a:srgbClr val="4D91F0"/>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4D91F0"/>
                </a:solidFill>
                <a:latin typeface="Segoe UI"/>
                <a:ea typeface="Segoe UI"/>
                <a:cs typeface="Segoe UI"/>
              </a:rPr>
              <a:t>Main thread</a:t>
            </a:r>
            <a:endParaRPr lang="en-US" sz="1000" dirty="0"/>
          </a:p>
        </p:txBody>
      </p:sp>
      <p:sp>
        <p:nvSpPr>
          <p:cNvPr id="39" name="slot"/>
          <p:cNvSpPr/>
          <p:nvPr/>
        </p:nvSpPr>
        <p:spPr>
          <a:xfrm>
            <a:off x="6120994" y="2231136"/>
            <a:ext cx="1546860" cy="274320"/>
          </a:xfrm>
          <a:prstGeom prst="roundRect">
            <a:avLst>
              <a:gd name="adj" fmla="val 14000"/>
            </a:avLst>
          </a:prstGeom>
          <a:solidFill>
            <a:srgbClr val="111B2E"/>
          </a:solidFill>
          <a:ln w="15875">
            <a:solidFill>
              <a:srgbClr val="4D91F0"/>
            </a:solidFill>
            <a:prstDash val="solid"/>
          </a:ln>
        </p:spPr>
        <p:txBody>
          <a:bodyPr wrap="square" lIns="118872" tIns="0" rIns="73152" bIns="0" rtlCol="0" anchor="ctr">
            <a:noAutofit/>
          </a:bodyPr>
          <a:lstStyle/>
          <a:p>
            <a:pPr marL="0" indent="0" algn="l">
              <a:spcBef>
                <a:spcPts val="0"/>
              </a:spcBef>
              <a:spcAft>
                <a:spcPts val="0"/>
              </a:spcAft>
              <a:buNone/>
            </a:pPr>
            <a:r>
              <a:rPr lang="en-US" sz="950" b="1" dirty="0">
                <a:solidFill>
                  <a:srgbClr val="FFFFFF"/>
                </a:solidFill>
                <a:latin typeface="Consolas"/>
                <a:ea typeface="Consolas"/>
                <a:cs typeface="Consolas"/>
              </a:rPr>
              <a:t>order</a:t>
            </a:r>
            <a:r>
              <a:rPr lang="en-US" sz="950" b="0" dirty="0">
                <a:solidFill>
                  <a:srgbClr val="13D0F7"/>
                </a:solidFill>
                <a:latin typeface="Consolas"/>
                <a:ea typeface="Consolas"/>
                <a:cs typeface="Consolas"/>
              </a:rPr>
              <a:t>  → heap</a:t>
            </a:r>
            <a:endParaRPr lang="en-US" sz="950" dirty="0"/>
          </a:p>
        </p:txBody>
      </p:sp>
      <p:sp>
        <p:nvSpPr>
          <p:cNvPr id="40" name="slot"/>
          <p:cNvSpPr/>
          <p:nvPr/>
        </p:nvSpPr>
        <p:spPr>
          <a:xfrm>
            <a:off x="6120994" y="2560320"/>
            <a:ext cx="1546860" cy="274320"/>
          </a:xfrm>
          <a:prstGeom prst="roundRect">
            <a:avLst>
              <a:gd name="adj" fmla="val 14000"/>
            </a:avLst>
          </a:prstGeom>
          <a:solidFill>
            <a:srgbClr val="111B2E"/>
          </a:solidFill>
          <a:ln w="15875">
            <a:solidFill>
              <a:srgbClr val="4D91F0"/>
            </a:solidFill>
            <a:prstDash val="solid"/>
          </a:ln>
        </p:spPr>
        <p:txBody>
          <a:bodyPr wrap="square" lIns="118872" tIns="0" rIns="73152" bIns="0" rtlCol="0" anchor="ctr">
            <a:noAutofit/>
          </a:bodyPr>
          <a:lstStyle/>
          <a:p>
            <a:pPr marL="0" indent="0" algn="l">
              <a:spcBef>
                <a:spcPts val="0"/>
              </a:spcBef>
              <a:spcAft>
                <a:spcPts val="0"/>
              </a:spcAft>
              <a:buNone/>
            </a:pPr>
            <a:r>
              <a:rPr lang="en-US" sz="950" b="1" dirty="0">
                <a:solidFill>
                  <a:srgbClr val="FFFFFF"/>
                </a:solidFill>
                <a:latin typeface="Consolas"/>
                <a:ea typeface="Consolas"/>
                <a:cs typeface="Consolas"/>
              </a:rPr>
              <a:t>t1</a:t>
            </a:r>
            <a:r>
              <a:rPr lang="en-US" sz="950" b="0" dirty="0">
                <a:solidFill>
                  <a:srgbClr val="13D0F7"/>
                </a:solidFill>
                <a:latin typeface="Consolas"/>
                <a:ea typeface="Consolas"/>
                <a:cs typeface="Consolas"/>
              </a:rPr>
              <a:t>  → heap</a:t>
            </a:r>
            <a:endParaRPr lang="en-US" sz="950" dirty="0"/>
          </a:p>
        </p:txBody>
      </p:sp>
      <p:sp>
        <p:nvSpPr>
          <p:cNvPr id="41" name="slot"/>
          <p:cNvSpPr/>
          <p:nvPr/>
        </p:nvSpPr>
        <p:spPr>
          <a:xfrm>
            <a:off x="6120994" y="2889504"/>
            <a:ext cx="1546860" cy="274320"/>
          </a:xfrm>
          <a:prstGeom prst="roundRect">
            <a:avLst>
              <a:gd name="adj" fmla="val 14000"/>
            </a:avLst>
          </a:prstGeom>
          <a:solidFill>
            <a:srgbClr val="111B2E"/>
          </a:solidFill>
          <a:ln w="15875">
            <a:solidFill>
              <a:srgbClr val="4D91F0"/>
            </a:solidFill>
            <a:prstDash val="solid"/>
          </a:ln>
        </p:spPr>
        <p:txBody>
          <a:bodyPr wrap="square" lIns="118872" tIns="0" rIns="73152" bIns="0" rtlCol="0" anchor="ctr">
            <a:noAutofit/>
          </a:bodyPr>
          <a:lstStyle/>
          <a:p>
            <a:pPr marL="0" indent="0" algn="l">
              <a:spcBef>
                <a:spcPts val="0"/>
              </a:spcBef>
              <a:spcAft>
                <a:spcPts val="0"/>
              </a:spcAft>
              <a:buNone/>
            </a:pPr>
            <a:r>
              <a:rPr lang="en-US" sz="950" b="1" dirty="0">
                <a:solidFill>
                  <a:srgbClr val="FFFFFF"/>
                </a:solidFill>
                <a:latin typeface="Consolas"/>
                <a:ea typeface="Consolas"/>
                <a:cs typeface="Consolas"/>
              </a:rPr>
              <a:t>t2</a:t>
            </a:r>
            <a:r>
              <a:rPr lang="en-US" sz="950" b="0" dirty="0">
                <a:solidFill>
                  <a:srgbClr val="13D0F7"/>
                </a:solidFill>
                <a:latin typeface="Consolas"/>
                <a:ea typeface="Consolas"/>
                <a:cs typeface="Consolas"/>
              </a:rPr>
              <a:t>  → heap</a:t>
            </a:r>
            <a:endParaRPr lang="en-US" sz="950" dirty="0"/>
          </a:p>
        </p:txBody>
      </p:sp>
      <p:sp>
        <p:nvSpPr>
          <p:cNvPr id="42" name="pill"/>
          <p:cNvSpPr/>
          <p:nvPr/>
        </p:nvSpPr>
        <p:spPr>
          <a:xfrm>
            <a:off x="7100926" y="1984248"/>
            <a:ext cx="566928" cy="201168"/>
          </a:xfrm>
          <a:prstGeom prst="roundRect">
            <a:avLst>
              <a:gd name="adj" fmla="val 30000"/>
            </a:avLst>
          </a:prstGeom>
          <a:solidFill>
            <a:srgbClr val="4D91F0">
              <a:alpha val="20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4D91F0"/>
                </a:solidFill>
                <a:latin typeface="Segoe UI"/>
                <a:ea typeface="Segoe UI"/>
                <a:cs typeface="Segoe UI"/>
              </a:rPr>
              <a:t>~1 MB</a:t>
            </a:r>
            <a:endParaRPr lang="en-US" sz="800" dirty="0"/>
          </a:p>
        </p:txBody>
      </p:sp>
      <p:sp>
        <p:nvSpPr>
          <p:cNvPr id="43" name="frame"/>
          <p:cNvSpPr/>
          <p:nvPr/>
        </p:nvSpPr>
        <p:spPr>
          <a:xfrm>
            <a:off x="7896454" y="1938528"/>
            <a:ext cx="1729740" cy="1417320"/>
          </a:xfrm>
          <a:prstGeom prst="roundRect">
            <a:avLst>
              <a:gd name="adj" fmla="val 6000"/>
            </a:avLst>
          </a:prstGeom>
          <a:solidFill>
            <a:srgbClr val="101F3A"/>
          </a:solidFill>
          <a:ln w="15875">
            <a:solidFill>
              <a:srgbClr val="34D399"/>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34D399"/>
                </a:solidFill>
                <a:latin typeface="Segoe UI"/>
                <a:ea typeface="Segoe UI"/>
                <a:cs typeface="Segoe UI"/>
              </a:rPr>
              <a:t>Thread 1</a:t>
            </a:r>
            <a:endParaRPr lang="en-US" sz="1000" dirty="0"/>
          </a:p>
        </p:txBody>
      </p:sp>
      <p:sp>
        <p:nvSpPr>
          <p:cNvPr id="44" name="slot"/>
          <p:cNvSpPr/>
          <p:nvPr/>
        </p:nvSpPr>
        <p:spPr>
          <a:xfrm>
            <a:off x="7987894" y="2231136"/>
            <a:ext cx="1546860" cy="274320"/>
          </a:xfrm>
          <a:prstGeom prst="roundRect">
            <a:avLst>
              <a:gd name="adj" fmla="val 14000"/>
            </a:avLst>
          </a:prstGeom>
          <a:solidFill>
            <a:srgbClr val="111B2E"/>
          </a:solidFill>
          <a:ln w="15875">
            <a:solidFill>
              <a:srgbClr val="34D399"/>
            </a:solidFill>
            <a:prstDash val="solid"/>
          </a:ln>
        </p:spPr>
        <p:txBody>
          <a:bodyPr wrap="square" lIns="118872" tIns="0" rIns="73152" bIns="0" rtlCol="0" anchor="ctr">
            <a:noAutofit/>
          </a:bodyPr>
          <a:lstStyle/>
          <a:p>
            <a:pPr marL="0" indent="0" algn="l">
              <a:spcBef>
                <a:spcPts val="0"/>
              </a:spcBef>
              <a:spcAft>
                <a:spcPts val="0"/>
              </a:spcAft>
              <a:buNone/>
            </a:pPr>
            <a:r>
              <a:rPr lang="en-US" sz="950" b="1" dirty="0">
                <a:solidFill>
                  <a:srgbClr val="FFFFFF"/>
                </a:solidFill>
                <a:latin typeface="Consolas"/>
                <a:ea typeface="Consolas"/>
                <a:cs typeface="Consolas"/>
              </a:rPr>
              <a:t>count</a:t>
            </a:r>
            <a:r>
              <a:rPr lang="en-US" sz="950" b="0" dirty="0">
                <a:solidFill>
                  <a:srgbClr val="13D0F7"/>
                </a:solidFill>
                <a:latin typeface="Consolas"/>
                <a:ea typeface="Consolas"/>
                <a:cs typeface="Consolas"/>
              </a:rPr>
              <a:t>  1</a:t>
            </a:r>
            <a:endParaRPr lang="en-US" sz="950" dirty="0"/>
          </a:p>
        </p:txBody>
      </p:sp>
      <p:sp>
        <p:nvSpPr>
          <p:cNvPr id="45" name="pill"/>
          <p:cNvSpPr/>
          <p:nvPr/>
        </p:nvSpPr>
        <p:spPr>
          <a:xfrm>
            <a:off x="8967826" y="1984248"/>
            <a:ext cx="566928" cy="201168"/>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34D399"/>
                </a:solidFill>
                <a:latin typeface="Segoe UI"/>
                <a:ea typeface="Segoe UI"/>
                <a:cs typeface="Segoe UI"/>
              </a:rPr>
              <a:t>~1 MB</a:t>
            </a:r>
            <a:endParaRPr lang="en-US" sz="800" dirty="0"/>
          </a:p>
        </p:txBody>
      </p:sp>
      <p:sp>
        <p:nvSpPr>
          <p:cNvPr id="46" name="frame"/>
          <p:cNvSpPr/>
          <p:nvPr/>
        </p:nvSpPr>
        <p:spPr>
          <a:xfrm>
            <a:off x="9763354" y="1938528"/>
            <a:ext cx="1729740" cy="1417320"/>
          </a:xfrm>
          <a:prstGeom prst="roundRect">
            <a:avLst>
              <a:gd name="adj" fmla="val 6000"/>
            </a:avLst>
          </a:prstGeom>
          <a:solidFill>
            <a:srgbClr val="101F3A"/>
          </a:solidFill>
          <a:ln w="15875">
            <a:solidFill>
              <a:srgbClr val="FBBF24"/>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FBBF24"/>
                </a:solidFill>
                <a:latin typeface="Segoe UI"/>
                <a:ea typeface="Segoe UI"/>
                <a:cs typeface="Segoe UI"/>
              </a:rPr>
              <a:t>Thread 2</a:t>
            </a:r>
            <a:endParaRPr lang="en-US" sz="1000" dirty="0"/>
          </a:p>
        </p:txBody>
      </p:sp>
      <p:sp>
        <p:nvSpPr>
          <p:cNvPr id="47" name="slot"/>
          <p:cNvSpPr/>
          <p:nvPr/>
        </p:nvSpPr>
        <p:spPr>
          <a:xfrm>
            <a:off x="9854794" y="2231136"/>
            <a:ext cx="1546860" cy="274320"/>
          </a:xfrm>
          <a:prstGeom prst="roundRect">
            <a:avLst>
              <a:gd name="adj" fmla="val 14000"/>
            </a:avLst>
          </a:prstGeom>
          <a:solidFill>
            <a:srgbClr val="111B2E"/>
          </a:solidFill>
          <a:ln w="15875">
            <a:solidFill>
              <a:srgbClr val="FBBF24"/>
            </a:solidFill>
            <a:prstDash val="solid"/>
          </a:ln>
        </p:spPr>
        <p:txBody>
          <a:bodyPr wrap="square" lIns="118872" tIns="0" rIns="73152" bIns="0" rtlCol="0" anchor="ctr">
            <a:noAutofit/>
          </a:bodyPr>
          <a:lstStyle/>
          <a:p>
            <a:pPr marL="0" indent="0" algn="l">
              <a:spcBef>
                <a:spcPts val="0"/>
              </a:spcBef>
              <a:spcAft>
                <a:spcPts val="0"/>
              </a:spcAft>
              <a:buNone/>
            </a:pPr>
            <a:r>
              <a:rPr lang="en-US" sz="950" b="1" dirty="0">
                <a:solidFill>
                  <a:srgbClr val="FFFFFF"/>
                </a:solidFill>
                <a:latin typeface="Consolas"/>
                <a:ea typeface="Consolas"/>
                <a:cs typeface="Consolas"/>
              </a:rPr>
              <a:t>count</a:t>
            </a:r>
            <a:r>
              <a:rPr lang="en-US" sz="950" b="0" dirty="0">
                <a:solidFill>
                  <a:srgbClr val="13D0F7"/>
                </a:solidFill>
                <a:latin typeface="Consolas"/>
                <a:ea typeface="Consolas"/>
                <a:cs typeface="Consolas"/>
              </a:rPr>
              <a:t>  1</a:t>
            </a:r>
            <a:endParaRPr lang="en-US" sz="950" dirty="0"/>
          </a:p>
        </p:txBody>
      </p:sp>
      <p:sp>
        <p:nvSpPr>
          <p:cNvPr id="48" name="pill"/>
          <p:cNvSpPr/>
          <p:nvPr/>
        </p:nvSpPr>
        <p:spPr>
          <a:xfrm>
            <a:off x="10834726" y="1984248"/>
            <a:ext cx="566928" cy="20116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BBF24"/>
                </a:solidFill>
                <a:latin typeface="Segoe UI"/>
                <a:ea typeface="Segoe UI"/>
                <a:cs typeface="Segoe UI"/>
              </a:rPr>
              <a:t>~1 MB</a:t>
            </a:r>
            <a:endParaRPr lang="en-US" sz="800" dirty="0"/>
          </a:p>
        </p:txBody>
      </p:sp>
      <p:sp>
        <p:nvSpPr>
          <p:cNvPr id="49" name="heap"/>
          <p:cNvSpPr/>
          <p:nvPr/>
        </p:nvSpPr>
        <p:spPr>
          <a:xfrm>
            <a:off x="6029554" y="3584448"/>
            <a:ext cx="5463540" cy="1051560"/>
          </a:xfrm>
          <a:prstGeom prst="roundRect">
            <a:avLst>
              <a:gd name="adj" fmla="val 6000"/>
            </a:avLst>
          </a:prstGeom>
          <a:solidFill>
            <a:srgbClr val="1A1033"/>
          </a:solidFill>
          <a:ln w="15875">
            <a:solidFill>
              <a:srgbClr val="A78BFA"/>
            </a:solidFill>
            <a:prstDash val="solid"/>
          </a:ln>
        </p:spPr>
        <p:txBody>
          <a:bodyPr wrap="square" lIns="109728" tIns="45720" rIns="73152" bIns="45720" rtlCol="0" anchor="t">
            <a:noAutofit/>
          </a:bodyPr>
          <a:lstStyle/>
          <a:p>
            <a:pPr marL="0" indent="0" algn="l">
              <a:spcBef>
                <a:spcPts val="0"/>
              </a:spcBef>
              <a:spcAft>
                <a:spcPts val="0"/>
              </a:spcAft>
              <a:buNone/>
            </a:pPr>
            <a:r>
              <a:rPr lang="en-US" sz="1000" b="1" dirty="0">
                <a:solidFill>
                  <a:srgbClr val="A78BFA"/>
                </a:solidFill>
                <a:latin typeface="Segoe UI"/>
                <a:ea typeface="Segoe UI"/>
                <a:cs typeface="Segoe UI"/>
              </a:rPr>
              <a:t>HEAP · one per process · shared by all threads</a:t>
            </a:r>
            <a:endParaRPr lang="en-US" sz="1000" dirty="0"/>
          </a:p>
        </p:txBody>
      </p:sp>
      <p:sp>
        <p:nvSpPr>
          <p:cNvPr id="50" name="box"/>
          <p:cNvSpPr/>
          <p:nvPr/>
        </p:nvSpPr>
        <p:spPr>
          <a:xfrm>
            <a:off x="7755484" y="3950208"/>
            <a:ext cx="2011680" cy="50292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Consolas"/>
                <a:ea typeface="Consolas"/>
                <a:cs typeface="Consolas"/>
              </a:rPr>
              <a:t>Order { Items }</a:t>
            </a:r>
            <a:endParaRPr lang="en-US" sz="1100" dirty="0"/>
          </a:p>
        </p:txBody>
      </p:sp>
      <p:cxnSp>
        <p:nvCxnSpPr>
          <p:cNvPr id="51" name="arrow"/>
          <p:cNvCxnSpPr/>
          <p:nvPr/>
        </p:nvCxnSpPr>
        <p:spPr>
          <a:xfrm flipH="1">
            <a:off x="8304124" y="3374136"/>
            <a:ext cx="457200" cy="557784"/>
          </a:xfrm>
          <a:prstGeom prst="line">
            <a:avLst/>
          </a:prstGeom>
          <a:ln w="28575">
            <a:solidFill>
              <a:srgbClr val="34D399"/>
            </a:solidFill>
            <a:tailEnd type="triangle" w="med" len="med"/>
          </a:ln>
        </p:spPr>
      </p:cxnSp>
      <p:cxnSp>
        <p:nvCxnSpPr>
          <p:cNvPr id="52" name="arrow"/>
          <p:cNvCxnSpPr/>
          <p:nvPr/>
        </p:nvCxnSpPr>
        <p:spPr>
          <a:xfrm flipH="1">
            <a:off x="9218524" y="3374136"/>
            <a:ext cx="1409700" cy="557784"/>
          </a:xfrm>
          <a:prstGeom prst="line">
            <a:avLst/>
          </a:prstGeom>
          <a:ln w="28575">
            <a:solidFill>
              <a:srgbClr val="FBBF24"/>
            </a:solidFill>
            <a:tailEnd type="triangle" w="med" len="med"/>
          </a:ln>
        </p:spPr>
      </p:cxnSp>
      <p:cxnSp>
        <p:nvCxnSpPr>
          <p:cNvPr id="53" name="arrow"/>
          <p:cNvCxnSpPr/>
          <p:nvPr/>
        </p:nvCxnSpPr>
        <p:spPr>
          <a:xfrm>
            <a:off x="6894424" y="3374136"/>
            <a:ext cx="842772" cy="804672"/>
          </a:xfrm>
          <a:prstGeom prst="line">
            <a:avLst/>
          </a:prstGeom>
          <a:ln w="28575">
            <a:solidFill>
              <a:srgbClr val="4D91F0"/>
            </a:solidFill>
            <a:tailEnd type="triangle" w="med" len="med"/>
          </a:ln>
        </p:spPr>
      </p:cxnSp>
      <p:sp>
        <p:nvSpPr>
          <p:cNvPr id="54" name="card"/>
          <p:cNvSpPr/>
          <p:nvPr/>
        </p:nvSpPr>
        <p:spPr>
          <a:xfrm>
            <a:off x="543154" y="4910328"/>
            <a:ext cx="5120640" cy="1143000"/>
          </a:xfrm>
          <a:prstGeom prst="roundRect">
            <a:avLst>
              <a:gd name="adj" fmla="val 7199"/>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00"/>
              </a:spcAft>
              <a:buNone/>
            </a:pPr>
            <a:r>
              <a:rPr lang="en-US" sz="1050" b="1" dirty="0">
                <a:solidFill>
                  <a:srgbClr val="FBBF24"/>
                </a:solidFill>
                <a:latin typeface="Segoe UI"/>
                <a:ea typeface="Segoe UI"/>
                <a:cs typeface="Segoe UI"/>
              </a:rPr>
              <a:t>THE COST</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~1 MB of stack reserved per thread (Windows default), plus the time to create it and to switch between threads.</a:t>
            </a:r>
            <a:endParaRPr lang="en-US" sz="1150" dirty="0"/>
          </a:p>
        </p:txBody>
      </p:sp>
      <p:sp>
        <p:nvSpPr>
          <p:cNvPr id="55" name="card"/>
          <p:cNvSpPr/>
          <p:nvPr/>
        </p:nvSpPr>
        <p:spPr>
          <a:xfrm>
            <a:off x="5892394" y="4910328"/>
            <a:ext cx="5737860" cy="1143000"/>
          </a:xfrm>
          <a:prstGeom prst="roundRect">
            <a:avLst>
              <a:gd name="adj" fmla="val 7199"/>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l">
              <a:spcBef>
                <a:spcPts val="0"/>
              </a:spcBef>
              <a:spcAft>
                <a:spcPts val="100"/>
              </a:spcAft>
              <a:buNone/>
            </a:pPr>
            <a:r>
              <a:rPr lang="en-US" sz="1050" b="1" dirty="0">
                <a:solidFill>
                  <a:srgbClr val="4D91F0"/>
                </a:solidFill>
                <a:latin typeface="Segoe UI"/>
                <a:ea typeface="Segoe UI"/>
                <a:cs typeface="Segoe UI"/>
              </a:rPr>
              <a:t>THE RULE</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Locals live on each thread's own stack: private and safe. Objects live on the shared heap: every thread can change them.</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250"/>
                                        <p:tgtEl>
                                          <p:spTgt spid="3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25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250"/>
                                        <p:tgtEl>
                                          <p:spTgt spid="3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50"/>
                                        <p:tgtEl>
                                          <p:spTgt spid="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250"/>
                                        <p:tgtEl>
                                          <p:spTgt spid="4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25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25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fade">
                                      <p:cBhvr>
                                        <p:cTn id="64" dur="250"/>
                                        <p:tgtEl>
                                          <p:spTgt spid="4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250"/>
                                        <p:tgtEl>
                                          <p:spTgt spid="50"/>
                                        </p:tgtEl>
                                      </p:cBhvr>
                                    </p:animEffect>
                                  </p:childTnLst>
                                </p:cTn>
                              </p:par>
                              <p:par>
                                <p:cTn id="68" presetID="10" presetClass="entr" presetSubtype="0" fill="hold" nodeType="with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250"/>
                                        <p:tgtEl>
                                          <p:spTgt spid="5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25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25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25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250"/>
                                        <p:tgtEl>
                                          <p:spTgt spid="4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250"/>
                                        <p:tgtEl>
                                          <p:spTgt spid="4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25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250"/>
                                        <p:tgtEl>
                                          <p:spTgt spid="4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250"/>
                                        <p:tgtEl>
                                          <p:spTgt spid="35"/>
                                        </p:tgtEl>
                                      </p:cBhvr>
                                    </p:animEffect>
                                  </p:childTnLst>
                                </p:cTn>
                              </p:par>
                              <p:par>
                                <p:cTn id="101" presetID="10" presetClass="entr" presetSubtype="0" fill="hold" nodeType="with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250"/>
                                        <p:tgtEl>
                                          <p:spTgt spid="51"/>
                                        </p:tgtEl>
                                      </p:cBhvr>
                                    </p:animEffect>
                                  </p:childTnLst>
                                </p:cTn>
                              </p:par>
                              <p:par>
                                <p:cTn id="104" presetID="10" presetClass="entr" presetSubtype="0" fill="hold" nodeType="with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fade">
                                      <p:cBhvr>
                                        <p:cTn id="106" dur="250"/>
                                        <p:tgtEl>
                                          <p:spTgt spid="5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fade">
                                      <p:cBhvr>
                                        <p:cTn id="111" dur="250"/>
                                        <p:tgtEl>
                                          <p:spTgt spid="5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2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4" grpId="0" animBg="1"/>
      <p:bldP spid="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REAL EXAMPLE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Real Example: A Browser Needs Many Threads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18</a:t>
            </a:r>
            <a:endParaRPr lang="en-US" sz="850" dirty="0"/>
          </a:p>
        </p:txBody>
      </p:sp>
      <p:sp>
        <p:nvSpPr>
          <p:cNvPr id="15" name="root"/>
          <p:cNvSpPr/>
          <p:nvPr/>
        </p:nvSpPr>
        <p:spPr>
          <a:xfrm>
            <a:off x="543154" y="1572768"/>
            <a:ext cx="11087100" cy="640080"/>
          </a:xfrm>
          <a:prstGeom prst="roundRect">
            <a:avLst>
              <a:gd name="adj" fmla="val 12500"/>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500" b="1" dirty="0">
                <a:solidFill>
                  <a:srgbClr val="FFFFFF"/>
                </a:solidFill>
                <a:latin typeface="Segoe UI"/>
                <a:ea typeface="Segoe UI"/>
                <a:cs typeface="Segoe UI"/>
              </a:rPr>
              <a:t>Browser process</a:t>
            </a:r>
            <a:endParaRPr lang="en-US" sz="1500" dirty="0"/>
          </a:p>
        </p:txBody>
      </p:sp>
      <p:cxnSp>
        <p:nvCxnSpPr>
          <p:cNvPr id="16" name="arrow"/>
          <p:cNvCxnSpPr/>
          <p:nvPr/>
        </p:nvCxnSpPr>
        <p:spPr>
          <a:xfrm flipH="1">
            <a:off x="1860461" y="2231136"/>
            <a:ext cx="4226242" cy="420624"/>
          </a:xfrm>
          <a:prstGeom prst="line">
            <a:avLst/>
          </a:prstGeom>
          <a:ln w="28575">
            <a:solidFill>
              <a:srgbClr val="4D91F0"/>
            </a:solidFill>
            <a:tailEnd type="triangle" w="med" len="med"/>
          </a:ln>
        </p:spPr>
      </p:cxnSp>
      <p:sp>
        <p:nvSpPr>
          <p:cNvPr id="17" name="card"/>
          <p:cNvSpPr/>
          <p:nvPr/>
        </p:nvSpPr>
        <p:spPr>
          <a:xfrm>
            <a:off x="543154" y="2670048"/>
            <a:ext cx="2634615" cy="2212848"/>
          </a:xfrm>
          <a:prstGeom prst="roundRect">
            <a:avLst>
              <a:gd name="adj" fmla="val 3719"/>
            </a:avLst>
          </a:prstGeom>
          <a:solidFill>
            <a:srgbClr val="111B2E"/>
          </a:solidFill>
          <a:ln w="12700">
            <a:solidFill>
              <a:srgbClr val="4D91F0"/>
            </a:solidFill>
            <a:prstDash val="solid"/>
          </a:ln>
        </p:spPr>
        <p:txBody>
          <a:bodyPr wrap="square" lIns="164592" tIns="182880" rIns="128016" bIns="91440" rtlCol="0" anchor="t">
            <a:noAutofit/>
          </a:bodyPr>
          <a:lstStyle/>
          <a:p>
            <a:pPr marL="0" indent="0" algn="l">
              <a:spcBef>
                <a:spcPts val="0"/>
              </a:spcBef>
              <a:spcAft>
                <a:spcPts val="250"/>
              </a:spcAft>
              <a:buNone/>
            </a:pPr>
            <a:r>
              <a:rPr lang="en-US" sz="1100" b="1" dirty="0">
                <a:solidFill>
                  <a:srgbClr val="4D91F0"/>
                </a:solidFill>
                <a:latin typeface="Segoe UI"/>
                <a:ea typeface="Segoe UI"/>
                <a:cs typeface="Segoe UI"/>
              </a:rPr>
              <a:t>UI THREAD</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clicks, scrolling, typing</a:t>
            </a:r>
            <a:endParaRPr lang="en-US" sz="1300" dirty="0"/>
          </a:p>
        </p:txBody>
      </p:sp>
      <p:cxnSp>
        <p:nvCxnSpPr>
          <p:cNvPr id="18" name="arrow"/>
          <p:cNvCxnSpPr/>
          <p:nvPr/>
        </p:nvCxnSpPr>
        <p:spPr>
          <a:xfrm flipH="1">
            <a:off x="4677956" y="2231136"/>
            <a:ext cx="1408748" cy="420624"/>
          </a:xfrm>
          <a:prstGeom prst="line">
            <a:avLst/>
          </a:prstGeom>
          <a:ln w="28575">
            <a:solidFill>
              <a:srgbClr val="34D399"/>
            </a:solidFill>
            <a:tailEnd type="triangle" w="med" len="med"/>
          </a:ln>
        </p:spPr>
      </p:cxnSp>
      <p:sp>
        <p:nvSpPr>
          <p:cNvPr id="19" name="card"/>
          <p:cNvSpPr/>
          <p:nvPr/>
        </p:nvSpPr>
        <p:spPr>
          <a:xfrm>
            <a:off x="3360649" y="2670048"/>
            <a:ext cx="2634615" cy="2212848"/>
          </a:xfrm>
          <a:prstGeom prst="roundRect">
            <a:avLst>
              <a:gd name="adj" fmla="val 3719"/>
            </a:avLst>
          </a:prstGeom>
          <a:solidFill>
            <a:srgbClr val="111B2E"/>
          </a:solidFill>
          <a:ln w="12700">
            <a:solidFill>
              <a:srgbClr val="34D399"/>
            </a:solidFill>
            <a:prstDash val="solid"/>
          </a:ln>
        </p:spPr>
        <p:txBody>
          <a:bodyPr wrap="square" lIns="164592" tIns="182880" rIns="128016" bIns="91440" rtlCol="0" anchor="t">
            <a:noAutofit/>
          </a:bodyPr>
          <a:lstStyle/>
          <a:p>
            <a:pPr marL="0" indent="0" algn="l">
              <a:spcBef>
                <a:spcPts val="0"/>
              </a:spcBef>
              <a:spcAft>
                <a:spcPts val="250"/>
              </a:spcAft>
              <a:buNone/>
            </a:pPr>
            <a:r>
              <a:rPr lang="en-US" sz="1100" b="1" dirty="0">
                <a:solidFill>
                  <a:srgbClr val="34D399"/>
                </a:solidFill>
                <a:latin typeface="Segoe UI"/>
                <a:ea typeface="Segoe UI"/>
                <a:cs typeface="Segoe UI"/>
              </a:rPr>
              <a:t>NETWORK THREAD</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downloads pages and images</a:t>
            </a:r>
            <a:endParaRPr lang="en-US" sz="1300" dirty="0"/>
          </a:p>
        </p:txBody>
      </p:sp>
      <p:cxnSp>
        <p:nvCxnSpPr>
          <p:cNvPr id="20" name="arrow"/>
          <p:cNvCxnSpPr/>
          <p:nvPr/>
        </p:nvCxnSpPr>
        <p:spPr>
          <a:xfrm>
            <a:off x="6086704" y="2231136"/>
            <a:ext cx="1408748" cy="420624"/>
          </a:xfrm>
          <a:prstGeom prst="line">
            <a:avLst/>
          </a:prstGeom>
          <a:ln w="28575">
            <a:solidFill>
              <a:srgbClr val="A78BFA"/>
            </a:solidFill>
            <a:tailEnd type="triangle" w="med" len="med"/>
          </a:ln>
        </p:spPr>
      </p:cxnSp>
      <p:sp>
        <p:nvSpPr>
          <p:cNvPr id="21" name="card"/>
          <p:cNvSpPr/>
          <p:nvPr/>
        </p:nvSpPr>
        <p:spPr>
          <a:xfrm>
            <a:off x="6178144" y="2670048"/>
            <a:ext cx="2634615" cy="2212848"/>
          </a:xfrm>
          <a:prstGeom prst="roundRect">
            <a:avLst>
              <a:gd name="adj" fmla="val 3719"/>
            </a:avLst>
          </a:prstGeom>
          <a:solidFill>
            <a:srgbClr val="111B2E"/>
          </a:solidFill>
          <a:ln w="12700">
            <a:solidFill>
              <a:srgbClr val="A78BFA"/>
            </a:solidFill>
            <a:prstDash val="solid"/>
          </a:ln>
        </p:spPr>
        <p:txBody>
          <a:bodyPr wrap="square" lIns="164592" tIns="182880" rIns="128016" bIns="91440" rtlCol="0" anchor="t">
            <a:noAutofit/>
          </a:bodyPr>
          <a:lstStyle/>
          <a:p>
            <a:pPr marL="0" indent="0" algn="l">
              <a:spcBef>
                <a:spcPts val="0"/>
              </a:spcBef>
              <a:spcAft>
                <a:spcPts val="250"/>
              </a:spcAft>
              <a:buNone/>
            </a:pPr>
            <a:r>
              <a:rPr lang="en-US" sz="1100" b="1" dirty="0">
                <a:solidFill>
                  <a:srgbClr val="A78BFA"/>
                </a:solidFill>
                <a:latin typeface="Segoe UI"/>
                <a:ea typeface="Segoe UI"/>
                <a:cs typeface="Segoe UI"/>
              </a:rPr>
              <a:t>RENDERING THREAD</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draws the page</a:t>
            </a:r>
            <a:endParaRPr lang="en-US" sz="1300" dirty="0"/>
          </a:p>
        </p:txBody>
      </p:sp>
      <p:cxnSp>
        <p:nvCxnSpPr>
          <p:cNvPr id="22" name="arrow"/>
          <p:cNvCxnSpPr/>
          <p:nvPr/>
        </p:nvCxnSpPr>
        <p:spPr>
          <a:xfrm>
            <a:off x="6086704" y="2231136"/>
            <a:ext cx="4226242" cy="420624"/>
          </a:xfrm>
          <a:prstGeom prst="line">
            <a:avLst/>
          </a:prstGeom>
          <a:ln w="28575">
            <a:solidFill>
              <a:srgbClr val="FBBF24"/>
            </a:solidFill>
            <a:tailEnd type="triangle" w="med" len="med"/>
          </a:ln>
        </p:spPr>
      </p:cxnSp>
      <p:sp>
        <p:nvSpPr>
          <p:cNvPr id="23" name="card"/>
          <p:cNvSpPr/>
          <p:nvPr/>
        </p:nvSpPr>
        <p:spPr>
          <a:xfrm>
            <a:off x="8995639" y="2670048"/>
            <a:ext cx="2634615" cy="2212848"/>
          </a:xfrm>
          <a:prstGeom prst="roundRect">
            <a:avLst>
              <a:gd name="adj" fmla="val 3719"/>
            </a:avLst>
          </a:prstGeom>
          <a:solidFill>
            <a:srgbClr val="111B2E"/>
          </a:solidFill>
          <a:ln w="12700">
            <a:solidFill>
              <a:srgbClr val="FBBF24"/>
            </a:solidFill>
            <a:prstDash val="solid"/>
          </a:ln>
        </p:spPr>
        <p:txBody>
          <a:bodyPr wrap="square" lIns="164592" tIns="182880" rIns="128016" bIns="91440" rtlCol="0" anchor="t">
            <a:noAutofit/>
          </a:bodyPr>
          <a:lstStyle/>
          <a:p>
            <a:pPr marL="0" indent="0" algn="l">
              <a:spcBef>
                <a:spcPts val="0"/>
              </a:spcBef>
              <a:spcAft>
                <a:spcPts val="250"/>
              </a:spcAft>
              <a:buNone/>
            </a:pPr>
            <a:r>
              <a:rPr lang="en-US" sz="1100" b="1" dirty="0">
                <a:solidFill>
                  <a:srgbClr val="FBBF24"/>
                </a:solidFill>
                <a:latin typeface="Segoe UI"/>
                <a:ea typeface="Segoe UI"/>
                <a:cs typeface="Segoe UI"/>
              </a:rPr>
              <a:t>WORKER THREADS</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background JavaScript</a:t>
            </a:r>
            <a:endParaRPr lang="en-US" sz="1300" dirty="0"/>
          </a:p>
        </p:txBody>
      </p:sp>
      <p:sp>
        <p:nvSpPr>
          <p:cNvPr id="24"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Applications usually need several independent activities, so they need several threads.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5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25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MAIN THREAD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Main Thread in 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19</a:t>
            </a:r>
            <a:endParaRPr lang="en-US" sz="850" dirty="0"/>
          </a:p>
        </p:txBody>
      </p:sp>
      <p:sp>
        <p:nvSpPr>
          <p:cNvPr id="15" name="cw_win"/>
          <p:cNvSpPr/>
          <p:nvPr/>
        </p:nvSpPr>
        <p:spPr>
          <a:xfrm>
            <a:off x="543154" y="1572768"/>
            <a:ext cx="6035040" cy="1737360"/>
          </a:xfrm>
          <a:prstGeom prst="roundRect">
            <a:avLst>
              <a:gd name="adj" fmla="val 3947"/>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"A"</a:t>
            </a:r>
            <a:r>
              <a:rPr lang="en-US" sz="1050" b="0" dirty="0">
                <a:solidFill>
                  <a:srgbClr val="E2E8F0"/>
                </a:solidFill>
                <a:latin typeface="Consolas"/>
                <a:ea typeface="Consolas"/>
                <a:cs typeface="Consolas"/>
              </a:rPr>
              <a:t>);</a:t>
            </a:r>
            <a:endParaRPr lang="en-US" sz="1050" dirty="0"/>
          </a:p>
        </p:txBody>
      </p:sp>
      <p:sp>
        <p:nvSpPr>
          <p:cNvPr id="23" name="cw_L01"/>
          <p:cNvSpPr txBox="1"/>
          <p:nvPr/>
        </p:nvSpPr>
        <p:spPr>
          <a:xfrm>
            <a:off x="771754" y="2261616"/>
            <a:ext cx="56509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"B"</a:t>
            </a: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74976"/>
            <a:ext cx="56509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"C"</a:t>
            </a:r>
            <a:r>
              <a:rPr lang="en-US" sz="1050" b="0" dirty="0">
                <a:solidFill>
                  <a:srgbClr val="E2E8F0"/>
                </a:solidFill>
                <a:latin typeface="Consolas"/>
                <a:ea typeface="Consolas"/>
                <a:cs typeface="Consolas"/>
              </a:rPr>
              <a:t>);</a:t>
            </a:r>
            <a:endParaRPr lang="en-US" sz="1050" dirty="0"/>
          </a:p>
        </p:txBody>
      </p:sp>
      <p:sp>
        <p:nvSpPr>
          <p:cNvPr id="25" name="cw_L04"/>
          <p:cNvSpPr txBox="1"/>
          <p:nvPr/>
        </p:nvSpPr>
        <p:spPr>
          <a:xfrm>
            <a:off x="771754" y="2901696"/>
            <a:ext cx="56509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Console.WriteLine(Thread.CurrentThread.ManagedThreadId);</a:t>
            </a:r>
            <a:endParaRPr lang="en-US" sz="1050" dirty="0"/>
          </a:p>
        </p:txBody>
      </p:sp>
      <p:sp>
        <p:nvSpPr>
          <p:cNvPr id="26" name="out_win"/>
          <p:cNvSpPr/>
          <p:nvPr/>
        </p:nvSpPr>
        <p:spPr>
          <a:xfrm>
            <a:off x="543154" y="3419856"/>
            <a:ext cx="6035040" cy="1463040"/>
          </a:xfrm>
          <a:prstGeom prst="roundRect">
            <a:avLst>
              <a:gd name="adj" fmla="val 4687"/>
            </a:avLst>
          </a:prstGeom>
          <a:solidFill>
            <a:srgbClr val="060D18"/>
          </a:solidFill>
          <a:ln w="12700">
            <a:solidFill>
              <a:srgbClr val="1E3A5F"/>
            </a:solidFill>
            <a:prstDash val="solid"/>
          </a:ln>
        </p:spPr>
        <p:txBody>
          <a:bodyPr/>
          <a:lstStyle/>
          <a:p>
            <a:endParaRPr lang="en-US"/>
          </a:p>
        </p:txBody>
      </p:sp>
      <p:sp>
        <p:nvSpPr>
          <p:cNvPr id="27" name="out_bar"/>
          <p:cNvSpPr/>
          <p:nvPr/>
        </p:nvSpPr>
        <p:spPr>
          <a:xfrm>
            <a:off x="543154" y="3419856"/>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8" name="out_barfill"/>
          <p:cNvSpPr/>
          <p:nvPr/>
        </p:nvSpPr>
        <p:spPr>
          <a:xfrm>
            <a:off x="543154" y="3591306"/>
            <a:ext cx="6035040" cy="171450"/>
          </a:xfrm>
          <a:prstGeom prst="rect">
            <a:avLst/>
          </a:prstGeom>
          <a:solidFill>
            <a:srgbClr val="0A1220"/>
          </a:solidFill>
          <a:ln w="12700">
            <a:solidFill>
              <a:srgbClr val="0A1220"/>
            </a:solidFill>
            <a:prstDash val="solid"/>
          </a:ln>
        </p:spPr>
        <p:txBody>
          <a:bodyPr/>
          <a:lstStyle/>
          <a:p>
            <a:endParaRPr lang="en-US"/>
          </a:p>
        </p:txBody>
      </p:sp>
      <p:sp>
        <p:nvSpPr>
          <p:cNvPr id="29" name="out_dot0"/>
          <p:cNvSpPr/>
          <p:nvPr/>
        </p:nvSpPr>
        <p:spPr>
          <a:xfrm>
            <a:off x="705002" y="3543666"/>
            <a:ext cx="95098" cy="95098"/>
          </a:xfrm>
          <a:prstGeom prst="ellipse">
            <a:avLst/>
          </a:prstGeom>
          <a:solidFill>
            <a:srgbClr val="F87171"/>
          </a:solidFill>
          <a:ln w="12700">
            <a:solidFill>
              <a:srgbClr val="F87171"/>
            </a:solidFill>
            <a:prstDash val="solid"/>
          </a:ln>
        </p:spPr>
        <p:txBody>
          <a:bodyPr/>
          <a:lstStyle/>
          <a:p>
            <a:endParaRPr lang="en-US"/>
          </a:p>
        </p:txBody>
      </p:sp>
      <p:sp>
        <p:nvSpPr>
          <p:cNvPr id="30" name="out_dot1"/>
          <p:cNvSpPr/>
          <p:nvPr/>
        </p:nvSpPr>
        <p:spPr>
          <a:xfrm>
            <a:off x="890626" y="3543666"/>
            <a:ext cx="95098" cy="95098"/>
          </a:xfrm>
          <a:prstGeom prst="ellipse">
            <a:avLst/>
          </a:prstGeom>
          <a:solidFill>
            <a:srgbClr val="FBBF24"/>
          </a:solidFill>
          <a:ln w="12700">
            <a:solidFill>
              <a:srgbClr val="FBBF24"/>
            </a:solidFill>
            <a:prstDash val="solid"/>
          </a:ln>
        </p:spPr>
        <p:txBody>
          <a:bodyPr/>
          <a:lstStyle/>
          <a:p>
            <a:endParaRPr lang="en-US"/>
          </a:p>
        </p:txBody>
      </p:sp>
      <p:sp>
        <p:nvSpPr>
          <p:cNvPr id="31" name="out_dot2"/>
          <p:cNvSpPr/>
          <p:nvPr/>
        </p:nvSpPr>
        <p:spPr>
          <a:xfrm>
            <a:off x="1076249" y="3543666"/>
            <a:ext cx="95098" cy="95098"/>
          </a:xfrm>
          <a:prstGeom prst="ellipse">
            <a:avLst/>
          </a:prstGeom>
          <a:solidFill>
            <a:srgbClr val="34D399"/>
          </a:solidFill>
          <a:ln w="12700">
            <a:solidFill>
              <a:srgbClr val="34D399"/>
            </a:solidFill>
            <a:prstDash val="solid"/>
          </a:ln>
        </p:spPr>
        <p:txBody>
          <a:bodyPr/>
          <a:lstStyle/>
          <a:p>
            <a:endParaRPr lang="en-US"/>
          </a:p>
        </p:txBody>
      </p:sp>
      <p:sp>
        <p:nvSpPr>
          <p:cNvPr id="32" name="out_tab"/>
          <p:cNvSpPr/>
          <p:nvPr/>
        </p:nvSpPr>
        <p:spPr>
          <a:xfrm>
            <a:off x="1324051" y="346740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3" name="out_L00"/>
          <p:cNvSpPr txBox="1"/>
          <p:nvPr/>
        </p:nvSpPr>
        <p:spPr>
          <a:xfrm>
            <a:off x="771754" y="3895344"/>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a:t>
            </a:r>
            <a:endParaRPr lang="en-US" sz="1000" dirty="0"/>
          </a:p>
        </p:txBody>
      </p:sp>
      <p:sp>
        <p:nvSpPr>
          <p:cNvPr id="34" name="out_L01"/>
          <p:cNvSpPr txBox="1"/>
          <p:nvPr/>
        </p:nvSpPr>
        <p:spPr>
          <a:xfrm>
            <a:off x="771754" y="4098544"/>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B</a:t>
            </a:r>
            <a:endParaRPr lang="en-US" sz="1000" dirty="0"/>
          </a:p>
        </p:txBody>
      </p:sp>
      <p:sp>
        <p:nvSpPr>
          <p:cNvPr id="35" name="out_L02"/>
          <p:cNvSpPr txBox="1"/>
          <p:nvPr/>
        </p:nvSpPr>
        <p:spPr>
          <a:xfrm>
            <a:off x="771754" y="4301744"/>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a:t>
            </a:r>
            <a:endParaRPr lang="en-US" sz="1000" dirty="0"/>
          </a:p>
        </p:txBody>
      </p:sp>
      <p:sp>
        <p:nvSpPr>
          <p:cNvPr id="36" name="out_L03"/>
          <p:cNvSpPr txBox="1"/>
          <p:nvPr/>
        </p:nvSpPr>
        <p:spPr>
          <a:xfrm>
            <a:off x="771754" y="4504944"/>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1</a:t>
            </a:r>
            <a:endParaRPr lang="en-US" sz="1000" dirty="0"/>
          </a:p>
        </p:txBody>
      </p:sp>
      <p:sp>
        <p:nvSpPr>
          <p:cNvPr id="37" name="card"/>
          <p:cNvSpPr/>
          <p:nvPr/>
        </p:nvSpPr>
        <p:spPr>
          <a:xfrm>
            <a:off x="6852514" y="1572768"/>
            <a:ext cx="4777740" cy="1586484"/>
          </a:xfrm>
          <a:prstGeom prst="roundRect">
            <a:avLst>
              <a:gd name="adj" fmla="val 5187"/>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ONE THREAD</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All four lines run on the main thread, in order.</a:t>
            </a:r>
            <a:endParaRPr lang="en-US" sz="1300" dirty="0"/>
          </a:p>
        </p:txBody>
      </p:sp>
      <p:sp>
        <p:nvSpPr>
          <p:cNvPr id="38" name="card"/>
          <p:cNvSpPr/>
          <p:nvPr/>
        </p:nvSpPr>
        <p:spPr>
          <a:xfrm>
            <a:off x="6852514" y="3296412"/>
            <a:ext cx="4777740" cy="1586484"/>
          </a:xfrm>
          <a:prstGeom prst="roundRect">
            <a:avLst>
              <a:gd name="adj" fmla="val 5187"/>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MANAGED THREAD ID</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1 is the thread's ID inside .NET, not CPU core 1.</a:t>
            </a:r>
            <a:endParaRPr lang="en-US" sz="1300" dirty="0"/>
          </a:p>
        </p:txBody>
      </p:sp>
      <p:sp>
        <p:nvSpPr>
          <p:cNvPr id="39" name="banner"/>
          <p:cNvSpPr/>
          <p:nvPr/>
        </p:nvSpPr>
        <p:spPr>
          <a:xfrm>
            <a:off x="543154" y="5074920"/>
            <a:ext cx="11087100" cy="749808"/>
          </a:xfrm>
          <a:prstGeom prst="roundRect">
            <a:avLst>
              <a:gd name="adj" fmla="val 10975"/>
            </a:avLst>
          </a:prstGeom>
          <a:solidFill>
            <a:srgbClr val="0C1628"/>
          </a:solidFill>
          <a:ln w="12700">
            <a:solidFill>
              <a:srgbClr val="4D91F0"/>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By default all your code runs on one thread: the main thread.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25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25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250"/>
                                        <p:tgtEl>
                                          <p:spTgt spid="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25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25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33" grpId="0"/>
      <p:bldP spid="34" grpId="0"/>
      <p:bldP spid="35" grpId="0"/>
      <p:bldP spid="36" grpId="0"/>
      <p:bldP spid="37" grpId="0" animBg="1"/>
      <p:bldP spid="38" grpId="0" animBg="1"/>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PART 2</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20</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A78BFA"/>
                </a:solidFill>
                <a:latin typeface="Segoe UI"/>
                <a:ea typeface="Segoe UI"/>
                <a:cs typeface="Segoe UI"/>
              </a:rPr>
              <a:t>02</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Threads</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Create your own paths of execution, and see why they are hard to control.</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The Thread class  ·  Thread IDs  ·  Two threads at once  ·  Join  ·  Thread.Sleep  ·  Foreground vs background  ·  Quiz</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THREAD CLASS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Thread Class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21</a:t>
            </a:r>
            <a:endParaRPr lang="en-US" sz="850" dirty="0"/>
          </a:p>
        </p:txBody>
      </p:sp>
      <p:sp>
        <p:nvSpPr>
          <p:cNvPr id="15" name="cw_win"/>
          <p:cNvSpPr/>
          <p:nvPr/>
        </p:nvSpPr>
        <p:spPr>
          <a:xfrm>
            <a:off x="543154" y="1572768"/>
            <a:ext cx="63093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Thread thread = </a:t>
            </a:r>
            <a:r>
              <a:rPr lang="en-US" sz="1250" b="0" dirty="0">
                <a:solidFill>
                  <a:srgbClr val="60A5FA"/>
                </a:solidFill>
                <a:latin typeface="Consolas"/>
                <a:ea typeface="Consolas"/>
                <a:cs typeface="Consolas"/>
              </a:rPr>
              <a:t>new</a:t>
            </a:r>
            <a:r>
              <a:rPr lang="en-US" sz="1250" b="0" dirty="0">
                <a:solidFill>
                  <a:srgbClr val="E2E8F0"/>
                </a:solidFill>
                <a:latin typeface="Consolas"/>
                <a:ea typeface="Consolas"/>
                <a:cs typeface="Consolas"/>
              </a:rPr>
              <a:t> Thread(() =&gt;</a:t>
            </a:r>
            <a:endParaRPr lang="en-US" sz="1250" dirty="0"/>
          </a:p>
        </p:txBody>
      </p:sp>
      <p:sp>
        <p:nvSpPr>
          <p:cNvPr id="23" name="cw_L01"/>
          <p:cNvSpPr txBox="1"/>
          <p:nvPr/>
        </p:nvSpPr>
        <p:spPr>
          <a:xfrm>
            <a:off x="771754" y="2302256"/>
            <a:ext cx="592531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4" name="cw_L02"/>
          <p:cNvSpPr txBox="1"/>
          <p:nvPr/>
        </p:nvSpPr>
        <p:spPr>
          <a:xfrm>
            <a:off x="771754" y="2556256"/>
            <a:ext cx="592531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E2E8F0"/>
                </a:solidFill>
                <a:latin typeface="Consolas"/>
                <a:ea typeface="Consolas"/>
                <a:cs typeface="Consolas"/>
              </a:rPr>
              <a:t>Console.WriteLine(</a:t>
            </a:r>
            <a:r>
              <a:rPr lang="en-US" sz="1250" b="0" dirty="0">
                <a:solidFill>
                  <a:srgbClr val="F0A98B"/>
                </a:solidFill>
                <a:latin typeface="Consolas"/>
                <a:ea typeface="Consolas"/>
                <a:cs typeface="Consolas"/>
              </a:rPr>
              <a:t>"Hello from another thread"</a:t>
            </a:r>
            <a:r>
              <a:rPr lang="en-US" sz="1250" b="0" dirty="0">
                <a:solidFill>
                  <a:srgbClr val="E2E8F0"/>
                </a:solidFill>
                <a:latin typeface="Consolas"/>
                <a:ea typeface="Consolas"/>
                <a:cs typeface="Consolas"/>
              </a:rPr>
              <a:t>);</a:t>
            </a:r>
            <a:endParaRPr lang="en-US" sz="1250" dirty="0"/>
          </a:p>
        </p:txBody>
      </p:sp>
      <p:sp>
        <p:nvSpPr>
          <p:cNvPr id="25" name="cw_L03"/>
          <p:cNvSpPr txBox="1"/>
          <p:nvPr/>
        </p:nvSpPr>
        <p:spPr>
          <a:xfrm>
            <a:off x="771754" y="2810256"/>
            <a:ext cx="592531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6" name="cw_L05"/>
          <p:cNvSpPr txBox="1"/>
          <p:nvPr/>
        </p:nvSpPr>
        <p:spPr>
          <a:xfrm>
            <a:off x="771754" y="3318256"/>
            <a:ext cx="592531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thread.Start();</a:t>
            </a:r>
            <a:endParaRPr lang="en-US" sz="1250" dirty="0"/>
          </a:p>
        </p:txBody>
      </p:sp>
      <p:sp>
        <p:nvSpPr>
          <p:cNvPr id="27" name="cw_L06"/>
          <p:cNvSpPr txBox="1"/>
          <p:nvPr/>
        </p:nvSpPr>
        <p:spPr>
          <a:xfrm>
            <a:off x="771754" y="3572256"/>
            <a:ext cx="592531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Console.WriteLine(</a:t>
            </a:r>
            <a:r>
              <a:rPr lang="en-US" sz="1250" b="0" dirty="0">
                <a:solidFill>
                  <a:srgbClr val="F0A98B"/>
                </a:solidFill>
                <a:latin typeface="Consolas"/>
                <a:ea typeface="Consolas"/>
                <a:cs typeface="Consolas"/>
              </a:rPr>
              <a:t>"Hello from Main"</a:t>
            </a:r>
            <a:r>
              <a:rPr lang="en-US" sz="1250" b="0" dirty="0">
                <a:solidFill>
                  <a:srgbClr val="E2E8F0"/>
                </a:solidFill>
                <a:latin typeface="Consolas"/>
                <a:ea typeface="Consolas"/>
                <a:cs typeface="Consolas"/>
              </a:rPr>
              <a:t>);</a:t>
            </a:r>
            <a:endParaRPr lang="en-US" sz="1250" dirty="0"/>
          </a:p>
        </p:txBody>
      </p:sp>
      <p:sp>
        <p:nvSpPr>
          <p:cNvPr id="28" name="card"/>
          <p:cNvSpPr/>
          <p:nvPr/>
        </p:nvSpPr>
        <p:spPr>
          <a:xfrm>
            <a:off x="7081114" y="1572768"/>
            <a:ext cx="4549140" cy="1011936"/>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LOW LEVEL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System.Threading.Thread represents one real OS thread.</a:t>
            </a:r>
            <a:endParaRPr lang="en-US" sz="1250" dirty="0"/>
          </a:p>
        </p:txBody>
      </p:sp>
      <p:sp>
        <p:nvSpPr>
          <p:cNvPr id="29" name="card"/>
          <p:cNvSpPr/>
          <p:nvPr/>
        </p:nvSpPr>
        <p:spPr>
          <a:xfrm>
            <a:off x="7081114" y="2721864"/>
            <a:ext cx="454914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THE WORK IS A DELEGATE</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lambda is a ThreadStart delegate: the code the new thread runs.</a:t>
            </a:r>
            <a:endParaRPr lang="en-US" sz="1250" dirty="0"/>
          </a:p>
        </p:txBody>
      </p:sp>
      <p:sp>
        <p:nvSpPr>
          <p:cNvPr id="30" name="card"/>
          <p:cNvSpPr/>
          <p:nvPr/>
        </p:nvSpPr>
        <p:spPr>
          <a:xfrm>
            <a:off x="7081114" y="3870960"/>
            <a:ext cx="4549140" cy="1011936"/>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START, NOT RUN</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Start() asks the OS to schedule it. Which line prints first is not guaranteed.</a:t>
            </a:r>
            <a:endParaRPr lang="en-US" sz="1250" dirty="0"/>
          </a:p>
        </p:txBody>
      </p:sp>
      <p:sp>
        <p:nvSpPr>
          <p:cNvPr id="31"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new Thread(work).Start() runs the work on a brand-new thread.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25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25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25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animBg="1"/>
      <p:bldP spid="29" grpId="0" animBg="1"/>
      <p:bldP spid="30" grpId="0" animBg="1"/>
      <p:bldP spid="3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THREAD IDS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Proof: Two Different Threads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22</a:t>
            </a:r>
            <a:endParaRPr lang="en-US" sz="850" dirty="0"/>
          </a:p>
        </p:txBody>
      </p:sp>
      <p:sp>
        <p:nvSpPr>
          <p:cNvPr id="15" name="cw_win"/>
          <p:cNvSpPr/>
          <p:nvPr/>
        </p:nvSpPr>
        <p:spPr>
          <a:xfrm>
            <a:off x="543154" y="1572768"/>
            <a:ext cx="603504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Console.WriteLine(</a:t>
            </a:r>
            <a:endParaRPr lang="en-US" sz="1150" dirty="0"/>
          </a:p>
        </p:txBody>
      </p:sp>
      <p:sp>
        <p:nvSpPr>
          <p:cNvPr id="23" name="cw_L01"/>
          <p:cNvSpPr txBox="1"/>
          <p:nvPr/>
        </p:nvSpPr>
        <p:spPr>
          <a:xfrm>
            <a:off x="771754" y="228193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F0A98B"/>
                </a:solidFill>
                <a:latin typeface="Consolas"/>
                <a:ea typeface="Consolas"/>
                <a:cs typeface="Consolas"/>
              </a:rPr>
              <a:t>$"Main: {Thread.CurrentThread.ManagedThreadId}"</a:t>
            </a:r>
            <a:r>
              <a:rPr lang="en-US" sz="1150" b="0" dirty="0">
                <a:solidFill>
                  <a:srgbClr val="E2E8F0"/>
                </a:solidFill>
                <a:latin typeface="Consolas"/>
                <a:ea typeface="Consolas"/>
                <a:cs typeface="Consolas"/>
              </a:rPr>
              <a:t>);</a:t>
            </a:r>
            <a:endParaRPr lang="en-US" sz="1150" dirty="0"/>
          </a:p>
        </p:txBody>
      </p:sp>
      <p:sp>
        <p:nvSpPr>
          <p:cNvPr id="24" name="cw_L03"/>
          <p:cNvSpPr txBox="1"/>
          <p:nvPr/>
        </p:nvSpPr>
        <p:spPr>
          <a:xfrm>
            <a:off x="771754" y="274929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Thread worker = </a:t>
            </a:r>
            <a:r>
              <a:rPr lang="en-US" sz="1150" b="0" dirty="0">
                <a:solidFill>
                  <a:srgbClr val="60A5FA"/>
                </a:solidFill>
                <a:latin typeface="Consolas"/>
                <a:ea typeface="Consolas"/>
                <a:cs typeface="Consolas"/>
              </a:rPr>
              <a:t>new</a:t>
            </a:r>
            <a:r>
              <a:rPr lang="en-US" sz="1150" b="0" dirty="0">
                <a:solidFill>
                  <a:srgbClr val="E2E8F0"/>
                </a:solidFill>
                <a:latin typeface="Consolas"/>
                <a:ea typeface="Consolas"/>
                <a:cs typeface="Consolas"/>
              </a:rPr>
              <a:t> Thread(() =&gt;</a:t>
            </a:r>
            <a:endParaRPr lang="en-US" sz="1150" dirty="0"/>
          </a:p>
        </p:txBody>
      </p:sp>
      <p:sp>
        <p:nvSpPr>
          <p:cNvPr id="25" name="cw_L04"/>
          <p:cNvSpPr txBox="1"/>
          <p:nvPr/>
        </p:nvSpPr>
        <p:spPr>
          <a:xfrm>
            <a:off x="771754" y="298297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6" name="cw_L05"/>
          <p:cNvSpPr txBox="1"/>
          <p:nvPr/>
        </p:nvSpPr>
        <p:spPr>
          <a:xfrm>
            <a:off x="771754" y="321665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endParaRPr lang="en-US" sz="1150" dirty="0"/>
          </a:p>
        </p:txBody>
      </p:sp>
      <p:sp>
        <p:nvSpPr>
          <p:cNvPr id="27" name="cw_L06"/>
          <p:cNvSpPr txBox="1"/>
          <p:nvPr/>
        </p:nvSpPr>
        <p:spPr>
          <a:xfrm>
            <a:off x="771754" y="3450336"/>
            <a:ext cx="5650992" cy="233680"/>
          </a:xfrm>
          <a:prstGeom prst="rect">
            <a:avLst/>
          </a:prstGeom>
          <a:noFill/>
          <a:ln>
            <a:noFill/>
          </a:ln>
        </p:spPr>
        <p:txBody>
          <a:bodyPr wrap="none" lIns="0" tIns="0" rIns="0" bIns="0" rtlCol="0" anchor="ctr">
            <a:noAutofit/>
          </a:bodyPr>
          <a:lstStyle/>
          <a:p>
            <a:pPr marL="642620" indent="0" algn="l">
              <a:spcBef>
                <a:spcPts val="0"/>
              </a:spcBef>
              <a:spcAft>
                <a:spcPts val="0"/>
              </a:spcAft>
              <a:buNone/>
            </a:pPr>
            <a:r>
              <a:rPr lang="en-US" sz="1150" b="0" dirty="0">
                <a:solidFill>
                  <a:srgbClr val="F0A98B"/>
                </a:solidFill>
                <a:latin typeface="Consolas"/>
                <a:ea typeface="Consolas"/>
                <a:cs typeface="Consolas"/>
              </a:rPr>
              <a:t>$"Worker: {Thread.CurrentThread.ManagedThreadId}"</a:t>
            </a:r>
            <a:r>
              <a:rPr lang="en-US" sz="1150" b="0" dirty="0">
                <a:solidFill>
                  <a:srgbClr val="E2E8F0"/>
                </a:solidFill>
                <a:latin typeface="Consolas"/>
                <a:ea typeface="Consolas"/>
                <a:cs typeface="Consolas"/>
              </a:rPr>
              <a:t>);</a:t>
            </a:r>
            <a:endParaRPr lang="en-US" sz="1150" dirty="0"/>
          </a:p>
        </p:txBody>
      </p:sp>
      <p:sp>
        <p:nvSpPr>
          <p:cNvPr id="28" name="cw_L07"/>
          <p:cNvSpPr txBox="1"/>
          <p:nvPr/>
        </p:nvSpPr>
        <p:spPr>
          <a:xfrm>
            <a:off x="771754" y="368401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9" name="cw_L09"/>
          <p:cNvSpPr txBox="1"/>
          <p:nvPr/>
        </p:nvSpPr>
        <p:spPr>
          <a:xfrm>
            <a:off x="771754" y="415137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worker.Start();</a:t>
            </a:r>
            <a:endParaRPr lang="en-US" sz="1150" dirty="0"/>
          </a:p>
        </p:txBody>
      </p:sp>
      <p:sp>
        <p:nvSpPr>
          <p:cNvPr id="30" name="cmark"/>
          <p:cNvSpPr/>
          <p:nvPr/>
        </p:nvSpPr>
        <p:spPr>
          <a:xfrm>
            <a:off x="676656" y="2029968"/>
            <a:ext cx="5768035" cy="270256"/>
          </a:xfrm>
          <a:prstGeom prst="rect">
            <a:avLst/>
          </a:prstGeom>
          <a:solidFill>
            <a:srgbClr val="4D91F0">
              <a:alpha val="16000"/>
            </a:srgbClr>
          </a:solidFill>
          <a:ln w="15875">
            <a:solidFill>
              <a:srgbClr val="4D91F0"/>
            </a:solidFill>
            <a:prstDash val="solid"/>
          </a:ln>
        </p:spPr>
        <p:txBody>
          <a:bodyPr/>
          <a:lstStyle/>
          <a:p>
            <a:endParaRPr lang="en-US"/>
          </a:p>
        </p:txBody>
      </p:sp>
      <p:sp>
        <p:nvSpPr>
          <p:cNvPr id="31" name="cmark"/>
          <p:cNvSpPr/>
          <p:nvPr/>
        </p:nvSpPr>
        <p:spPr>
          <a:xfrm>
            <a:off x="676656" y="3198368"/>
            <a:ext cx="5768035" cy="270256"/>
          </a:xfrm>
          <a:prstGeom prst="rect">
            <a:avLst/>
          </a:prstGeom>
          <a:solidFill>
            <a:srgbClr val="A78BFA">
              <a:alpha val="16000"/>
            </a:srgbClr>
          </a:solidFill>
          <a:ln w="15875">
            <a:solidFill>
              <a:srgbClr val="A78BFA"/>
            </a:solidFill>
            <a:prstDash val="solid"/>
          </a:ln>
        </p:spPr>
        <p:txBody>
          <a:bodyPr/>
          <a:lstStyle/>
          <a:p>
            <a:endParaRPr lang="en-US"/>
          </a:p>
        </p:txBody>
      </p:sp>
      <p:sp>
        <p:nvSpPr>
          <p:cNvPr id="32" name="lab"/>
          <p:cNvSpPr txBox="1"/>
          <p:nvPr/>
        </p:nvSpPr>
        <p:spPr>
          <a:xfrm>
            <a:off x="6852514" y="175564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Thread 1</a:t>
            </a:r>
            <a:endParaRPr lang="en-US" sz="1100" dirty="0"/>
          </a:p>
        </p:txBody>
      </p:sp>
      <p:sp>
        <p:nvSpPr>
          <p:cNvPr id="33" name="lane"/>
          <p:cNvSpPr/>
          <p:nvPr/>
        </p:nvSpPr>
        <p:spPr>
          <a:xfrm>
            <a:off x="8041234" y="2194560"/>
            <a:ext cx="3589020" cy="18288"/>
          </a:xfrm>
          <a:prstGeom prst="rect">
            <a:avLst/>
          </a:prstGeom>
          <a:solidFill>
            <a:srgbClr val="1E3A5F"/>
          </a:solidFill>
          <a:ln w="12700">
            <a:solidFill>
              <a:srgbClr val="1E3A5F"/>
            </a:solidFill>
            <a:prstDash val="solid"/>
          </a:ln>
        </p:spPr>
        <p:txBody>
          <a:bodyPr/>
          <a:lstStyle/>
          <a:p>
            <a:endParaRPr lang="en-US"/>
          </a:p>
        </p:txBody>
      </p:sp>
      <p:sp>
        <p:nvSpPr>
          <p:cNvPr id="34" name="bar"/>
          <p:cNvSpPr/>
          <p:nvPr/>
        </p:nvSpPr>
        <p:spPr>
          <a:xfrm>
            <a:off x="8086954" y="1773936"/>
            <a:ext cx="2194560"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Main: 1</a:t>
            </a:r>
            <a:endParaRPr lang="en-US" sz="1000" dirty="0"/>
          </a:p>
        </p:txBody>
      </p:sp>
      <p:sp>
        <p:nvSpPr>
          <p:cNvPr id="35" name="lab"/>
          <p:cNvSpPr txBox="1"/>
          <p:nvPr/>
        </p:nvSpPr>
        <p:spPr>
          <a:xfrm>
            <a:off x="6852514" y="239572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Thread 4</a:t>
            </a:r>
            <a:endParaRPr lang="en-US" sz="1100" dirty="0"/>
          </a:p>
        </p:txBody>
      </p:sp>
      <p:sp>
        <p:nvSpPr>
          <p:cNvPr id="36" name="lane"/>
          <p:cNvSpPr/>
          <p:nvPr/>
        </p:nvSpPr>
        <p:spPr>
          <a:xfrm>
            <a:off x="8041234" y="2834640"/>
            <a:ext cx="3589020" cy="18288"/>
          </a:xfrm>
          <a:prstGeom prst="rect">
            <a:avLst/>
          </a:prstGeom>
          <a:solidFill>
            <a:srgbClr val="1E3A5F"/>
          </a:solidFill>
          <a:ln w="12700">
            <a:solidFill>
              <a:srgbClr val="1E3A5F"/>
            </a:solidFill>
            <a:prstDash val="solid"/>
          </a:ln>
        </p:spPr>
        <p:txBody>
          <a:bodyPr/>
          <a:lstStyle/>
          <a:p>
            <a:endParaRPr lang="en-US"/>
          </a:p>
        </p:txBody>
      </p:sp>
      <p:sp>
        <p:nvSpPr>
          <p:cNvPr id="37" name="bar"/>
          <p:cNvSpPr/>
          <p:nvPr/>
        </p:nvSpPr>
        <p:spPr>
          <a:xfrm>
            <a:off x="9229954" y="2414016"/>
            <a:ext cx="2194560" cy="384048"/>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Worker: 4</a:t>
            </a:r>
            <a:endParaRPr lang="en-US" sz="1000" dirty="0"/>
          </a:p>
        </p:txBody>
      </p:sp>
      <p:sp>
        <p:nvSpPr>
          <p:cNvPr id="38" name="out_win"/>
          <p:cNvSpPr/>
          <p:nvPr/>
        </p:nvSpPr>
        <p:spPr>
          <a:xfrm>
            <a:off x="6852514" y="3172968"/>
            <a:ext cx="4777740" cy="1051560"/>
          </a:xfrm>
          <a:prstGeom prst="roundRect">
            <a:avLst>
              <a:gd name="adj" fmla="val 6521"/>
            </a:avLst>
          </a:prstGeom>
          <a:solidFill>
            <a:srgbClr val="060D18"/>
          </a:solidFill>
          <a:ln w="12700">
            <a:solidFill>
              <a:srgbClr val="1E3A5F"/>
            </a:solidFill>
            <a:prstDash val="solid"/>
          </a:ln>
        </p:spPr>
        <p:txBody>
          <a:bodyPr/>
          <a:lstStyle/>
          <a:p>
            <a:endParaRPr lang="en-US"/>
          </a:p>
        </p:txBody>
      </p:sp>
      <p:sp>
        <p:nvSpPr>
          <p:cNvPr id="39" name="out_bar"/>
          <p:cNvSpPr/>
          <p:nvPr/>
        </p:nvSpPr>
        <p:spPr>
          <a:xfrm>
            <a:off x="6852514" y="317296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0" name="out_barfill"/>
          <p:cNvSpPr/>
          <p:nvPr/>
        </p:nvSpPr>
        <p:spPr>
          <a:xfrm>
            <a:off x="6852514" y="3344418"/>
            <a:ext cx="4777740" cy="171450"/>
          </a:xfrm>
          <a:prstGeom prst="rect">
            <a:avLst/>
          </a:prstGeom>
          <a:solidFill>
            <a:srgbClr val="0A1220"/>
          </a:solidFill>
          <a:ln w="12700">
            <a:solidFill>
              <a:srgbClr val="0A1220"/>
            </a:solidFill>
            <a:prstDash val="solid"/>
          </a:ln>
        </p:spPr>
        <p:txBody>
          <a:bodyPr/>
          <a:lstStyle/>
          <a:p>
            <a:endParaRPr lang="en-US"/>
          </a:p>
        </p:txBody>
      </p:sp>
      <p:sp>
        <p:nvSpPr>
          <p:cNvPr id="41" name="out_dot0"/>
          <p:cNvSpPr/>
          <p:nvPr/>
        </p:nvSpPr>
        <p:spPr>
          <a:xfrm>
            <a:off x="7014362" y="3296778"/>
            <a:ext cx="95098" cy="95098"/>
          </a:xfrm>
          <a:prstGeom prst="ellipse">
            <a:avLst/>
          </a:prstGeom>
          <a:solidFill>
            <a:srgbClr val="F87171"/>
          </a:solidFill>
          <a:ln w="12700">
            <a:solidFill>
              <a:srgbClr val="F87171"/>
            </a:solidFill>
            <a:prstDash val="solid"/>
          </a:ln>
        </p:spPr>
        <p:txBody>
          <a:bodyPr/>
          <a:lstStyle/>
          <a:p>
            <a:endParaRPr lang="en-US"/>
          </a:p>
        </p:txBody>
      </p:sp>
      <p:sp>
        <p:nvSpPr>
          <p:cNvPr id="42" name="out_dot1"/>
          <p:cNvSpPr/>
          <p:nvPr/>
        </p:nvSpPr>
        <p:spPr>
          <a:xfrm>
            <a:off x="7199986" y="3296778"/>
            <a:ext cx="95098" cy="95098"/>
          </a:xfrm>
          <a:prstGeom prst="ellipse">
            <a:avLst/>
          </a:prstGeom>
          <a:solidFill>
            <a:srgbClr val="FBBF24"/>
          </a:solidFill>
          <a:ln w="12700">
            <a:solidFill>
              <a:srgbClr val="FBBF24"/>
            </a:solidFill>
            <a:prstDash val="solid"/>
          </a:ln>
        </p:spPr>
        <p:txBody>
          <a:bodyPr/>
          <a:lstStyle/>
          <a:p>
            <a:endParaRPr lang="en-US"/>
          </a:p>
        </p:txBody>
      </p:sp>
      <p:sp>
        <p:nvSpPr>
          <p:cNvPr id="43" name="out_dot2"/>
          <p:cNvSpPr/>
          <p:nvPr/>
        </p:nvSpPr>
        <p:spPr>
          <a:xfrm>
            <a:off x="7385609" y="3296778"/>
            <a:ext cx="95098" cy="95098"/>
          </a:xfrm>
          <a:prstGeom prst="ellipse">
            <a:avLst/>
          </a:prstGeom>
          <a:solidFill>
            <a:srgbClr val="34D399"/>
          </a:solidFill>
          <a:ln w="12700">
            <a:solidFill>
              <a:srgbClr val="34D399"/>
            </a:solidFill>
            <a:prstDash val="solid"/>
          </a:ln>
        </p:spPr>
        <p:txBody>
          <a:bodyPr/>
          <a:lstStyle/>
          <a:p>
            <a:endParaRPr lang="en-US"/>
          </a:p>
        </p:txBody>
      </p:sp>
      <p:sp>
        <p:nvSpPr>
          <p:cNvPr id="44" name="out_tab"/>
          <p:cNvSpPr/>
          <p:nvPr/>
        </p:nvSpPr>
        <p:spPr>
          <a:xfrm>
            <a:off x="7633411" y="32205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45" name="out_L00"/>
          <p:cNvSpPr txBox="1"/>
          <p:nvPr/>
        </p:nvSpPr>
        <p:spPr>
          <a:xfrm>
            <a:off x="7081114" y="3648456"/>
            <a:ext cx="43936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Main: 1</a:t>
            </a:r>
            <a:endParaRPr lang="en-US" sz="1100" dirty="0"/>
          </a:p>
        </p:txBody>
      </p:sp>
      <p:sp>
        <p:nvSpPr>
          <p:cNvPr id="46" name="out_L01"/>
          <p:cNvSpPr txBox="1"/>
          <p:nvPr/>
        </p:nvSpPr>
        <p:spPr>
          <a:xfrm>
            <a:off x="7081114" y="3871976"/>
            <a:ext cx="43936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Worker: 4</a:t>
            </a:r>
            <a:endParaRPr lang="en-US" sz="1100" dirty="0"/>
          </a:p>
        </p:txBody>
      </p:sp>
      <p:sp>
        <p:nvSpPr>
          <p:cNvPr id="47"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Each thread has its own ID: the program now runs on two paths at once.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25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25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50"/>
                                        <p:tgtEl>
                                          <p:spTgt spid="3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25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25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25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25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250"/>
                                        <p:tgtEl>
                                          <p:spTgt spid="3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250"/>
                                        <p:tgtEl>
                                          <p:spTgt spid="4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2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animBg="1"/>
      <p:bldP spid="31" grpId="0" animBg="1"/>
      <p:bldP spid="32" grpId="0"/>
      <p:bldP spid="33" grpId="0" animBg="1"/>
      <p:bldP spid="34" grpId="0" animBg="1"/>
      <p:bldP spid="35" grpId="0"/>
      <p:bldP spid="36" grpId="0" animBg="1"/>
      <p:bldP spid="37" grpId="0" animBg="1"/>
      <p:bldP spid="45" grpId="0"/>
      <p:bldP spid="46" grpId="0"/>
      <p:bldP spid="4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TWO THREADS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Two Threads: The Order Is Not Guaranteed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23</a:t>
            </a:r>
            <a:endParaRPr lang="en-US" sz="850" dirty="0"/>
          </a:p>
        </p:txBody>
      </p:sp>
      <p:sp>
        <p:nvSpPr>
          <p:cNvPr id="15" name="cw_win"/>
          <p:cNvSpPr/>
          <p:nvPr/>
        </p:nvSpPr>
        <p:spPr>
          <a:xfrm>
            <a:off x="543154" y="1572768"/>
            <a:ext cx="548640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4864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first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 =&gt;</a:t>
            </a:r>
            <a:endParaRPr lang="en-US" sz="950" dirty="0"/>
          </a:p>
        </p:txBody>
      </p:sp>
      <p:sp>
        <p:nvSpPr>
          <p:cNvPr id="23" name="cw_L01"/>
          <p:cNvSpPr txBox="1"/>
          <p:nvPr/>
        </p:nvSpPr>
        <p:spPr>
          <a:xfrm>
            <a:off x="771754" y="224129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_L02"/>
          <p:cNvSpPr txBox="1"/>
          <p:nvPr/>
        </p:nvSpPr>
        <p:spPr>
          <a:xfrm>
            <a:off x="771754" y="2434336"/>
            <a:ext cx="51023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 = 0; i &lt; 5; i++)</a:t>
            </a:r>
            <a:endParaRPr lang="en-US" sz="950" dirty="0"/>
          </a:p>
        </p:txBody>
      </p:sp>
      <p:sp>
        <p:nvSpPr>
          <p:cNvPr id="25" name="cw_L03"/>
          <p:cNvSpPr txBox="1"/>
          <p:nvPr/>
        </p:nvSpPr>
        <p:spPr>
          <a:xfrm>
            <a:off x="771754" y="2627376"/>
            <a:ext cx="51023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$"A {i}"</a:t>
            </a:r>
            <a:r>
              <a:rPr lang="en-US" sz="950" b="0" dirty="0">
                <a:solidFill>
                  <a:srgbClr val="E2E8F0"/>
                </a:solidFill>
                <a:latin typeface="Consolas"/>
                <a:ea typeface="Consolas"/>
                <a:cs typeface="Consolas"/>
              </a:rPr>
              <a:t>);</a:t>
            </a:r>
            <a:endParaRPr lang="en-US" sz="950" dirty="0"/>
          </a:p>
        </p:txBody>
      </p:sp>
      <p:sp>
        <p:nvSpPr>
          <p:cNvPr id="26" name="cw_L04"/>
          <p:cNvSpPr txBox="1"/>
          <p:nvPr/>
        </p:nvSpPr>
        <p:spPr>
          <a:xfrm>
            <a:off x="771754" y="282041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7" name="cw_L06"/>
          <p:cNvSpPr txBox="1"/>
          <p:nvPr/>
        </p:nvSpPr>
        <p:spPr>
          <a:xfrm>
            <a:off x="771754" y="320649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second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 =&gt;</a:t>
            </a:r>
            <a:endParaRPr lang="en-US" sz="950" dirty="0"/>
          </a:p>
        </p:txBody>
      </p:sp>
      <p:sp>
        <p:nvSpPr>
          <p:cNvPr id="28" name="cw_L07"/>
          <p:cNvSpPr txBox="1"/>
          <p:nvPr/>
        </p:nvSpPr>
        <p:spPr>
          <a:xfrm>
            <a:off x="771754" y="339953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_L08"/>
          <p:cNvSpPr txBox="1"/>
          <p:nvPr/>
        </p:nvSpPr>
        <p:spPr>
          <a:xfrm>
            <a:off x="771754" y="3592576"/>
            <a:ext cx="51023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 = 0; i &lt; 5; i++)</a:t>
            </a:r>
            <a:endParaRPr lang="en-US" sz="950" dirty="0"/>
          </a:p>
        </p:txBody>
      </p:sp>
      <p:sp>
        <p:nvSpPr>
          <p:cNvPr id="30" name="cw_L09"/>
          <p:cNvSpPr txBox="1"/>
          <p:nvPr/>
        </p:nvSpPr>
        <p:spPr>
          <a:xfrm>
            <a:off x="771754" y="3785616"/>
            <a:ext cx="51023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$"B {i}"</a:t>
            </a:r>
            <a:r>
              <a:rPr lang="en-US" sz="950" b="0" dirty="0">
                <a:solidFill>
                  <a:srgbClr val="E2E8F0"/>
                </a:solidFill>
                <a:latin typeface="Consolas"/>
                <a:ea typeface="Consolas"/>
                <a:cs typeface="Consolas"/>
              </a:rPr>
              <a:t>);</a:t>
            </a:r>
            <a:endParaRPr lang="en-US" sz="950" dirty="0"/>
          </a:p>
        </p:txBody>
      </p:sp>
      <p:sp>
        <p:nvSpPr>
          <p:cNvPr id="31" name="cw_L10"/>
          <p:cNvSpPr txBox="1"/>
          <p:nvPr/>
        </p:nvSpPr>
        <p:spPr>
          <a:xfrm>
            <a:off x="771754" y="397865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2"/>
          <p:cNvSpPr txBox="1"/>
          <p:nvPr/>
        </p:nvSpPr>
        <p:spPr>
          <a:xfrm>
            <a:off x="771754" y="436473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first.Start();</a:t>
            </a:r>
            <a:endParaRPr lang="en-US" sz="950" dirty="0"/>
          </a:p>
        </p:txBody>
      </p:sp>
      <p:sp>
        <p:nvSpPr>
          <p:cNvPr id="33" name="cw_L13"/>
          <p:cNvSpPr txBox="1"/>
          <p:nvPr/>
        </p:nvSpPr>
        <p:spPr>
          <a:xfrm>
            <a:off x="771754" y="4557776"/>
            <a:ext cx="51023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second.Start();</a:t>
            </a:r>
            <a:endParaRPr lang="en-US" sz="950" dirty="0"/>
          </a:p>
        </p:txBody>
      </p:sp>
      <p:sp>
        <p:nvSpPr>
          <p:cNvPr id="34" name="out_win"/>
          <p:cNvSpPr/>
          <p:nvPr/>
        </p:nvSpPr>
        <p:spPr>
          <a:xfrm>
            <a:off x="6258154" y="1572768"/>
            <a:ext cx="2617470" cy="3310128"/>
          </a:xfrm>
          <a:prstGeom prst="roundRect">
            <a:avLst>
              <a:gd name="adj" fmla="val 2620"/>
            </a:avLst>
          </a:prstGeom>
          <a:solidFill>
            <a:srgbClr val="060D18"/>
          </a:solidFill>
          <a:ln w="12700">
            <a:solidFill>
              <a:srgbClr val="1E3A5F"/>
            </a:solidFill>
            <a:prstDash val="solid"/>
          </a:ln>
        </p:spPr>
        <p:txBody>
          <a:bodyPr/>
          <a:lstStyle/>
          <a:p>
            <a:endParaRPr lang="en-US"/>
          </a:p>
        </p:txBody>
      </p:sp>
      <p:sp>
        <p:nvSpPr>
          <p:cNvPr id="35" name="out_bar"/>
          <p:cNvSpPr/>
          <p:nvPr/>
        </p:nvSpPr>
        <p:spPr>
          <a:xfrm>
            <a:off x="6258154" y="1572768"/>
            <a:ext cx="261747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out_barfill"/>
          <p:cNvSpPr/>
          <p:nvPr/>
        </p:nvSpPr>
        <p:spPr>
          <a:xfrm>
            <a:off x="6258154" y="1744218"/>
            <a:ext cx="2617470" cy="171450"/>
          </a:xfrm>
          <a:prstGeom prst="rect">
            <a:avLst/>
          </a:prstGeom>
          <a:solidFill>
            <a:srgbClr val="0A1220"/>
          </a:solidFill>
          <a:ln w="12700">
            <a:solidFill>
              <a:srgbClr val="0A1220"/>
            </a:solidFill>
            <a:prstDash val="solid"/>
          </a:ln>
        </p:spPr>
        <p:txBody>
          <a:bodyPr/>
          <a:lstStyle/>
          <a:p>
            <a:endParaRPr lang="en-US"/>
          </a:p>
        </p:txBody>
      </p:sp>
      <p:sp>
        <p:nvSpPr>
          <p:cNvPr id="37" name="out_dot0"/>
          <p:cNvSpPr/>
          <p:nvPr/>
        </p:nvSpPr>
        <p:spPr>
          <a:xfrm>
            <a:off x="6420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out_dot1"/>
          <p:cNvSpPr/>
          <p:nvPr/>
        </p:nvSpPr>
        <p:spPr>
          <a:xfrm>
            <a:off x="6605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out_dot2"/>
          <p:cNvSpPr/>
          <p:nvPr/>
        </p:nvSpPr>
        <p:spPr>
          <a:xfrm>
            <a:off x="6791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out_tab"/>
          <p:cNvSpPr/>
          <p:nvPr/>
        </p:nvSpPr>
        <p:spPr>
          <a:xfrm>
            <a:off x="7039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Run 1</a:t>
            </a:r>
            <a:endParaRPr lang="en-US" sz="950" dirty="0"/>
          </a:p>
        </p:txBody>
      </p:sp>
      <p:sp>
        <p:nvSpPr>
          <p:cNvPr id="41" name="out_L00"/>
          <p:cNvSpPr txBox="1"/>
          <p:nvPr/>
        </p:nvSpPr>
        <p:spPr>
          <a:xfrm>
            <a:off x="6486754" y="204825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0</a:t>
            </a:r>
            <a:endParaRPr lang="en-US" sz="1100" dirty="0"/>
          </a:p>
        </p:txBody>
      </p:sp>
      <p:sp>
        <p:nvSpPr>
          <p:cNvPr id="42" name="out_L01"/>
          <p:cNvSpPr txBox="1"/>
          <p:nvPr/>
        </p:nvSpPr>
        <p:spPr>
          <a:xfrm>
            <a:off x="6486754" y="227177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1</a:t>
            </a:r>
            <a:endParaRPr lang="en-US" sz="1100" dirty="0"/>
          </a:p>
        </p:txBody>
      </p:sp>
      <p:sp>
        <p:nvSpPr>
          <p:cNvPr id="43" name="out_L02"/>
          <p:cNvSpPr txBox="1"/>
          <p:nvPr/>
        </p:nvSpPr>
        <p:spPr>
          <a:xfrm>
            <a:off x="6486754" y="249529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0</a:t>
            </a:r>
            <a:endParaRPr lang="en-US" sz="1100" dirty="0"/>
          </a:p>
        </p:txBody>
      </p:sp>
      <p:sp>
        <p:nvSpPr>
          <p:cNvPr id="44" name="out_L03"/>
          <p:cNvSpPr txBox="1"/>
          <p:nvPr/>
        </p:nvSpPr>
        <p:spPr>
          <a:xfrm>
            <a:off x="6486754" y="271881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2</a:t>
            </a:r>
            <a:endParaRPr lang="en-US" sz="1100" dirty="0"/>
          </a:p>
        </p:txBody>
      </p:sp>
      <p:sp>
        <p:nvSpPr>
          <p:cNvPr id="45" name="out_L04"/>
          <p:cNvSpPr txBox="1"/>
          <p:nvPr/>
        </p:nvSpPr>
        <p:spPr>
          <a:xfrm>
            <a:off x="6486754" y="294233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1</a:t>
            </a:r>
            <a:endParaRPr lang="en-US" sz="1100" dirty="0"/>
          </a:p>
        </p:txBody>
      </p:sp>
      <p:sp>
        <p:nvSpPr>
          <p:cNvPr id="46" name="out_L05"/>
          <p:cNvSpPr txBox="1"/>
          <p:nvPr/>
        </p:nvSpPr>
        <p:spPr>
          <a:xfrm>
            <a:off x="6486754" y="316585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2</a:t>
            </a:r>
            <a:endParaRPr lang="en-US" sz="1100" dirty="0"/>
          </a:p>
        </p:txBody>
      </p:sp>
      <p:sp>
        <p:nvSpPr>
          <p:cNvPr id="47" name="out_L06"/>
          <p:cNvSpPr txBox="1"/>
          <p:nvPr/>
        </p:nvSpPr>
        <p:spPr>
          <a:xfrm>
            <a:off x="6486754" y="338937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3</a:t>
            </a:r>
            <a:endParaRPr lang="en-US" sz="1100" dirty="0"/>
          </a:p>
        </p:txBody>
      </p:sp>
      <p:sp>
        <p:nvSpPr>
          <p:cNvPr id="48" name="out_L07"/>
          <p:cNvSpPr txBox="1"/>
          <p:nvPr/>
        </p:nvSpPr>
        <p:spPr>
          <a:xfrm>
            <a:off x="6486754" y="361289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3</a:t>
            </a:r>
            <a:endParaRPr lang="en-US" sz="1100" dirty="0"/>
          </a:p>
        </p:txBody>
      </p:sp>
      <p:sp>
        <p:nvSpPr>
          <p:cNvPr id="49" name="out_L08"/>
          <p:cNvSpPr txBox="1"/>
          <p:nvPr/>
        </p:nvSpPr>
        <p:spPr>
          <a:xfrm>
            <a:off x="6486754" y="383641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4</a:t>
            </a:r>
            <a:endParaRPr lang="en-US" sz="1100" dirty="0"/>
          </a:p>
        </p:txBody>
      </p:sp>
      <p:sp>
        <p:nvSpPr>
          <p:cNvPr id="50" name="out_L09"/>
          <p:cNvSpPr txBox="1"/>
          <p:nvPr/>
        </p:nvSpPr>
        <p:spPr>
          <a:xfrm>
            <a:off x="6486754" y="405993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4</a:t>
            </a:r>
            <a:endParaRPr lang="en-US" sz="1100" dirty="0"/>
          </a:p>
        </p:txBody>
      </p:sp>
      <p:sp>
        <p:nvSpPr>
          <p:cNvPr id="51" name="out_win"/>
          <p:cNvSpPr/>
          <p:nvPr/>
        </p:nvSpPr>
        <p:spPr>
          <a:xfrm>
            <a:off x="9012784" y="1572768"/>
            <a:ext cx="2617470" cy="3310128"/>
          </a:xfrm>
          <a:prstGeom prst="roundRect">
            <a:avLst>
              <a:gd name="adj" fmla="val 2620"/>
            </a:avLst>
          </a:prstGeom>
          <a:solidFill>
            <a:srgbClr val="060D18"/>
          </a:solidFill>
          <a:ln w="12700">
            <a:solidFill>
              <a:srgbClr val="1E3A5F"/>
            </a:solidFill>
            <a:prstDash val="solid"/>
          </a:ln>
        </p:spPr>
        <p:txBody>
          <a:bodyPr/>
          <a:lstStyle/>
          <a:p>
            <a:endParaRPr lang="en-US"/>
          </a:p>
        </p:txBody>
      </p:sp>
      <p:sp>
        <p:nvSpPr>
          <p:cNvPr id="52" name="out_bar"/>
          <p:cNvSpPr/>
          <p:nvPr/>
        </p:nvSpPr>
        <p:spPr>
          <a:xfrm>
            <a:off x="9012784" y="1572768"/>
            <a:ext cx="261747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3" name="out_barfill"/>
          <p:cNvSpPr/>
          <p:nvPr/>
        </p:nvSpPr>
        <p:spPr>
          <a:xfrm>
            <a:off x="9012784" y="1744218"/>
            <a:ext cx="2617470" cy="171450"/>
          </a:xfrm>
          <a:prstGeom prst="rect">
            <a:avLst/>
          </a:prstGeom>
          <a:solidFill>
            <a:srgbClr val="0A1220"/>
          </a:solidFill>
          <a:ln w="12700">
            <a:solidFill>
              <a:srgbClr val="0A1220"/>
            </a:solidFill>
            <a:prstDash val="solid"/>
          </a:ln>
        </p:spPr>
        <p:txBody>
          <a:bodyPr/>
          <a:lstStyle/>
          <a:p>
            <a:endParaRPr lang="en-US"/>
          </a:p>
        </p:txBody>
      </p:sp>
      <p:sp>
        <p:nvSpPr>
          <p:cNvPr id="54" name="out_dot0"/>
          <p:cNvSpPr/>
          <p:nvPr/>
        </p:nvSpPr>
        <p:spPr>
          <a:xfrm>
            <a:off x="917463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55" name="out_dot1"/>
          <p:cNvSpPr/>
          <p:nvPr/>
        </p:nvSpPr>
        <p:spPr>
          <a:xfrm>
            <a:off x="936025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56" name="out_dot2"/>
          <p:cNvSpPr/>
          <p:nvPr/>
        </p:nvSpPr>
        <p:spPr>
          <a:xfrm>
            <a:off x="954587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57" name="out_tab"/>
          <p:cNvSpPr/>
          <p:nvPr/>
        </p:nvSpPr>
        <p:spPr>
          <a:xfrm>
            <a:off x="979368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Run 2</a:t>
            </a:r>
            <a:endParaRPr lang="en-US" sz="950" dirty="0"/>
          </a:p>
        </p:txBody>
      </p:sp>
      <p:sp>
        <p:nvSpPr>
          <p:cNvPr id="58" name="out_L00"/>
          <p:cNvSpPr txBox="1"/>
          <p:nvPr/>
        </p:nvSpPr>
        <p:spPr>
          <a:xfrm>
            <a:off x="9241384" y="204825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0</a:t>
            </a:r>
            <a:endParaRPr lang="en-US" sz="1100" dirty="0"/>
          </a:p>
        </p:txBody>
      </p:sp>
      <p:sp>
        <p:nvSpPr>
          <p:cNvPr id="59" name="out_L01"/>
          <p:cNvSpPr txBox="1"/>
          <p:nvPr/>
        </p:nvSpPr>
        <p:spPr>
          <a:xfrm>
            <a:off x="9241384" y="227177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1</a:t>
            </a:r>
            <a:endParaRPr lang="en-US" sz="1100" dirty="0"/>
          </a:p>
        </p:txBody>
      </p:sp>
      <p:sp>
        <p:nvSpPr>
          <p:cNvPr id="60" name="out_L02"/>
          <p:cNvSpPr txBox="1"/>
          <p:nvPr/>
        </p:nvSpPr>
        <p:spPr>
          <a:xfrm>
            <a:off x="9241384" y="249529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2</a:t>
            </a:r>
            <a:endParaRPr lang="en-US" sz="1100" dirty="0"/>
          </a:p>
        </p:txBody>
      </p:sp>
      <p:sp>
        <p:nvSpPr>
          <p:cNvPr id="61" name="out_L03"/>
          <p:cNvSpPr txBox="1"/>
          <p:nvPr/>
        </p:nvSpPr>
        <p:spPr>
          <a:xfrm>
            <a:off x="9241384" y="271881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0</a:t>
            </a:r>
            <a:endParaRPr lang="en-US" sz="1100" dirty="0"/>
          </a:p>
        </p:txBody>
      </p:sp>
      <p:sp>
        <p:nvSpPr>
          <p:cNvPr id="62" name="out_L04"/>
          <p:cNvSpPr txBox="1"/>
          <p:nvPr/>
        </p:nvSpPr>
        <p:spPr>
          <a:xfrm>
            <a:off x="9241384" y="294233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3</a:t>
            </a:r>
            <a:endParaRPr lang="en-US" sz="1100" dirty="0"/>
          </a:p>
        </p:txBody>
      </p:sp>
      <p:sp>
        <p:nvSpPr>
          <p:cNvPr id="63" name="out_L05"/>
          <p:cNvSpPr txBox="1"/>
          <p:nvPr/>
        </p:nvSpPr>
        <p:spPr>
          <a:xfrm>
            <a:off x="9241384" y="316585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1</a:t>
            </a:r>
            <a:endParaRPr lang="en-US" sz="1100" dirty="0"/>
          </a:p>
        </p:txBody>
      </p:sp>
      <p:sp>
        <p:nvSpPr>
          <p:cNvPr id="64" name="out_L06"/>
          <p:cNvSpPr txBox="1"/>
          <p:nvPr/>
        </p:nvSpPr>
        <p:spPr>
          <a:xfrm>
            <a:off x="9241384" y="338937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2</a:t>
            </a:r>
            <a:endParaRPr lang="en-US" sz="1100" dirty="0"/>
          </a:p>
        </p:txBody>
      </p:sp>
      <p:sp>
        <p:nvSpPr>
          <p:cNvPr id="65" name="out_L07"/>
          <p:cNvSpPr txBox="1"/>
          <p:nvPr/>
        </p:nvSpPr>
        <p:spPr>
          <a:xfrm>
            <a:off x="9241384" y="361289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B 4</a:t>
            </a:r>
            <a:endParaRPr lang="en-US" sz="1100" dirty="0"/>
          </a:p>
        </p:txBody>
      </p:sp>
      <p:sp>
        <p:nvSpPr>
          <p:cNvPr id="66" name="out_L08"/>
          <p:cNvSpPr txBox="1"/>
          <p:nvPr/>
        </p:nvSpPr>
        <p:spPr>
          <a:xfrm>
            <a:off x="9241384" y="383641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3</a:t>
            </a:r>
            <a:endParaRPr lang="en-US" sz="1100" dirty="0"/>
          </a:p>
        </p:txBody>
      </p:sp>
      <p:sp>
        <p:nvSpPr>
          <p:cNvPr id="67" name="out_L09"/>
          <p:cNvSpPr txBox="1"/>
          <p:nvPr/>
        </p:nvSpPr>
        <p:spPr>
          <a:xfrm>
            <a:off x="9241384" y="4059936"/>
            <a:ext cx="223342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 4</a:t>
            </a:r>
            <a:endParaRPr lang="en-US" sz="1100" dirty="0"/>
          </a:p>
        </p:txBody>
      </p:sp>
      <p:sp>
        <p:nvSpPr>
          <p:cNvPr id="68"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Thread scheduling is nondeterministic: never rely on the order threads run in.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250"/>
                                        <p:tgtEl>
                                          <p:spTgt spid="4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250"/>
                                        <p:tgtEl>
                                          <p:spTgt spid="4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250"/>
                                        <p:tgtEl>
                                          <p:spTgt spid="4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fade">
                                      <p:cBhvr>
                                        <p:cTn id="54" dur="250"/>
                                        <p:tgtEl>
                                          <p:spTgt spid="4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250"/>
                                        <p:tgtEl>
                                          <p:spTgt spid="4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250"/>
                                        <p:tgtEl>
                                          <p:spTgt spid="4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250"/>
                                        <p:tgtEl>
                                          <p:spTgt spid="4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25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fade">
                                      <p:cBhvr>
                                        <p:cTn id="69" dur="250"/>
                                        <p:tgtEl>
                                          <p:spTgt spid="4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250"/>
                                        <p:tgtEl>
                                          <p:spTgt spid="5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fade">
                                      <p:cBhvr>
                                        <p:cTn id="77" dur="250"/>
                                        <p:tgtEl>
                                          <p:spTgt spid="5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fade">
                                      <p:cBhvr>
                                        <p:cTn id="80" dur="250"/>
                                        <p:tgtEl>
                                          <p:spTgt spid="5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250"/>
                                        <p:tgtEl>
                                          <p:spTgt spid="6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fade">
                                      <p:cBhvr>
                                        <p:cTn id="86" dur="250"/>
                                        <p:tgtEl>
                                          <p:spTgt spid="6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250"/>
                                        <p:tgtEl>
                                          <p:spTgt spid="6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animEffect transition="in" filter="fade">
                                      <p:cBhvr>
                                        <p:cTn id="92" dur="250"/>
                                        <p:tgtEl>
                                          <p:spTgt spid="6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fade">
                                      <p:cBhvr>
                                        <p:cTn id="95" dur="250"/>
                                        <p:tgtEl>
                                          <p:spTgt spid="6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fade">
                                      <p:cBhvr>
                                        <p:cTn id="98" dur="250"/>
                                        <p:tgtEl>
                                          <p:spTgt spid="6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6"/>
                                        </p:tgtEl>
                                        <p:attrNameLst>
                                          <p:attrName>style.visibility</p:attrName>
                                        </p:attrNameLst>
                                      </p:cBhvr>
                                      <p:to>
                                        <p:strVal val="visible"/>
                                      </p:to>
                                    </p:set>
                                    <p:animEffect transition="in" filter="fade">
                                      <p:cBhvr>
                                        <p:cTn id="101" dur="250"/>
                                        <p:tgtEl>
                                          <p:spTgt spid="6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7"/>
                                        </p:tgtEl>
                                        <p:attrNameLst>
                                          <p:attrName>style.visibility</p:attrName>
                                        </p:attrNameLst>
                                      </p:cBhvr>
                                      <p:to>
                                        <p:strVal val="visible"/>
                                      </p:to>
                                    </p:set>
                                    <p:animEffect transition="in" filter="fade">
                                      <p:cBhvr>
                                        <p:cTn id="104" dur="250"/>
                                        <p:tgtEl>
                                          <p:spTgt spid="67"/>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68"/>
                                        </p:tgtEl>
                                        <p:attrNameLst>
                                          <p:attrName>style.visibility</p:attrName>
                                        </p:attrNameLst>
                                      </p:cBhvr>
                                      <p:to>
                                        <p:strVal val="visible"/>
                                      </p:to>
                                    </p:set>
                                    <p:animEffect transition="in" filter="fade">
                                      <p:cBhvr>
                                        <p:cTn id="109" dur="2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41" grpId="0"/>
      <p:bldP spid="42" grpId="0"/>
      <p:bldP spid="43" grpId="0"/>
      <p:bldP spid="44" grpId="0"/>
      <p:bldP spid="45" grpId="0"/>
      <p:bldP spid="46" grpId="0"/>
      <p:bldP spid="47" grpId="0"/>
      <p:bldP spid="48" grpId="0"/>
      <p:bldP spid="49" grpId="0"/>
      <p:bldP spid="50" grpId="0"/>
      <p:bldP spid="58" grpId="0"/>
      <p:bldP spid="59" grpId="0"/>
      <p:bldP spid="60" grpId="0"/>
      <p:bldP spid="61" grpId="0"/>
      <p:bldP spid="62" grpId="0"/>
      <p:bldP spid="63" grpId="0"/>
      <p:bldP spid="64" grpId="0"/>
      <p:bldP spid="65" grpId="0"/>
      <p:bldP spid="66" grpId="0"/>
      <p:bldP spid="67" grpId="0"/>
      <p:bldP spid="6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One Core, Two Threads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HOW PROGRAMS RUN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24</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A laptop has ONE core and runs two threads. What do we get?</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Thread download = </a:t>
            </a:r>
            <a:r>
              <a:rPr lang="en-US" sz="1300" b="0" dirty="0">
                <a:solidFill>
                  <a:srgbClr val="60A5FA"/>
                </a:solidFill>
                <a:latin typeface="Consolas"/>
                <a:ea typeface="Consolas"/>
                <a:cs typeface="Consolas"/>
              </a:rPr>
              <a:t>new</a:t>
            </a:r>
            <a:r>
              <a:rPr lang="en-US" sz="1300" b="0" dirty="0">
                <a:solidFill>
                  <a:srgbClr val="E2E8F0"/>
                </a:solidFill>
                <a:latin typeface="Consolas"/>
                <a:ea typeface="Consolas"/>
                <a:cs typeface="Consolas"/>
              </a:rPr>
              <a:t>(DownloadMenu);</a:t>
            </a:r>
            <a:endParaRPr lang="en-US" sz="1300" dirty="0"/>
          </a:p>
        </p:txBody>
      </p:sp>
      <p:sp>
        <p:nvSpPr>
          <p:cNvPr id="24" name="cw_L01"/>
          <p:cNvSpPr txBox="1"/>
          <p:nvPr/>
        </p:nvSpPr>
        <p:spPr>
          <a:xfrm>
            <a:off x="771754" y="244957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Thread render = </a:t>
            </a:r>
            <a:r>
              <a:rPr lang="en-US" sz="1300" b="0" dirty="0">
                <a:solidFill>
                  <a:srgbClr val="60A5FA"/>
                </a:solidFill>
                <a:latin typeface="Consolas"/>
                <a:ea typeface="Consolas"/>
                <a:cs typeface="Consolas"/>
              </a:rPr>
              <a:t>new</a:t>
            </a:r>
            <a:r>
              <a:rPr lang="en-US" sz="1300" b="0" dirty="0">
                <a:solidFill>
                  <a:srgbClr val="E2E8F0"/>
                </a:solidFill>
                <a:latin typeface="Consolas"/>
                <a:ea typeface="Consolas"/>
                <a:cs typeface="Consolas"/>
              </a:rPr>
              <a:t>(RenderPage);</a:t>
            </a:r>
            <a:endParaRPr lang="en-US" sz="1300" dirty="0"/>
          </a:p>
        </p:txBody>
      </p:sp>
      <p:sp>
        <p:nvSpPr>
          <p:cNvPr id="25" name="cw_L03"/>
          <p:cNvSpPr txBox="1"/>
          <p:nvPr/>
        </p:nvSpPr>
        <p:spPr>
          <a:xfrm>
            <a:off x="771754" y="297789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download.Start();</a:t>
            </a:r>
            <a:endParaRPr lang="en-US" sz="1300" dirty="0"/>
          </a:p>
        </p:txBody>
      </p:sp>
      <p:sp>
        <p:nvSpPr>
          <p:cNvPr id="26" name="cw_L04"/>
          <p:cNvSpPr txBox="1"/>
          <p:nvPr/>
        </p:nvSpPr>
        <p:spPr>
          <a:xfrm>
            <a:off x="771754" y="324205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render.Start();</a:t>
            </a:r>
            <a:endParaRPr lang="en-US" sz="1300" dirty="0"/>
          </a:p>
        </p:txBody>
      </p:sp>
      <p:sp>
        <p:nvSpPr>
          <p:cNvPr id="27"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Parallelism: both at the same instant</a:t>
            </a:r>
            <a:endParaRPr lang="en-US" sz="1400" dirty="0"/>
          </a:p>
        </p:txBody>
      </p:sp>
      <p:sp>
        <p:nvSpPr>
          <p:cNvPr id="28"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Concurrency: they take turns</a:t>
            </a:r>
            <a:endParaRPr lang="en-US" sz="1400" dirty="0"/>
          </a:p>
        </p:txBody>
      </p:sp>
      <p:sp>
        <p:nvSpPr>
          <p:cNvPr id="29"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Only the first thread runs</a:t>
            </a:r>
            <a:endParaRPr lang="en-US" sz="1400" dirty="0"/>
          </a:p>
        </p:txBody>
      </p:sp>
      <p:sp>
        <p:nvSpPr>
          <p:cNvPr id="30"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A compile error</a:t>
            </a:r>
            <a:endParaRPr lang="en-US" sz="1400" dirty="0"/>
          </a:p>
        </p:txBody>
      </p:sp>
      <p:sp>
        <p:nvSpPr>
          <p:cNvPr id="31"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Concurrency: they take turns</a:t>
            </a:r>
            <a:endParaRPr lang="en-US" sz="1400" dirty="0"/>
          </a:p>
        </p:txBody>
      </p:sp>
      <p:sp>
        <p:nvSpPr>
          <p:cNvPr id="32"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With one core only one instruction stream runs at a time. The scheduler switches between the two threads: concurrency, not parallelism.</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2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25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animBg="1"/>
      <p:bldP spid="28" grpId="0" animBg="1"/>
      <p:bldP spid="29" grpId="0" animBg="1"/>
      <p:bldP spid="30" grpId="0" animBg="1"/>
      <p:bldP spid="31" grpId="0" animBg="1"/>
      <p:bldP spid="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JOIN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Join: Wait for a Thread to Finish</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25</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Thread worker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Thread(() =&gt;</a:t>
            </a:r>
            <a:endParaRPr lang="en-US" sz="1050" dirty="0"/>
          </a:p>
        </p:txBody>
      </p:sp>
      <p:sp>
        <p:nvSpPr>
          <p:cNvPr id="23" name="cwb_L01"/>
          <p:cNvSpPr txBox="1"/>
          <p:nvPr/>
        </p:nvSpPr>
        <p:spPr>
          <a:xfrm>
            <a:off x="771754" y="22616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b_L02"/>
          <p:cNvSpPr txBox="1"/>
          <p:nvPr/>
        </p:nvSpPr>
        <p:spPr>
          <a:xfrm>
            <a:off x="771754" y="247497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25" name="cwb_L03"/>
          <p:cNvSpPr txBox="1"/>
          <p:nvPr/>
        </p:nvSpPr>
        <p:spPr>
          <a:xfrm>
            <a:off x="771754" y="268833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"Report finished"</a:t>
            </a:r>
            <a:r>
              <a:rPr lang="en-US" sz="1050" b="0" dirty="0">
                <a:solidFill>
                  <a:srgbClr val="E2E8F0"/>
                </a:solidFill>
                <a:latin typeface="Consolas"/>
                <a:ea typeface="Consolas"/>
                <a:cs typeface="Consolas"/>
              </a:rPr>
              <a:t>);</a:t>
            </a:r>
            <a:endParaRPr lang="en-US" sz="1050" dirty="0"/>
          </a:p>
        </p:txBody>
      </p:sp>
      <p:sp>
        <p:nvSpPr>
          <p:cNvPr id="26" name="cwb_L04"/>
          <p:cNvSpPr txBox="1"/>
          <p:nvPr/>
        </p:nvSpPr>
        <p:spPr>
          <a:xfrm>
            <a:off x="771754" y="290169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b_hl06"/>
          <p:cNvSpPr/>
          <p:nvPr/>
        </p:nvSpPr>
        <p:spPr>
          <a:xfrm>
            <a:off x="676656" y="331012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8" name="cwb_L06"/>
          <p:cNvSpPr txBox="1"/>
          <p:nvPr/>
        </p:nvSpPr>
        <p:spPr>
          <a:xfrm>
            <a:off x="771754" y="33284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worker.Start();</a:t>
            </a:r>
            <a:endParaRPr lang="en-US" sz="1050" dirty="0"/>
          </a:p>
        </p:txBody>
      </p:sp>
      <p:sp>
        <p:nvSpPr>
          <p:cNvPr id="29" name="cwb_L07"/>
          <p:cNvSpPr txBox="1"/>
          <p:nvPr/>
        </p:nvSpPr>
        <p:spPr>
          <a:xfrm>
            <a:off x="771754" y="35417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"Program finished"</a:t>
            </a:r>
            <a:r>
              <a:rPr lang="en-US" sz="1050" b="0" dirty="0">
                <a:solidFill>
                  <a:srgbClr val="E2E8F0"/>
                </a:solidFill>
                <a:latin typeface="Consolas"/>
                <a:ea typeface="Consolas"/>
                <a:cs typeface="Consolas"/>
              </a:rPr>
              <a:t>);</a:t>
            </a:r>
            <a:endParaRPr lang="en-US" sz="1050" dirty="0"/>
          </a:p>
        </p:txBody>
      </p:sp>
      <p:sp>
        <p:nvSpPr>
          <p:cNvPr id="30" name="cwb_L09"/>
          <p:cNvSpPr txBox="1"/>
          <p:nvPr/>
        </p:nvSpPr>
        <p:spPr>
          <a:xfrm>
            <a:off x="771754" y="396849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Program finished</a:t>
            </a:r>
            <a:endParaRPr lang="en-US" sz="1050" dirty="0"/>
          </a:p>
        </p:txBody>
      </p:sp>
      <p:sp>
        <p:nvSpPr>
          <p:cNvPr id="31" name="cwb_L10"/>
          <p:cNvSpPr txBox="1"/>
          <p:nvPr/>
        </p:nvSpPr>
        <p:spPr>
          <a:xfrm>
            <a:off x="771754" y="41818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Report finished   (2 s later)</a:t>
            </a:r>
            <a:endParaRPr lang="en-US" sz="1050" dirty="0"/>
          </a:p>
        </p:txBody>
      </p:sp>
      <p:sp>
        <p:nvSpPr>
          <p:cNvPr id="32"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5"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39" name="cwa_L00"/>
          <p:cNvSpPr txBox="1"/>
          <p:nvPr/>
        </p:nvSpPr>
        <p:spPr>
          <a:xfrm>
            <a:off x="641817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Thread worker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Thread(() =&gt;</a:t>
            </a:r>
            <a:endParaRPr lang="en-US" sz="1050" dirty="0"/>
          </a:p>
        </p:txBody>
      </p:sp>
      <p:sp>
        <p:nvSpPr>
          <p:cNvPr id="40" name="cwa_L01"/>
          <p:cNvSpPr txBox="1"/>
          <p:nvPr/>
        </p:nvSpPr>
        <p:spPr>
          <a:xfrm>
            <a:off x="6418174" y="22616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1" name="cwa_L02"/>
          <p:cNvSpPr txBox="1"/>
          <p:nvPr/>
        </p:nvSpPr>
        <p:spPr>
          <a:xfrm>
            <a:off x="6418174" y="247497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42" name="cwa_L03"/>
          <p:cNvSpPr txBox="1"/>
          <p:nvPr/>
        </p:nvSpPr>
        <p:spPr>
          <a:xfrm>
            <a:off x="6418174" y="268833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"Report finished"</a:t>
            </a:r>
            <a:r>
              <a:rPr lang="en-US" sz="1050" b="0" dirty="0">
                <a:solidFill>
                  <a:srgbClr val="E2E8F0"/>
                </a:solidFill>
                <a:latin typeface="Consolas"/>
                <a:ea typeface="Consolas"/>
                <a:cs typeface="Consolas"/>
              </a:rPr>
              <a:t>);</a:t>
            </a:r>
            <a:endParaRPr lang="en-US" sz="1050" dirty="0"/>
          </a:p>
        </p:txBody>
      </p:sp>
      <p:sp>
        <p:nvSpPr>
          <p:cNvPr id="43" name="cwa_L04"/>
          <p:cNvSpPr txBox="1"/>
          <p:nvPr/>
        </p:nvSpPr>
        <p:spPr>
          <a:xfrm>
            <a:off x="6418174" y="290169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4" name="cwa_hl06"/>
          <p:cNvSpPr/>
          <p:nvPr/>
        </p:nvSpPr>
        <p:spPr>
          <a:xfrm>
            <a:off x="6323076" y="3310128"/>
            <a:ext cx="5173675"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45" name="cwa_L06"/>
          <p:cNvSpPr txBox="1"/>
          <p:nvPr/>
        </p:nvSpPr>
        <p:spPr>
          <a:xfrm>
            <a:off x="6418174" y="33284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worker.Start();</a:t>
            </a:r>
            <a:endParaRPr lang="en-US" sz="1050" dirty="0"/>
          </a:p>
        </p:txBody>
      </p:sp>
      <p:sp>
        <p:nvSpPr>
          <p:cNvPr id="46" name="cwa_L07"/>
          <p:cNvSpPr txBox="1"/>
          <p:nvPr/>
        </p:nvSpPr>
        <p:spPr>
          <a:xfrm>
            <a:off x="6418174" y="35417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worker.Join();          </a:t>
            </a:r>
            <a:r>
              <a:rPr lang="en-US" sz="1050" b="0" dirty="0">
                <a:solidFill>
                  <a:srgbClr val="6FAE7A"/>
                </a:solidFill>
                <a:latin typeface="Consolas"/>
                <a:ea typeface="Consolas"/>
                <a:cs typeface="Consolas"/>
              </a:rPr>
              <a:t>// wait here</a:t>
            </a:r>
            <a:endParaRPr lang="en-US" sz="1050" dirty="0"/>
          </a:p>
        </p:txBody>
      </p:sp>
      <p:sp>
        <p:nvSpPr>
          <p:cNvPr id="47" name="cwa_L08"/>
          <p:cNvSpPr txBox="1"/>
          <p:nvPr/>
        </p:nvSpPr>
        <p:spPr>
          <a:xfrm>
            <a:off x="6418174" y="37551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"Program finished"</a:t>
            </a:r>
            <a:r>
              <a:rPr lang="en-US" sz="1050" b="0" dirty="0">
                <a:solidFill>
                  <a:srgbClr val="E2E8F0"/>
                </a:solidFill>
                <a:latin typeface="Consolas"/>
                <a:ea typeface="Consolas"/>
                <a:cs typeface="Consolas"/>
              </a:rPr>
              <a:t>);</a:t>
            </a:r>
            <a:endParaRPr lang="en-US" sz="1050" dirty="0"/>
          </a:p>
        </p:txBody>
      </p:sp>
      <p:sp>
        <p:nvSpPr>
          <p:cNvPr id="48" name="cwa_L10"/>
          <p:cNvSpPr txBox="1"/>
          <p:nvPr/>
        </p:nvSpPr>
        <p:spPr>
          <a:xfrm>
            <a:off x="6418174" y="41818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Report finished</a:t>
            </a:r>
            <a:endParaRPr lang="en-US" sz="1050" dirty="0"/>
          </a:p>
        </p:txBody>
      </p:sp>
      <p:sp>
        <p:nvSpPr>
          <p:cNvPr id="49" name="cwa_L11"/>
          <p:cNvSpPr txBox="1"/>
          <p:nvPr/>
        </p:nvSpPr>
        <p:spPr>
          <a:xfrm>
            <a:off x="6418174" y="43952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Program finished</a:t>
            </a:r>
            <a:endParaRPr lang="en-US" sz="1050" dirty="0"/>
          </a:p>
        </p:txBody>
      </p:sp>
      <p:sp>
        <p:nvSpPr>
          <p:cNvPr id="50"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NO JOIN</a:t>
            </a:r>
            <a:endParaRPr lang="en-US" sz="900" dirty="0"/>
          </a:p>
        </p:txBody>
      </p:sp>
      <p:sp>
        <p:nvSpPr>
          <p:cNvPr id="51"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WITH JOIN</a:t>
            </a:r>
            <a:endParaRPr lang="en-US" sz="900" dirty="0"/>
          </a:p>
        </p:txBody>
      </p:sp>
      <p:cxnSp>
        <p:nvCxnSpPr>
          <p:cNvPr id="52" name="arrow"/>
          <p:cNvCxnSpPr/>
          <p:nvPr/>
        </p:nvCxnSpPr>
        <p:spPr>
          <a:xfrm>
            <a:off x="6011266" y="3227832"/>
            <a:ext cx="150876" cy="0"/>
          </a:xfrm>
          <a:prstGeom prst="line">
            <a:avLst/>
          </a:prstGeom>
          <a:ln w="28575">
            <a:solidFill>
              <a:srgbClr val="13D0F7"/>
            </a:solidFill>
            <a:tailEnd type="triangle" w="med" len="med"/>
          </a:ln>
        </p:spPr>
      </p:cxnSp>
      <p:sp>
        <p:nvSpPr>
          <p:cNvPr id="53"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Main does not wait. It announces 'Program finished' while the worker is still busy.</a:t>
            </a:r>
            <a:endParaRPr lang="en-US" sz="1250" dirty="0"/>
          </a:p>
        </p:txBody>
      </p:sp>
      <p:sp>
        <p:nvSpPr>
          <p:cNvPr id="54"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Join blocks the current thread until the other thread completes. Overview only: later we will wait without blocking.</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250"/>
                                        <p:tgtEl>
                                          <p:spTgt spid="5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25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5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25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1"/>
                                        </p:tgtEl>
                                        <p:attrNameLst>
                                          <p:attrName>style.visibility</p:attrName>
                                        </p:attrNameLst>
                                      </p:cBhvr>
                                      <p:to>
                                        <p:strVal val="visible"/>
                                      </p:to>
                                    </p:set>
                                    <p:animEffect transition="in" filter="fade">
                                      <p:cBhvr>
                                        <p:cTn id="80" dur="250"/>
                                        <p:tgtEl>
                                          <p:spTgt spid="51"/>
                                        </p:tgtEl>
                                      </p:cBhvr>
                                    </p:animEffect>
                                  </p:childTnLst>
                                </p:cTn>
                              </p:par>
                              <p:par>
                                <p:cTn id="81" presetID="10" presetClass="entr" presetSubtype="0"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fade">
                                      <p:cBhvr>
                                        <p:cTn id="83" dur="250"/>
                                        <p:tgtEl>
                                          <p:spTgt spid="52"/>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fade">
                                      <p:cBhvr>
                                        <p:cTn id="88"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p:bldP spid="29" grpId="0"/>
      <p:bldP spid="30" grpId="0"/>
      <p:bldP spid="31" grpId="0"/>
      <p:bldP spid="39" grpId="0"/>
      <p:bldP spid="40" grpId="0"/>
      <p:bldP spid="41" grpId="0"/>
      <p:bldP spid="42" grpId="0"/>
      <p:bldP spid="43" grpId="0"/>
      <p:bldP spid="44" grpId="0" animBg="1"/>
      <p:bldP spid="45" grpId="0"/>
      <p:bldP spid="46" grpId="0"/>
      <p:bldP spid="47" grpId="0"/>
      <p:bldP spid="48" grpId="0"/>
      <p:bldP spid="49" grpId="0"/>
      <p:bldP spid="50" grpId="0" animBg="1"/>
      <p:bldP spid="51" grpId="0" animBg="1"/>
      <p:bldP spid="53" grpId="0" animBg="1"/>
      <p:bldP spid="5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SLEEP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Thread.Sleep Blocks the Whole Thread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26</a:t>
            </a:r>
            <a:endParaRPr lang="en-US" sz="850" dirty="0"/>
          </a:p>
        </p:txBody>
      </p:sp>
      <p:sp>
        <p:nvSpPr>
          <p:cNvPr id="15" name="cw_win"/>
          <p:cNvSpPr/>
          <p:nvPr/>
        </p:nvSpPr>
        <p:spPr>
          <a:xfrm>
            <a:off x="543154" y="1572768"/>
            <a:ext cx="5486400" cy="1463040"/>
          </a:xfrm>
          <a:prstGeom prst="roundRect">
            <a:avLst>
              <a:gd name="adj" fmla="val 4687"/>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4864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10235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Console.WriteLine(</a:t>
            </a:r>
            <a:r>
              <a:rPr lang="en-US" sz="1300" b="0" dirty="0">
                <a:solidFill>
                  <a:srgbClr val="F0A98B"/>
                </a:solidFill>
                <a:latin typeface="Consolas"/>
                <a:ea typeface="Consolas"/>
                <a:cs typeface="Consolas"/>
              </a:rPr>
              <a:t>"Cooking..."</a:t>
            </a:r>
            <a:r>
              <a:rPr lang="en-US" sz="1300" b="0" dirty="0">
                <a:solidFill>
                  <a:srgbClr val="E2E8F0"/>
                </a:solidFill>
                <a:latin typeface="Consolas"/>
                <a:ea typeface="Consolas"/>
                <a:cs typeface="Consolas"/>
              </a:rPr>
              <a:t>);</a:t>
            </a:r>
            <a:endParaRPr lang="en-US" sz="1300" dirty="0"/>
          </a:p>
        </p:txBody>
      </p:sp>
      <p:sp>
        <p:nvSpPr>
          <p:cNvPr id="23" name="cw_L01"/>
          <p:cNvSpPr txBox="1"/>
          <p:nvPr/>
        </p:nvSpPr>
        <p:spPr>
          <a:xfrm>
            <a:off x="771754" y="2312416"/>
            <a:ext cx="510235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Thread.Sleep(3000);            </a:t>
            </a:r>
            <a:r>
              <a:rPr lang="en-US" sz="1300" b="0" dirty="0">
                <a:solidFill>
                  <a:srgbClr val="6FAE7A"/>
                </a:solidFill>
                <a:latin typeface="Consolas"/>
                <a:ea typeface="Consolas"/>
                <a:cs typeface="Consolas"/>
              </a:rPr>
              <a:t>// do nothing for 3 s</a:t>
            </a:r>
            <a:endParaRPr lang="en-US" sz="1300" dirty="0"/>
          </a:p>
        </p:txBody>
      </p:sp>
      <p:sp>
        <p:nvSpPr>
          <p:cNvPr id="24" name="cw_L02"/>
          <p:cNvSpPr txBox="1"/>
          <p:nvPr/>
        </p:nvSpPr>
        <p:spPr>
          <a:xfrm>
            <a:off x="771754" y="2576576"/>
            <a:ext cx="510235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Console.WriteLine(</a:t>
            </a:r>
            <a:r>
              <a:rPr lang="en-US" sz="1300" b="0" dirty="0">
                <a:solidFill>
                  <a:srgbClr val="F0A98B"/>
                </a:solidFill>
                <a:latin typeface="Consolas"/>
                <a:ea typeface="Consolas"/>
                <a:cs typeface="Consolas"/>
              </a:rPr>
              <a:t>"Ready!"</a:t>
            </a:r>
            <a:r>
              <a:rPr lang="en-US" sz="1300" b="0" dirty="0">
                <a:solidFill>
                  <a:srgbClr val="E2E8F0"/>
                </a:solidFill>
                <a:latin typeface="Consolas"/>
                <a:ea typeface="Consolas"/>
                <a:cs typeface="Consolas"/>
              </a:rPr>
              <a:t>);</a:t>
            </a:r>
            <a:endParaRPr lang="en-US" sz="1300" dirty="0"/>
          </a:p>
        </p:txBody>
      </p:sp>
      <p:sp>
        <p:nvSpPr>
          <p:cNvPr id="25" name="cmark"/>
          <p:cNvSpPr/>
          <p:nvPr/>
        </p:nvSpPr>
        <p:spPr>
          <a:xfrm>
            <a:off x="676656" y="2294128"/>
            <a:ext cx="5219395" cy="300736"/>
          </a:xfrm>
          <a:prstGeom prst="rect">
            <a:avLst/>
          </a:prstGeom>
          <a:solidFill>
            <a:srgbClr val="F87171">
              <a:alpha val="16000"/>
            </a:srgbClr>
          </a:solidFill>
          <a:ln w="15875">
            <a:solidFill>
              <a:srgbClr val="F87171"/>
            </a:solidFill>
            <a:prstDash val="solid"/>
          </a:ln>
        </p:spPr>
        <p:txBody>
          <a:bodyPr/>
          <a:lstStyle/>
          <a:p>
            <a:endParaRPr lang="en-US"/>
          </a:p>
        </p:txBody>
      </p:sp>
      <p:sp>
        <p:nvSpPr>
          <p:cNvPr id="26" name="lab"/>
          <p:cNvSpPr txBox="1"/>
          <p:nvPr/>
        </p:nvSpPr>
        <p:spPr>
          <a:xfrm>
            <a:off x="543154" y="3310128"/>
            <a:ext cx="13716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Main thread</a:t>
            </a:r>
            <a:endParaRPr lang="en-US" sz="1100" dirty="0"/>
          </a:p>
        </p:txBody>
      </p:sp>
      <p:sp>
        <p:nvSpPr>
          <p:cNvPr id="27" name="lane"/>
          <p:cNvSpPr/>
          <p:nvPr/>
        </p:nvSpPr>
        <p:spPr>
          <a:xfrm>
            <a:off x="2006194" y="3749040"/>
            <a:ext cx="9624060" cy="18288"/>
          </a:xfrm>
          <a:prstGeom prst="rect">
            <a:avLst/>
          </a:prstGeom>
          <a:solidFill>
            <a:srgbClr val="1E3A5F"/>
          </a:solidFill>
          <a:ln w="12700">
            <a:solidFill>
              <a:srgbClr val="1E3A5F"/>
            </a:solidFill>
            <a:prstDash val="solid"/>
          </a:ln>
        </p:spPr>
        <p:txBody>
          <a:bodyPr/>
          <a:lstStyle/>
          <a:p>
            <a:endParaRPr lang="en-US"/>
          </a:p>
        </p:txBody>
      </p:sp>
      <p:sp>
        <p:nvSpPr>
          <p:cNvPr id="28" name="bar"/>
          <p:cNvSpPr/>
          <p:nvPr/>
        </p:nvSpPr>
        <p:spPr>
          <a:xfrm>
            <a:off x="2051914" y="3328416"/>
            <a:ext cx="1463040" cy="384048"/>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Cooking...</a:t>
            </a:r>
            <a:endParaRPr lang="en-US" sz="1000" dirty="0"/>
          </a:p>
        </p:txBody>
      </p:sp>
      <p:sp>
        <p:nvSpPr>
          <p:cNvPr id="29" name="bar"/>
          <p:cNvSpPr/>
          <p:nvPr/>
        </p:nvSpPr>
        <p:spPr>
          <a:xfrm>
            <a:off x="3560674" y="3328416"/>
            <a:ext cx="5669280" cy="384048"/>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Thread.Sleep(3000), doing nothing</a:t>
            </a:r>
            <a:endParaRPr lang="en-US" sz="1000" dirty="0"/>
          </a:p>
        </p:txBody>
      </p:sp>
      <p:sp>
        <p:nvSpPr>
          <p:cNvPr id="30" name="bar"/>
          <p:cNvSpPr/>
          <p:nvPr/>
        </p:nvSpPr>
        <p:spPr>
          <a:xfrm>
            <a:off x="9275674" y="3328416"/>
            <a:ext cx="1463040"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Ready!</a:t>
            </a:r>
            <a:endParaRPr lang="en-US" sz="1000" dirty="0"/>
          </a:p>
        </p:txBody>
      </p:sp>
      <p:sp>
        <p:nvSpPr>
          <p:cNvPr id="31" name="card"/>
          <p:cNvSpPr/>
          <p:nvPr/>
        </p:nvSpPr>
        <p:spPr>
          <a:xfrm>
            <a:off x="543154" y="3995928"/>
            <a:ext cx="3604260" cy="886968"/>
          </a:xfrm>
          <a:prstGeom prst="roundRect">
            <a:avLst>
              <a:gd name="adj" fmla="val 9278"/>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THREAD EXISTS</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its stack and OS resources stay reserved</a:t>
            </a:r>
            <a:endParaRPr lang="en-US" sz="1200" dirty="0"/>
          </a:p>
        </p:txBody>
      </p:sp>
      <p:sp>
        <p:nvSpPr>
          <p:cNvPr id="32" name="card"/>
          <p:cNvSpPr/>
          <p:nvPr/>
        </p:nvSpPr>
        <p:spPr>
          <a:xfrm>
            <a:off x="4284574" y="3995928"/>
            <a:ext cx="3604260" cy="886968"/>
          </a:xfrm>
          <a:prstGeom prst="roundRect">
            <a:avLst>
              <a:gd name="adj" fmla="val 9278"/>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DOES NO WORK</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it cannot serve anything else</a:t>
            </a:r>
            <a:endParaRPr lang="en-US" sz="1200" dirty="0"/>
          </a:p>
        </p:txBody>
      </p:sp>
      <p:sp>
        <p:nvSpPr>
          <p:cNvPr id="33" name="card"/>
          <p:cNvSpPr/>
          <p:nvPr/>
        </p:nvSpPr>
        <p:spPr>
          <a:xfrm>
            <a:off x="8025994" y="3995928"/>
            <a:ext cx="3604260" cy="886968"/>
          </a:xfrm>
          <a:prstGeom prst="roundRect">
            <a:avLst>
              <a:gd name="adj" fmla="val 9278"/>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00"/>
              </a:spcAft>
              <a:buNone/>
            </a:pPr>
            <a:r>
              <a:rPr lang="en-US" sz="1050" b="1" dirty="0">
                <a:solidFill>
                  <a:srgbClr val="13D0F7"/>
                </a:solidFill>
                <a:latin typeface="Segoe UI"/>
                <a:ea typeface="Segoe UI"/>
                <a:cs typeface="Segoe UI"/>
              </a:rPr>
              <a:t>REMEMBER</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await Task.Delay waits without holding a thread</a:t>
            </a:r>
            <a:endParaRPr lang="en-US" sz="1200" dirty="0"/>
          </a:p>
        </p:txBody>
      </p:sp>
      <p:sp>
        <p:nvSpPr>
          <p:cNvPr id="34" name="card"/>
          <p:cNvSpPr/>
          <p:nvPr/>
        </p:nvSpPr>
        <p:spPr>
          <a:xfrm>
            <a:off x="6258154" y="1572768"/>
            <a:ext cx="5372100" cy="1463040"/>
          </a:xfrm>
          <a:prstGeom prst="roundRect">
            <a:avLst>
              <a:gd name="adj" fmla="val 5624"/>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FBBF24"/>
                </a:solidFill>
                <a:latin typeface="Segoe UI"/>
                <a:ea typeface="Segoe UI"/>
                <a:cs typeface="Segoe UI"/>
              </a:rPr>
              <a:t>Thread.Sleep(3000)</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means: stop THIS thread for 3 seconds.</a:t>
            </a:r>
            <a:endParaRPr lang="en-US" sz="1300" dirty="0"/>
          </a:p>
        </p:txBody>
      </p:sp>
      <p:sp>
        <p:nvSpPr>
          <p:cNvPr id="35"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Thread.Sleep wastes a thread: it exists, costs resources, and does nothing.</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25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25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25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250"/>
                                        <p:tgtEl>
                                          <p:spTgt spid="2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25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25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25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25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25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25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animBg="1"/>
      <p:bldP spid="26" grpId="0"/>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SLEEP COST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Is Thread.Sleep Expensive?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27</a:t>
            </a:r>
            <a:endParaRPr lang="en-US" sz="850" dirty="0"/>
          </a:p>
        </p:txBody>
      </p:sp>
      <p:sp>
        <p:nvSpPr>
          <p:cNvPr id="15" name="cw_win"/>
          <p:cNvSpPr/>
          <p:nvPr/>
        </p:nvSpPr>
        <p:spPr>
          <a:xfrm>
            <a:off x="543154" y="1572768"/>
            <a:ext cx="5303520" cy="215948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35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35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hl02"/>
          <p:cNvSpPr/>
          <p:nvPr/>
        </p:nvSpPr>
        <p:spPr>
          <a:xfrm>
            <a:off x="676656" y="2537968"/>
            <a:ext cx="5036516" cy="290576"/>
          </a:xfrm>
          <a:prstGeom prst="rect">
            <a:avLst/>
          </a:prstGeom>
          <a:solidFill>
            <a:srgbClr val="F87171">
              <a:alpha val="15000"/>
            </a:srgbClr>
          </a:solidFill>
          <a:ln w="12700">
            <a:solidFill>
              <a:srgbClr val="F87171"/>
            </a:solidFill>
            <a:prstDash val="solid"/>
          </a:ln>
        </p:spPr>
        <p:txBody>
          <a:bodyPr/>
          <a:lstStyle/>
          <a:p>
            <a:endParaRPr lang="en-US"/>
          </a:p>
        </p:txBody>
      </p:sp>
      <p:sp>
        <p:nvSpPr>
          <p:cNvPr id="23" name="cw_L00"/>
          <p:cNvSpPr txBox="1"/>
          <p:nvPr/>
        </p:nvSpPr>
        <p:spPr>
          <a:xfrm>
            <a:off x="771754" y="2048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app.MapGet(</a:t>
            </a:r>
            <a:r>
              <a:rPr lang="en-US" sz="1250" b="0" dirty="0">
                <a:solidFill>
                  <a:srgbClr val="F0A98B"/>
                </a:solidFill>
                <a:latin typeface="Consolas"/>
                <a:ea typeface="Consolas"/>
                <a:cs typeface="Consolas"/>
              </a:rPr>
              <a:t>"/report"</a:t>
            </a:r>
            <a:r>
              <a:rPr lang="en-US" sz="1250" b="0" dirty="0">
                <a:solidFill>
                  <a:srgbClr val="E2E8F0"/>
                </a:solidFill>
                <a:latin typeface="Consolas"/>
                <a:ea typeface="Consolas"/>
                <a:cs typeface="Consolas"/>
              </a:rPr>
              <a:t>, () =&gt;</a:t>
            </a:r>
            <a:endParaRPr lang="en-US" sz="1250" dirty="0"/>
          </a:p>
        </p:txBody>
      </p:sp>
      <p:sp>
        <p:nvSpPr>
          <p:cNvPr id="24" name="cw_L01"/>
          <p:cNvSpPr txBox="1"/>
          <p:nvPr/>
        </p:nvSpPr>
        <p:spPr>
          <a:xfrm>
            <a:off x="771754" y="2302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5" name="cw_L02"/>
          <p:cNvSpPr txBox="1"/>
          <p:nvPr/>
        </p:nvSpPr>
        <p:spPr>
          <a:xfrm>
            <a:off x="771754" y="2556256"/>
            <a:ext cx="491947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E2E8F0"/>
                </a:solidFill>
                <a:latin typeface="Consolas"/>
                <a:ea typeface="Consolas"/>
                <a:cs typeface="Consolas"/>
              </a:rPr>
              <a:t>Thread.Sleep(3000);   </a:t>
            </a:r>
            <a:r>
              <a:rPr lang="en-US" sz="1250" b="0" dirty="0">
                <a:solidFill>
                  <a:srgbClr val="6FAE7A"/>
                </a:solidFill>
                <a:latin typeface="Consolas"/>
                <a:ea typeface="Consolas"/>
                <a:cs typeface="Consolas"/>
              </a:rPr>
              <a:t>// blocks this thread</a:t>
            </a:r>
            <a:endParaRPr lang="en-US" sz="1250" dirty="0"/>
          </a:p>
        </p:txBody>
      </p:sp>
      <p:sp>
        <p:nvSpPr>
          <p:cNvPr id="26" name="cw_L04"/>
          <p:cNvSpPr txBox="1"/>
          <p:nvPr/>
        </p:nvSpPr>
        <p:spPr>
          <a:xfrm>
            <a:off x="771754" y="3064256"/>
            <a:ext cx="491947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60A5FA"/>
                </a:solidFill>
                <a:latin typeface="Consolas"/>
                <a:ea typeface="Consolas"/>
                <a:cs typeface="Consolas"/>
              </a:rPr>
              <a:t>return </a:t>
            </a:r>
            <a:r>
              <a:rPr lang="en-US" sz="1250" b="0" dirty="0">
                <a:solidFill>
                  <a:srgbClr val="F0A98B"/>
                </a:solidFill>
                <a:latin typeface="Consolas"/>
                <a:ea typeface="Consolas"/>
                <a:cs typeface="Consolas"/>
              </a:rPr>
              <a:t>"Report ready"</a:t>
            </a:r>
            <a:r>
              <a:rPr lang="en-US" sz="1250" b="0" dirty="0">
                <a:solidFill>
                  <a:srgbClr val="E2E8F0"/>
                </a:solidFill>
                <a:latin typeface="Consolas"/>
                <a:ea typeface="Consolas"/>
                <a:cs typeface="Consolas"/>
              </a:rPr>
              <a:t>;</a:t>
            </a:r>
            <a:endParaRPr lang="en-US" sz="1250" dirty="0"/>
          </a:p>
        </p:txBody>
      </p:sp>
      <p:sp>
        <p:nvSpPr>
          <p:cNvPr id="27" name="cw_L05"/>
          <p:cNvSpPr txBox="1"/>
          <p:nvPr/>
        </p:nvSpPr>
        <p:spPr>
          <a:xfrm>
            <a:off x="771754" y="3318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8" name="lab"/>
          <p:cNvSpPr txBox="1"/>
          <p:nvPr/>
        </p:nvSpPr>
        <p:spPr>
          <a:xfrm>
            <a:off x="6035000" y="1572768"/>
            <a:ext cx="5595254"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Segoe UI"/>
                <a:ea typeface="Segoe UI"/>
                <a:cs typeface="Segoe UI"/>
              </a:rPr>
              <a:t>1,000 requests arrive at the same moment</a:t>
            </a:r>
            <a:endParaRPr lang="en-US" sz="1150" dirty="0"/>
          </a:p>
        </p:txBody>
      </p:sp>
      <p:sp>
        <p:nvSpPr>
          <p:cNvPr id="29" name="lab"/>
          <p:cNvSpPr txBox="1"/>
          <p:nvPr/>
        </p:nvSpPr>
        <p:spPr>
          <a:xfrm>
            <a:off x="6035000" y="1930000"/>
            <a:ext cx="115000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Request 1</a:t>
            </a:r>
            <a:endParaRPr lang="en-US" sz="1050" dirty="0"/>
          </a:p>
        </p:txBody>
      </p:sp>
      <p:sp>
        <p:nvSpPr>
          <p:cNvPr id="30" name="bar"/>
          <p:cNvSpPr/>
          <p:nvPr/>
        </p:nvSpPr>
        <p:spPr>
          <a:xfrm>
            <a:off x="7235000" y="1930000"/>
            <a:ext cx="4395254" cy="36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3 s: holds a thread, serves nothing</a:t>
            </a:r>
            <a:endParaRPr lang="en-US" sz="1000" dirty="0"/>
          </a:p>
        </p:txBody>
      </p:sp>
      <p:sp>
        <p:nvSpPr>
          <p:cNvPr id="31" name="lab"/>
          <p:cNvSpPr txBox="1"/>
          <p:nvPr/>
        </p:nvSpPr>
        <p:spPr>
          <a:xfrm>
            <a:off x="6035000" y="2370000"/>
            <a:ext cx="115000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Request 2</a:t>
            </a:r>
            <a:endParaRPr lang="en-US" sz="1050" dirty="0"/>
          </a:p>
        </p:txBody>
      </p:sp>
      <p:sp>
        <p:nvSpPr>
          <p:cNvPr id="32" name="bar"/>
          <p:cNvSpPr/>
          <p:nvPr/>
        </p:nvSpPr>
        <p:spPr>
          <a:xfrm>
            <a:off x="7235000" y="2370000"/>
            <a:ext cx="4395254" cy="36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3 s: holds a thread, serves nothing</a:t>
            </a:r>
            <a:endParaRPr lang="en-US" sz="1000" dirty="0"/>
          </a:p>
        </p:txBody>
      </p:sp>
      <p:sp>
        <p:nvSpPr>
          <p:cNvPr id="33" name="lab"/>
          <p:cNvSpPr txBox="1"/>
          <p:nvPr/>
        </p:nvSpPr>
        <p:spPr>
          <a:xfrm>
            <a:off x="6035000" y="2810000"/>
            <a:ext cx="115000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Request 3</a:t>
            </a:r>
            <a:endParaRPr lang="en-US" sz="1050" dirty="0"/>
          </a:p>
        </p:txBody>
      </p:sp>
      <p:sp>
        <p:nvSpPr>
          <p:cNvPr id="34" name="bar"/>
          <p:cNvSpPr/>
          <p:nvPr/>
        </p:nvSpPr>
        <p:spPr>
          <a:xfrm>
            <a:off x="7235000" y="2810000"/>
            <a:ext cx="4395254" cy="36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3 s: holds a thread, serves nothing</a:t>
            </a:r>
            <a:endParaRPr lang="en-US" sz="1000" dirty="0"/>
          </a:p>
        </p:txBody>
      </p:sp>
      <p:sp>
        <p:nvSpPr>
          <p:cNvPr id="35" name="lab"/>
          <p:cNvSpPr txBox="1"/>
          <p:nvPr/>
        </p:nvSpPr>
        <p:spPr>
          <a:xfrm>
            <a:off x="6035000" y="3380000"/>
            <a:ext cx="115000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Request 1000</a:t>
            </a:r>
            <a:endParaRPr lang="en-US" sz="1050" dirty="0"/>
          </a:p>
        </p:txBody>
      </p:sp>
      <p:sp>
        <p:nvSpPr>
          <p:cNvPr id="36" name="bar"/>
          <p:cNvSpPr/>
          <p:nvPr/>
        </p:nvSpPr>
        <p:spPr>
          <a:xfrm>
            <a:off x="7235000" y="3380000"/>
            <a:ext cx="4395254" cy="36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3 s: holds a thread, serves nothing</a:t>
            </a:r>
            <a:endParaRPr lang="en-US" sz="1000" dirty="0"/>
          </a:p>
        </p:txBody>
      </p:sp>
      <p:sp>
        <p:nvSpPr>
          <p:cNvPr id="37" name="lab"/>
          <p:cNvSpPr txBox="1"/>
          <p:nvPr/>
        </p:nvSpPr>
        <p:spPr>
          <a:xfrm>
            <a:off x="7235000" y="3190000"/>
            <a:ext cx="4395254" cy="19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64748B"/>
                </a:solidFill>
                <a:latin typeface="Segoe UI"/>
                <a:ea typeface="Segoe UI"/>
                <a:cs typeface="Segoe UI"/>
              </a:rPr>
              <a:t>· · ·</a:t>
            </a:r>
            <a:endParaRPr lang="en-US" sz="1100" dirty="0"/>
          </a:p>
        </p:txBody>
      </p:sp>
      <p:sp>
        <p:nvSpPr>
          <p:cNvPr id="38" name="card"/>
          <p:cNvSpPr/>
          <p:nvPr/>
        </p:nvSpPr>
        <p:spPr>
          <a:xfrm>
            <a:off x="543154" y="3900000"/>
            <a:ext cx="2668905" cy="104000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NO OTHER WORK</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It cannot execute another request handler.</a:t>
            </a:r>
            <a:endParaRPr lang="en-US" sz="1150" dirty="0"/>
          </a:p>
        </p:txBody>
      </p:sp>
      <p:sp>
        <p:nvSpPr>
          <p:cNvPr id="39" name="card"/>
          <p:cNvSpPr/>
          <p:nvPr/>
        </p:nvSpPr>
        <p:spPr>
          <a:xfrm>
            <a:off x="3349219" y="3900000"/>
            <a:ext cx="2668905" cy="104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STAYS ALLOCATED</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The thread stays reserved for the full 3 s.</a:t>
            </a:r>
            <a:endParaRPr lang="en-US" sz="1150" dirty="0"/>
          </a:p>
        </p:txBody>
      </p:sp>
      <p:sp>
        <p:nvSpPr>
          <p:cNvPr id="40" name="card"/>
          <p:cNvSpPr/>
          <p:nvPr/>
        </p:nvSpPr>
        <p:spPr>
          <a:xfrm>
            <a:off x="6155284" y="3900000"/>
            <a:ext cx="2668905" cy="1040000"/>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RESOURCES IN USE</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Its stack and other thread resources stay in use.</a:t>
            </a:r>
            <a:endParaRPr lang="en-US" sz="1150" dirty="0"/>
          </a:p>
        </p:txBody>
      </p:sp>
      <p:sp>
        <p:nvSpPr>
          <p:cNvPr id="41" name="card"/>
          <p:cNvSpPr/>
          <p:nvPr/>
        </p:nvSpPr>
        <p:spPr>
          <a:xfrm>
            <a:off x="8961349" y="3900000"/>
            <a:ext cx="2668905" cy="1040000"/>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MORE THREADS</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The server may need extra threads for other requests.</a:t>
            </a:r>
            <a:endParaRPr lang="en-US" sz="1150" dirty="0"/>
          </a:p>
        </p:txBody>
      </p:sp>
      <p:sp>
        <p:nvSpPr>
          <p:cNvPr id="42"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1,000 blocked requests = 1,000 idle threads: thread-pool pressure and poor scalability.</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3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3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3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300"/>
                                        <p:tgtEl>
                                          <p:spTgt spid="3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300"/>
                                        <p:tgtEl>
                                          <p:spTgt spid="3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3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3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3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3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300"/>
                                        <p:tgtEl>
                                          <p:spTgt spid="41"/>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FOREGROUND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Foreground Threads Keep the Process Alive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28</a:t>
            </a:r>
            <a:endParaRPr lang="en-US" sz="850" dirty="0"/>
          </a:p>
        </p:txBody>
      </p:sp>
      <p:sp>
        <p:nvSpPr>
          <p:cNvPr id="15" name="cw_win"/>
          <p:cNvSpPr/>
          <p:nvPr/>
        </p:nvSpPr>
        <p:spPr>
          <a:xfrm>
            <a:off x="543154" y="1572768"/>
            <a:ext cx="4754880" cy="229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47548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47548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34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Foreground.cs</a:t>
            </a:r>
            <a:endParaRPr lang="en-US" sz="950" dirty="0"/>
          </a:p>
        </p:txBody>
      </p:sp>
      <p:sp>
        <p:nvSpPr>
          <p:cNvPr id="22" name="cw_hl05"/>
          <p:cNvSpPr/>
          <p:nvPr/>
        </p:nvSpPr>
        <p:spPr>
          <a:xfrm>
            <a:off x="676656" y="3049728"/>
            <a:ext cx="448787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23" name="cw_L00"/>
          <p:cNvSpPr txBox="1"/>
          <p:nvPr/>
        </p:nvSpPr>
        <p:spPr>
          <a:xfrm>
            <a:off x="771754" y="200121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Thread saver = </a:t>
            </a:r>
            <a:r>
              <a:rPr lang="en-US" sz="1050" b="0"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Thread(() =&gt;</a:t>
            </a:r>
            <a:endParaRPr lang="en-US" sz="1050" dirty="0"/>
          </a:p>
        </p:txBody>
      </p:sp>
      <p:sp>
        <p:nvSpPr>
          <p:cNvPr id="24" name="cw_L01"/>
          <p:cNvSpPr txBox="1"/>
          <p:nvPr/>
        </p:nvSpPr>
        <p:spPr>
          <a:xfrm>
            <a:off x="771754" y="221457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5" name="cw_L02"/>
          <p:cNvSpPr txBox="1"/>
          <p:nvPr/>
        </p:nvSpPr>
        <p:spPr>
          <a:xfrm>
            <a:off x="771754" y="2427936"/>
            <a:ext cx="43708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26" name="cw_L03"/>
          <p:cNvSpPr txBox="1"/>
          <p:nvPr/>
        </p:nvSpPr>
        <p:spPr>
          <a:xfrm>
            <a:off x="771754" y="2641296"/>
            <a:ext cx="43708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"Order saved"</a:t>
            </a:r>
            <a:r>
              <a:rPr lang="en-US" sz="1050" b="0" dirty="0">
                <a:solidFill>
                  <a:srgbClr val="E2E8F0"/>
                </a:solidFill>
                <a:latin typeface="Consolas"/>
                <a:ea typeface="Consolas"/>
                <a:cs typeface="Consolas"/>
              </a:rPr>
              <a:t>);</a:t>
            </a:r>
            <a:endParaRPr lang="en-US" sz="1050" dirty="0"/>
          </a:p>
        </p:txBody>
      </p:sp>
      <p:sp>
        <p:nvSpPr>
          <p:cNvPr id="27" name="cw_L04"/>
          <p:cNvSpPr txBox="1"/>
          <p:nvPr/>
        </p:nvSpPr>
        <p:spPr>
          <a:xfrm>
            <a:off x="771754" y="285465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5"/>
          <p:cNvSpPr txBox="1"/>
          <p:nvPr/>
        </p:nvSpPr>
        <p:spPr>
          <a:xfrm>
            <a:off x="771754" y="306801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saver.IsBackground == false (default)</a:t>
            </a:r>
            <a:endParaRPr lang="en-US" sz="1050" dirty="0"/>
          </a:p>
        </p:txBody>
      </p:sp>
      <p:sp>
        <p:nvSpPr>
          <p:cNvPr id="29" name="cw_L06"/>
          <p:cNvSpPr txBox="1"/>
          <p:nvPr/>
        </p:nvSpPr>
        <p:spPr>
          <a:xfrm>
            <a:off x="771754" y="328137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saver.Start();</a:t>
            </a:r>
            <a:endParaRPr lang="en-US" sz="1050" dirty="0"/>
          </a:p>
        </p:txBody>
      </p:sp>
      <p:sp>
        <p:nvSpPr>
          <p:cNvPr id="30" name="cw_L07"/>
          <p:cNvSpPr txBox="1"/>
          <p:nvPr/>
        </p:nvSpPr>
        <p:spPr>
          <a:xfrm>
            <a:off x="771754" y="349473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"Main done"</a:t>
            </a:r>
            <a:r>
              <a:rPr lang="en-US" sz="1050" b="0" dirty="0">
                <a:solidFill>
                  <a:srgbClr val="E2E8F0"/>
                </a:solidFill>
                <a:latin typeface="Consolas"/>
                <a:ea typeface="Consolas"/>
                <a:cs typeface="Consolas"/>
              </a:rPr>
              <a:t>);</a:t>
            </a:r>
            <a:endParaRPr lang="en-US" sz="1050" dirty="0"/>
          </a:p>
        </p:txBody>
      </p:sp>
      <p:sp>
        <p:nvSpPr>
          <p:cNvPr id="31" name="out_win"/>
          <p:cNvSpPr/>
          <p:nvPr/>
        </p:nvSpPr>
        <p:spPr>
          <a:xfrm>
            <a:off x="543154" y="3985256"/>
            <a:ext cx="4754880" cy="92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2" name="out_bar"/>
          <p:cNvSpPr/>
          <p:nvPr/>
        </p:nvSpPr>
        <p:spPr>
          <a:xfrm>
            <a:off x="543154" y="3985256"/>
            <a:ext cx="47548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3" name="out_barfill"/>
          <p:cNvSpPr/>
          <p:nvPr/>
        </p:nvSpPr>
        <p:spPr>
          <a:xfrm>
            <a:off x="543154" y="4156706"/>
            <a:ext cx="4754880" cy="171450"/>
          </a:xfrm>
          <a:prstGeom prst="rect">
            <a:avLst/>
          </a:prstGeom>
          <a:solidFill>
            <a:srgbClr val="0A1220"/>
          </a:solidFill>
          <a:ln w="12700">
            <a:solidFill>
              <a:srgbClr val="0A1220"/>
            </a:solidFill>
            <a:prstDash val="solid"/>
          </a:ln>
        </p:spPr>
        <p:txBody>
          <a:bodyPr/>
          <a:lstStyle/>
          <a:p>
            <a:endParaRPr lang="en-US"/>
          </a:p>
        </p:txBody>
      </p:sp>
      <p:sp>
        <p:nvSpPr>
          <p:cNvPr id="34" name="out_dot0"/>
          <p:cNvSpPr/>
          <p:nvPr/>
        </p:nvSpPr>
        <p:spPr>
          <a:xfrm>
            <a:off x="705002" y="4109066"/>
            <a:ext cx="95098" cy="95098"/>
          </a:xfrm>
          <a:prstGeom prst="ellipse">
            <a:avLst/>
          </a:prstGeom>
          <a:solidFill>
            <a:srgbClr val="F87171"/>
          </a:solidFill>
          <a:ln w="12700">
            <a:solidFill>
              <a:srgbClr val="F87171"/>
            </a:solidFill>
            <a:prstDash val="solid"/>
          </a:ln>
        </p:spPr>
        <p:txBody>
          <a:bodyPr/>
          <a:lstStyle/>
          <a:p>
            <a:endParaRPr lang="en-US"/>
          </a:p>
        </p:txBody>
      </p:sp>
      <p:sp>
        <p:nvSpPr>
          <p:cNvPr id="35" name="out_dot1"/>
          <p:cNvSpPr/>
          <p:nvPr/>
        </p:nvSpPr>
        <p:spPr>
          <a:xfrm>
            <a:off x="890626" y="4109066"/>
            <a:ext cx="95098" cy="95098"/>
          </a:xfrm>
          <a:prstGeom prst="ellipse">
            <a:avLst/>
          </a:prstGeom>
          <a:solidFill>
            <a:srgbClr val="FBBF24"/>
          </a:solidFill>
          <a:ln w="12700">
            <a:solidFill>
              <a:srgbClr val="FBBF24"/>
            </a:solidFill>
            <a:prstDash val="solid"/>
          </a:ln>
        </p:spPr>
        <p:txBody>
          <a:bodyPr/>
          <a:lstStyle/>
          <a:p>
            <a:endParaRPr lang="en-US"/>
          </a:p>
        </p:txBody>
      </p:sp>
      <p:sp>
        <p:nvSpPr>
          <p:cNvPr id="36" name="out_dot2"/>
          <p:cNvSpPr/>
          <p:nvPr/>
        </p:nvSpPr>
        <p:spPr>
          <a:xfrm>
            <a:off x="1076250" y="4109066"/>
            <a:ext cx="95098" cy="95098"/>
          </a:xfrm>
          <a:prstGeom prst="ellipse">
            <a:avLst/>
          </a:prstGeom>
          <a:solidFill>
            <a:srgbClr val="34D399"/>
          </a:solidFill>
          <a:ln w="12700">
            <a:solidFill>
              <a:srgbClr val="34D399"/>
            </a:solidFill>
            <a:prstDash val="solid"/>
          </a:ln>
        </p:spPr>
        <p:txBody>
          <a:bodyPr/>
          <a:lstStyle/>
          <a:p>
            <a:endParaRPr lang="en-US"/>
          </a:p>
        </p:txBody>
      </p:sp>
      <p:sp>
        <p:nvSpPr>
          <p:cNvPr id="37" name="out_tab"/>
          <p:cNvSpPr/>
          <p:nvPr/>
        </p:nvSpPr>
        <p:spPr>
          <a:xfrm>
            <a:off x="1324051" y="403280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8" name="out_L00"/>
          <p:cNvSpPr txBox="1"/>
          <p:nvPr/>
        </p:nvSpPr>
        <p:spPr>
          <a:xfrm>
            <a:off x="771754" y="4413704"/>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Main done</a:t>
            </a:r>
            <a:endParaRPr lang="en-US" sz="1050" dirty="0"/>
          </a:p>
        </p:txBody>
      </p:sp>
      <p:sp>
        <p:nvSpPr>
          <p:cNvPr id="39" name="out_L01"/>
          <p:cNvSpPr txBox="1"/>
          <p:nvPr/>
        </p:nvSpPr>
        <p:spPr>
          <a:xfrm>
            <a:off x="771754" y="4627064"/>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34D399"/>
                </a:solidFill>
                <a:latin typeface="Consolas"/>
                <a:ea typeface="Consolas"/>
                <a:cs typeface="Consolas"/>
              </a:rPr>
              <a:t>Order saved      (about 2 s later)</a:t>
            </a:r>
            <a:endParaRPr lang="en-US" sz="1050" dirty="0"/>
          </a:p>
        </p:txBody>
      </p:sp>
      <p:sp>
        <p:nvSpPr>
          <p:cNvPr id="40" name="tbl_head"/>
          <p:cNvSpPr/>
          <p:nvPr/>
        </p:nvSpPr>
        <p:spPr>
          <a:xfrm>
            <a:off x="5435194" y="1572768"/>
            <a:ext cx="619506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1" name="tbl_h"/>
          <p:cNvSpPr txBox="1"/>
          <p:nvPr/>
        </p:nvSpPr>
        <p:spPr>
          <a:xfrm>
            <a:off x="5563210" y="1572768"/>
            <a:ext cx="56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STEP</a:t>
            </a:r>
            <a:endParaRPr lang="en-US" sz="1000" dirty="0"/>
          </a:p>
        </p:txBody>
      </p:sp>
      <p:sp>
        <p:nvSpPr>
          <p:cNvPr id="42" name="tbl_h"/>
          <p:cNvSpPr txBox="1"/>
          <p:nvPr/>
        </p:nvSpPr>
        <p:spPr>
          <a:xfrm>
            <a:off x="6155194" y="1572768"/>
            <a:ext cx="11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THREAD</a:t>
            </a:r>
            <a:endParaRPr lang="en-US" sz="1000" dirty="0"/>
          </a:p>
        </p:txBody>
      </p:sp>
      <p:sp>
        <p:nvSpPr>
          <p:cNvPr id="43" name="tbl_h"/>
          <p:cNvSpPr txBox="1"/>
          <p:nvPr/>
        </p:nvSpPr>
        <p:spPr>
          <a:xfrm>
            <a:off x="7365194" y="1572768"/>
            <a:ext cx="42050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WHAT HAPPENS</a:t>
            </a:r>
            <a:endParaRPr lang="en-US" sz="1000" dirty="0"/>
          </a:p>
        </p:txBody>
      </p:sp>
      <p:sp>
        <p:nvSpPr>
          <p:cNvPr id="44" name="tbl_row"/>
          <p:cNvSpPr/>
          <p:nvPr/>
        </p:nvSpPr>
        <p:spPr>
          <a:xfrm>
            <a:off x="5435194" y="1920240"/>
            <a:ext cx="6195060" cy="47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45" name="tbl_c"/>
          <p:cNvSpPr txBox="1"/>
          <p:nvPr/>
        </p:nvSpPr>
        <p:spPr>
          <a:xfrm>
            <a:off x="5563210" y="192024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1</a:t>
            </a:r>
            <a:endParaRPr lang="en-US" sz="1100" dirty="0"/>
          </a:p>
        </p:txBody>
      </p:sp>
      <p:sp>
        <p:nvSpPr>
          <p:cNvPr id="46" name="tbl_c"/>
          <p:cNvSpPr txBox="1"/>
          <p:nvPr/>
        </p:nvSpPr>
        <p:spPr>
          <a:xfrm>
            <a:off x="6155194" y="192024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Main</a:t>
            </a:r>
            <a:endParaRPr lang="en-US" sz="1100" dirty="0"/>
          </a:p>
        </p:txBody>
      </p:sp>
      <p:sp>
        <p:nvSpPr>
          <p:cNvPr id="47" name="tbl_c"/>
          <p:cNvSpPr txBox="1"/>
          <p:nvPr/>
        </p:nvSpPr>
        <p:spPr>
          <a:xfrm>
            <a:off x="7365194" y="192024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Creates saver. It has not started yet.</a:t>
            </a:r>
            <a:endParaRPr lang="en-US" sz="1100" dirty="0"/>
          </a:p>
        </p:txBody>
      </p:sp>
      <p:sp>
        <p:nvSpPr>
          <p:cNvPr id="48" name="tbl_row"/>
          <p:cNvSpPr/>
          <p:nvPr/>
        </p:nvSpPr>
        <p:spPr>
          <a:xfrm>
            <a:off x="5435194" y="2435960"/>
            <a:ext cx="6195060" cy="47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49" name="tbl_c"/>
          <p:cNvSpPr txBox="1"/>
          <p:nvPr/>
        </p:nvSpPr>
        <p:spPr>
          <a:xfrm>
            <a:off x="5563210" y="243596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2</a:t>
            </a:r>
            <a:endParaRPr lang="en-US" sz="1100" dirty="0"/>
          </a:p>
        </p:txBody>
      </p:sp>
      <p:sp>
        <p:nvSpPr>
          <p:cNvPr id="50" name="tbl_c"/>
          <p:cNvSpPr txBox="1"/>
          <p:nvPr/>
        </p:nvSpPr>
        <p:spPr>
          <a:xfrm>
            <a:off x="6155194" y="243596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Main</a:t>
            </a:r>
            <a:endParaRPr lang="en-US" sz="1100" dirty="0"/>
          </a:p>
        </p:txBody>
      </p:sp>
      <p:sp>
        <p:nvSpPr>
          <p:cNvPr id="51" name="tbl_c"/>
          <p:cNvSpPr txBox="1"/>
          <p:nvPr/>
        </p:nvSpPr>
        <p:spPr>
          <a:xfrm>
            <a:off x="7365194" y="243596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saver.Start(): two threads now run independently.</a:t>
            </a:r>
            <a:endParaRPr lang="en-US" sz="1100" dirty="0"/>
          </a:p>
        </p:txBody>
      </p:sp>
      <p:sp>
        <p:nvSpPr>
          <p:cNvPr id="52" name="tbl_row"/>
          <p:cNvSpPr/>
          <p:nvPr/>
        </p:nvSpPr>
        <p:spPr>
          <a:xfrm>
            <a:off x="5435194" y="2951680"/>
            <a:ext cx="6195060" cy="47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53" name="tbl_c"/>
          <p:cNvSpPr txBox="1"/>
          <p:nvPr/>
        </p:nvSpPr>
        <p:spPr>
          <a:xfrm>
            <a:off x="5563210" y="295168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Consolas"/>
                <a:ea typeface="Consolas"/>
                <a:cs typeface="Consolas"/>
              </a:rPr>
              <a:t>3</a:t>
            </a:r>
            <a:endParaRPr lang="en-US" sz="1100" dirty="0"/>
          </a:p>
        </p:txBody>
      </p:sp>
      <p:sp>
        <p:nvSpPr>
          <p:cNvPr id="54" name="tbl_c"/>
          <p:cNvSpPr txBox="1"/>
          <p:nvPr/>
        </p:nvSpPr>
        <p:spPr>
          <a:xfrm>
            <a:off x="6155194" y="295168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Worker</a:t>
            </a:r>
            <a:endParaRPr lang="en-US" sz="1100" dirty="0"/>
          </a:p>
        </p:txBody>
      </p:sp>
      <p:sp>
        <p:nvSpPr>
          <p:cNvPr id="55" name="tbl_c"/>
          <p:cNvSpPr txBox="1"/>
          <p:nvPr/>
        </p:nvSpPr>
        <p:spPr>
          <a:xfrm>
            <a:off x="7365194" y="295168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Thread.Sleep(2000): sleeps about 2 s. Main keeps going.</a:t>
            </a:r>
            <a:endParaRPr lang="en-US" sz="1100" dirty="0"/>
          </a:p>
        </p:txBody>
      </p:sp>
      <p:sp>
        <p:nvSpPr>
          <p:cNvPr id="56" name="tbl_row"/>
          <p:cNvSpPr/>
          <p:nvPr/>
        </p:nvSpPr>
        <p:spPr>
          <a:xfrm>
            <a:off x="5435194" y="3467400"/>
            <a:ext cx="6195060" cy="47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57" name="tbl_c"/>
          <p:cNvSpPr txBox="1"/>
          <p:nvPr/>
        </p:nvSpPr>
        <p:spPr>
          <a:xfrm>
            <a:off x="5563210" y="346740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4</a:t>
            </a:r>
            <a:endParaRPr lang="en-US" sz="1100" dirty="0"/>
          </a:p>
        </p:txBody>
      </p:sp>
      <p:sp>
        <p:nvSpPr>
          <p:cNvPr id="58" name="tbl_c"/>
          <p:cNvSpPr txBox="1"/>
          <p:nvPr/>
        </p:nvSpPr>
        <p:spPr>
          <a:xfrm>
            <a:off x="6155194" y="346740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Main</a:t>
            </a:r>
            <a:endParaRPr lang="en-US" sz="1100" dirty="0"/>
          </a:p>
        </p:txBody>
      </p:sp>
      <p:sp>
        <p:nvSpPr>
          <p:cNvPr id="59" name="tbl_c"/>
          <p:cNvSpPr txBox="1"/>
          <p:nvPr/>
        </p:nvSpPr>
        <p:spPr>
          <a:xfrm>
            <a:off x="7365194" y="346740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Prints "Main done", then Main finishes.</a:t>
            </a:r>
            <a:endParaRPr lang="en-US" sz="1100" dirty="0"/>
          </a:p>
        </p:txBody>
      </p:sp>
      <p:sp>
        <p:nvSpPr>
          <p:cNvPr id="60" name="tbl_row"/>
          <p:cNvSpPr/>
          <p:nvPr/>
        </p:nvSpPr>
        <p:spPr>
          <a:xfrm>
            <a:off x="5435194" y="3983120"/>
            <a:ext cx="6195060" cy="47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61" name="tbl_c"/>
          <p:cNvSpPr txBox="1"/>
          <p:nvPr/>
        </p:nvSpPr>
        <p:spPr>
          <a:xfrm>
            <a:off x="5563210" y="398312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5</a:t>
            </a:r>
            <a:endParaRPr lang="en-US" sz="1100" dirty="0"/>
          </a:p>
        </p:txBody>
      </p:sp>
      <p:sp>
        <p:nvSpPr>
          <p:cNvPr id="62" name="tbl_c"/>
          <p:cNvSpPr txBox="1"/>
          <p:nvPr/>
        </p:nvSpPr>
        <p:spPr>
          <a:xfrm>
            <a:off x="6155194" y="398312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Runtime</a:t>
            </a:r>
            <a:endParaRPr lang="en-US" sz="1100" dirty="0"/>
          </a:p>
        </p:txBody>
      </p:sp>
      <p:sp>
        <p:nvSpPr>
          <p:cNvPr id="63" name="tbl_c"/>
          <p:cNvSpPr txBox="1"/>
          <p:nvPr/>
        </p:nvSpPr>
        <p:spPr>
          <a:xfrm>
            <a:off x="7365194" y="398312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Exit now? No: saver is a foreground thread and still alive.</a:t>
            </a:r>
            <a:endParaRPr lang="en-US" sz="1100" dirty="0"/>
          </a:p>
        </p:txBody>
      </p:sp>
      <p:sp>
        <p:nvSpPr>
          <p:cNvPr id="64" name="tbl_row"/>
          <p:cNvSpPr/>
          <p:nvPr/>
        </p:nvSpPr>
        <p:spPr>
          <a:xfrm>
            <a:off x="5435194" y="4498840"/>
            <a:ext cx="6195060" cy="47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65" name="tbl_c"/>
          <p:cNvSpPr txBox="1"/>
          <p:nvPr/>
        </p:nvSpPr>
        <p:spPr>
          <a:xfrm>
            <a:off x="5563210" y="4498840"/>
            <a:ext cx="56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6</a:t>
            </a:r>
            <a:endParaRPr lang="en-US" sz="1100" dirty="0"/>
          </a:p>
        </p:txBody>
      </p:sp>
      <p:sp>
        <p:nvSpPr>
          <p:cNvPr id="66" name="tbl_c"/>
          <p:cNvSpPr txBox="1"/>
          <p:nvPr/>
        </p:nvSpPr>
        <p:spPr>
          <a:xfrm>
            <a:off x="6155194" y="4498840"/>
            <a:ext cx="115000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Worker</a:t>
            </a:r>
            <a:endParaRPr lang="en-US" sz="1100" dirty="0"/>
          </a:p>
        </p:txBody>
      </p:sp>
      <p:sp>
        <p:nvSpPr>
          <p:cNvPr id="67" name="tbl_c"/>
          <p:cNvSpPr txBox="1"/>
          <p:nvPr/>
        </p:nvSpPr>
        <p:spPr>
          <a:xfrm>
            <a:off x="7365194" y="4498840"/>
            <a:ext cx="4205060" cy="4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Prints "Order saved" and ends. No foreground threads left: the process exits.</a:t>
            </a:r>
            <a:endParaRPr lang="en-US" sz="1100" dirty="0"/>
          </a:p>
        </p:txBody>
      </p:sp>
      <p:sp>
        <p:nvSpPr>
          <p:cNvPr id="68"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The process stays alive while at least one foreground thread is still running, even after Main ends.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300"/>
                                        <p:tgtEl>
                                          <p:spTgt spid="4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3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3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300"/>
                                        <p:tgtEl>
                                          <p:spTgt spid="4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300"/>
                                        <p:tgtEl>
                                          <p:spTgt spid="4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fade">
                                      <p:cBhvr>
                                        <p:cTn id="72" dur="300"/>
                                        <p:tgtEl>
                                          <p:spTgt spid="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3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300"/>
                                        <p:tgtEl>
                                          <p:spTgt spid="4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fade">
                                      <p:cBhvr>
                                        <p:cTn id="81" dur="300"/>
                                        <p:tgtEl>
                                          <p:spTgt spid="4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300"/>
                                        <p:tgtEl>
                                          <p:spTgt spid="4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300"/>
                                        <p:tgtEl>
                                          <p:spTgt spid="5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300"/>
                                        <p:tgtEl>
                                          <p:spTgt spid="5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300"/>
                                        <p:tgtEl>
                                          <p:spTgt spid="5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fade">
                                      <p:cBhvr>
                                        <p:cTn id="98" dur="300"/>
                                        <p:tgtEl>
                                          <p:spTgt spid="5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fade">
                                      <p:cBhvr>
                                        <p:cTn id="101" dur="300"/>
                                        <p:tgtEl>
                                          <p:spTgt spid="5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5"/>
                                        </p:tgtEl>
                                        <p:attrNameLst>
                                          <p:attrName>style.visibility</p:attrName>
                                        </p:attrNameLst>
                                      </p:cBhvr>
                                      <p:to>
                                        <p:strVal val="visible"/>
                                      </p:to>
                                    </p:set>
                                    <p:animEffect transition="in" filter="fade">
                                      <p:cBhvr>
                                        <p:cTn id="104" dur="300"/>
                                        <p:tgtEl>
                                          <p:spTgt spid="5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300"/>
                                        <p:tgtEl>
                                          <p:spTgt spid="5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Effect transition="in" filter="fade">
                                      <p:cBhvr>
                                        <p:cTn id="110" dur="300"/>
                                        <p:tgtEl>
                                          <p:spTgt spid="5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8"/>
                                        </p:tgtEl>
                                        <p:attrNameLst>
                                          <p:attrName>style.visibility</p:attrName>
                                        </p:attrNameLst>
                                      </p:cBhvr>
                                      <p:to>
                                        <p:strVal val="visible"/>
                                      </p:to>
                                    </p:set>
                                    <p:animEffect transition="in" filter="fade">
                                      <p:cBhvr>
                                        <p:cTn id="113" dur="300"/>
                                        <p:tgtEl>
                                          <p:spTgt spid="5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9"/>
                                        </p:tgtEl>
                                        <p:attrNameLst>
                                          <p:attrName>style.visibility</p:attrName>
                                        </p:attrNameLst>
                                      </p:cBhvr>
                                      <p:to>
                                        <p:strVal val="visible"/>
                                      </p:to>
                                    </p:set>
                                    <p:animEffect transition="in" filter="fade">
                                      <p:cBhvr>
                                        <p:cTn id="116" dur="300"/>
                                        <p:tgtEl>
                                          <p:spTgt spid="59"/>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0"/>
                                        </p:tgtEl>
                                        <p:attrNameLst>
                                          <p:attrName>style.visibility</p:attrName>
                                        </p:attrNameLst>
                                      </p:cBhvr>
                                      <p:to>
                                        <p:strVal val="visible"/>
                                      </p:to>
                                    </p:set>
                                    <p:animEffect transition="in" filter="fade">
                                      <p:cBhvr>
                                        <p:cTn id="121" dur="300"/>
                                        <p:tgtEl>
                                          <p:spTgt spid="6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1"/>
                                        </p:tgtEl>
                                        <p:attrNameLst>
                                          <p:attrName>style.visibility</p:attrName>
                                        </p:attrNameLst>
                                      </p:cBhvr>
                                      <p:to>
                                        <p:strVal val="visible"/>
                                      </p:to>
                                    </p:set>
                                    <p:animEffect transition="in" filter="fade">
                                      <p:cBhvr>
                                        <p:cTn id="124" dur="300"/>
                                        <p:tgtEl>
                                          <p:spTgt spid="6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2"/>
                                        </p:tgtEl>
                                        <p:attrNameLst>
                                          <p:attrName>style.visibility</p:attrName>
                                        </p:attrNameLst>
                                      </p:cBhvr>
                                      <p:to>
                                        <p:strVal val="visible"/>
                                      </p:to>
                                    </p:set>
                                    <p:animEffect transition="in" filter="fade">
                                      <p:cBhvr>
                                        <p:cTn id="127" dur="300"/>
                                        <p:tgtEl>
                                          <p:spTgt spid="6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3"/>
                                        </p:tgtEl>
                                        <p:attrNameLst>
                                          <p:attrName>style.visibility</p:attrName>
                                        </p:attrNameLst>
                                      </p:cBhvr>
                                      <p:to>
                                        <p:strVal val="visible"/>
                                      </p:to>
                                    </p:set>
                                    <p:animEffect transition="in" filter="fade">
                                      <p:cBhvr>
                                        <p:cTn id="130" dur="300"/>
                                        <p:tgtEl>
                                          <p:spTgt spid="63"/>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64"/>
                                        </p:tgtEl>
                                        <p:attrNameLst>
                                          <p:attrName>style.visibility</p:attrName>
                                        </p:attrNameLst>
                                      </p:cBhvr>
                                      <p:to>
                                        <p:strVal val="visible"/>
                                      </p:to>
                                    </p:set>
                                    <p:animEffect transition="in" filter="fade">
                                      <p:cBhvr>
                                        <p:cTn id="135" dur="300"/>
                                        <p:tgtEl>
                                          <p:spTgt spid="6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5"/>
                                        </p:tgtEl>
                                        <p:attrNameLst>
                                          <p:attrName>style.visibility</p:attrName>
                                        </p:attrNameLst>
                                      </p:cBhvr>
                                      <p:to>
                                        <p:strVal val="visible"/>
                                      </p:to>
                                    </p:set>
                                    <p:animEffect transition="in" filter="fade">
                                      <p:cBhvr>
                                        <p:cTn id="138" dur="300"/>
                                        <p:tgtEl>
                                          <p:spTgt spid="6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6"/>
                                        </p:tgtEl>
                                        <p:attrNameLst>
                                          <p:attrName>style.visibility</p:attrName>
                                        </p:attrNameLst>
                                      </p:cBhvr>
                                      <p:to>
                                        <p:strVal val="visible"/>
                                      </p:to>
                                    </p:set>
                                    <p:animEffect transition="in" filter="fade">
                                      <p:cBhvr>
                                        <p:cTn id="141" dur="300"/>
                                        <p:tgtEl>
                                          <p:spTgt spid="6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7"/>
                                        </p:tgtEl>
                                        <p:attrNameLst>
                                          <p:attrName>style.visibility</p:attrName>
                                        </p:attrNameLst>
                                      </p:cBhvr>
                                      <p:to>
                                        <p:strVal val="visible"/>
                                      </p:to>
                                    </p:set>
                                    <p:animEffect transition="in" filter="fade">
                                      <p:cBhvr>
                                        <p:cTn id="144" dur="300"/>
                                        <p:tgtEl>
                                          <p:spTgt spid="67"/>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300"/>
                                        <p:tgtEl>
                                          <p:spTgt spid="31"/>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300"/>
                                        <p:tgtEl>
                                          <p:spTgt spid="3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300"/>
                                        <p:tgtEl>
                                          <p:spTgt spid="3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34"/>
                                        </p:tgtEl>
                                        <p:attrNameLst>
                                          <p:attrName>style.visibility</p:attrName>
                                        </p:attrNameLst>
                                      </p:cBhvr>
                                      <p:to>
                                        <p:strVal val="visible"/>
                                      </p:to>
                                    </p:set>
                                    <p:animEffect transition="in" filter="fade">
                                      <p:cBhvr>
                                        <p:cTn id="156" dur="300"/>
                                        <p:tgtEl>
                                          <p:spTgt spid="34"/>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35"/>
                                        </p:tgtEl>
                                        <p:attrNameLst>
                                          <p:attrName>style.visibility</p:attrName>
                                        </p:attrNameLst>
                                      </p:cBhvr>
                                      <p:to>
                                        <p:strVal val="visible"/>
                                      </p:to>
                                    </p:set>
                                    <p:animEffect transition="in" filter="fade">
                                      <p:cBhvr>
                                        <p:cTn id="159" dur="300"/>
                                        <p:tgtEl>
                                          <p:spTgt spid="35"/>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300"/>
                                        <p:tgtEl>
                                          <p:spTgt spid="36"/>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300"/>
                                        <p:tgtEl>
                                          <p:spTgt spid="37"/>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38"/>
                                        </p:tgtEl>
                                        <p:attrNameLst>
                                          <p:attrName>style.visibility</p:attrName>
                                        </p:attrNameLst>
                                      </p:cBhvr>
                                      <p:to>
                                        <p:strVal val="visible"/>
                                      </p:to>
                                    </p:set>
                                    <p:animEffect transition="in" filter="fade">
                                      <p:cBhvr>
                                        <p:cTn id="168" dur="300"/>
                                        <p:tgtEl>
                                          <p:spTgt spid="38"/>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Effect transition="in" filter="fade">
                                      <p:cBhvr>
                                        <p:cTn id="171" dur="300"/>
                                        <p:tgtEl>
                                          <p:spTgt spid="39"/>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grpId="0" nodeType="click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3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BACKGROUND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Background Threads Do Not Keep the Process Alive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29</a:t>
            </a:r>
            <a:endParaRPr lang="en-US" sz="850" dirty="0"/>
          </a:p>
        </p:txBody>
      </p:sp>
      <p:sp>
        <p:nvSpPr>
          <p:cNvPr id="15" name="cw_win"/>
          <p:cNvSpPr/>
          <p:nvPr/>
        </p:nvSpPr>
        <p:spPr>
          <a:xfrm>
            <a:off x="543154" y="1572768"/>
            <a:ext cx="4754880" cy="229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47548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47548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34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Background.cs</a:t>
            </a:r>
            <a:endParaRPr lang="en-US" sz="950" dirty="0"/>
          </a:p>
        </p:txBody>
      </p:sp>
      <p:sp>
        <p:nvSpPr>
          <p:cNvPr id="22" name="cw_hl05"/>
          <p:cNvSpPr/>
          <p:nvPr/>
        </p:nvSpPr>
        <p:spPr>
          <a:xfrm>
            <a:off x="676656" y="3049728"/>
            <a:ext cx="4487876"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23" name="cw_L00"/>
          <p:cNvSpPr txBox="1"/>
          <p:nvPr/>
        </p:nvSpPr>
        <p:spPr>
          <a:xfrm>
            <a:off x="771754" y="200121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Thread saver = </a:t>
            </a:r>
            <a:r>
              <a:rPr lang="en-US" sz="1050" b="0"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Thread(() =&gt;</a:t>
            </a:r>
            <a:endParaRPr lang="en-US" sz="1050" dirty="0"/>
          </a:p>
        </p:txBody>
      </p:sp>
      <p:sp>
        <p:nvSpPr>
          <p:cNvPr id="24" name="cw_L01"/>
          <p:cNvSpPr txBox="1"/>
          <p:nvPr/>
        </p:nvSpPr>
        <p:spPr>
          <a:xfrm>
            <a:off x="771754" y="221457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5" name="cw_L02"/>
          <p:cNvSpPr txBox="1"/>
          <p:nvPr/>
        </p:nvSpPr>
        <p:spPr>
          <a:xfrm>
            <a:off x="771754" y="2427936"/>
            <a:ext cx="43708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26" name="cw_L03"/>
          <p:cNvSpPr txBox="1"/>
          <p:nvPr/>
        </p:nvSpPr>
        <p:spPr>
          <a:xfrm>
            <a:off x="771754" y="2641296"/>
            <a:ext cx="43708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"Order saved"</a:t>
            </a:r>
            <a:r>
              <a:rPr lang="en-US" sz="1050" b="0" dirty="0">
                <a:solidFill>
                  <a:srgbClr val="E2E8F0"/>
                </a:solidFill>
                <a:latin typeface="Consolas"/>
                <a:ea typeface="Consolas"/>
                <a:cs typeface="Consolas"/>
              </a:rPr>
              <a:t>);</a:t>
            </a:r>
            <a:endParaRPr lang="en-US" sz="1050" dirty="0"/>
          </a:p>
        </p:txBody>
      </p:sp>
      <p:sp>
        <p:nvSpPr>
          <p:cNvPr id="27" name="cw_L04"/>
          <p:cNvSpPr txBox="1"/>
          <p:nvPr/>
        </p:nvSpPr>
        <p:spPr>
          <a:xfrm>
            <a:off x="771754" y="285465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5"/>
          <p:cNvSpPr txBox="1"/>
          <p:nvPr/>
        </p:nvSpPr>
        <p:spPr>
          <a:xfrm>
            <a:off x="771754" y="306801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saver.IsBackground = </a:t>
            </a:r>
            <a:r>
              <a:rPr lang="en-US" sz="1050" b="0" dirty="0">
                <a:solidFill>
                  <a:srgbClr val="60A5FA"/>
                </a:solidFill>
                <a:latin typeface="Consolas"/>
                <a:ea typeface="Consolas"/>
                <a:cs typeface="Consolas"/>
              </a:rPr>
              <a:t>true</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the only change</a:t>
            </a:r>
            <a:endParaRPr lang="en-US" sz="1050" dirty="0"/>
          </a:p>
        </p:txBody>
      </p:sp>
      <p:sp>
        <p:nvSpPr>
          <p:cNvPr id="29" name="cw_L06"/>
          <p:cNvSpPr txBox="1"/>
          <p:nvPr/>
        </p:nvSpPr>
        <p:spPr>
          <a:xfrm>
            <a:off x="771754" y="328137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saver.Start();</a:t>
            </a:r>
            <a:endParaRPr lang="en-US" sz="1050" dirty="0"/>
          </a:p>
        </p:txBody>
      </p:sp>
      <p:sp>
        <p:nvSpPr>
          <p:cNvPr id="30" name="cw_L07"/>
          <p:cNvSpPr txBox="1"/>
          <p:nvPr/>
        </p:nvSpPr>
        <p:spPr>
          <a:xfrm>
            <a:off x="771754" y="3494736"/>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"Main done"</a:t>
            </a:r>
            <a:r>
              <a:rPr lang="en-US" sz="1050" b="0" dirty="0">
                <a:solidFill>
                  <a:srgbClr val="E2E8F0"/>
                </a:solidFill>
                <a:latin typeface="Consolas"/>
                <a:ea typeface="Consolas"/>
                <a:cs typeface="Consolas"/>
              </a:rPr>
              <a:t>);</a:t>
            </a:r>
            <a:endParaRPr lang="en-US" sz="1050" dirty="0"/>
          </a:p>
        </p:txBody>
      </p:sp>
      <p:sp>
        <p:nvSpPr>
          <p:cNvPr id="31" name="out_win"/>
          <p:cNvSpPr/>
          <p:nvPr/>
        </p:nvSpPr>
        <p:spPr>
          <a:xfrm>
            <a:off x="543154" y="3985256"/>
            <a:ext cx="4754880" cy="92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2" name="out_bar"/>
          <p:cNvSpPr/>
          <p:nvPr/>
        </p:nvSpPr>
        <p:spPr>
          <a:xfrm>
            <a:off x="543154" y="3985256"/>
            <a:ext cx="47548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3" name="out_barfill"/>
          <p:cNvSpPr/>
          <p:nvPr/>
        </p:nvSpPr>
        <p:spPr>
          <a:xfrm>
            <a:off x="543154" y="4156706"/>
            <a:ext cx="4754880" cy="171450"/>
          </a:xfrm>
          <a:prstGeom prst="rect">
            <a:avLst/>
          </a:prstGeom>
          <a:solidFill>
            <a:srgbClr val="0A1220"/>
          </a:solidFill>
          <a:ln w="12700">
            <a:solidFill>
              <a:srgbClr val="0A1220"/>
            </a:solidFill>
            <a:prstDash val="solid"/>
          </a:ln>
        </p:spPr>
        <p:txBody>
          <a:bodyPr/>
          <a:lstStyle/>
          <a:p>
            <a:endParaRPr lang="en-US"/>
          </a:p>
        </p:txBody>
      </p:sp>
      <p:sp>
        <p:nvSpPr>
          <p:cNvPr id="34" name="out_dot0"/>
          <p:cNvSpPr/>
          <p:nvPr/>
        </p:nvSpPr>
        <p:spPr>
          <a:xfrm>
            <a:off x="705002" y="4109066"/>
            <a:ext cx="95098" cy="95098"/>
          </a:xfrm>
          <a:prstGeom prst="ellipse">
            <a:avLst/>
          </a:prstGeom>
          <a:solidFill>
            <a:srgbClr val="F87171"/>
          </a:solidFill>
          <a:ln w="12700">
            <a:solidFill>
              <a:srgbClr val="F87171"/>
            </a:solidFill>
            <a:prstDash val="solid"/>
          </a:ln>
        </p:spPr>
        <p:txBody>
          <a:bodyPr/>
          <a:lstStyle/>
          <a:p>
            <a:endParaRPr lang="en-US"/>
          </a:p>
        </p:txBody>
      </p:sp>
      <p:sp>
        <p:nvSpPr>
          <p:cNvPr id="35" name="out_dot1"/>
          <p:cNvSpPr/>
          <p:nvPr/>
        </p:nvSpPr>
        <p:spPr>
          <a:xfrm>
            <a:off x="890626" y="4109066"/>
            <a:ext cx="95098" cy="95098"/>
          </a:xfrm>
          <a:prstGeom prst="ellipse">
            <a:avLst/>
          </a:prstGeom>
          <a:solidFill>
            <a:srgbClr val="FBBF24"/>
          </a:solidFill>
          <a:ln w="12700">
            <a:solidFill>
              <a:srgbClr val="FBBF24"/>
            </a:solidFill>
            <a:prstDash val="solid"/>
          </a:ln>
        </p:spPr>
        <p:txBody>
          <a:bodyPr/>
          <a:lstStyle/>
          <a:p>
            <a:endParaRPr lang="en-US"/>
          </a:p>
        </p:txBody>
      </p:sp>
      <p:sp>
        <p:nvSpPr>
          <p:cNvPr id="36" name="out_dot2"/>
          <p:cNvSpPr/>
          <p:nvPr/>
        </p:nvSpPr>
        <p:spPr>
          <a:xfrm>
            <a:off x="1076250" y="4109066"/>
            <a:ext cx="95098" cy="95098"/>
          </a:xfrm>
          <a:prstGeom prst="ellipse">
            <a:avLst/>
          </a:prstGeom>
          <a:solidFill>
            <a:srgbClr val="34D399"/>
          </a:solidFill>
          <a:ln w="12700">
            <a:solidFill>
              <a:srgbClr val="34D399"/>
            </a:solidFill>
            <a:prstDash val="solid"/>
          </a:ln>
        </p:spPr>
        <p:txBody>
          <a:bodyPr/>
          <a:lstStyle/>
          <a:p>
            <a:endParaRPr lang="en-US"/>
          </a:p>
        </p:txBody>
      </p:sp>
      <p:sp>
        <p:nvSpPr>
          <p:cNvPr id="37" name="out_tab"/>
          <p:cNvSpPr/>
          <p:nvPr/>
        </p:nvSpPr>
        <p:spPr>
          <a:xfrm>
            <a:off x="1324051" y="403280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8" name="out_L00"/>
          <p:cNvSpPr txBox="1"/>
          <p:nvPr/>
        </p:nvSpPr>
        <p:spPr>
          <a:xfrm>
            <a:off x="771754" y="4413704"/>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Main done</a:t>
            </a:r>
            <a:endParaRPr lang="en-US" sz="1050" dirty="0"/>
          </a:p>
        </p:txBody>
      </p:sp>
      <p:sp>
        <p:nvSpPr>
          <p:cNvPr id="39" name="out_L01"/>
          <p:cNvSpPr txBox="1"/>
          <p:nvPr/>
        </p:nvSpPr>
        <p:spPr>
          <a:xfrm>
            <a:off x="771754" y="4627064"/>
            <a:ext cx="43708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F87171"/>
                </a:solidFill>
                <a:latin typeface="Consolas"/>
                <a:ea typeface="Consolas"/>
                <a:cs typeface="Consolas"/>
              </a:rPr>
              <a:t>(process exits: no 'Order saved')</a:t>
            </a:r>
            <a:endParaRPr lang="en-US" sz="1050" dirty="0"/>
          </a:p>
        </p:txBody>
      </p:sp>
      <p:sp>
        <p:nvSpPr>
          <p:cNvPr id="40" name="tbl_head"/>
          <p:cNvSpPr/>
          <p:nvPr/>
        </p:nvSpPr>
        <p:spPr>
          <a:xfrm>
            <a:off x="5435194" y="1572768"/>
            <a:ext cx="619506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1" name="tbl_h"/>
          <p:cNvSpPr txBox="1"/>
          <p:nvPr/>
        </p:nvSpPr>
        <p:spPr>
          <a:xfrm>
            <a:off x="5563210" y="1572768"/>
            <a:ext cx="26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THREAD</a:t>
            </a:r>
            <a:endParaRPr lang="en-US" sz="1000" dirty="0"/>
          </a:p>
        </p:txBody>
      </p:sp>
      <p:sp>
        <p:nvSpPr>
          <p:cNvPr id="42" name="tbl_h"/>
          <p:cNvSpPr txBox="1"/>
          <p:nvPr/>
        </p:nvSpPr>
        <p:spPr>
          <a:xfrm>
            <a:off x="8335194" y="1572768"/>
            <a:ext cx="31950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STATE AFTER MAIN PRINTS</a:t>
            </a:r>
            <a:endParaRPr lang="en-US" sz="1000" dirty="0"/>
          </a:p>
        </p:txBody>
      </p:sp>
      <p:sp>
        <p:nvSpPr>
          <p:cNvPr id="43" name="tbl_row"/>
          <p:cNvSpPr/>
          <p:nvPr/>
        </p:nvSpPr>
        <p:spPr>
          <a:xfrm>
            <a:off x="5435194" y="1920240"/>
            <a:ext cx="6195060" cy="40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44" name="tbl_c"/>
          <p:cNvSpPr txBox="1"/>
          <p:nvPr/>
        </p:nvSpPr>
        <p:spPr>
          <a:xfrm>
            <a:off x="5563210" y="1920240"/>
            <a:ext cx="260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A78BFA"/>
                </a:solidFill>
                <a:latin typeface="Segoe UI"/>
                <a:ea typeface="Segoe UI"/>
                <a:cs typeface="Segoe UI"/>
              </a:rPr>
              <a:t>Main thread</a:t>
            </a:r>
            <a:endParaRPr lang="en-US" sz="1150" dirty="0"/>
          </a:p>
        </p:txBody>
      </p:sp>
      <p:sp>
        <p:nvSpPr>
          <p:cNvPr id="45" name="tbl_c"/>
          <p:cNvSpPr txBox="1"/>
          <p:nvPr/>
        </p:nvSpPr>
        <p:spPr>
          <a:xfrm>
            <a:off x="8335194" y="1920240"/>
            <a:ext cx="319506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Finished</a:t>
            </a:r>
            <a:endParaRPr lang="en-US" sz="1150" dirty="0"/>
          </a:p>
        </p:txBody>
      </p:sp>
      <p:sp>
        <p:nvSpPr>
          <p:cNvPr id="46" name="tbl_row"/>
          <p:cNvSpPr/>
          <p:nvPr/>
        </p:nvSpPr>
        <p:spPr>
          <a:xfrm>
            <a:off x="5435194" y="2365960"/>
            <a:ext cx="6195060" cy="40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47" name="tbl_c"/>
          <p:cNvSpPr txBox="1"/>
          <p:nvPr/>
        </p:nvSpPr>
        <p:spPr>
          <a:xfrm>
            <a:off x="5563210" y="2365960"/>
            <a:ext cx="260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Segoe UI"/>
                <a:ea typeface="Segoe UI"/>
                <a:cs typeface="Segoe UI"/>
              </a:rPr>
              <a:t>Worker (saver)</a:t>
            </a:r>
            <a:endParaRPr lang="en-US" sz="1150" dirty="0"/>
          </a:p>
        </p:txBody>
      </p:sp>
      <p:sp>
        <p:nvSpPr>
          <p:cNvPr id="48" name="tbl_c"/>
          <p:cNvSpPr txBox="1"/>
          <p:nvPr/>
        </p:nvSpPr>
        <p:spPr>
          <a:xfrm>
            <a:off x="8335194" y="2365960"/>
            <a:ext cx="319506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Sleeping, background</a:t>
            </a:r>
            <a:endParaRPr lang="en-US" sz="1150" dirty="0"/>
          </a:p>
        </p:txBody>
      </p:sp>
      <p:sp>
        <p:nvSpPr>
          <p:cNvPr id="49" name="card"/>
          <p:cNvSpPr/>
          <p:nvPr/>
        </p:nvSpPr>
        <p:spPr>
          <a:xfrm>
            <a:off x="5435194" y="2903120"/>
            <a:ext cx="6195060" cy="90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NO FOREGROUND THREADS LEFT</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The runtime can end the process without waiting for saver. Typical, not guaranteed: thread timing decides.</a:t>
            </a:r>
            <a:endParaRPr lang="en-US" sz="1150" dirty="0"/>
          </a:p>
        </p:txBody>
      </p:sp>
      <p:sp>
        <p:nvSpPr>
          <p:cNvPr id="50" name="card"/>
          <p:cNvSpPr/>
          <p:nvPr/>
        </p:nvSpPr>
        <p:spPr>
          <a:xfrm>
            <a:off x="5435194" y="3940280"/>
            <a:ext cx="6195060" cy="102800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MISCONCEPTION: BACKGROUND DOES NOT MEAN</a:t>
            </a:r>
            <a:endParaRPr lang="en-US" sz="1000" dirty="0"/>
          </a:p>
          <a:p>
            <a:pPr marL="0" indent="0" algn="l">
              <a:spcBef>
                <a:spcPts val="0"/>
              </a:spcBef>
              <a:spcAft>
                <a:spcPts val="250"/>
              </a:spcAft>
              <a:buNone/>
            </a:pPr>
            <a:r>
              <a:rPr lang="en-US" sz="1150" b="0" dirty="0">
                <a:solidFill>
                  <a:srgbClr val="CBD5E1"/>
                </a:solidFill>
                <a:latin typeface="Segoe UI"/>
                <a:ea typeface="Segoe UI"/>
                <a:cs typeface="Segoe UI"/>
              </a:rPr>
              <a:t>asynchronous  ·  lower priority  ·  slower  ·  runs only when Main is idle</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Both kinds run concurrently. The flag only decides whether the thread keeps the process alive.</a:t>
            </a:r>
            <a:endParaRPr lang="en-US" sz="1150" dirty="0"/>
          </a:p>
        </p:txBody>
      </p:sp>
      <p:sp>
        <p:nvSpPr>
          <p:cNvPr id="51"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 background thread never keeps the process alive: don't use one for work that must finish.</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3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3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300"/>
                                        <p:tgtEl>
                                          <p:spTgt spid="3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300"/>
                                        <p:tgtEl>
                                          <p:spTgt spid="3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3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300"/>
                                        <p:tgtEl>
                                          <p:spTgt spid="3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fade">
                                      <p:cBhvr>
                                        <p:cTn id="81" dur="300"/>
                                        <p:tgtEl>
                                          <p:spTgt spid="3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3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3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3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3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3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3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300"/>
                                        <p:tgtEl>
                                          <p:spTgt spid="4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300"/>
                                        <p:tgtEl>
                                          <p:spTgt spid="4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300"/>
                                        <p:tgtEl>
                                          <p:spTgt spid="48"/>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300"/>
                                        <p:tgtEl>
                                          <p:spTgt spid="49"/>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300"/>
                                        <p:tgtEl>
                                          <p:spTgt spid="50"/>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51"/>
                                        </p:tgtEl>
                                        <p:attrNameLst>
                                          <p:attrName>style.visibility</p:attrName>
                                        </p:attrNameLst>
                                      </p:cBhvr>
                                      <p:to>
                                        <p:strVal val="visible"/>
                                      </p:to>
                                    </p:set>
                                    <p:animEffect transition="in" filter="fade">
                                      <p:cBhvr>
                                        <p:cTn id="125" dur="3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Background Thread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30</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What does this program print?</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Thread t = </a:t>
            </a:r>
            <a:r>
              <a:rPr lang="en-US" sz="1150" b="0" dirty="0">
                <a:solidFill>
                  <a:srgbClr val="60A5FA"/>
                </a:solidFill>
                <a:latin typeface="Consolas"/>
                <a:ea typeface="Consolas"/>
                <a:cs typeface="Consolas"/>
              </a:rPr>
              <a:t>new</a:t>
            </a:r>
            <a:r>
              <a:rPr lang="en-US" sz="1150" b="0" dirty="0">
                <a:solidFill>
                  <a:srgbClr val="E2E8F0"/>
                </a:solidFill>
                <a:latin typeface="Consolas"/>
                <a:ea typeface="Consolas"/>
                <a:cs typeface="Consolas"/>
              </a:rPr>
              <a:t> Thread(() =&gt;</a:t>
            </a:r>
            <a:endParaRPr lang="en-US" sz="1150" dirty="0"/>
          </a:p>
        </p:txBody>
      </p:sp>
      <p:sp>
        <p:nvSpPr>
          <p:cNvPr id="24" name="cw_L01"/>
          <p:cNvSpPr txBox="1"/>
          <p:nvPr/>
        </p:nvSpPr>
        <p:spPr>
          <a:xfrm>
            <a:off x="771754" y="241909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5" name="cw_L02"/>
          <p:cNvSpPr txBox="1"/>
          <p:nvPr/>
        </p:nvSpPr>
        <p:spPr>
          <a:xfrm>
            <a:off x="771754" y="2652776"/>
            <a:ext cx="537667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Thread.Sleep(1000);</a:t>
            </a:r>
            <a:endParaRPr lang="en-US" sz="1150" dirty="0"/>
          </a:p>
        </p:txBody>
      </p:sp>
      <p:sp>
        <p:nvSpPr>
          <p:cNvPr id="26" name="cw_L03"/>
          <p:cNvSpPr txBox="1"/>
          <p:nvPr/>
        </p:nvSpPr>
        <p:spPr>
          <a:xfrm>
            <a:off x="771754" y="2886456"/>
            <a:ext cx="537667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"B"</a:t>
            </a:r>
            <a:r>
              <a:rPr lang="en-US" sz="1150" b="0" dirty="0">
                <a:solidFill>
                  <a:srgbClr val="E2E8F0"/>
                </a:solidFill>
                <a:latin typeface="Consolas"/>
                <a:ea typeface="Consolas"/>
                <a:cs typeface="Consolas"/>
              </a:rPr>
              <a:t>);</a:t>
            </a:r>
            <a:endParaRPr lang="en-US" sz="1150" dirty="0"/>
          </a:p>
        </p:txBody>
      </p:sp>
      <p:sp>
        <p:nvSpPr>
          <p:cNvPr id="27" name="cw_L04"/>
          <p:cNvSpPr txBox="1"/>
          <p:nvPr/>
        </p:nvSpPr>
        <p:spPr>
          <a:xfrm>
            <a:off x="771754" y="312013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8" name="cw_L05"/>
          <p:cNvSpPr txBox="1"/>
          <p:nvPr/>
        </p:nvSpPr>
        <p:spPr>
          <a:xfrm>
            <a:off x="771754" y="335381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t.IsBackground = </a:t>
            </a:r>
            <a:r>
              <a:rPr lang="en-US" sz="1150" b="0" dirty="0">
                <a:solidFill>
                  <a:srgbClr val="60A5FA"/>
                </a:solidFill>
                <a:latin typeface="Consolas"/>
                <a:ea typeface="Consolas"/>
                <a:cs typeface="Consolas"/>
              </a:rPr>
              <a:t>true</a:t>
            </a:r>
            <a:r>
              <a:rPr lang="en-US" sz="1150" b="0" dirty="0">
                <a:solidFill>
                  <a:srgbClr val="E2E8F0"/>
                </a:solidFill>
                <a:latin typeface="Consolas"/>
                <a:ea typeface="Consolas"/>
                <a:cs typeface="Consolas"/>
              </a:rPr>
              <a:t>;</a:t>
            </a:r>
            <a:endParaRPr lang="en-US" sz="1150" dirty="0"/>
          </a:p>
        </p:txBody>
      </p:sp>
      <p:sp>
        <p:nvSpPr>
          <p:cNvPr id="29" name="cw_L06"/>
          <p:cNvSpPr txBox="1"/>
          <p:nvPr/>
        </p:nvSpPr>
        <p:spPr>
          <a:xfrm>
            <a:off x="771754" y="358749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t.Start();</a:t>
            </a:r>
            <a:endParaRPr lang="en-US" sz="1150" dirty="0"/>
          </a:p>
        </p:txBody>
      </p:sp>
      <p:sp>
        <p:nvSpPr>
          <p:cNvPr id="30" name="cw_L07"/>
          <p:cNvSpPr txBox="1"/>
          <p:nvPr/>
        </p:nvSpPr>
        <p:spPr>
          <a:xfrm>
            <a:off x="771754" y="3821176"/>
            <a:ext cx="537667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"A"</a:t>
            </a:r>
            <a:r>
              <a:rPr lang="en-US" sz="1150" b="0" dirty="0">
                <a:solidFill>
                  <a:srgbClr val="E2E8F0"/>
                </a:solidFill>
                <a:latin typeface="Consolas"/>
                <a:ea typeface="Consolas"/>
                <a:cs typeface="Consolas"/>
              </a:rPr>
              <a:t>);</a:t>
            </a:r>
            <a:endParaRPr lang="en-US" sz="1150" dirty="0"/>
          </a:p>
        </p:txBody>
      </p:sp>
      <p:sp>
        <p:nvSpPr>
          <p:cNvPr id="31"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A, then B</a:t>
            </a:r>
            <a:endParaRPr lang="en-US" sz="1400" dirty="0"/>
          </a:p>
        </p:txBody>
      </p:sp>
      <p:sp>
        <p:nvSpPr>
          <p:cNvPr id="32"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B, then A</a:t>
            </a:r>
            <a:endParaRPr lang="en-US" sz="1400" dirty="0"/>
          </a:p>
        </p:txBody>
      </p:sp>
      <p:sp>
        <p:nvSpPr>
          <p:cNvPr id="33"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Only A</a:t>
            </a:r>
            <a:endParaRPr lang="en-US" sz="1400" dirty="0"/>
          </a:p>
        </p:txBody>
      </p:sp>
      <p:sp>
        <p:nvSpPr>
          <p:cNvPr id="34"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Only B</a:t>
            </a:r>
            <a:endParaRPr lang="en-US" sz="1400" dirty="0"/>
          </a:p>
        </p:txBody>
      </p:sp>
      <p:sp>
        <p:nvSpPr>
          <p:cNvPr id="35" name="answer_mark"/>
          <p:cNvSpPr/>
          <p:nvPr/>
        </p:nvSpPr>
        <p:spPr>
          <a:xfrm>
            <a:off x="6532474" y="3282696"/>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C   </a:t>
            </a:r>
            <a:r>
              <a:rPr lang="en-US" sz="1400" b="1" dirty="0">
                <a:solidFill>
                  <a:srgbClr val="34D399"/>
                </a:solidFill>
                <a:latin typeface="Segoe UI"/>
                <a:ea typeface="Segoe UI"/>
                <a:cs typeface="Segoe UI"/>
              </a:rPr>
              <a:t>Only A</a:t>
            </a:r>
            <a:endParaRPr lang="en-US" sz="1400" dirty="0"/>
          </a:p>
        </p:txBody>
      </p:sp>
      <p:sp>
        <p:nvSpPr>
          <p:cNvPr id="36"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C   </a:t>
            </a:r>
            <a:r>
              <a:rPr lang="en-US" sz="1450" b="0" dirty="0">
                <a:solidFill>
                  <a:srgbClr val="FFFFFF"/>
                </a:solidFill>
                <a:latin typeface="Segoe UI"/>
                <a:ea typeface="Segoe UI"/>
                <a:cs typeface="Segoe UI"/>
              </a:rPr>
              <a:t>Main prints A and ends. The only thread left is a background thread, so the process exits before B is printed.</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25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25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50"/>
                                        <p:tgtEl>
                                          <p:spTgt spid="3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250"/>
                                        <p:tgtEl>
                                          <p:spTgt spid="3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animBg="1"/>
      <p:bldP spid="32" grpId="0" animBg="1"/>
      <p:bldP spid="33" grpId="0" animBg="1"/>
      <p:bldP spid="34" grpId="0" animBg="1"/>
      <p:bldP spid="35" grpId="0" animBg="1"/>
      <p:bldP spid="3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PART 3</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31</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03</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When Threads Share Data</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Race conditions, locks, atomic operations, semaphores and deadlocks.</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The last meal  ·  Flash sale demo  ·  Why it oversells  ·  Critical section  ·  lock  ·  What lock really locks  ·  Acquire and release  ·  Run it again  ·  lock vs Interlocked  ·  Interlocked limits  ·  Many servers  ·  What not to lock on  ·  Shared wallet  ·  SemaphoreSlim  ·  Deadlock  ·  Quizzes</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RACE CONDITION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Real World: Two Customers, One Last Meal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32</a:t>
            </a:r>
            <a:endParaRPr lang="en-US" sz="850" dirty="0"/>
          </a:p>
        </p:txBody>
      </p:sp>
      <p:sp>
        <p:nvSpPr>
          <p:cNvPr id="15" name="cw_win"/>
          <p:cNvSpPr/>
          <p:nvPr/>
        </p:nvSpPr>
        <p:spPr>
          <a:xfrm>
            <a:off x="543154" y="1572768"/>
            <a:ext cx="5120640" cy="1828800"/>
          </a:xfrm>
          <a:prstGeom prst="roundRect">
            <a:avLst>
              <a:gd name="adj" fmla="val 375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1206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Order.cs</a:t>
            </a:r>
            <a:endParaRPr lang="en-US" sz="950" dirty="0"/>
          </a:p>
        </p:txBody>
      </p:sp>
      <p:sp>
        <p:nvSpPr>
          <p:cNvPr id="22" name="cw_L00"/>
          <p:cNvSpPr txBox="1"/>
          <p:nvPr/>
        </p:nvSpPr>
        <p:spPr>
          <a:xfrm>
            <a:off x="771754" y="2048256"/>
            <a:ext cx="4736592" cy="2438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00" b="0" dirty="0">
                <a:solidFill>
                  <a:srgbClr val="60A5FA"/>
                </a:solidFill>
                <a:latin typeface="Consolas"/>
                <a:ea typeface="Consolas"/>
                <a:cs typeface="Consolas"/>
              </a:rPr>
              <a:t>if</a:t>
            </a:r>
            <a:r>
              <a:rPr lang="en-US" sz="1200" b="0" dirty="0">
                <a:solidFill>
                  <a:srgbClr val="E2E8F0"/>
                </a:solidFill>
                <a:latin typeface="Consolas"/>
                <a:ea typeface="Consolas"/>
                <a:cs typeface="Consolas"/>
              </a:rPr>
              <a:t> (availableMeals &gt; 0)       </a:t>
            </a:r>
            <a:r>
              <a:rPr lang="en-US" sz="1200" b="0" dirty="0">
                <a:solidFill>
                  <a:srgbClr val="6FAE7A"/>
                </a:solidFill>
                <a:latin typeface="Consolas"/>
                <a:ea typeface="Consolas"/>
                <a:cs typeface="Consolas"/>
              </a:rPr>
              <a:t>// check</a:t>
            </a:r>
            <a:endParaRPr lang="en-US" sz="1200" dirty="0"/>
          </a:p>
        </p:txBody>
      </p:sp>
      <p:sp>
        <p:nvSpPr>
          <p:cNvPr id="23" name="cw_L01"/>
          <p:cNvSpPr txBox="1"/>
          <p:nvPr/>
        </p:nvSpPr>
        <p:spPr>
          <a:xfrm>
            <a:off x="771754" y="2292096"/>
            <a:ext cx="4736592" cy="2438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00" b="0" dirty="0">
                <a:solidFill>
                  <a:srgbClr val="E2E8F0"/>
                </a:solidFill>
                <a:latin typeface="Consolas"/>
                <a:ea typeface="Consolas"/>
                <a:cs typeface="Consolas"/>
              </a:rPr>
              <a:t>{</a:t>
            </a:r>
            <a:endParaRPr lang="en-US" sz="1200" dirty="0"/>
          </a:p>
        </p:txBody>
      </p:sp>
      <p:sp>
        <p:nvSpPr>
          <p:cNvPr id="24" name="cw_L02"/>
          <p:cNvSpPr txBox="1"/>
          <p:nvPr/>
        </p:nvSpPr>
        <p:spPr>
          <a:xfrm>
            <a:off x="771754" y="2535936"/>
            <a:ext cx="4736592" cy="243840"/>
          </a:xfrm>
          <a:prstGeom prst="rect">
            <a:avLst/>
          </a:prstGeom>
          <a:noFill/>
          <a:ln>
            <a:noFill/>
          </a:ln>
        </p:spPr>
        <p:txBody>
          <a:bodyPr wrap="none" lIns="0" tIns="0" rIns="0" bIns="0" rtlCol="0" anchor="ctr">
            <a:noAutofit/>
          </a:bodyPr>
          <a:lstStyle/>
          <a:p>
            <a:pPr marL="335280" indent="0" algn="l">
              <a:spcBef>
                <a:spcPts val="0"/>
              </a:spcBef>
              <a:spcAft>
                <a:spcPts val="0"/>
              </a:spcAft>
              <a:buNone/>
            </a:pPr>
            <a:r>
              <a:rPr lang="en-US" sz="1200" b="0" dirty="0">
                <a:solidFill>
                  <a:srgbClr val="E2E8F0"/>
                </a:solidFill>
                <a:latin typeface="Consolas"/>
                <a:ea typeface="Consolas"/>
                <a:cs typeface="Consolas"/>
              </a:rPr>
              <a:t>availableMeals--;         </a:t>
            </a:r>
            <a:r>
              <a:rPr lang="en-US" sz="1200" b="0" dirty="0">
                <a:solidFill>
                  <a:srgbClr val="6FAE7A"/>
                </a:solidFill>
                <a:latin typeface="Consolas"/>
                <a:ea typeface="Consolas"/>
                <a:cs typeface="Consolas"/>
              </a:rPr>
              <a:t>// act</a:t>
            </a:r>
            <a:endParaRPr lang="en-US" sz="1200" dirty="0"/>
          </a:p>
        </p:txBody>
      </p:sp>
      <p:sp>
        <p:nvSpPr>
          <p:cNvPr id="25" name="cw_L03"/>
          <p:cNvSpPr txBox="1"/>
          <p:nvPr/>
        </p:nvSpPr>
        <p:spPr>
          <a:xfrm>
            <a:off x="771754" y="2779776"/>
            <a:ext cx="4736592" cy="243840"/>
          </a:xfrm>
          <a:prstGeom prst="rect">
            <a:avLst/>
          </a:prstGeom>
          <a:noFill/>
          <a:ln>
            <a:noFill/>
          </a:ln>
        </p:spPr>
        <p:txBody>
          <a:bodyPr wrap="none" lIns="0" tIns="0" rIns="0" bIns="0" rtlCol="0" anchor="ctr">
            <a:noAutofit/>
          </a:bodyPr>
          <a:lstStyle/>
          <a:p>
            <a:pPr marL="335280" indent="0" algn="l">
              <a:spcBef>
                <a:spcPts val="0"/>
              </a:spcBef>
              <a:spcAft>
                <a:spcPts val="0"/>
              </a:spcAft>
              <a:buNone/>
            </a:pPr>
            <a:r>
              <a:rPr lang="en-US" sz="1200" b="0" dirty="0">
                <a:solidFill>
                  <a:srgbClr val="E2E8F0"/>
                </a:solidFill>
                <a:latin typeface="Consolas"/>
                <a:ea typeface="Consolas"/>
                <a:cs typeface="Consolas"/>
              </a:rPr>
              <a:t>Console.WriteLine(</a:t>
            </a:r>
            <a:r>
              <a:rPr lang="en-US" sz="1200" b="0" dirty="0">
                <a:solidFill>
                  <a:srgbClr val="F0A98B"/>
                </a:solidFill>
                <a:latin typeface="Consolas"/>
                <a:ea typeface="Consolas"/>
                <a:cs typeface="Consolas"/>
              </a:rPr>
              <a:t>"Meal sold!"</a:t>
            </a:r>
            <a:r>
              <a:rPr lang="en-US" sz="1200" b="0" dirty="0">
                <a:solidFill>
                  <a:srgbClr val="E2E8F0"/>
                </a:solidFill>
                <a:latin typeface="Consolas"/>
                <a:ea typeface="Consolas"/>
                <a:cs typeface="Consolas"/>
              </a:rPr>
              <a:t>);</a:t>
            </a:r>
            <a:endParaRPr lang="en-US" sz="1200" dirty="0"/>
          </a:p>
        </p:txBody>
      </p:sp>
      <p:sp>
        <p:nvSpPr>
          <p:cNvPr id="26" name="cw_L04"/>
          <p:cNvSpPr txBox="1"/>
          <p:nvPr/>
        </p:nvSpPr>
        <p:spPr>
          <a:xfrm>
            <a:off x="771754" y="3023616"/>
            <a:ext cx="4736592" cy="2438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00" b="0" dirty="0">
                <a:solidFill>
                  <a:srgbClr val="E2E8F0"/>
                </a:solidFill>
                <a:latin typeface="Consolas"/>
                <a:ea typeface="Consolas"/>
                <a:cs typeface="Consolas"/>
              </a:rPr>
              <a:t>}</a:t>
            </a:r>
            <a:endParaRPr lang="en-US" sz="1200" dirty="0"/>
          </a:p>
        </p:txBody>
      </p:sp>
      <p:sp>
        <p:nvSpPr>
          <p:cNvPr id="27" name="card"/>
          <p:cNvSpPr/>
          <p:nvPr/>
        </p:nvSpPr>
        <p:spPr>
          <a:xfrm>
            <a:off x="543154" y="3538728"/>
            <a:ext cx="5120640" cy="1344168"/>
          </a:xfrm>
          <a:prstGeom prst="roundRect">
            <a:avLst>
              <a:gd name="adj" fmla="val 6122"/>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F87171"/>
                </a:solidFill>
                <a:latin typeface="Segoe UI"/>
                <a:ea typeface="Segoe UI"/>
                <a:cs typeface="Segoe UI"/>
              </a:rPr>
              <a:t>CHECK-THEN-ACT</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Another thread can run between the check and the act.</a:t>
            </a:r>
            <a:endParaRPr lang="en-US" sz="1300" dirty="0"/>
          </a:p>
        </p:txBody>
      </p:sp>
      <p:sp>
        <p:nvSpPr>
          <p:cNvPr id="28" name="lab"/>
          <p:cNvSpPr txBox="1"/>
          <p:nvPr/>
        </p:nvSpPr>
        <p:spPr>
          <a:xfrm>
            <a:off x="5938114" y="1572768"/>
            <a:ext cx="201168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available meals</a:t>
            </a:r>
            <a:endParaRPr lang="en-US" sz="1050" dirty="0"/>
          </a:p>
        </p:txBody>
      </p:sp>
      <p:sp>
        <p:nvSpPr>
          <p:cNvPr id="29" name="box"/>
          <p:cNvSpPr/>
          <p:nvPr/>
        </p:nvSpPr>
        <p:spPr>
          <a:xfrm>
            <a:off x="5938114" y="1847088"/>
            <a:ext cx="1463040" cy="64008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1</a:t>
            </a:r>
            <a:endParaRPr lang="en-US" sz="1800" dirty="0"/>
          </a:p>
        </p:txBody>
      </p:sp>
      <p:sp>
        <p:nvSpPr>
          <p:cNvPr id="30" name="box"/>
          <p:cNvSpPr/>
          <p:nvPr/>
        </p:nvSpPr>
        <p:spPr>
          <a:xfrm>
            <a:off x="5938114" y="1847088"/>
            <a:ext cx="1463040" cy="64008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0</a:t>
            </a:r>
            <a:endParaRPr lang="en-US" sz="1800" dirty="0"/>
          </a:p>
        </p:txBody>
      </p:sp>
      <p:sp>
        <p:nvSpPr>
          <p:cNvPr id="31" name="box"/>
          <p:cNvSpPr/>
          <p:nvPr/>
        </p:nvSpPr>
        <p:spPr>
          <a:xfrm>
            <a:off x="5938114" y="1847088"/>
            <a:ext cx="1463040" cy="64008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87171"/>
                </a:solidFill>
                <a:latin typeface="Consolas"/>
                <a:ea typeface="Consolas"/>
                <a:cs typeface="Consolas"/>
              </a:rPr>
              <a:t>-1</a:t>
            </a:r>
            <a:endParaRPr lang="en-US" sz="1800" dirty="0"/>
          </a:p>
        </p:txBody>
      </p:sp>
      <p:sp>
        <p:nvSpPr>
          <p:cNvPr id="32" name="lab"/>
          <p:cNvSpPr txBox="1"/>
          <p:nvPr/>
        </p:nvSpPr>
        <p:spPr>
          <a:xfrm>
            <a:off x="5938114" y="2761488"/>
            <a:ext cx="12801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Customer A</a:t>
            </a:r>
            <a:endParaRPr lang="en-US" sz="1100" dirty="0"/>
          </a:p>
        </p:txBody>
      </p:sp>
      <p:sp>
        <p:nvSpPr>
          <p:cNvPr id="33" name="lane"/>
          <p:cNvSpPr/>
          <p:nvPr/>
        </p:nvSpPr>
        <p:spPr>
          <a:xfrm>
            <a:off x="7309714" y="3200400"/>
            <a:ext cx="4320540" cy="18288"/>
          </a:xfrm>
          <a:prstGeom prst="rect">
            <a:avLst/>
          </a:prstGeom>
          <a:solidFill>
            <a:srgbClr val="1E3A5F"/>
          </a:solidFill>
          <a:ln w="12700">
            <a:solidFill>
              <a:srgbClr val="1E3A5F"/>
            </a:solidFill>
            <a:prstDash val="solid"/>
          </a:ln>
        </p:spPr>
        <p:txBody>
          <a:bodyPr/>
          <a:lstStyle/>
          <a:p>
            <a:endParaRPr lang="en-US"/>
          </a:p>
        </p:txBody>
      </p:sp>
      <p:sp>
        <p:nvSpPr>
          <p:cNvPr id="34" name="lab"/>
          <p:cNvSpPr txBox="1"/>
          <p:nvPr/>
        </p:nvSpPr>
        <p:spPr>
          <a:xfrm>
            <a:off x="5938114" y="3584448"/>
            <a:ext cx="12801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Customer B</a:t>
            </a:r>
            <a:endParaRPr lang="en-US" sz="1100" dirty="0"/>
          </a:p>
        </p:txBody>
      </p:sp>
      <p:sp>
        <p:nvSpPr>
          <p:cNvPr id="35" name="lane"/>
          <p:cNvSpPr/>
          <p:nvPr/>
        </p:nvSpPr>
        <p:spPr>
          <a:xfrm>
            <a:off x="7309714" y="4023360"/>
            <a:ext cx="4320540" cy="18288"/>
          </a:xfrm>
          <a:prstGeom prst="rect">
            <a:avLst/>
          </a:prstGeom>
          <a:solidFill>
            <a:srgbClr val="1E3A5F"/>
          </a:solidFill>
          <a:ln w="12700">
            <a:solidFill>
              <a:srgbClr val="1E3A5F"/>
            </a:solidFill>
            <a:prstDash val="solid"/>
          </a:ln>
        </p:spPr>
        <p:txBody>
          <a:bodyPr/>
          <a:lstStyle/>
          <a:p>
            <a:endParaRPr lang="en-US"/>
          </a:p>
        </p:txBody>
      </p:sp>
      <p:sp>
        <p:nvSpPr>
          <p:cNvPr id="36" name="bar"/>
          <p:cNvSpPr/>
          <p:nvPr/>
        </p:nvSpPr>
        <p:spPr>
          <a:xfrm>
            <a:off x="7355434" y="2788920"/>
            <a:ext cx="1002411"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sees 1</a:t>
            </a:r>
            <a:endParaRPr lang="en-US" sz="1000" dirty="0"/>
          </a:p>
        </p:txBody>
      </p:sp>
      <p:sp>
        <p:nvSpPr>
          <p:cNvPr id="37" name="bar"/>
          <p:cNvSpPr/>
          <p:nvPr/>
        </p:nvSpPr>
        <p:spPr>
          <a:xfrm>
            <a:off x="8412709" y="3611880"/>
            <a:ext cx="1002411"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sees 1</a:t>
            </a:r>
            <a:endParaRPr lang="en-US" sz="1000" dirty="0"/>
          </a:p>
        </p:txBody>
      </p:sp>
      <p:sp>
        <p:nvSpPr>
          <p:cNvPr id="38" name="bar"/>
          <p:cNvSpPr/>
          <p:nvPr/>
        </p:nvSpPr>
        <p:spPr>
          <a:xfrm>
            <a:off x="9469984" y="2788920"/>
            <a:ext cx="1002411"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sold!</a:t>
            </a:r>
            <a:endParaRPr lang="en-US" sz="1000" dirty="0"/>
          </a:p>
        </p:txBody>
      </p:sp>
      <p:sp>
        <p:nvSpPr>
          <p:cNvPr id="39" name="bar"/>
          <p:cNvSpPr/>
          <p:nvPr/>
        </p:nvSpPr>
        <p:spPr>
          <a:xfrm>
            <a:off x="10527259" y="3611880"/>
            <a:ext cx="1002411" cy="384048"/>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sold again!</a:t>
            </a:r>
            <a:endParaRPr lang="en-US" sz="1000" dirty="0"/>
          </a:p>
        </p:txBody>
      </p:sp>
      <p:sp>
        <p:nvSpPr>
          <p:cNvPr id="40" name="lab"/>
          <p:cNvSpPr txBox="1"/>
          <p:nvPr/>
        </p:nvSpPr>
        <p:spPr>
          <a:xfrm>
            <a:off x="7675474" y="1984248"/>
            <a:ext cx="38633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Segoe UI"/>
                <a:ea typeface="Segoe UI"/>
                <a:cs typeface="Segoe UI"/>
              </a:rPr>
              <a:t>one meal, two happy customers... for now</a:t>
            </a:r>
            <a:endParaRPr lang="en-US" sz="1150" dirty="0"/>
          </a:p>
        </p:txBody>
      </p:sp>
      <p:sp>
        <p:nvSpPr>
          <p:cNvPr id="41"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 race condition: the result depends on which thread happens to run first.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25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25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5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25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25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25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25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xit" presetSubtype="0" fill="hold" grpId="1" nodeType="withEffect">
                                  <p:stCondLst>
                                    <p:cond delay="0"/>
                                  </p:stCondLst>
                                  <p:childTnLst>
                                    <p:animEffect transition="out" filter="fade">
                                      <p:cBhvr>
                                        <p:cTn id="57" dur="250"/>
                                        <p:tgtEl>
                                          <p:spTgt spid="29"/>
                                        </p:tgtEl>
                                      </p:cBhvr>
                                    </p:animEffect>
                                    <p:set>
                                      <p:cBhvr>
                                        <p:cTn id="58" dur="1" fill="hold">
                                          <p:stCondLst>
                                            <p:cond delay="249"/>
                                          </p:stCondLst>
                                        </p:cTn>
                                        <p:tgtEl>
                                          <p:spTgt spid="2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250"/>
                                        <p:tgtEl>
                                          <p:spTgt spid="2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25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25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250"/>
                                        <p:tgtEl>
                                          <p:spTgt spid="40"/>
                                        </p:tgtEl>
                                      </p:cBhvr>
                                    </p:animEffect>
                                  </p:childTnLst>
                                </p:cTn>
                              </p:par>
                              <p:par>
                                <p:cTn id="73" presetID="10" presetClass="exit" presetSubtype="0" fill="hold" grpId="1" nodeType="withEffect">
                                  <p:stCondLst>
                                    <p:cond delay="0"/>
                                  </p:stCondLst>
                                  <p:childTnLst>
                                    <p:animEffect transition="out" filter="fade">
                                      <p:cBhvr>
                                        <p:cTn id="74" dur="250"/>
                                        <p:tgtEl>
                                          <p:spTgt spid="30"/>
                                        </p:tgtEl>
                                      </p:cBhvr>
                                    </p:animEffect>
                                    <p:set>
                                      <p:cBhvr>
                                        <p:cTn id="75" dur="1" fill="hold">
                                          <p:stCondLst>
                                            <p:cond delay="249"/>
                                          </p:stCondLst>
                                        </p:cTn>
                                        <p:tgtEl>
                                          <p:spTgt spid="30"/>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p:bldP spid="29" grpId="0" animBg="1"/>
      <p:bldP spid="29" grpId="1" animBg="1"/>
      <p:bldP spid="30" grpId="0" animBg="1"/>
      <p:bldP spid="30" grpId="1" animBg="1"/>
      <p:bldP spid="31" grpId="0" animBg="1"/>
      <p:bldP spid="32" grpId="0"/>
      <p:bldP spid="33" grpId="0" animBg="1"/>
      <p:bldP spid="34" grpId="0"/>
      <p:bldP spid="35" grpId="0" animBg="1"/>
      <p:bldP spid="36" grpId="0" animBg="1"/>
      <p:bldP spid="37" grpId="0" animBg="1"/>
      <p:bldP spid="38" grpId="0" animBg="1"/>
      <p:bldP spid="39" grpId="0" animBg="1"/>
      <p:bldP spid="40" grpId="0"/>
      <p:bldP spid="4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LIVE DEMO</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Live Demo: The Flash Sale Oversells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33</a:t>
            </a:r>
            <a:endParaRPr lang="en-US" sz="850" dirty="0"/>
          </a:p>
        </p:txBody>
      </p:sp>
      <p:sp>
        <p:nvSpPr>
          <p:cNvPr id="15" name="cw_win"/>
          <p:cNvSpPr/>
          <p:nvPr/>
        </p:nvSpPr>
        <p:spPr>
          <a:xfrm>
            <a:off x="543154" y="1572768"/>
            <a:ext cx="603504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FlashSale sale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23" name="cw_L01"/>
          <p:cNvSpPr txBox="1"/>
          <p:nvPr/>
        </p:nvSpPr>
        <p:spPr>
          <a:xfrm>
            <a:off x="771754" y="22412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customers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Thread[50];</a:t>
            </a:r>
            <a:endParaRPr lang="en-US" sz="950" dirty="0"/>
          </a:p>
        </p:txBody>
      </p:sp>
      <p:sp>
        <p:nvSpPr>
          <p:cNvPr id="24" name="cw_L02"/>
          <p:cNvSpPr txBox="1"/>
          <p:nvPr/>
        </p:nvSpPr>
        <p:spPr>
          <a:xfrm>
            <a:off x="771754" y="24343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 = 0; i &lt; 50; i++)</a:t>
            </a:r>
            <a:endParaRPr lang="en-US" sz="950" dirty="0"/>
          </a:p>
        </p:txBody>
      </p:sp>
      <p:sp>
        <p:nvSpPr>
          <p:cNvPr id="25" name="cw_L03"/>
          <p:cNvSpPr txBox="1"/>
          <p:nvPr/>
        </p:nvSpPr>
        <p:spPr>
          <a:xfrm>
            <a:off x="771754" y="26273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6" name="cw_L04"/>
          <p:cNvSpPr txBox="1"/>
          <p:nvPr/>
        </p:nvSpPr>
        <p:spPr>
          <a:xfrm>
            <a:off x="771754" y="282041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customers[i]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Thread(sale.Buy);</a:t>
            </a:r>
            <a:endParaRPr lang="en-US" sz="950" dirty="0"/>
          </a:p>
        </p:txBody>
      </p:sp>
      <p:sp>
        <p:nvSpPr>
          <p:cNvPr id="27" name="cw_L05"/>
          <p:cNvSpPr txBox="1"/>
          <p:nvPr/>
        </p:nvSpPr>
        <p:spPr>
          <a:xfrm>
            <a:off x="771754" y="301345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customers[i].Start();</a:t>
            </a:r>
            <a:endParaRPr lang="en-US" sz="950" dirty="0"/>
          </a:p>
        </p:txBody>
      </p:sp>
      <p:sp>
        <p:nvSpPr>
          <p:cNvPr id="28" name="cw_L06"/>
          <p:cNvSpPr txBox="1"/>
          <p:nvPr/>
        </p:nvSpPr>
        <p:spPr>
          <a:xfrm>
            <a:off x="771754" y="32064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_L07"/>
          <p:cNvSpPr txBox="1"/>
          <p:nvPr/>
        </p:nvSpPr>
        <p:spPr>
          <a:xfrm>
            <a:off x="771754" y="33995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foreach</a:t>
            </a:r>
            <a:r>
              <a:rPr lang="en-US" sz="950" b="0" dirty="0">
                <a:solidFill>
                  <a:srgbClr val="E2E8F0"/>
                </a:solidFill>
                <a:latin typeface="Consolas"/>
                <a:ea typeface="Consolas"/>
                <a:cs typeface="Consolas"/>
              </a:rPr>
              <a:t> (Thread c </a:t>
            </a:r>
            <a:r>
              <a:rPr lang="en-US" sz="950" b="0" dirty="0">
                <a:solidFill>
                  <a:srgbClr val="60A5FA"/>
                </a:solidFill>
                <a:latin typeface="Consolas"/>
                <a:ea typeface="Consolas"/>
                <a:cs typeface="Consolas"/>
              </a:rPr>
              <a:t>in</a:t>
            </a:r>
            <a:r>
              <a:rPr lang="en-US" sz="950" b="0" dirty="0">
                <a:solidFill>
                  <a:srgbClr val="E2E8F0"/>
                </a:solidFill>
                <a:latin typeface="Consolas"/>
                <a:ea typeface="Consolas"/>
                <a:cs typeface="Consolas"/>
              </a:rPr>
              <a:t> customers) c.Join();</a:t>
            </a:r>
            <a:endParaRPr lang="en-US" sz="950" dirty="0"/>
          </a:p>
        </p:txBody>
      </p:sp>
      <p:sp>
        <p:nvSpPr>
          <p:cNvPr id="30" name="cw_L08"/>
          <p:cNvSpPr txBox="1"/>
          <p:nvPr/>
        </p:nvSpPr>
        <p:spPr>
          <a:xfrm>
            <a:off x="771754" y="35925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$"Sold {sale.Sold}, stock left {sale.Stock}"</a:t>
            </a:r>
            <a:r>
              <a:rPr lang="en-US" sz="950" b="0" dirty="0">
                <a:solidFill>
                  <a:srgbClr val="E2E8F0"/>
                </a:solidFill>
                <a:latin typeface="Consolas"/>
                <a:ea typeface="Consolas"/>
                <a:cs typeface="Consolas"/>
              </a:rPr>
              <a:t>);</a:t>
            </a:r>
            <a:endParaRPr lang="en-US" sz="950" dirty="0"/>
          </a:p>
        </p:txBody>
      </p:sp>
      <p:sp>
        <p:nvSpPr>
          <p:cNvPr id="31" name="cw_L09"/>
          <p:cNvSpPr txBox="1"/>
          <p:nvPr/>
        </p:nvSpPr>
        <p:spPr>
          <a:xfrm>
            <a:off x="771754" y="37856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FlashSale</a:t>
            </a:r>
            <a:endParaRPr lang="en-US" sz="950" dirty="0"/>
          </a:p>
        </p:txBody>
      </p:sp>
      <p:sp>
        <p:nvSpPr>
          <p:cNvPr id="32" name="cw_L10"/>
          <p:cNvSpPr txBox="1"/>
          <p:nvPr/>
        </p:nvSpPr>
        <p:spPr>
          <a:xfrm>
            <a:off x="771754" y="39786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_L11"/>
          <p:cNvSpPr txBox="1"/>
          <p:nvPr/>
        </p:nvSpPr>
        <p:spPr>
          <a:xfrm>
            <a:off x="771754" y="417169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Stock = 10;                     </a:t>
            </a:r>
            <a:r>
              <a:rPr lang="en-US" sz="950" b="0" dirty="0">
                <a:solidFill>
                  <a:srgbClr val="6FAE7A"/>
                </a:solidFill>
                <a:latin typeface="Consolas"/>
                <a:ea typeface="Consolas"/>
                <a:cs typeface="Consolas"/>
              </a:rPr>
              <a:t>// 10 meals at half price</a:t>
            </a:r>
            <a:endParaRPr lang="en-US" sz="950" dirty="0"/>
          </a:p>
        </p:txBody>
      </p:sp>
      <p:sp>
        <p:nvSpPr>
          <p:cNvPr id="34" name="cw_L12"/>
          <p:cNvSpPr txBox="1"/>
          <p:nvPr/>
        </p:nvSpPr>
        <p:spPr>
          <a:xfrm>
            <a:off x="771754" y="436473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Sold;</a:t>
            </a:r>
            <a:endParaRPr lang="en-US" sz="950" dirty="0"/>
          </a:p>
        </p:txBody>
      </p:sp>
      <p:sp>
        <p:nvSpPr>
          <p:cNvPr id="35" name="cw_L13"/>
          <p:cNvSpPr txBox="1"/>
          <p:nvPr/>
        </p:nvSpPr>
        <p:spPr>
          <a:xfrm>
            <a:off x="771754" y="455777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36" name="cw_L14"/>
          <p:cNvSpPr txBox="1"/>
          <p:nvPr/>
        </p:nvSpPr>
        <p:spPr>
          <a:xfrm>
            <a:off x="771754" y="475081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7" name="cw_L15"/>
          <p:cNvSpPr txBox="1"/>
          <p:nvPr/>
        </p:nvSpPr>
        <p:spPr>
          <a:xfrm>
            <a:off x="771754" y="4943856"/>
            <a:ext cx="565099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&lt;= 0) </a:t>
            </a: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check</a:t>
            </a:r>
            <a:endParaRPr lang="en-US" sz="950" dirty="0"/>
          </a:p>
        </p:txBody>
      </p:sp>
      <p:sp>
        <p:nvSpPr>
          <p:cNvPr id="38" name="cw_L16"/>
          <p:cNvSpPr txBox="1"/>
          <p:nvPr/>
        </p:nvSpPr>
        <p:spPr>
          <a:xfrm>
            <a:off x="771754" y="5136896"/>
            <a:ext cx="565099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Thread.Sleep(10);                      </a:t>
            </a:r>
            <a:r>
              <a:rPr lang="en-US" sz="950" b="0" dirty="0">
                <a:solidFill>
                  <a:srgbClr val="6FAE7A"/>
                </a:solidFill>
                <a:latin typeface="Consolas"/>
                <a:ea typeface="Consolas"/>
                <a:cs typeface="Consolas"/>
              </a:rPr>
              <a:t>// charging the card...</a:t>
            </a:r>
            <a:endParaRPr lang="en-US" sz="950" dirty="0"/>
          </a:p>
        </p:txBody>
      </p:sp>
      <p:sp>
        <p:nvSpPr>
          <p:cNvPr id="39" name="cw_L17"/>
          <p:cNvSpPr txBox="1"/>
          <p:nvPr/>
        </p:nvSpPr>
        <p:spPr>
          <a:xfrm>
            <a:off x="771754" y="5329936"/>
            <a:ext cx="565099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 Sold++;                       </a:t>
            </a:r>
            <a:r>
              <a:rPr lang="en-US" sz="950" b="0" dirty="0">
                <a:solidFill>
                  <a:srgbClr val="6FAE7A"/>
                </a:solidFill>
                <a:latin typeface="Consolas"/>
                <a:ea typeface="Consolas"/>
                <a:cs typeface="Consolas"/>
              </a:rPr>
              <a:t>// act</a:t>
            </a:r>
            <a:endParaRPr lang="en-US" sz="950" dirty="0"/>
          </a:p>
        </p:txBody>
      </p:sp>
      <p:sp>
        <p:nvSpPr>
          <p:cNvPr id="40" name="cw_L18"/>
          <p:cNvSpPr txBox="1"/>
          <p:nvPr/>
        </p:nvSpPr>
        <p:spPr>
          <a:xfrm>
            <a:off x="771754" y="552297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1" name="cw_L19"/>
          <p:cNvSpPr txBox="1"/>
          <p:nvPr/>
        </p:nvSpPr>
        <p:spPr>
          <a:xfrm>
            <a:off x="771754" y="57160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2" name="cmark"/>
          <p:cNvSpPr/>
          <p:nvPr/>
        </p:nvSpPr>
        <p:spPr>
          <a:xfrm>
            <a:off x="676656" y="4925568"/>
            <a:ext cx="5768035" cy="229616"/>
          </a:xfrm>
          <a:prstGeom prst="rect">
            <a:avLst/>
          </a:prstGeom>
          <a:solidFill>
            <a:srgbClr val="FBBF24">
              <a:alpha val="16000"/>
            </a:srgbClr>
          </a:solidFill>
          <a:ln w="15875">
            <a:solidFill>
              <a:srgbClr val="FBBF24"/>
            </a:solidFill>
            <a:prstDash val="solid"/>
          </a:ln>
        </p:spPr>
        <p:txBody>
          <a:bodyPr/>
          <a:lstStyle/>
          <a:p>
            <a:endParaRPr lang="en-US"/>
          </a:p>
        </p:txBody>
      </p:sp>
      <p:sp>
        <p:nvSpPr>
          <p:cNvPr id="43" name="cmark"/>
          <p:cNvSpPr/>
          <p:nvPr/>
        </p:nvSpPr>
        <p:spPr>
          <a:xfrm>
            <a:off x="676656" y="5118608"/>
            <a:ext cx="5768035" cy="229616"/>
          </a:xfrm>
          <a:prstGeom prst="rect">
            <a:avLst/>
          </a:prstGeom>
          <a:solidFill>
            <a:srgbClr val="F87171">
              <a:alpha val="16000"/>
            </a:srgbClr>
          </a:solidFill>
          <a:ln w="15875">
            <a:solidFill>
              <a:srgbClr val="F87171"/>
            </a:solidFill>
            <a:prstDash val="solid"/>
          </a:ln>
        </p:spPr>
        <p:txBody>
          <a:bodyPr/>
          <a:lstStyle/>
          <a:p>
            <a:endParaRPr lang="en-US"/>
          </a:p>
        </p:txBody>
      </p:sp>
      <p:sp>
        <p:nvSpPr>
          <p:cNvPr id="44" name="card"/>
          <p:cNvSpPr/>
          <p:nvPr/>
        </p:nvSpPr>
        <p:spPr>
          <a:xfrm>
            <a:off x="6852514" y="1572768"/>
            <a:ext cx="4777740" cy="685800"/>
          </a:xfrm>
          <a:prstGeom prst="roundRect">
            <a:avLst>
              <a:gd name="adj" fmla="val 12000"/>
            </a:avLst>
          </a:prstGeom>
          <a:solidFill>
            <a:srgbClr val="111B2E"/>
          </a:solidFill>
          <a:ln w="12700">
            <a:solidFill>
              <a:srgbClr val="34D399"/>
            </a:solidFill>
            <a:prstDash val="solid"/>
          </a:ln>
        </p:spPr>
        <p:txBody>
          <a:bodyPr wrap="square" lIns="182880" tIns="18288" rIns="137160" bIns="18288" rtlCol="0" anchor="ctr">
            <a:noAutofit/>
          </a:bodyPr>
          <a:lstStyle/>
          <a:p>
            <a:pPr marL="0" indent="0" algn="l">
              <a:spcBef>
                <a:spcPts val="0"/>
              </a:spcBef>
              <a:spcAft>
                <a:spcPts val="0"/>
              </a:spcAft>
              <a:buNone/>
            </a:pPr>
            <a:r>
              <a:rPr lang="en-US" sz="1300" b="1" dirty="0">
                <a:solidFill>
                  <a:srgbClr val="34D399"/>
                </a:solidFill>
                <a:latin typeface="Segoe UI"/>
                <a:ea typeface="Segoe UI"/>
                <a:cs typeface="Segoe UI"/>
              </a:rPr>
              <a:t>EXPECTED   </a:t>
            </a:r>
            <a:r>
              <a:rPr lang="en-US" sz="1300" b="1" dirty="0">
                <a:solidFill>
                  <a:srgbClr val="FFFFFF"/>
                </a:solidFill>
                <a:latin typeface="Consolas"/>
                <a:ea typeface="Consolas"/>
                <a:cs typeface="Consolas"/>
              </a:rPr>
              <a:t>Sold 10, stock left 0</a:t>
            </a:r>
            <a:endParaRPr lang="en-US" sz="1300" dirty="0"/>
          </a:p>
        </p:txBody>
      </p:sp>
      <p:sp>
        <p:nvSpPr>
          <p:cNvPr id="45" name="out_win"/>
          <p:cNvSpPr/>
          <p:nvPr/>
        </p:nvSpPr>
        <p:spPr>
          <a:xfrm>
            <a:off x="6852514" y="2395728"/>
            <a:ext cx="4777740" cy="1280160"/>
          </a:xfrm>
          <a:prstGeom prst="roundRect">
            <a:avLst>
              <a:gd name="adj" fmla="val 5357"/>
            </a:avLst>
          </a:prstGeom>
          <a:solidFill>
            <a:srgbClr val="060D18"/>
          </a:solidFill>
          <a:ln w="12700">
            <a:solidFill>
              <a:srgbClr val="1E3A5F"/>
            </a:solidFill>
            <a:prstDash val="solid"/>
          </a:ln>
        </p:spPr>
        <p:txBody>
          <a:bodyPr/>
          <a:lstStyle/>
          <a:p>
            <a:endParaRPr lang="en-US"/>
          </a:p>
        </p:txBody>
      </p:sp>
      <p:sp>
        <p:nvSpPr>
          <p:cNvPr id="46" name="out_bar"/>
          <p:cNvSpPr/>
          <p:nvPr/>
        </p:nvSpPr>
        <p:spPr>
          <a:xfrm>
            <a:off x="6852514" y="239572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7" name="out_barfill"/>
          <p:cNvSpPr/>
          <p:nvPr/>
        </p:nvSpPr>
        <p:spPr>
          <a:xfrm>
            <a:off x="6852514" y="2567178"/>
            <a:ext cx="4777740" cy="171450"/>
          </a:xfrm>
          <a:prstGeom prst="rect">
            <a:avLst/>
          </a:prstGeom>
          <a:solidFill>
            <a:srgbClr val="0A1220"/>
          </a:solidFill>
          <a:ln w="12700">
            <a:solidFill>
              <a:srgbClr val="0A1220"/>
            </a:solidFill>
            <a:prstDash val="solid"/>
          </a:ln>
        </p:spPr>
        <p:txBody>
          <a:bodyPr/>
          <a:lstStyle/>
          <a:p>
            <a:endParaRPr lang="en-US"/>
          </a:p>
        </p:txBody>
      </p:sp>
      <p:sp>
        <p:nvSpPr>
          <p:cNvPr id="48" name="out_dot0"/>
          <p:cNvSpPr/>
          <p:nvPr/>
        </p:nvSpPr>
        <p:spPr>
          <a:xfrm>
            <a:off x="7014362" y="2519538"/>
            <a:ext cx="95098" cy="95098"/>
          </a:xfrm>
          <a:prstGeom prst="ellipse">
            <a:avLst/>
          </a:prstGeom>
          <a:solidFill>
            <a:srgbClr val="F87171"/>
          </a:solidFill>
          <a:ln w="12700">
            <a:solidFill>
              <a:srgbClr val="F87171"/>
            </a:solidFill>
            <a:prstDash val="solid"/>
          </a:ln>
        </p:spPr>
        <p:txBody>
          <a:bodyPr/>
          <a:lstStyle/>
          <a:p>
            <a:endParaRPr lang="en-US"/>
          </a:p>
        </p:txBody>
      </p:sp>
      <p:sp>
        <p:nvSpPr>
          <p:cNvPr id="49" name="out_dot1"/>
          <p:cNvSpPr/>
          <p:nvPr/>
        </p:nvSpPr>
        <p:spPr>
          <a:xfrm>
            <a:off x="7199986" y="2519538"/>
            <a:ext cx="95098" cy="95098"/>
          </a:xfrm>
          <a:prstGeom prst="ellipse">
            <a:avLst/>
          </a:prstGeom>
          <a:solidFill>
            <a:srgbClr val="FBBF24"/>
          </a:solidFill>
          <a:ln w="12700">
            <a:solidFill>
              <a:srgbClr val="FBBF24"/>
            </a:solidFill>
            <a:prstDash val="solid"/>
          </a:ln>
        </p:spPr>
        <p:txBody>
          <a:bodyPr/>
          <a:lstStyle/>
          <a:p>
            <a:endParaRPr lang="en-US"/>
          </a:p>
        </p:txBody>
      </p:sp>
      <p:sp>
        <p:nvSpPr>
          <p:cNvPr id="50" name="out_dot2"/>
          <p:cNvSpPr/>
          <p:nvPr/>
        </p:nvSpPr>
        <p:spPr>
          <a:xfrm>
            <a:off x="7385609" y="2519538"/>
            <a:ext cx="95098" cy="95098"/>
          </a:xfrm>
          <a:prstGeom prst="ellipse">
            <a:avLst/>
          </a:prstGeom>
          <a:solidFill>
            <a:srgbClr val="34D399"/>
          </a:solidFill>
          <a:ln w="12700">
            <a:solidFill>
              <a:srgbClr val="34D399"/>
            </a:solidFill>
            <a:prstDash val="solid"/>
          </a:ln>
        </p:spPr>
        <p:txBody>
          <a:bodyPr/>
          <a:lstStyle/>
          <a:p>
            <a:endParaRPr lang="en-US"/>
          </a:p>
        </p:txBody>
      </p:sp>
      <p:sp>
        <p:nvSpPr>
          <p:cNvPr id="51" name="out_tab"/>
          <p:cNvSpPr/>
          <p:nvPr/>
        </p:nvSpPr>
        <p:spPr>
          <a:xfrm>
            <a:off x="7633411" y="2443277"/>
            <a:ext cx="13030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Actual (varies)</a:t>
            </a:r>
            <a:endParaRPr lang="en-US" sz="950" dirty="0"/>
          </a:p>
        </p:txBody>
      </p:sp>
      <p:sp>
        <p:nvSpPr>
          <p:cNvPr id="52" name="out_L00"/>
          <p:cNvSpPr txBox="1"/>
          <p:nvPr/>
        </p:nvSpPr>
        <p:spPr>
          <a:xfrm>
            <a:off x="7081114" y="2871216"/>
            <a:ext cx="43936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F87171"/>
                </a:solidFill>
                <a:latin typeface="Consolas"/>
                <a:ea typeface="Consolas"/>
                <a:cs typeface="Consolas"/>
              </a:rPr>
              <a:t>Run 1: Sold 50, stock left -40</a:t>
            </a:r>
            <a:endParaRPr lang="en-US" sz="1050" dirty="0"/>
          </a:p>
        </p:txBody>
      </p:sp>
      <p:sp>
        <p:nvSpPr>
          <p:cNvPr id="53" name="out_L01"/>
          <p:cNvSpPr txBox="1"/>
          <p:nvPr/>
        </p:nvSpPr>
        <p:spPr>
          <a:xfrm>
            <a:off x="7081114" y="3084576"/>
            <a:ext cx="43936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F87171"/>
                </a:solidFill>
                <a:latin typeface="Consolas"/>
                <a:ea typeface="Consolas"/>
                <a:cs typeface="Consolas"/>
              </a:rPr>
              <a:t>Run 2: Sold 23, stock left -13</a:t>
            </a:r>
            <a:endParaRPr lang="en-US" sz="1050" dirty="0"/>
          </a:p>
        </p:txBody>
      </p:sp>
      <p:sp>
        <p:nvSpPr>
          <p:cNvPr id="54" name="out_L02"/>
          <p:cNvSpPr txBox="1"/>
          <p:nvPr/>
        </p:nvSpPr>
        <p:spPr>
          <a:xfrm>
            <a:off x="7081114" y="3297936"/>
            <a:ext cx="43936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F87171"/>
                </a:solidFill>
                <a:latin typeface="Consolas"/>
                <a:ea typeface="Consolas"/>
                <a:cs typeface="Consolas"/>
              </a:rPr>
              <a:t>Run 3: Sold 50, stock left -40</a:t>
            </a:r>
            <a:endParaRPr lang="en-US" sz="1050" dirty="0"/>
          </a:p>
        </p:txBody>
      </p:sp>
      <p:sp>
        <p:nvSpPr>
          <p:cNvPr id="55" name="card"/>
          <p:cNvSpPr/>
          <p:nvPr/>
        </p:nvSpPr>
        <p:spPr>
          <a:xfrm>
            <a:off x="6852514" y="3813048"/>
            <a:ext cx="4777740" cy="2240280"/>
          </a:xfrm>
          <a:prstGeom prst="roundRect">
            <a:avLst>
              <a:gd name="adj" fmla="val 3673"/>
            </a:avLst>
          </a:prstGeom>
          <a:solidFill>
            <a:srgbClr val="111B2E"/>
          </a:solidFill>
          <a:ln w="12700">
            <a:solidFill>
              <a:srgbClr val="FBBF24"/>
            </a:solidFill>
            <a:prstDash val="solid"/>
          </a:ln>
        </p:spPr>
        <p:txBody>
          <a:bodyPr wrap="square" lIns="201168" tIns="109728" rIns="164592" bIns="91440" rtlCol="0" anchor="t">
            <a:noAutofit/>
          </a:bodyPr>
          <a:lstStyle/>
          <a:p>
            <a:pPr marL="0" indent="0" algn="l">
              <a:spcBef>
                <a:spcPts val="0"/>
              </a:spcBef>
              <a:spcAft>
                <a:spcPts val="250"/>
              </a:spcAft>
              <a:buNone/>
            </a:pPr>
            <a:r>
              <a:rPr lang="en-US" sz="1100" b="1" dirty="0">
                <a:solidFill>
                  <a:srgbClr val="FBBF24"/>
                </a:solidFill>
                <a:latin typeface="Segoe UI"/>
                <a:ea typeface="Segoe UI"/>
                <a:cs typeface="Segoe UI"/>
              </a:rPr>
              <a:t>TRY IT LIVE</a:t>
            </a:r>
            <a:endParaRPr lang="en-US" sz="1100" dirty="0"/>
          </a:p>
          <a:p>
            <a:pPr marL="0" indent="0" algn="l">
              <a:spcBef>
                <a:spcPts val="0"/>
              </a:spcBef>
              <a:spcAft>
                <a:spcPts val="250"/>
              </a:spcAft>
              <a:buNone/>
            </a:pPr>
            <a:r>
              <a:rPr lang="en-US" sz="1150" b="0" dirty="0">
                <a:solidFill>
                  <a:srgbClr val="CBD5E1"/>
                </a:solidFill>
                <a:latin typeface="Segoe UI"/>
                <a:ea typeface="Segoe UI"/>
                <a:cs typeface="Segoe UI"/>
              </a:rPr>
              <a:t>1. Run it 3 times: compare the numbers.</a:t>
            </a:r>
            <a:endParaRPr lang="en-US" sz="1150" dirty="0"/>
          </a:p>
          <a:p>
            <a:pPr marL="0" indent="0" algn="l">
              <a:spcBef>
                <a:spcPts val="0"/>
              </a:spcBef>
              <a:spcAft>
                <a:spcPts val="250"/>
              </a:spcAft>
              <a:buNone/>
            </a:pPr>
            <a:r>
              <a:rPr lang="en-US" sz="1150" b="0" dirty="0">
                <a:solidFill>
                  <a:srgbClr val="CBD5E1"/>
                </a:solidFill>
                <a:latin typeface="Segoe UI"/>
                <a:ea typeface="Segoe UI"/>
                <a:cs typeface="Segoe UI"/>
              </a:rPr>
              <a:t>2. Change 50 customers to 2: does it still happen?</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3. Delete Thread.Sleep: rarer, but still wrong. Sleep only widens the gap; it does not cause the race.</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25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25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250"/>
                                        <p:tgtEl>
                                          <p:spTgt spid="4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250"/>
                                        <p:tgtEl>
                                          <p:spTgt spid="44"/>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250"/>
                                        <p:tgtEl>
                                          <p:spTgt spid="5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fade">
                                      <p:cBhvr>
                                        <p:cTn id="85" dur="250"/>
                                        <p:tgtEl>
                                          <p:spTgt spid="5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fade">
                                      <p:cBhvr>
                                        <p:cTn id="88" dur="250"/>
                                        <p:tgtEl>
                                          <p:spTgt spid="5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2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animBg="1"/>
      <p:bldP spid="43" grpId="0" animBg="1"/>
      <p:bldP spid="44" grpId="0" animBg="1"/>
      <p:bldP spid="52" grpId="0"/>
      <p:bldP spid="53" grpId="0"/>
      <p:bldP spid="54" grpId="0"/>
      <p:bldP spid="5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NOT ATOMIC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Does the Flash Sale Oversell?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34</a:t>
            </a:r>
            <a:endParaRPr lang="en-US" sz="850" dirty="0"/>
          </a:p>
        </p:txBody>
      </p:sp>
      <p:sp>
        <p:nvSpPr>
          <p:cNvPr id="15" name="cw_win"/>
          <p:cNvSpPr/>
          <p:nvPr/>
        </p:nvSpPr>
        <p:spPr>
          <a:xfrm>
            <a:off x="543154" y="1572768"/>
            <a:ext cx="4114800" cy="215308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4114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4114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22" name="cw_hl02"/>
          <p:cNvSpPr/>
          <p:nvPr/>
        </p:nvSpPr>
        <p:spPr>
          <a:xfrm>
            <a:off x="676656" y="2429968"/>
            <a:ext cx="3847796" cy="260096"/>
          </a:xfrm>
          <a:prstGeom prst="rect">
            <a:avLst/>
          </a:prstGeom>
          <a:solidFill>
            <a:srgbClr val="FBBF24">
              <a:alpha val="15000"/>
            </a:srgbClr>
          </a:solidFill>
          <a:ln w="12700">
            <a:solidFill>
              <a:srgbClr val="FBBF24"/>
            </a:solidFill>
            <a:prstDash val="solid"/>
          </a:ln>
        </p:spPr>
        <p:txBody>
          <a:bodyPr/>
          <a:lstStyle/>
          <a:p>
            <a:endParaRPr lang="en-US"/>
          </a:p>
        </p:txBody>
      </p:sp>
      <p:sp>
        <p:nvSpPr>
          <p:cNvPr id="23" name="cw_hl04"/>
          <p:cNvSpPr/>
          <p:nvPr/>
        </p:nvSpPr>
        <p:spPr>
          <a:xfrm>
            <a:off x="676656" y="2877008"/>
            <a:ext cx="3847796" cy="483616"/>
          </a:xfrm>
          <a:prstGeom prst="rect">
            <a:avLst/>
          </a:prstGeom>
          <a:solidFill>
            <a:srgbClr val="F87171">
              <a:alpha val="15000"/>
            </a:srgbClr>
          </a:solidFill>
          <a:ln w="12700">
            <a:solidFill>
              <a:srgbClr val="F87171"/>
            </a:solidFill>
            <a:prstDash val="solid"/>
          </a:ln>
        </p:spPr>
        <p:txBody>
          <a:bodyPr/>
          <a:lstStyle/>
          <a:p>
            <a:endParaRPr lang="en-US"/>
          </a:p>
        </p:txBody>
      </p:sp>
      <p:sp>
        <p:nvSpPr>
          <p:cNvPr id="24" name="cw_L00"/>
          <p:cNvSpPr txBox="1"/>
          <p:nvPr/>
        </p:nvSpPr>
        <p:spPr>
          <a:xfrm>
            <a:off x="771754" y="2001216"/>
            <a:ext cx="37307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public void </a:t>
            </a:r>
            <a:r>
              <a:rPr lang="en-US" sz="1100" b="0" dirty="0">
                <a:solidFill>
                  <a:srgbClr val="E2E8F0"/>
                </a:solidFill>
                <a:latin typeface="Consolas"/>
                <a:ea typeface="Consolas"/>
                <a:cs typeface="Consolas"/>
              </a:rPr>
              <a:t>Buy()</a:t>
            </a:r>
            <a:endParaRPr lang="en-US" sz="1100" dirty="0"/>
          </a:p>
        </p:txBody>
      </p:sp>
      <p:sp>
        <p:nvSpPr>
          <p:cNvPr id="25" name="cw_L01"/>
          <p:cNvSpPr txBox="1"/>
          <p:nvPr/>
        </p:nvSpPr>
        <p:spPr>
          <a:xfrm>
            <a:off x="771754" y="2224736"/>
            <a:ext cx="37307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6" name="cw_L02"/>
          <p:cNvSpPr txBox="1"/>
          <p:nvPr/>
        </p:nvSpPr>
        <p:spPr>
          <a:xfrm>
            <a:off x="771754" y="2448256"/>
            <a:ext cx="37307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if </a:t>
            </a:r>
            <a:r>
              <a:rPr lang="en-US" sz="1100" b="0" dirty="0">
                <a:solidFill>
                  <a:srgbClr val="E2E8F0"/>
                </a:solidFill>
                <a:latin typeface="Consolas"/>
                <a:ea typeface="Consolas"/>
                <a:cs typeface="Consolas"/>
              </a:rPr>
              <a:t>(Stock &lt;= 0) </a:t>
            </a:r>
            <a:r>
              <a:rPr lang="en-US" sz="1100" b="0" dirty="0">
                <a:solidFill>
                  <a:srgbClr val="60A5FA"/>
                </a:solidFill>
                <a:latin typeface="Consolas"/>
                <a:ea typeface="Consolas"/>
                <a:cs typeface="Consolas"/>
              </a:rPr>
              <a:t>return</a:t>
            </a:r>
            <a:r>
              <a:rPr lang="en-US" sz="1100" b="0" dirty="0">
                <a:solidFill>
                  <a:srgbClr val="E2E8F0"/>
                </a:solidFill>
                <a:latin typeface="Consolas"/>
                <a:ea typeface="Consolas"/>
                <a:cs typeface="Consolas"/>
              </a:rPr>
              <a:t>;   </a:t>
            </a:r>
            <a:r>
              <a:rPr lang="en-US" sz="1100" b="0" dirty="0">
                <a:solidFill>
                  <a:srgbClr val="6FAE7A"/>
                </a:solidFill>
                <a:latin typeface="Consolas"/>
                <a:ea typeface="Consolas"/>
                <a:cs typeface="Consolas"/>
              </a:rPr>
              <a:t>// check</a:t>
            </a:r>
            <a:endParaRPr lang="en-US" sz="1100" dirty="0"/>
          </a:p>
        </p:txBody>
      </p:sp>
      <p:sp>
        <p:nvSpPr>
          <p:cNvPr id="27" name="cw_L03"/>
          <p:cNvSpPr txBox="1"/>
          <p:nvPr/>
        </p:nvSpPr>
        <p:spPr>
          <a:xfrm>
            <a:off x="771754" y="2671776"/>
            <a:ext cx="37307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Thread.Sleep(10);         </a:t>
            </a:r>
            <a:r>
              <a:rPr lang="en-US" sz="1100" b="0" dirty="0">
                <a:solidFill>
                  <a:srgbClr val="6FAE7A"/>
                </a:solidFill>
                <a:latin typeface="Consolas"/>
                <a:ea typeface="Consolas"/>
                <a:cs typeface="Consolas"/>
              </a:rPr>
              <a:t>// payment</a:t>
            </a:r>
            <a:endParaRPr lang="en-US" sz="1100" dirty="0"/>
          </a:p>
        </p:txBody>
      </p:sp>
      <p:sp>
        <p:nvSpPr>
          <p:cNvPr id="28" name="cw_L04"/>
          <p:cNvSpPr txBox="1"/>
          <p:nvPr/>
        </p:nvSpPr>
        <p:spPr>
          <a:xfrm>
            <a:off x="771754" y="2895296"/>
            <a:ext cx="37307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Stock--;                  </a:t>
            </a:r>
            <a:r>
              <a:rPr lang="en-US" sz="1100" b="0" dirty="0">
                <a:solidFill>
                  <a:srgbClr val="6FAE7A"/>
                </a:solidFill>
                <a:latin typeface="Consolas"/>
                <a:ea typeface="Consolas"/>
                <a:cs typeface="Consolas"/>
              </a:rPr>
              <a:t>// act</a:t>
            </a:r>
            <a:endParaRPr lang="en-US" sz="1100" dirty="0"/>
          </a:p>
        </p:txBody>
      </p:sp>
      <p:sp>
        <p:nvSpPr>
          <p:cNvPr id="29" name="cw_L05"/>
          <p:cNvSpPr txBox="1"/>
          <p:nvPr/>
        </p:nvSpPr>
        <p:spPr>
          <a:xfrm>
            <a:off x="771754" y="3118816"/>
            <a:ext cx="37307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Sold++;                   </a:t>
            </a:r>
            <a:r>
              <a:rPr lang="en-US" sz="1100" b="0" dirty="0">
                <a:solidFill>
                  <a:srgbClr val="6FAE7A"/>
                </a:solidFill>
                <a:latin typeface="Consolas"/>
                <a:ea typeface="Consolas"/>
                <a:cs typeface="Consolas"/>
              </a:rPr>
              <a:t>// act</a:t>
            </a:r>
            <a:endParaRPr lang="en-US" sz="1100" dirty="0"/>
          </a:p>
        </p:txBody>
      </p:sp>
      <p:sp>
        <p:nvSpPr>
          <p:cNvPr id="30" name="cw_L06"/>
          <p:cNvSpPr txBox="1"/>
          <p:nvPr/>
        </p:nvSpPr>
        <p:spPr>
          <a:xfrm>
            <a:off x="771754" y="3342336"/>
            <a:ext cx="37307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1" name="lab"/>
          <p:cNvSpPr txBox="1"/>
          <p:nvPr/>
        </p:nvSpPr>
        <p:spPr>
          <a:xfrm>
            <a:off x="543154" y="3910000"/>
            <a:ext cx="24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Stock (the last item)</a:t>
            </a:r>
            <a:endParaRPr lang="en-US" sz="1100" dirty="0"/>
          </a:p>
        </p:txBody>
      </p:sp>
      <p:sp>
        <p:nvSpPr>
          <p:cNvPr id="32" name="box"/>
          <p:cNvSpPr/>
          <p:nvPr/>
        </p:nvSpPr>
        <p:spPr>
          <a:xfrm>
            <a:off x="543154" y="4180000"/>
            <a:ext cx="1300000" cy="69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1</a:t>
            </a:r>
            <a:endParaRPr lang="en-US" sz="1800" dirty="0"/>
          </a:p>
        </p:txBody>
      </p:sp>
      <p:sp>
        <p:nvSpPr>
          <p:cNvPr id="33" name="box"/>
          <p:cNvSpPr/>
          <p:nvPr/>
        </p:nvSpPr>
        <p:spPr>
          <a:xfrm>
            <a:off x="543154" y="4180000"/>
            <a:ext cx="1300000" cy="69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87171"/>
                </a:solidFill>
                <a:latin typeface="Consolas"/>
                <a:ea typeface="Consolas"/>
                <a:cs typeface="Consolas"/>
              </a:rPr>
              <a:t>-1</a:t>
            </a:r>
            <a:endParaRPr lang="en-US" sz="1800" dirty="0"/>
          </a:p>
        </p:txBody>
      </p:sp>
      <p:sp>
        <p:nvSpPr>
          <p:cNvPr id="34" name="lab"/>
          <p:cNvSpPr txBox="1"/>
          <p:nvPr/>
        </p:nvSpPr>
        <p:spPr>
          <a:xfrm>
            <a:off x="1993154" y="4180000"/>
            <a:ext cx="2600000" cy="69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F87171"/>
                </a:solidFill>
                <a:latin typeface="Segoe UI"/>
                <a:ea typeface="Segoe UI"/>
                <a:cs typeface="Segoe UI"/>
              </a:rPr>
              <a:t>sold twice: oversold!</a:t>
            </a:r>
            <a:endParaRPr lang="en-US" sz="1300" dirty="0"/>
          </a:p>
        </p:txBody>
      </p:sp>
      <p:sp>
        <p:nvSpPr>
          <p:cNvPr id="35" name="tbl_head"/>
          <p:cNvSpPr/>
          <p:nvPr/>
        </p:nvSpPr>
        <p:spPr>
          <a:xfrm>
            <a:off x="4840834" y="1572768"/>
            <a:ext cx="678942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6" name="tbl_h"/>
          <p:cNvSpPr txBox="1"/>
          <p:nvPr/>
        </p:nvSpPr>
        <p:spPr>
          <a:xfrm>
            <a:off x="4968850" y="1572768"/>
            <a:ext cx="56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STEP</a:t>
            </a:r>
            <a:endParaRPr lang="en-US" sz="1000" dirty="0"/>
          </a:p>
        </p:txBody>
      </p:sp>
      <p:sp>
        <p:nvSpPr>
          <p:cNvPr id="37" name="tbl_h"/>
          <p:cNvSpPr txBox="1"/>
          <p:nvPr/>
        </p:nvSpPr>
        <p:spPr>
          <a:xfrm>
            <a:off x="5560834" y="1572768"/>
            <a:ext cx="24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CUSTOMER A</a:t>
            </a:r>
            <a:endParaRPr lang="en-US" sz="1000" dirty="0"/>
          </a:p>
        </p:txBody>
      </p:sp>
      <p:sp>
        <p:nvSpPr>
          <p:cNvPr id="38" name="tbl_h"/>
          <p:cNvSpPr txBox="1"/>
          <p:nvPr/>
        </p:nvSpPr>
        <p:spPr>
          <a:xfrm>
            <a:off x="8060834" y="1572768"/>
            <a:ext cx="24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CUSTOMER B</a:t>
            </a:r>
            <a:endParaRPr lang="en-US" sz="1000" dirty="0"/>
          </a:p>
        </p:txBody>
      </p:sp>
      <p:sp>
        <p:nvSpPr>
          <p:cNvPr id="39" name="tbl_h"/>
          <p:cNvSpPr txBox="1"/>
          <p:nvPr/>
        </p:nvSpPr>
        <p:spPr>
          <a:xfrm>
            <a:off x="10590834" y="1572768"/>
            <a:ext cx="9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STOCK</a:t>
            </a:r>
            <a:endParaRPr lang="en-US" sz="1000" dirty="0"/>
          </a:p>
        </p:txBody>
      </p:sp>
      <p:sp>
        <p:nvSpPr>
          <p:cNvPr id="40" name="tbl_row"/>
          <p:cNvSpPr/>
          <p:nvPr/>
        </p:nvSpPr>
        <p:spPr>
          <a:xfrm>
            <a:off x="4840834" y="1920240"/>
            <a:ext cx="6789420" cy="40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41" name="tbl_c"/>
          <p:cNvSpPr txBox="1"/>
          <p:nvPr/>
        </p:nvSpPr>
        <p:spPr>
          <a:xfrm>
            <a:off x="4968850" y="1920240"/>
            <a:ext cx="56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1</a:t>
            </a:r>
            <a:endParaRPr lang="en-US" sz="1150" dirty="0"/>
          </a:p>
        </p:txBody>
      </p:sp>
      <p:sp>
        <p:nvSpPr>
          <p:cNvPr id="42" name="tbl_c"/>
          <p:cNvSpPr txBox="1"/>
          <p:nvPr/>
        </p:nvSpPr>
        <p:spPr>
          <a:xfrm>
            <a:off x="5560834" y="1920240"/>
            <a:ext cx="2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checks: Stock is 1, passes</a:t>
            </a:r>
            <a:endParaRPr lang="en-US" sz="1150" dirty="0"/>
          </a:p>
        </p:txBody>
      </p:sp>
      <p:sp>
        <p:nvSpPr>
          <p:cNvPr id="43" name="tbl_c"/>
          <p:cNvSpPr txBox="1"/>
          <p:nvPr/>
        </p:nvSpPr>
        <p:spPr>
          <a:xfrm>
            <a:off x="10590834" y="1920240"/>
            <a:ext cx="9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1</a:t>
            </a:r>
            <a:endParaRPr lang="en-US" sz="1150" dirty="0"/>
          </a:p>
        </p:txBody>
      </p:sp>
      <p:sp>
        <p:nvSpPr>
          <p:cNvPr id="44" name="tbl_row"/>
          <p:cNvSpPr/>
          <p:nvPr/>
        </p:nvSpPr>
        <p:spPr>
          <a:xfrm>
            <a:off x="4840834" y="2365960"/>
            <a:ext cx="6789420" cy="40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45" name="tbl_c"/>
          <p:cNvSpPr txBox="1"/>
          <p:nvPr/>
        </p:nvSpPr>
        <p:spPr>
          <a:xfrm>
            <a:off x="4968850" y="2365960"/>
            <a:ext cx="56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2</a:t>
            </a:r>
            <a:endParaRPr lang="en-US" sz="1150" dirty="0"/>
          </a:p>
        </p:txBody>
      </p:sp>
      <p:sp>
        <p:nvSpPr>
          <p:cNvPr id="46" name="tbl_c"/>
          <p:cNvSpPr txBox="1"/>
          <p:nvPr/>
        </p:nvSpPr>
        <p:spPr>
          <a:xfrm>
            <a:off x="8060834" y="2365960"/>
            <a:ext cx="2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checks: Stock is 1, passes</a:t>
            </a:r>
            <a:endParaRPr lang="en-US" sz="1150" dirty="0"/>
          </a:p>
        </p:txBody>
      </p:sp>
      <p:sp>
        <p:nvSpPr>
          <p:cNvPr id="47" name="tbl_c"/>
          <p:cNvSpPr txBox="1"/>
          <p:nvPr/>
        </p:nvSpPr>
        <p:spPr>
          <a:xfrm>
            <a:off x="10590834" y="2365960"/>
            <a:ext cx="9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1</a:t>
            </a:r>
            <a:endParaRPr lang="en-US" sz="1150" dirty="0"/>
          </a:p>
        </p:txBody>
      </p:sp>
      <p:sp>
        <p:nvSpPr>
          <p:cNvPr id="48" name="tbl_row"/>
          <p:cNvSpPr/>
          <p:nvPr/>
        </p:nvSpPr>
        <p:spPr>
          <a:xfrm>
            <a:off x="4840834" y="2811680"/>
            <a:ext cx="6789420" cy="40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49" name="tbl_c"/>
          <p:cNvSpPr txBox="1"/>
          <p:nvPr/>
        </p:nvSpPr>
        <p:spPr>
          <a:xfrm>
            <a:off x="4968850" y="2811680"/>
            <a:ext cx="56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3</a:t>
            </a:r>
            <a:endParaRPr lang="en-US" sz="1150" dirty="0"/>
          </a:p>
        </p:txBody>
      </p:sp>
      <p:sp>
        <p:nvSpPr>
          <p:cNvPr id="50" name="tbl_c"/>
          <p:cNvSpPr txBox="1"/>
          <p:nvPr/>
        </p:nvSpPr>
        <p:spPr>
          <a:xfrm>
            <a:off x="5560834" y="2811680"/>
            <a:ext cx="2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Consolas"/>
                <a:ea typeface="Consolas"/>
                <a:cs typeface="Consolas"/>
              </a:rPr>
              <a:t>Stock--  Sold++</a:t>
            </a:r>
            <a:endParaRPr lang="en-US" sz="1150" dirty="0"/>
          </a:p>
        </p:txBody>
      </p:sp>
      <p:sp>
        <p:nvSpPr>
          <p:cNvPr id="51" name="tbl_c"/>
          <p:cNvSpPr txBox="1"/>
          <p:nvPr/>
        </p:nvSpPr>
        <p:spPr>
          <a:xfrm>
            <a:off x="10590834" y="2811680"/>
            <a:ext cx="9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0</a:t>
            </a:r>
            <a:endParaRPr lang="en-US" sz="1150" dirty="0"/>
          </a:p>
        </p:txBody>
      </p:sp>
      <p:sp>
        <p:nvSpPr>
          <p:cNvPr id="52" name="tbl_row"/>
          <p:cNvSpPr/>
          <p:nvPr/>
        </p:nvSpPr>
        <p:spPr>
          <a:xfrm>
            <a:off x="4840834" y="3257400"/>
            <a:ext cx="6789420" cy="400000"/>
          </a:xfrm>
          <a:prstGeom prst="roundRect">
            <a:avLst>
              <a:gd name="adj" fmla="val 17777"/>
            </a:avLst>
          </a:prstGeom>
          <a:solidFill>
            <a:srgbClr val="111B2E"/>
          </a:solidFill>
          <a:ln w="12700">
            <a:solidFill>
              <a:srgbClr val="F87171"/>
            </a:solidFill>
            <a:prstDash val="solid"/>
          </a:ln>
        </p:spPr>
        <p:txBody>
          <a:bodyPr/>
          <a:lstStyle/>
          <a:p>
            <a:endParaRPr lang="en-US"/>
          </a:p>
        </p:txBody>
      </p:sp>
      <p:sp>
        <p:nvSpPr>
          <p:cNvPr id="53" name="tbl_c"/>
          <p:cNvSpPr txBox="1"/>
          <p:nvPr/>
        </p:nvSpPr>
        <p:spPr>
          <a:xfrm>
            <a:off x="4968850" y="3257400"/>
            <a:ext cx="56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4</a:t>
            </a:r>
            <a:endParaRPr lang="en-US" sz="1150" dirty="0"/>
          </a:p>
        </p:txBody>
      </p:sp>
      <p:sp>
        <p:nvSpPr>
          <p:cNvPr id="54" name="tbl_c"/>
          <p:cNvSpPr txBox="1"/>
          <p:nvPr/>
        </p:nvSpPr>
        <p:spPr>
          <a:xfrm>
            <a:off x="8060834" y="3257400"/>
            <a:ext cx="2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Consolas"/>
                <a:ea typeface="Consolas"/>
                <a:cs typeface="Consolas"/>
              </a:rPr>
              <a:t>Stock--  Sold++</a:t>
            </a:r>
            <a:endParaRPr lang="en-US" sz="1150" dirty="0"/>
          </a:p>
        </p:txBody>
      </p:sp>
      <p:sp>
        <p:nvSpPr>
          <p:cNvPr id="55" name="tbl_c"/>
          <p:cNvSpPr txBox="1"/>
          <p:nvPr/>
        </p:nvSpPr>
        <p:spPr>
          <a:xfrm>
            <a:off x="10590834" y="3257400"/>
            <a:ext cx="9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-1</a:t>
            </a:r>
            <a:endParaRPr lang="en-US" sz="1150" dirty="0"/>
          </a:p>
        </p:txBody>
      </p:sp>
      <p:sp>
        <p:nvSpPr>
          <p:cNvPr id="56" name="card"/>
          <p:cNvSpPr/>
          <p:nvPr/>
        </p:nvSpPr>
        <p:spPr>
          <a:xfrm>
            <a:off x="4840834" y="3800000"/>
            <a:ext cx="2171700" cy="115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ATOMIC</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One indivisible step. No other thread can see it half-done.</a:t>
            </a:r>
            <a:endParaRPr lang="en-US" sz="1100" dirty="0"/>
          </a:p>
        </p:txBody>
      </p:sp>
      <p:sp>
        <p:nvSpPr>
          <p:cNvPr id="57" name="card"/>
          <p:cNvSpPr/>
          <p:nvPr/>
        </p:nvSpPr>
        <p:spPr>
          <a:xfrm>
            <a:off x="7149694" y="3800000"/>
            <a:ext cx="2171700" cy="115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CHECK-THEN-ACT</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B acts on a check that A has already made stale.</a:t>
            </a:r>
            <a:endParaRPr lang="en-US" sz="1100" dirty="0"/>
          </a:p>
        </p:txBody>
      </p:sp>
      <p:sp>
        <p:nvSpPr>
          <p:cNvPr id="58" name="card"/>
          <p:cNvSpPr/>
          <p:nvPr/>
        </p:nvSpPr>
        <p:spPr>
          <a:xfrm>
            <a:off x="9458554" y="3800000"/>
            <a:ext cx="2171700" cy="115000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ALSO NOT ATOMIC</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Stock-- and Sold++ are each read, change, write: updates can be lost too.</a:t>
            </a:r>
            <a:endParaRPr lang="en-US" sz="1100" dirty="0"/>
          </a:p>
        </p:txBody>
      </p:sp>
      <p:sp>
        <p:nvSpPr>
          <p:cNvPr id="59"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Check and act are separate steps: another customer can slip in between them.</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3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300"/>
                                        <p:tgtEl>
                                          <p:spTgt spid="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300"/>
                                        <p:tgtEl>
                                          <p:spTgt spid="3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300"/>
                                        <p:tgtEl>
                                          <p:spTgt spid="4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fade">
                                      <p:cBhvr>
                                        <p:cTn id="81" dur="300"/>
                                        <p:tgtEl>
                                          <p:spTgt spid="4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300"/>
                                        <p:tgtEl>
                                          <p:spTgt spid="4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300"/>
                                        <p:tgtEl>
                                          <p:spTgt spid="4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300"/>
                                        <p:tgtEl>
                                          <p:spTgt spid="4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300"/>
                                        <p:tgtEl>
                                          <p:spTgt spid="4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fade">
                                      <p:cBhvr>
                                        <p:cTn id="98" dur="300"/>
                                        <p:tgtEl>
                                          <p:spTgt spid="4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fade">
                                      <p:cBhvr>
                                        <p:cTn id="101" dur="300"/>
                                        <p:tgtEl>
                                          <p:spTgt spid="47"/>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300"/>
                                        <p:tgtEl>
                                          <p:spTgt spid="4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9"/>
                                        </p:tgtEl>
                                        <p:attrNameLst>
                                          <p:attrName>style.visibility</p:attrName>
                                        </p:attrNameLst>
                                      </p:cBhvr>
                                      <p:to>
                                        <p:strVal val="visible"/>
                                      </p:to>
                                    </p:set>
                                    <p:animEffect transition="in" filter="fade">
                                      <p:cBhvr>
                                        <p:cTn id="109" dur="300"/>
                                        <p:tgtEl>
                                          <p:spTgt spid="4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fade">
                                      <p:cBhvr>
                                        <p:cTn id="112" dur="300"/>
                                        <p:tgtEl>
                                          <p:spTgt spid="5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fade">
                                      <p:cBhvr>
                                        <p:cTn id="115" dur="300"/>
                                        <p:tgtEl>
                                          <p:spTgt spid="51"/>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2"/>
                                        </p:tgtEl>
                                        <p:attrNameLst>
                                          <p:attrName>style.visibility</p:attrName>
                                        </p:attrNameLst>
                                      </p:cBhvr>
                                      <p:to>
                                        <p:strVal val="visible"/>
                                      </p:to>
                                    </p:set>
                                    <p:animEffect transition="in" filter="fade">
                                      <p:cBhvr>
                                        <p:cTn id="120" dur="300"/>
                                        <p:tgtEl>
                                          <p:spTgt spid="5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fade">
                                      <p:cBhvr>
                                        <p:cTn id="123" dur="300"/>
                                        <p:tgtEl>
                                          <p:spTgt spid="5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fade">
                                      <p:cBhvr>
                                        <p:cTn id="126" dur="300"/>
                                        <p:tgtEl>
                                          <p:spTgt spid="5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5"/>
                                        </p:tgtEl>
                                        <p:attrNameLst>
                                          <p:attrName>style.visibility</p:attrName>
                                        </p:attrNameLst>
                                      </p:cBhvr>
                                      <p:to>
                                        <p:strVal val="visible"/>
                                      </p:to>
                                    </p:set>
                                    <p:animEffect transition="in" filter="fade">
                                      <p:cBhvr>
                                        <p:cTn id="129" dur="300"/>
                                        <p:tgtEl>
                                          <p:spTgt spid="5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300"/>
                                        <p:tgtEl>
                                          <p:spTgt spid="3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300"/>
                                        <p:tgtEl>
                                          <p:spTgt spid="34"/>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fade">
                                      <p:cBhvr>
                                        <p:cTn id="140" dur="300"/>
                                        <p:tgtEl>
                                          <p:spTgt spid="5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7"/>
                                        </p:tgtEl>
                                        <p:attrNameLst>
                                          <p:attrName>style.visibility</p:attrName>
                                        </p:attrNameLst>
                                      </p:cBhvr>
                                      <p:to>
                                        <p:strVal val="visible"/>
                                      </p:to>
                                    </p:set>
                                    <p:animEffect transition="in" filter="fade">
                                      <p:cBhvr>
                                        <p:cTn id="143" dur="300"/>
                                        <p:tgtEl>
                                          <p:spTgt spid="57"/>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fade">
                                      <p:cBhvr>
                                        <p:cTn id="148" dur="300"/>
                                        <p:tgtEl>
                                          <p:spTgt spid="58"/>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59"/>
                                        </p:tgtEl>
                                        <p:attrNameLst>
                                          <p:attrName>style.visibility</p:attrName>
                                        </p:attrNameLst>
                                      </p:cBhvr>
                                      <p:to>
                                        <p:strVal val="visible"/>
                                      </p:to>
                                    </p:set>
                                    <p:animEffect transition="in" filter="fade">
                                      <p:cBhvr>
                                        <p:cTn id="153" dur="3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78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CRITICAL SECTION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Identifying the Critical Section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35</a:t>
            </a:r>
            <a:endParaRPr lang="en-US" sz="850" dirty="0"/>
          </a:p>
        </p:txBody>
      </p:sp>
      <p:sp>
        <p:nvSpPr>
          <p:cNvPr id="15" name="cw_win"/>
          <p:cNvSpPr/>
          <p:nvPr/>
        </p:nvSpPr>
        <p:spPr>
          <a:xfrm>
            <a:off x="543154" y="1572768"/>
            <a:ext cx="6309360" cy="314876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34" name="cw_hl02"/>
          <p:cNvSpPr/>
          <p:nvPr/>
        </p:nvSpPr>
        <p:spPr>
          <a:xfrm>
            <a:off x="676656" y="2409648"/>
            <a:ext cx="6042356" cy="463296"/>
          </a:xfrm>
          <a:prstGeom prst="rect">
            <a:avLst/>
          </a:prstGeom>
          <a:solidFill>
            <a:srgbClr val="FBBF24">
              <a:alpha val="15000"/>
            </a:srgbClr>
          </a:solidFill>
          <a:ln w="12700">
            <a:solidFill>
              <a:srgbClr val="FBBF24"/>
            </a:solidFill>
            <a:prstDash val="solid"/>
          </a:ln>
        </p:spPr>
        <p:txBody>
          <a:bodyPr/>
          <a:lstStyle/>
          <a:p>
            <a:endParaRPr lang="en-US"/>
          </a:p>
        </p:txBody>
      </p:sp>
      <p:sp>
        <p:nvSpPr>
          <p:cNvPr id="35" name="cw_hl06"/>
          <p:cNvSpPr/>
          <p:nvPr/>
        </p:nvSpPr>
        <p:spPr>
          <a:xfrm>
            <a:off x="676656" y="3263088"/>
            <a:ext cx="6042356" cy="676656"/>
          </a:xfrm>
          <a:prstGeom prst="rect">
            <a:avLst/>
          </a:prstGeom>
          <a:solidFill>
            <a:srgbClr val="F87171">
              <a:alpha val="15000"/>
            </a:srgbClr>
          </a:solidFill>
          <a:ln w="19050">
            <a:solidFill>
              <a:srgbClr val="F87171"/>
            </a:solidFill>
            <a:prstDash val="solid"/>
          </a:ln>
        </p:spPr>
        <p:txBody>
          <a:bodyPr/>
          <a:lstStyle/>
          <a:p>
            <a:endParaRPr lang="en-US"/>
          </a:p>
        </p:txBody>
      </p:sp>
      <p:sp>
        <p:nvSpPr>
          <p:cNvPr id="36" name="cw_hl09"/>
          <p:cNvSpPr/>
          <p:nvPr/>
        </p:nvSpPr>
        <p:spPr>
          <a:xfrm>
            <a:off x="676656" y="3903168"/>
            <a:ext cx="6042356"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59253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class </a:t>
            </a:r>
            <a:r>
              <a:rPr lang="en-US" sz="1050" b="0" dirty="0">
                <a:solidFill>
                  <a:srgbClr val="E2E8F0"/>
                </a:solidFill>
                <a:latin typeface="Consolas"/>
                <a:ea typeface="Consolas"/>
                <a:cs typeface="Consolas"/>
              </a:rPr>
              <a:t>FlashSale</a:t>
            </a:r>
            <a:endParaRPr lang="en-US" sz="1050" dirty="0"/>
          </a:p>
        </p:txBody>
      </p:sp>
      <p:sp>
        <p:nvSpPr>
          <p:cNvPr id="23" name="cw_L01"/>
          <p:cNvSpPr txBox="1"/>
          <p:nvPr/>
        </p:nvSpPr>
        <p:spPr>
          <a:xfrm>
            <a:off x="771754" y="2214576"/>
            <a:ext cx="59253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27936"/>
            <a:ext cx="59253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public int </a:t>
            </a:r>
            <a:r>
              <a:rPr lang="en-US" sz="1050" b="0" dirty="0">
                <a:solidFill>
                  <a:srgbClr val="E2E8F0"/>
                </a:solidFill>
                <a:latin typeface="Consolas"/>
                <a:ea typeface="Consolas"/>
                <a:cs typeface="Consolas"/>
              </a:rPr>
              <a:t>Stock = 10;        </a:t>
            </a:r>
            <a:r>
              <a:rPr lang="en-US" sz="1050" b="0" dirty="0">
                <a:solidFill>
                  <a:srgbClr val="6FAE7A"/>
                </a:solidFill>
                <a:latin typeface="Consolas"/>
                <a:ea typeface="Consolas"/>
                <a:cs typeface="Consolas"/>
              </a:rPr>
              <a:t>// shared</a:t>
            </a:r>
            <a:endParaRPr lang="en-US" sz="1050" dirty="0"/>
          </a:p>
        </p:txBody>
      </p:sp>
      <p:sp>
        <p:nvSpPr>
          <p:cNvPr id="25" name="cw_L03"/>
          <p:cNvSpPr txBox="1"/>
          <p:nvPr/>
        </p:nvSpPr>
        <p:spPr>
          <a:xfrm>
            <a:off x="771754" y="2641296"/>
            <a:ext cx="59253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public int </a:t>
            </a:r>
            <a:r>
              <a:rPr lang="en-US" sz="1050" b="0" dirty="0">
                <a:solidFill>
                  <a:srgbClr val="E2E8F0"/>
                </a:solidFill>
                <a:latin typeface="Consolas"/>
                <a:ea typeface="Consolas"/>
                <a:cs typeface="Consolas"/>
              </a:rPr>
              <a:t>Sold;              </a:t>
            </a:r>
            <a:r>
              <a:rPr lang="en-US" sz="1050" b="0" dirty="0">
                <a:solidFill>
                  <a:srgbClr val="6FAE7A"/>
                </a:solidFill>
                <a:latin typeface="Consolas"/>
                <a:ea typeface="Consolas"/>
                <a:cs typeface="Consolas"/>
              </a:rPr>
              <a:t>// shared</a:t>
            </a:r>
            <a:endParaRPr lang="en-US" sz="1050" dirty="0"/>
          </a:p>
        </p:txBody>
      </p:sp>
      <p:sp>
        <p:nvSpPr>
          <p:cNvPr id="26" name="cw_L04"/>
          <p:cNvSpPr txBox="1"/>
          <p:nvPr/>
        </p:nvSpPr>
        <p:spPr>
          <a:xfrm>
            <a:off x="771754" y="2854656"/>
            <a:ext cx="59253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public void </a:t>
            </a:r>
            <a:r>
              <a:rPr lang="en-US" sz="1050" b="0" dirty="0">
                <a:solidFill>
                  <a:srgbClr val="E2E8F0"/>
                </a:solidFill>
                <a:latin typeface="Consolas"/>
                <a:ea typeface="Consolas"/>
                <a:cs typeface="Consolas"/>
              </a:rPr>
              <a:t>Buy()</a:t>
            </a:r>
            <a:endParaRPr lang="en-US" sz="1050" dirty="0"/>
          </a:p>
        </p:txBody>
      </p:sp>
      <p:sp>
        <p:nvSpPr>
          <p:cNvPr id="27" name="cw_L05"/>
          <p:cNvSpPr txBox="1"/>
          <p:nvPr/>
        </p:nvSpPr>
        <p:spPr>
          <a:xfrm>
            <a:off x="771754" y="3068016"/>
            <a:ext cx="59253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6"/>
          <p:cNvSpPr txBox="1"/>
          <p:nvPr/>
        </p:nvSpPr>
        <p:spPr>
          <a:xfrm>
            <a:off x="771754" y="3281376"/>
            <a:ext cx="592531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60A5FA"/>
                </a:solidFill>
                <a:latin typeface="Consolas"/>
                <a:ea typeface="Consolas"/>
                <a:cs typeface="Consolas"/>
              </a:rPr>
              <a:t>if </a:t>
            </a:r>
            <a:r>
              <a:rPr lang="en-US" sz="1050" b="0" dirty="0">
                <a:solidFill>
                  <a:srgbClr val="E2E8F0"/>
                </a:solidFill>
                <a:latin typeface="Consolas"/>
                <a:ea typeface="Consolas"/>
                <a:cs typeface="Consolas"/>
              </a:rPr>
              <a:t>(Stock &lt;= 0) </a:t>
            </a:r>
            <a:r>
              <a:rPr lang="en-US" sz="1050" b="0" dirty="0">
                <a:solidFill>
                  <a:srgbClr val="60A5FA"/>
                </a:solidFill>
                <a:latin typeface="Consolas"/>
                <a:ea typeface="Consolas"/>
                <a:cs typeface="Consolas"/>
              </a:rPr>
              <a:t>return</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read Stock</a:t>
            </a:r>
            <a:endParaRPr lang="en-US" sz="1050" dirty="0"/>
          </a:p>
        </p:txBody>
      </p:sp>
      <p:sp>
        <p:nvSpPr>
          <p:cNvPr id="29" name="cw_L07"/>
          <p:cNvSpPr txBox="1"/>
          <p:nvPr/>
        </p:nvSpPr>
        <p:spPr>
          <a:xfrm>
            <a:off x="771754" y="3494736"/>
            <a:ext cx="592531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Stock--;                  </a:t>
            </a:r>
            <a:r>
              <a:rPr lang="en-US" sz="1050" b="0" dirty="0">
                <a:solidFill>
                  <a:srgbClr val="6FAE7A"/>
                </a:solidFill>
                <a:latin typeface="Consolas"/>
                <a:ea typeface="Consolas"/>
                <a:cs typeface="Consolas"/>
              </a:rPr>
              <a:t>// write Stock</a:t>
            </a:r>
            <a:endParaRPr lang="en-US" sz="1050" dirty="0"/>
          </a:p>
        </p:txBody>
      </p:sp>
      <p:sp>
        <p:nvSpPr>
          <p:cNvPr id="30" name="cw_L08"/>
          <p:cNvSpPr txBox="1"/>
          <p:nvPr/>
        </p:nvSpPr>
        <p:spPr>
          <a:xfrm>
            <a:off x="771754" y="3708096"/>
            <a:ext cx="592531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Sold++;                   </a:t>
            </a:r>
            <a:r>
              <a:rPr lang="en-US" sz="1050" b="0" dirty="0">
                <a:solidFill>
                  <a:srgbClr val="6FAE7A"/>
                </a:solidFill>
                <a:latin typeface="Consolas"/>
                <a:ea typeface="Consolas"/>
                <a:cs typeface="Consolas"/>
              </a:rPr>
              <a:t>// write Sold</a:t>
            </a:r>
            <a:endParaRPr lang="en-US" sz="1050" dirty="0"/>
          </a:p>
        </p:txBody>
      </p:sp>
      <p:sp>
        <p:nvSpPr>
          <p:cNvPr id="31" name="cw_L09"/>
          <p:cNvSpPr txBox="1"/>
          <p:nvPr/>
        </p:nvSpPr>
        <p:spPr>
          <a:xfrm>
            <a:off x="771754" y="3921456"/>
            <a:ext cx="592531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Thread.Sleep(10);         </a:t>
            </a:r>
            <a:r>
              <a:rPr lang="en-US" sz="1050" b="0" dirty="0">
                <a:solidFill>
                  <a:srgbClr val="6FAE7A"/>
                </a:solidFill>
                <a:latin typeface="Consolas"/>
                <a:ea typeface="Consolas"/>
                <a:cs typeface="Consolas"/>
              </a:rPr>
              <a:t>// payment: no shared state</a:t>
            </a:r>
            <a:endParaRPr lang="en-US" sz="1050" dirty="0"/>
          </a:p>
        </p:txBody>
      </p:sp>
      <p:sp>
        <p:nvSpPr>
          <p:cNvPr id="32" name="cw_L10"/>
          <p:cNvSpPr txBox="1"/>
          <p:nvPr/>
        </p:nvSpPr>
        <p:spPr>
          <a:xfrm>
            <a:off x="771754" y="4134816"/>
            <a:ext cx="59253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3" name="cw_L11"/>
          <p:cNvSpPr txBox="1"/>
          <p:nvPr/>
        </p:nvSpPr>
        <p:spPr>
          <a:xfrm>
            <a:off x="771754" y="4348176"/>
            <a:ext cx="59253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7" name="card"/>
          <p:cNvSpPr/>
          <p:nvPr/>
        </p:nvSpPr>
        <p:spPr>
          <a:xfrm>
            <a:off x="7081114" y="1572768"/>
            <a:ext cx="4549140" cy="95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100" b="1" dirty="0">
                <a:solidFill>
                  <a:srgbClr val="FBBF24"/>
                </a:solidFill>
                <a:latin typeface="Segoe UI"/>
                <a:ea typeface="Segoe UI"/>
                <a:cs typeface="Segoe UI"/>
              </a:rPr>
              <a:t>SHARED MUTABLE STATE</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Stock and Sold live on one FlashSale object used by all 50 customer threads.</a:t>
            </a:r>
            <a:endParaRPr lang="en-US" sz="1150" dirty="0"/>
          </a:p>
        </p:txBody>
      </p:sp>
      <p:sp>
        <p:nvSpPr>
          <p:cNvPr id="38" name="card"/>
          <p:cNvSpPr/>
          <p:nvPr/>
        </p:nvSpPr>
        <p:spPr>
          <a:xfrm>
            <a:off x="7081114" y="2659928"/>
            <a:ext cx="4549140" cy="95000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100" b="1" dirty="0">
                <a:solidFill>
                  <a:srgbClr val="F87171"/>
                </a:solidFill>
                <a:latin typeface="Segoe UI"/>
                <a:ea typeface="Segoe UI"/>
                <a:cs typeface="Segoe UI"/>
              </a:rPr>
              <a:t>ONE DECISION, ONE UNIT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Check, Stock-- and Sold++ must run together. Split them and the check goes stale.</a:t>
            </a:r>
            <a:endParaRPr lang="en-US" sz="1150" dirty="0"/>
          </a:p>
        </p:txBody>
      </p:sp>
      <p:sp>
        <p:nvSpPr>
          <p:cNvPr id="39" name="card"/>
          <p:cNvSpPr/>
          <p:nvPr/>
        </p:nvSpPr>
        <p:spPr>
          <a:xfrm>
            <a:off x="7081114" y="3747088"/>
            <a:ext cx="4549140" cy="95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100" b="1" dirty="0">
                <a:solidFill>
                  <a:srgbClr val="34D399"/>
                </a:solidFill>
                <a:latin typeface="Segoe UI"/>
                <a:ea typeface="Segoe UI"/>
                <a:cs typeface="Segoe UI"/>
              </a:rPr>
              <a:t>KEEP IT SHORT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Payment touches no shared state, so it stays outside the critical section.</a:t>
            </a:r>
            <a:endParaRPr lang="en-US" sz="1150" dirty="0"/>
          </a:p>
        </p:txBody>
      </p:sp>
      <p:sp>
        <p:nvSpPr>
          <p:cNvPr id="40"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Critical section: the code that reads or changes shared mutable state. One thread at a time may be inside.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300"/>
                                        <p:tgtEl>
                                          <p:spTgt spid="3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300"/>
                                        <p:tgtEl>
                                          <p:spTgt spid="3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300"/>
                                        <p:tgtEl>
                                          <p:spTgt spid="3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300"/>
                                        <p:tgtEl>
                                          <p:spTgt spid="3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300"/>
                                        <p:tgtEl>
                                          <p:spTgt spid="3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4" grpId="0" animBg="1"/>
      <p:bldP spid="35" grpId="0" animBg="1"/>
      <p:bldP spid="36"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7" grpId="0" animBg="1"/>
      <p:bldP spid="38" grpId="0" animBg="1"/>
      <p:bldP spid="39" grpId="0" animBg="1"/>
      <p:bldP spid="4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642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LOCK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Fixing the Problem Using 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36</a:t>
            </a:r>
            <a:endParaRPr lang="en-US" sz="850" dirty="0"/>
          </a:p>
        </p:txBody>
      </p:sp>
      <p:sp>
        <p:nvSpPr>
          <p:cNvPr id="15" name="cw_win"/>
          <p:cNvSpPr/>
          <p:nvPr/>
        </p:nvSpPr>
        <p:spPr>
          <a:xfrm>
            <a:off x="543154" y="1572768"/>
            <a:ext cx="5303520" cy="393748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35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35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33" name="cw_hl00"/>
          <p:cNvSpPr/>
          <p:nvPr/>
        </p:nvSpPr>
        <p:spPr>
          <a:xfrm>
            <a:off x="676656" y="2029968"/>
            <a:ext cx="5036516" cy="290576"/>
          </a:xfrm>
          <a:prstGeom prst="rect">
            <a:avLst/>
          </a:prstGeom>
          <a:solidFill>
            <a:srgbClr val="F87171">
              <a:alpha val="15000"/>
            </a:srgbClr>
          </a:solidFill>
          <a:ln w="12700">
            <a:solidFill>
              <a:srgbClr val="F87171"/>
            </a:solidFill>
            <a:prstDash val="solid"/>
          </a:ln>
        </p:spPr>
        <p:txBody>
          <a:bodyPr/>
          <a:lstStyle/>
          <a:p>
            <a:endParaRPr lang="en-US"/>
          </a:p>
        </p:txBody>
      </p:sp>
      <p:sp>
        <p:nvSpPr>
          <p:cNvPr id="34" name="cw_hl04"/>
          <p:cNvSpPr/>
          <p:nvPr/>
        </p:nvSpPr>
        <p:spPr>
          <a:xfrm>
            <a:off x="676656" y="3045968"/>
            <a:ext cx="5036516" cy="290576"/>
          </a:xfrm>
          <a:prstGeom prst="rect">
            <a:avLst/>
          </a:prstGeom>
          <a:solidFill>
            <a:srgbClr val="34D399">
              <a:alpha val="15000"/>
            </a:srgbClr>
          </a:solidFill>
          <a:ln w="12700">
            <a:solidFill>
              <a:srgbClr val="34D399"/>
            </a:solidFill>
            <a:prstDash val="solid"/>
          </a:ln>
        </p:spPr>
        <p:txBody>
          <a:bodyPr/>
          <a:lstStyle/>
          <a:p>
            <a:endParaRPr lang="en-US"/>
          </a:p>
        </p:txBody>
      </p:sp>
      <p:sp>
        <p:nvSpPr>
          <p:cNvPr id="35" name="cw_hl07"/>
          <p:cNvSpPr/>
          <p:nvPr/>
        </p:nvSpPr>
        <p:spPr>
          <a:xfrm>
            <a:off x="676656" y="3807968"/>
            <a:ext cx="5036516" cy="290576"/>
          </a:xfrm>
          <a:prstGeom prst="rect">
            <a:avLst/>
          </a:prstGeom>
          <a:solidFill>
            <a:srgbClr val="4D91F0">
              <a:alpha val="15000"/>
            </a:srgbClr>
          </a:solidFill>
          <a:ln w="12700">
            <a:solidFill>
              <a:srgbClr val="4D91F0"/>
            </a:solidFill>
            <a:prstDash val="solid"/>
          </a:ln>
        </p:spPr>
        <p:txBody>
          <a:bodyPr/>
          <a:lstStyle/>
          <a:p>
            <a:endParaRPr lang="en-US"/>
          </a:p>
        </p:txBody>
      </p:sp>
      <p:sp>
        <p:nvSpPr>
          <p:cNvPr id="36" name="cw_hl11"/>
          <p:cNvSpPr/>
          <p:nvPr/>
        </p:nvSpPr>
        <p:spPr>
          <a:xfrm>
            <a:off x="676656" y="4823968"/>
            <a:ext cx="5036516" cy="29057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48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0A5FA"/>
                </a:solidFill>
                <a:latin typeface="Consolas"/>
                <a:ea typeface="Consolas"/>
                <a:cs typeface="Consolas"/>
              </a:rPr>
              <a:t>private readonly object </a:t>
            </a:r>
            <a:r>
              <a:rPr lang="en-US" sz="1250" b="0" dirty="0">
                <a:solidFill>
                  <a:srgbClr val="E2E8F0"/>
                </a:solidFill>
                <a:latin typeface="Consolas"/>
                <a:ea typeface="Consolas"/>
                <a:cs typeface="Consolas"/>
              </a:rPr>
              <a:t>_sync = </a:t>
            </a:r>
            <a:r>
              <a:rPr lang="en-US" sz="1250" b="0" dirty="0">
                <a:solidFill>
                  <a:srgbClr val="60A5FA"/>
                </a:solidFill>
                <a:latin typeface="Consolas"/>
                <a:ea typeface="Consolas"/>
                <a:cs typeface="Consolas"/>
              </a:rPr>
              <a:t>new</a:t>
            </a:r>
            <a:r>
              <a:rPr lang="en-US" sz="1250" b="0" dirty="0">
                <a:solidFill>
                  <a:srgbClr val="E2E8F0"/>
                </a:solidFill>
                <a:latin typeface="Consolas"/>
                <a:ea typeface="Consolas"/>
                <a:cs typeface="Consolas"/>
              </a:rPr>
              <a:t>();</a:t>
            </a:r>
            <a:endParaRPr lang="en-US" sz="1250" dirty="0"/>
          </a:p>
        </p:txBody>
      </p:sp>
      <p:sp>
        <p:nvSpPr>
          <p:cNvPr id="23" name="cw_L02"/>
          <p:cNvSpPr txBox="1"/>
          <p:nvPr/>
        </p:nvSpPr>
        <p:spPr>
          <a:xfrm>
            <a:off x="771754" y="2556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0A5FA"/>
                </a:solidFill>
                <a:latin typeface="Consolas"/>
                <a:ea typeface="Consolas"/>
                <a:cs typeface="Consolas"/>
              </a:rPr>
              <a:t>public void </a:t>
            </a:r>
            <a:r>
              <a:rPr lang="en-US" sz="1250" b="0" dirty="0">
                <a:solidFill>
                  <a:srgbClr val="E2E8F0"/>
                </a:solidFill>
                <a:latin typeface="Consolas"/>
                <a:ea typeface="Consolas"/>
                <a:cs typeface="Consolas"/>
              </a:rPr>
              <a:t>Buy()</a:t>
            </a:r>
            <a:endParaRPr lang="en-US" sz="1250" dirty="0"/>
          </a:p>
        </p:txBody>
      </p:sp>
      <p:sp>
        <p:nvSpPr>
          <p:cNvPr id="24" name="cw_L03"/>
          <p:cNvSpPr txBox="1"/>
          <p:nvPr/>
        </p:nvSpPr>
        <p:spPr>
          <a:xfrm>
            <a:off x="771754" y="2810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5" name="cw_L04"/>
          <p:cNvSpPr txBox="1"/>
          <p:nvPr/>
        </p:nvSpPr>
        <p:spPr>
          <a:xfrm>
            <a:off x="771754" y="3064256"/>
            <a:ext cx="491947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60A5FA"/>
                </a:solidFill>
                <a:latin typeface="Consolas"/>
                <a:ea typeface="Consolas"/>
                <a:cs typeface="Consolas"/>
              </a:rPr>
              <a:t>lock </a:t>
            </a:r>
            <a:r>
              <a:rPr lang="en-US" sz="1250" b="0" dirty="0">
                <a:solidFill>
                  <a:srgbClr val="E2E8F0"/>
                </a:solidFill>
                <a:latin typeface="Consolas"/>
                <a:ea typeface="Consolas"/>
                <a:cs typeface="Consolas"/>
              </a:rPr>
              <a:t>(_sync)          </a:t>
            </a:r>
            <a:r>
              <a:rPr lang="en-US" sz="1250" b="0" dirty="0">
                <a:solidFill>
                  <a:srgbClr val="6FAE7A"/>
                </a:solidFill>
                <a:latin typeface="Consolas"/>
                <a:ea typeface="Consolas"/>
                <a:cs typeface="Consolas"/>
              </a:rPr>
              <a:t>// acquire, or wait</a:t>
            </a:r>
            <a:endParaRPr lang="en-US" sz="1250" dirty="0"/>
          </a:p>
        </p:txBody>
      </p:sp>
      <p:sp>
        <p:nvSpPr>
          <p:cNvPr id="26" name="cw_L05"/>
          <p:cNvSpPr txBox="1"/>
          <p:nvPr/>
        </p:nvSpPr>
        <p:spPr>
          <a:xfrm>
            <a:off x="771754" y="3318256"/>
            <a:ext cx="491947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27" name="cw_L06"/>
          <p:cNvSpPr txBox="1"/>
          <p:nvPr/>
        </p:nvSpPr>
        <p:spPr>
          <a:xfrm>
            <a:off x="771754" y="3572256"/>
            <a:ext cx="4919472" cy="254000"/>
          </a:xfrm>
          <a:prstGeom prst="rect">
            <a:avLst/>
          </a:prstGeom>
          <a:noFill/>
          <a:ln>
            <a:noFill/>
          </a:ln>
        </p:spPr>
        <p:txBody>
          <a:bodyPr wrap="none" lIns="0" tIns="0" rIns="0" bIns="0" rtlCol="0" anchor="ctr">
            <a:noAutofit/>
          </a:bodyPr>
          <a:lstStyle/>
          <a:p>
            <a:pPr marL="698500" indent="0" algn="l">
              <a:spcBef>
                <a:spcPts val="0"/>
              </a:spcBef>
              <a:spcAft>
                <a:spcPts val="0"/>
              </a:spcAft>
              <a:buNone/>
            </a:pPr>
            <a:r>
              <a:rPr lang="en-US" sz="1250" b="0" dirty="0">
                <a:solidFill>
                  <a:srgbClr val="60A5FA"/>
                </a:solidFill>
                <a:latin typeface="Consolas"/>
                <a:ea typeface="Consolas"/>
                <a:cs typeface="Consolas"/>
              </a:rPr>
              <a:t>if </a:t>
            </a:r>
            <a:r>
              <a:rPr lang="en-US" sz="1250" b="0" dirty="0">
                <a:solidFill>
                  <a:srgbClr val="E2E8F0"/>
                </a:solidFill>
                <a:latin typeface="Consolas"/>
                <a:ea typeface="Consolas"/>
                <a:cs typeface="Consolas"/>
              </a:rPr>
              <a:t>(Stock &lt;= 0)</a:t>
            </a:r>
            <a:endParaRPr lang="en-US" sz="1250" dirty="0"/>
          </a:p>
        </p:txBody>
      </p:sp>
      <p:sp>
        <p:nvSpPr>
          <p:cNvPr id="28" name="cw_L07"/>
          <p:cNvSpPr txBox="1"/>
          <p:nvPr/>
        </p:nvSpPr>
        <p:spPr>
          <a:xfrm>
            <a:off x="771754" y="3826256"/>
            <a:ext cx="4919472" cy="254000"/>
          </a:xfrm>
          <a:prstGeom prst="rect">
            <a:avLst/>
          </a:prstGeom>
          <a:noFill/>
          <a:ln>
            <a:noFill/>
          </a:ln>
        </p:spPr>
        <p:txBody>
          <a:bodyPr wrap="none" lIns="0" tIns="0" rIns="0" bIns="0" rtlCol="0" anchor="ctr">
            <a:noAutofit/>
          </a:bodyPr>
          <a:lstStyle/>
          <a:p>
            <a:pPr marL="1047750" indent="0" algn="l">
              <a:spcBef>
                <a:spcPts val="0"/>
              </a:spcBef>
              <a:spcAft>
                <a:spcPts val="0"/>
              </a:spcAft>
              <a:buNone/>
            </a:pPr>
            <a:r>
              <a:rPr lang="en-US" sz="1250" b="0" dirty="0">
                <a:solidFill>
                  <a:srgbClr val="60A5FA"/>
                </a:solidFill>
                <a:latin typeface="Consolas"/>
                <a:ea typeface="Consolas"/>
                <a:cs typeface="Consolas"/>
              </a:rPr>
              <a:t>return</a:t>
            </a:r>
            <a:r>
              <a:rPr lang="en-US" sz="1250" b="0" dirty="0">
                <a:solidFill>
                  <a:srgbClr val="E2E8F0"/>
                </a:solidFill>
                <a:latin typeface="Consolas"/>
                <a:ea typeface="Consolas"/>
                <a:cs typeface="Consolas"/>
              </a:rPr>
              <a:t>;       </a:t>
            </a:r>
            <a:r>
              <a:rPr lang="en-US" sz="1250" b="0" dirty="0">
                <a:solidFill>
                  <a:srgbClr val="6FAE7A"/>
                </a:solidFill>
                <a:latin typeface="Consolas"/>
                <a:ea typeface="Consolas"/>
                <a:cs typeface="Consolas"/>
              </a:rPr>
              <a:t>// leaving releases</a:t>
            </a:r>
            <a:endParaRPr lang="en-US" sz="1250" dirty="0"/>
          </a:p>
        </p:txBody>
      </p:sp>
      <p:sp>
        <p:nvSpPr>
          <p:cNvPr id="29" name="cw_L09"/>
          <p:cNvSpPr txBox="1"/>
          <p:nvPr/>
        </p:nvSpPr>
        <p:spPr>
          <a:xfrm>
            <a:off x="771754" y="4334256"/>
            <a:ext cx="4919472" cy="254000"/>
          </a:xfrm>
          <a:prstGeom prst="rect">
            <a:avLst/>
          </a:prstGeom>
          <a:noFill/>
          <a:ln>
            <a:noFill/>
          </a:ln>
        </p:spPr>
        <p:txBody>
          <a:bodyPr wrap="none" lIns="0" tIns="0" rIns="0" bIns="0" rtlCol="0" anchor="ctr">
            <a:noAutofit/>
          </a:bodyPr>
          <a:lstStyle/>
          <a:p>
            <a:pPr marL="698500" indent="0" algn="l">
              <a:spcBef>
                <a:spcPts val="0"/>
              </a:spcBef>
              <a:spcAft>
                <a:spcPts val="0"/>
              </a:spcAft>
              <a:buNone/>
            </a:pPr>
            <a:r>
              <a:rPr lang="en-US" sz="1250" b="0" dirty="0">
                <a:solidFill>
                  <a:srgbClr val="E2E8F0"/>
                </a:solidFill>
                <a:latin typeface="Consolas"/>
                <a:ea typeface="Consolas"/>
                <a:cs typeface="Consolas"/>
              </a:rPr>
              <a:t>Stock--;</a:t>
            </a:r>
            <a:endParaRPr lang="en-US" sz="1250" dirty="0"/>
          </a:p>
        </p:txBody>
      </p:sp>
      <p:sp>
        <p:nvSpPr>
          <p:cNvPr id="30" name="cw_L10"/>
          <p:cNvSpPr txBox="1"/>
          <p:nvPr/>
        </p:nvSpPr>
        <p:spPr>
          <a:xfrm>
            <a:off x="771754" y="4588256"/>
            <a:ext cx="4919472" cy="254000"/>
          </a:xfrm>
          <a:prstGeom prst="rect">
            <a:avLst/>
          </a:prstGeom>
          <a:noFill/>
          <a:ln>
            <a:noFill/>
          </a:ln>
        </p:spPr>
        <p:txBody>
          <a:bodyPr wrap="none" lIns="0" tIns="0" rIns="0" bIns="0" rtlCol="0" anchor="ctr">
            <a:noAutofit/>
          </a:bodyPr>
          <a:lstStyle/>
          <a:p>
            <a:pPr marL="698500" indent="0" algn="l">
              <a:spcBef>
                <a:spcPts val="0"/>
              </a:spcBef>
              <a:spcAft>
                <a:spcPts val="0"/>
              </a:spcAft>
              <a:buNone/>
            </a:pPr>
            <a:r>
              <a:rPr lang="en-US" sz="1250" b="0" dirty="0">
                <a:solidFill>
                  <a:srgbClr val="E2E8F0"/>
                </a:solidFill>
                <a:latin typeface="Consolas"/>
                <a:ea typeface="Consolas"/>
                <a:cs typeface="Consolas"/>
              </a:rPr>
              <a:t>Sold++;</a:t>
            </a:r>
            <a:endParaRPr lang="en-US" sz="1250" dirty="0"/>
          </a:p>
        </p:txBody>
      </p:sp>
      <p:sp>
        <p:nvSpPr>
          <p:cNvPr id="31" name="cw_L11"/>
          <p:cNvSpPr txBox="1"/>
          <p:nvPr/>
        </p:nvSpPr>
        <p:spPr>
          <a:xfrm>
            <a:off x="771754" y="4842256"/>
            <a:ext cx="4919472" cy="254000"/>
          </a:xfrm>
          <a:prstGeom prst="rect">
            <a:avLst/>
          </a:prstGeom>
          <a:noFill/>
          <a:ln>
            <a:noFill/>
          </a:ln>
        </p:spPr>
        <p:txBody>
          <a:bodyPr wrap="none" lIns="0" tIns="0" rIns="0" bIns="0" rtlCol="0" anchor="ctr">
            <a:noAutofit/>
          </a:bodyPr>
          <a:lstStyle/>
          <a:p>
            <a:pPr marL="349250" indent="0" algn="l">
              <a:spcBef>
                <a:spcPts val="0"/>
              </a:spcBef>
              <a:spcAft>
                <a:spcPts val="0"/>
              </a:spcAft>
              <a:buNone/>
            </a:pPr>
            <a:r>
              <a:rPr lang="en-US" sz="1250" b="0" dirty="0">
                <a:solidFill>
                  <a:srgbClr val="E2E8F0"/>
                </a:solidFill>
                <a:latin typeface="Consolas"/>
                <a:ea typeface="Consolas"/>
                <a:cs typeface="Consolas"/>
              </a:rPr>
              <a:t>}                     </a:t>
            </a:r>
            <a:r>
              <a:rPr lang="en-US" sz="1250" b="0" dirty="0">
                <a:solidFill>
                  <a:srgbClr val="6FAE7A"/>
                </a:solidFill>
                <a:latin typeface="Consolas"/>
                <a:ea typeface="Consolas"/>
                <a:cs typeface="Consolas"/>
              </a:rPr>
              <a:t>// release</a:t>
            </a:r>
            <a:endParaRPr lang="en-US" sz="1250" dirty="0"/>
          </a:p>
        </p:txBody>
      </p:sp>
      <p:sp>
        <p:nvSpPr>
          <p:cNvPr id="32" name="cw_L12"/>
          <p:cNvSpPr txBox="1"/>
          <p:nvPr/>
        </p:nvSpPr>
        <p:spPr>
          <a:xfrm>
            <a:off x="771754" y="5096256"/>
            <a:ext cx="49194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E2E8F0"/>
                </a:solidFill>
                <a:latin typeface="Consolas"/>
                <a:ea typeface="Consolas"/>
                <a:cs typeface="Consolas"/>
              </a:rPr>
              <a:t>}</a:t>
            </a:r>
            <a:endParaRPr lang="en-US" sz="1250" dirty="0"/>
          </a:p>
        </p:txBody>
      </p:sp>
      <p:sp>
        <p:nvSpPr>
          <p:cNvPr id="37" name="room"/>
          <p:cNvSpPr/>
          <p:nvPr/>
        </p:nvSpPr>
        <p:spPr>
          <a:xfrm>
            <a:off x="7700000" y="1572768"/>
            <a:ext cx="2250000" cy="1500000"/>
          </a:xfrm>
          <a:prstGeom prst="roundRect">
            <a:avLst>
              <a:gd name="adj" fmla="val 6000"/>
            </a:avLst>
          </a:prstGeom>
          <a:solidFill>
            <a:srgbClr val="0E2A26"/>
          </a:solidFill>
          <a:ln w="19050">
            <a:solidFill>
              <a:srgbClr val="34D399"/>
            </a:solidFill>
            <a:prstDash val="solid"/>
          </a:ln>
        </p:spPr>
        <p:txBody>
          <a:bodyPr wrap="square" lIns="91440" tIns="91440" rIns="91440" bIns="91440" rtlCol="0" anchor="t">
            <a:noAutofit/>
          </a:bodyPr>
          <a:lstStyle/>
          <a:p>
            <a:pPr marL="0" indent="0" algn="ctr">
              <a:spcBef>
                <a:spcPts val="0"/>
              </a:spcBef>
              <a:spcAft>
                <a:spcPts val="0"/>
              </a:spcAft>
              <a:buNone/>
            </a:pPr>
            <a:r>
              <a:rPr lang="en-US" sz="1100" b="1" dirty="0">
                <a:solidFill>
                  <a:srgbClr val="34D399"/>
                </a:solidFill>
                <a:latin typeface="Consolas"/>
                <a:ea typeface="Consolas"/>
                <a:cs typeface="Consolas"/>
              </a:rPr>
              <a:t>lock (_sync)</a:t>
            </a:r>
            <a:endParaRPr lang="en-US" sz="1100" dirty="0"/>
          </a:p>
        </p:txBody>
      </p:sp>
      <p:sp>
        <p:nvSpPr>
          <p:cNvPr id="38" name="pill"/>
          <p:cNvSpPr/>
          <p:nvPr/>
        </p:nvSpPr>
        <p:spPr>
          <a:xfrm>
            <a:off x="7925000" y="2132768"/>
            <a:ext cx="1800000" cy="411480"/>
          </a:xfrm>
          <a:prstGeom prst="roundRect">
            <a:avLst>
              <a:gd name="adj" fmla="val 30000"/>
            </a:avLst>
          </a:prstGeom>
          <a:solidFill>
            <a:srgbClr val="4D91F0">
              <a:alpha val="20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4D91F0"/>
                </a:solidFill>
                <a:latin typeface="Segoe UI"/>
                <a:ea typeface="Segoe UI"/>
                <a:cs typeface="Segoe UI"/>
              </a:rPr>
              <a:t>Customer A</a:t>
            </a:r>
            <a:endParaRPr lang="en-US" sz="1150" dirty="0"/>
          </a:p>
        </p:txBody>
      </p:sp>
      <p:sp>
        <p:nvSpPr>
          <p:cNvPr id="39" name="lab"/>
          <p:cNvSpPr txBox="1"/>
          <p:nvPr/>
        </p:nvSpPr>
        <p:spPr>
          <a:xfrm>
            <a:off x="7925000" y="2582768"/>
            <a:ext cx="180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0" dirty="0">
                <a:solidFill>
                  <a:srgbClr val="CBD5E1"/>
                </a:solidFill>
                <a:latin typeface="Segoe UI"/>
                <a:ea typeface="Segoe UI"/>
                <a:cs typeface="Segoe UI"/>
              </a:rPr>
              <a:t>check + update</a:t>
            </a:r>
            <a:endParaRPr lang="en-US" sz="1000" dirty="0"/>
          </a:p>
        </p:txBody>
      </p:sp>
      <p:sp>
        <p:nvSpPr>
          <p:cNvPr id="40" name="pill"/>
          <p:cNvSpPr/>
          <p:nvPr/>
        </p:nvSpPr>
        <p:spPr>
          <a:xfrm>
            <a:off x="6035000" y="2132768"/>
            <a:ext cx="1450000" cy="411480"/>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FBBF24"/>
                </a:solidFill>
                <a:latin typeface="Segoe UI"/>
                <a:ea typeface="Segoe UI"/>
                <a:cs typeface="Segoe UI"/>
              </a:rPr>
              <a:t>Customer B</a:t>
            </a:r>
            <a:endParaRPr lang="en-US" sz="1150" dirty="0"/>
          </a:p>
        </p:txBody>
      </p:sp>
      <p:sp>
        <p:nvSpPr>
          <p:cNvPr id="41" name="lab"/>
          <p:cNvSpPr txBox="1"/>
          <p:nvPr/>
        </p:nvSpPr>
        <p:spPr>
          <a:xfrm>
            <a:off x="6035000" y="2582768"/>
            <a:ext cx="145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waiting</a:t>
            </a:r>
            <a:endParaRPr lang="en-US" sz="1000" dirty="0"/>
          </a:p>
        </p:txBody>
      </p:sp>
      <p:cxnSp>
        <p:nvCxnSpPr>
          <p:cNvPr id="42" name="arrow"/>
          <p:cNvCxnSpPr/>
          <p:nvPr/>
        </p:nvCxnSpPr>
        <p:spPr>
          <a:xfrm>
            <a:off x="7495000" y="2338508"/>
            <a:ext cx="195000" cy="0"/>
          </a:xfrm>
          <a:prstGeom prst="line">
            <a:avLst/>
          </a:prstGeom>
          <a:ln w="28575">
            <a:solidFill>
              <a:srgbClr val="FBBF24"/>
            </a:solidFill>
            <a:tailEnd type="triangle" w="med" len="med"/>
          </a:ln>
        </p:spPr>
      </p:cxnSp>
      <p:sp>
        <p:nvSpPr>
          <p:cNvPr id="43" name="pill"/>
          <p:cNvSpPr/>
          <p:nvPr/>
        </p:nvSpPr>
        <p:spPr>
          <a:xfrm>
            <a:off x="10180000" y="2132768"/>
            <a:ext cx="1450254" cy="411480"/>
          </a:xfrm>
          <a:prstGeom prst="roundRect">
            <a:avLst>
              <a:gd name="adj" fmla="val 30000"/>
            </a:avLst>
          </a:prstGeom>
          <a:solidFill>
            <a:srgbClr val="4D91F0">
              <a:alpha val="10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4D91F0"/>
                </a:solidFill>
                <a:latin typeface="Segoe UI"/>
                <a:ea typeface="Segoe UI"/>
                <a:cs typeface="Segoe UI"/>
              </a:rPr>
              <a:t>A done</a:t>
            </a:r>
            <a:endParaRPr lang="en-US" sz="1150" dirty="0"/>
          </a:p>
        </p:txBody>
      </p:sp>
      <p:sp>
        <p:nvSpPr>
          <p:cNvPr id="44" name="lab"/>
          <p:cNvSpPr txBox="1"/>
          <p:nvPr/>
        </p:nvSpPr>
        <p:spPr>
          <a:xfrm>
            <a:off x="10180000" y="2582768"/>
            <a:ext cx="1450254"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lock released</a:t>
            </a:r>
            <a:endParaRPr lang="en-US" sz="1000" dirty="0"/>
          </a:p>
        </p:txBody>
      </p:sp>
      <p:cxnSp>
        <p:nvCxnSpPr>
          <p:cNvPr id="45" name="arrow"/>
          <p:cNvCxnSpPr/>
          <p:nvPr/>
        </p:nvCxnSpPr>
        <p:spPr>
          <a:xfrm>
            <a:off x="9960000" y="2338508"/>
            <a:ext cx="210000" cy="0"/>
          </a:xfrm>
          <a:prstGeom prst="line">
            <a:avLst/>
          </a:prstGeom>
          <a:ln w="28575">
            <a:solidFill>
              <a:srgbClr val="4D91F0"/>
            </a:solidFill>
            <a:tailEnd type="triangle" w="med" len="med"/>
          </a:ln>
        </p:spPr>
      </p:cxnSp>
      <p:sp>
        <p:nvSpPr>
          <p:cNvPr id="46" name="card"/>
          <p:cNvSpPr/>
          <p:nvPr/>
        </p:nvSpPr>
        <p:spPr>
          <a:xfrm>
            <a:off x="6035000" y="3252768"/>
            <a:ext cx="5595254" cy="523224"/>
          </a:xfrm>
          <a:prstGeom prst="roundRect">
            <a:avLst>
              <a:gd name="adj" fmla="val 12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ACQUIRE  </a:t>
            </a:r>
            <a:r>
              <a:rPr lang="en-US" sz="1100" b="0" dirty="0">
                <a:solidFill>
                  <a:srgbClr val="CBD5E1"/>
                </a:solidFill>
                <a:latin typeface="Segoe UI"/>
                <a:ea typeface="Segoe UI"/>
                <a:cs typeface="Segoe UI"/>
              </a:rPr>
              <a:t>A reaches lock (_sync). The lock is free, so A takes it and enters.</a:t>
            </a:r>
            <a:endParaRPr lang="en-US" sz="1100" dirty="0"/>
          </a:p>
        </p:txBody>
      </p:sp>
      <p:sp>
        <p:nvSpPr>
          <p:cNvPr id="47" name="card"/>
          <p:cNvSpPr/>
          <p:nvPr/>
        </p:nvSpPr>
        <p:spPr>
          <a:xfrm>
            <a:off x="6035000" y="3830856"/>
            <a:ext cx="5595254" cy="523224"/>
          </a:xfrm>
          <a:prstGeom prst="roundRect">
            <a:avLst>
              <a:gd name="adj" fmla="val 12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WAIT  </a:t>
            </a:r>
            <a:r>
              <a:rPr lang="en-US" sz="1100" b="0" dirty="0">
                <a:solidFill>
                  <a:srgbClr val="CBD5E1"/>
                </a:solidFill>
                <a:latin typeface="Segoe UI"/>
                <a:ea typeface="Segoe UI"/>
                <a:cs typeface="Segoe UI"/>
              </a:rPr>
              <a:t>B reaches the same lock while A holds it, so B blocks until it is free.</a:t>
            </a:r>
            <a:endParaRPr lang="en-US" sz="1100" dirty="0"/>
          </a:p>
        </p:txBody>
      </p:sp>
      <p:sp>
        <p:nvSpPr>
          <p:cNvPr id="48" name="card"/>
          <p:cNvSpPr/>
          <p:nvPr/>
        </p:nvSpPr>
        <p:spPr>
          <a:xfrm>
            <a:off x="6035000" y="4408944"/>
            <a:ext cx="5595254" cy="523224"/>
          </a:xfrm>
          <a:prstGeom prst="roundRect">
            <a:avLst>
              <a:gd name="adj" fmla="val 12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4D91F0"/>
                </a:solidFill>
                <a:latin typeface="Segoe UI"/>
                <a:ea typeface="Segoe UI"/>
                <a:cs typeface="Segoe UI"/>
              </a:rPr>
              <a:t>RELEASE  </a:t>
            </a:r>
            <a:r>
              <a:rPr lang="en-US" sz="1100" b="0" dirty="0">
                <a:solidFill>
                  <a:srgbClr val="CBD5E1"/>
                </a:solidFill>
                <a:latin typeface="Segoe UI"/>
                <a:ea typeface="Segoe UI"/>
                <a:cs typeface="Segoe UI"/>
              </a:rPr>
              <a:t>A leaves the block (end, return or exception): the lock is released.</a:t>
            </a:r>
            <a:endParaRPr lang="en-US" sz="1100" dirty="0"/>
          </a:p>
        </p:txBody>
      </p:sp>
      <p:sp>
        <p:nvSpPr>
          <p:cNvPr id="49" name="card"/>
          <p:cNvSpPr/>
          <p:nvPr/>
        </p:nvSpPr>
        <p:spPr>
          <a:xfrm>
            <a:off x="6035000" y="4987032"/>
            <a:ext cx="5595254" cy="523224"/>
          </a:xfrm>
          <a:prstGeom prst="roundRect">
            <a:avLst>
              <a:gd name="adj" fmla="val 12000"/>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ONE SHARED KEY  </a:t>
            </a:r>
            <a:r>
              <a:rPr lang="en-US" sz="1100" b="0" dirty="0">
                <a:solidFill>
                  <a:srgbClr val="CBD5E1"/>
                </a:solidFill>
                <a:latin typeface="Segoe UI"/>
                <a:ea typeface="Segoe UI"/>
                <a:cs typeface="Segoe UI"/>
              </a:rPr>
              <a:t>_sync is the one object every customer locks on. Private readonly: no one else can lock it or replace it.</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3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3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3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3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300"/>
                                        <p:tgtEl>
                                          <p:spTgt spid="4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300"/>
                                        <p:tgtEl>
                                          <p:spTgt spid="4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300"/>
                                        <p:tgtEl>
                                          <p:spTgt spid="41"/>
                                        </p:tgtEl>
                                      </p:cBhvr>
                                    </p:animEffect>
                                  </p:childTnLst>
                                </p:cTn>
                              </p:par>
                              <p:par>
                                <p:cTn id="84" presetID="10" presetClass="entr" presetSubtype="0" fill="hold"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300"/>
                                        <p:tgtEl>
                                          <p:spTgt spid="4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300"/>
                                        <p:tgtEl>
                                          <p:spTgt spid="4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3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300"/>
                                        <p:tgtEl>
                                          <p:spTgt spid="4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300"/>
                                        <p:tgtEl>
                                          <p:spTgt spid="44"/>
                                        </p:tgtEl>
                                      </p:cBhvr>
                                    </p:animEffect>
                                  </p:childTnLst>
                                </p:cTn>
                              </p:par>
                              <p:par>
                                <p:cTn id="104" presetID="10" presetClass="entr" presetSubtype="0" fill="hold" nodeType="with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300"/>
                                        <p:tgtEl>
                                          <p:spTgt spid="4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3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300"/>
                                        <p:tgtEl>
                                          <p:spTgt spid="3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3" grpId="0" animBg="1"/>
      <p:bldP spid="34" grpId="0" animBg="1"/>
      <p:bldP spid="35" grpId="0" animBg="1"/>
      <p:bldP spid="36"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7" grpId="0" animBg="1"/>
      <p:bldP spid="38" grpId="0" animBg="1"/>
      <p:bldP spid="39" grpId="0" animBg="1"/>
      <p:bldP spid="40" grpId="0" animBg="1"/>
      <p:bldP spid="41" grpId="0" animBg="1"/>
      <p:bldP spid="43" grpId="0" animBg="1"/>
      <p:bldP spid="44" grpId="0" animBg="1"/>
      <p:bldP spid="46" grpId="0" animBg="1"/>
      <p:bldP spid="47" grpId="0" animBg="1"/>
      <p:bldP spid="48" grpId="0" animBg="1"/>
      <p:bldP spid="4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22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UNDER THE HOOD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Does lock Actually 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37</a:t>
            </a:r>
            <a:endParaRPr lang="en-US" sz="850" dirty="0"/>
          </a:p>
        </p:txBody>
      </p:sp>
      <p:sp>
        <p:nvSpPr>
          <p:cNvPr id="15" name="cw_win"/>
          <p:cNvSpPr/>
          <p:nvPr/>
        </p:nvSpPr>
        <p:spPr>
          <a:xfrm>
            <a:off x="543154" y="1572768"/>
            <a:ext cx="5150000" cy="3362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1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1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34" name="cw_hl00"/>
          <p:cNvSpPr/>
          <p:nvPr/>
        </p:nvSpPr>
        <p:spPr>
          <a:xfrm>
            <a:off x="676656" y="1982928"/>
            <a:ext cx="488299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35" name="cw_hl01"/>
          <p:cNvSpPr/>
          <p:nvPr/>
        </p:nvSpPr>
        <p:spPr>
          <a:xfrm>
            <a:off x="676656" y="2196288"/>
            <a:ext cx="4882996" cy="463296"/>
          </a:xfrm>
          <a:prstGeom prst="rect">
            <a:avLst/>
          </a:prstGeom>
          <a:solidFill>
            <a:srgbClr val="A78BFA">
              <a:alpha val="15000"/>
            </a:srgbClr>
          </a:solidFill>
          <a:ln w="12700">
            <a:solidFill>
              <a:srgbClr val="A78BFA"/>
            </a:solidFill>
            <a:prstDash val="solid"/>
          </a:ln>
        </p:spPr>
        <p:txBody>
          <a:bodyPr/>
          <a:lstStyle/>
          <a:p>
            <a:endParaRPr lang="en-US"/>
          </a:p>
        </p:txBody>
      </p:sp>
      <p:sp>
        <p:nvSpPr>
          <p:cNvPr id="36" name="cw_hl06"/>
          <p:cNvSpPr/>
          <p:nvPr/>
        </p:nvSpPr>
        <p:spPr>
          <a:xfrm>
            <a:off x="676656" y="3263088"/>
            <a:ext cx="4882996"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37" name="cw_hl11"/>
          <p:cNvSpPr/>
          <p:nvPr/>
        </p:nvSpPr>
        <p:spPr>
          <a:xfrm>
            <a:off x="676656" y="4329888"/>
            <a:ext cx="4882996" cy="24993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0121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private readonly </a:t>
            </a:r>
            <a:r>
              <a:rPr lang="en-US" sz="1050" b="0" dirty="0">
                <a:solidFill>
                  <a:srgbClr val="E2E8F0"/>
                </a:solidFill>
                <a:latin typeface="Consolas"/>
                <a:ea typeface="Consolas"/>
                <a:cs typeface="Consolas"/>
              </a:rPr>
              <a:t>Lock _sync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.NET 9</a:t>
            </a:r>
            <a:endParaRPr lang="en-US" sz="1050" dirty="0"/>
          </a:p>
        </p:txBody>
      </p:sp>
      <p:sp>
        <p:nvSpPr>
          <p:cNvPr id="23" name="cw_L01"/>
          <p:cNvSpPr txBox="1"/>
          <p:nvPr/>
        </p:nvSpPr>
        <p:spPr>
          <a:xfrm>
            <a:off x="771754" y="221457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 int </a:t>
            </a:r>
            <a:r>
              <a:rPr lang="en-US" sz="1050" b="0" dirty="0">
                <a:solidFill>
                  <a:srgbClr val="E2E8F0"/>
                </a:solidFill>
                <a:latin typeface="Consolas"/>
                <a:ea typeface="Consolas"/>
                <a:cs typeface="Consolas"/>
              </a:rPr>
              <a:t>Stock = 10;</a:t>
            </a:r>
            <a:endParaRPr lang="en-US" sz="1050" dirty="0"/>
          </a:p>
        </p:txBody>
      </p:sp>
      <p:sp>
        <p:nvSpPr>
          <p:cNvPr id="24" name="cw_L02"/>
          <p:cNvSpPr txBox="1"/>
          <p:nvPr/>
        </p:nvSpPr>
        <p:spPr>
          <a:xfrm>
            <a:off x="771754" y="242793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 int </a:t>
            </a:r>
            <a:r>
              <a:rPr lang="en-US" sz="1050" b="0" dirty="0">
                <a:solidFill>
                  <a:srgbClr val="E2E8F0"/>
                </a:solidFill>
                <a:latin typeface="Consolas"/>
                <a:ea typeface="Consolas"/>
                <a:cs typeface="Consolas"/>
              </a:rPr>
              <a:t>Sold;</a:t>
            </a:r>
            <a:endParaRPr lang="en-US" sz="1050" dirty="0"/>
          </a:p>
        </p:txBody>
      </p:sp>
      <p:sp>
        <p:nvSpPr>
          <p:cNvPr id="25" name="cw_L04"/>
          <p:cNvSpPr txBox="1"/>
          <p:nvPr/>
        </p:nvSpPr>
        <p:spPr>
          <a:xfrm>
            <a:off x="771754" y="285465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 void </a:t>
            </a:r>
            <a:r>
              <a:rPr lang="en-US" sz="1050" b="0" dirty="0">
                <a:solidFill>
                  <a:srgbClr val="E2E8F0"/>
                </a:solidFill>
                <a:latin typeface="Consolas"/>
                <a:ea typeface="Consolas"/>
                <a:cs typeface="Consolas"/>
              </a:rPr>
              <a:t>Buy()</a:t>
            </a:r>
            <a:endParaRPr lang="en-US" sz="1050" dirty="0"/>
          </a:p>
        </p:txBody>
      </p:sp>
      <p:sp>
        <p:nvSpPr>
          <p:cNvPr id="26" name="cw_L05"/>
          <p:cNvSpPr txBox="1"/>
          <p:nvPr/>
        </p:nvSpPr>
        <p:spPr>
          <a:xfrm>
            <a:off x="771754" y="306801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281376"/>
            <a:ext cx="47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lock </a:t>
            </a:r>
            <a:r>
              <a:rPr lang="en-US" sz="1050" b="0" dirty="0">
                <a:solidFill>
                  <a:srgbClr val="E2E8F0"/>
                </a:solidFill>
                <a:latin typeface="Consolas"/>
                <a:ea typeface="Consolas"/>
                <a:cs typeface="Consolas"/>
              </a:rPr>
              <a:t>(_sync)          </a:t>
            </a:r>
            <a:r>
              <a:rPr lang="en-US" sz="1050" b="0" dirty="0">
                <a:solidFill>
                  <a:srgbClr val="6FAE7A"/>
                </a:solidFill>
                <a:latin typeface="Consolas"/>
                <a:ea typeface="Consolas"/>
                <a:cs typeface="Consolas"/>
              </a:rPr>
              <a:t>// ask to own _sync</a:t>
            </a:r>
            <a:endParaRPr lang="en-US" sz="1050" dirty="0"/>
          </a:p>
        </p:txBody>
      </p:sp>
      <p:sp>
        <p:nvSpPr>
          <p:cNvPr id="28" name="cw_L07"/>
          <p:cNvSpPr txBox="1"/>
          <p:nvPr/>
        </p:nvSpPr>
        <p:spPr>
          <a:xfrm>
            <a:off x="771754" y="3494736"/>
            <a:ext cx="47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9" name="cw_L08"/>
          <p:cNvSpPr txBox="1"/>
          <p:nvPr/>
        </p:nvSpPr>
        <p:spPr>
          <a:xfrm>
            <a:off x="771754" y="3708096"/>
            <a:ext cx="47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60A5FA"/>
                </a:solidFill>
                <a:latin typeface="Consolas"/>
                <a:ea typeface="Consolas"/>
                <a:cs typeface="Consolas"/>
              </a:rPr>
              <a:t>if </a:t>
            </a:r>
            <a:r>
              <a:rPr lang="en-US" sz="1050" b="0" dirty="0">
                <a:solidFill>
                  <a:srgbClr val="E2E8F0"/>
                </a:solidFill>
                <a:latin typeface="Consolas"/>
                <a:ea typeface="Consolas"/>
                <a:cs typeface="Consolas"/>
              </a:rPr>
              <a:t>(Stock &lt;= 0) </a:t>
            </a:r>
            <a:r>
              <a:rPr lang="en-US" sz="1050" b="0" dirty="0">
                <a:solidFill>
                  <a:srgbClr val="60A5FA"/>
                </a:solidFill>
                <a:latin typeface="Consolas"/>
                <a:ea typeface="Consolas"/>
                <a:cs typeface="Consolas"/>
              </a:rPr>
              <a:t>return</a:t>
            </a:r>
            <a:r>
              <a:rPr lang="en-US" sz="1050" b="0" dirty="0">
                <a:solidFill>
                  <a:srgbClr val="E2E8F0"/>
                </a:solidFill>
                <a:latin typeface="Consolas"/>
                <a:ea typeface="Consolas"/>
                <a:cs typeface="Consolas"/>
              </a:rPr>
              <a:t>;</a:t>
            </a:r>
            <a:endParaRPr lang="en-US" sz="1050" dirty="0"/>
          </a:p>
        </p:txBody>
      </p:sp>
      <p:sp>
        <p:nvSpPr>
          <p:cNvPr id="30" name="cw_L09"/>
          <p:cNvSpPr txBox="1"/>
          <p:nvPr/>
        </p:nvSpPr>
        <p:spPr>
          <a:xfrm>
            <a:off x="771754" y="3921456"/>
            <a:ext cx="47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Stock--;</a:t>
            </a:r>
            <a:endParaRPr lang="en-US" sz="1050" dirty="0"/>
          </a:p>
        </p:txBody>
      </p:sp>
      <p:sp>
        <p:nvSpPr>
          <p:cNvPr id="31" name="cw_L10"/>
          <p:cNvSpPr txBox="1"/>
          <p:nvPr/>
        </p:nvSpPr>
        <p:spPr>
          <a:xfrm>
            <a:off x="771754" y="4134816"/>
            <a:ext cx="47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Sold++;</a:t>
            </a:r>
            <a:endParaRPr lang="en-US" sz="1050" dirty="0"/>
          </a:p>
        </p:txBody>
      </p:sp>
      <p:sp>
        <p:nvSpPr>
          <p:cNvPr id="32" name="cw_L11"/>
          <p:cNvSpPr txBox="1"/>
          <p:nvPr/>
        </p:nvSpPr>
        <p:spPr>
          <a:xfrm>
            <a:off x="771754" y="4348176"/>
            <a:ext cx="47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give it back</a:t>
            </a:r>
            <a:endParaRPr lang="en-US" sz="1050" dirty="0"/>
          </a:p>
        </p:txBody>
      </p:sp>
      <p:sp>
        <p:nvSpPr>
          <p:cNvPr id="33" name="cw_L12"/>
          <p:cNvSpPr txBox="1"/>
          <p:nvPr/>
        </p:nvSpPr>
        <p:spPr>
          <a:xfrm>
            <a:off x="771754" y="4561536"/>
            <a:ext cx="47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8" name="room"/>
          <p:cNvSpPr/>
          <p:nvPr/>
        </p:nvSpPr>
        <p:spPr>
          <a:xfrm>
            <a:off x="8450000" y="1572768"/>
            <a:ext cx="3180254" cy="1600000"/>
          </a:xfrm>
          <a:prstGeom prst="roundRect">
            <a:avLst>
              <a:gd name="adj" fmla="val 6000"/>
            </a:avLst>
          </a:prstGeom>
          <a:solidFill>
            <a:srgbClr val="0E2A26"/>
          </a:solidFill>
          <a:ln w="19050">
            <a:solidFill>
              <a:srgbClr val="34D399"/>
            </a:solidFill>
            <a:prstDash val="solid"/>
          </a:ln>
        </p:spPr>
        <p:txBody>
          <a:bodyPr/>
          <a:lstStyle/>
          <a:p>
            <a:endParaRPr lang="en-US"/>
          </a:p>
        </p:txBody>
      </p:sp>
      <p:sp>
        <p:nvSpPr>
          <p:cNvPr id="39" name="lab"/>
          <p:cNvSpPr txBox="1"/>
          <p:nvPr/>
        </p:nvSpPr>
        <p:spPr>
          <a:xfrm>
            <a:off x="8570000" y="1622768"/>
            <a:ext cx="2940254"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_sync</a:t>
            </a:r>
            <a:r>
              <a:rPr lang="en-US" sz="1050" b="0" dirty="0">
                <a:solidFill>
                  <a:srgbClr val="94A3B8"/>
                </a:solidFill>
                <a:latin typeface="Segoe UI"/>
                <a:ea typeface="Segoe UI"/>
                <a:cs typeface="Segoe UI"/>
              </a:rPr>
              <a:t>   a Lock object</a:t>
            </a:r>
            <a:endParaRPr lang="en-US" sz="1150" dirty="0"/>
          </a:p>
        </p:txBody>
      </p:sp>
      <p:sp>
        <p:nvSpPr>
          <p:cNvPr id="40" name="lab"/>
          <p:cNvSpPr txBox="1"/>
          <p:nvPr/>
        </p:nvSpPr>
        <p:spPr>
          <a:xfrm>
            <a:off x="8570000" y="1982768"/>
            <a:ext cx="800000" cy="3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94A3B8"/>
                </a:solidFill>
                <a:latin typeface="Segoe UI"/>
                <a:ea typeface="Segoe UI"/>
                <a:cs typeface="Segoe UI"/>
              </a:rPr>
              <a:t>owner:</a:t>
            </a:r>
            <a:endParaRPr lang="en-US" sz="1100" dirty="0"/>
          </a:p>
        </p:txBody>
      </p:sp>
      <p:sp>
        <p:nvSpPr>
          <p:cNvPr id="41" name="box"/>
          <p:cNvSpPr/>
          <p:nvPr/>
        </p:nvSpPr>
        <p:spPr>
          <a:xfrm>
            <a:off x="9400000" y="1982768"/>
            <a:ext cx="2080254" cy="380000"/>
          </a:xfrm>
          <a:prstGeom prst="roundRect">
            <a:avLst>
              <a:gd name="adj" fmla="val 12000"/>
            </a:avLst>
          </a:prstGeom>
          <a:solidFill>
            <a:srgbClr val="111B2E"/>
          </a:solidFill>
          <a:ln w="1905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94A3B8"/>
                </a:solidFill>
                <a:latin typeface="Consolas"/>
                <a:ea typeface="Consolas"/>
                <a:cs typeface="Consolas"/>
              </a:rPr>
              <a:t>nobody</a:t>
            </a:r>
            <a:endParaRPr lang="en-US" sz="1100" dirty="0"/>
          </a:p>
        </p:txBody>
      </p:sp>
      <p:sp>
        <p:nvSpPr>
          <p:cNvPr id="42" name="box"/>
          <p:cNvSpPr/>
          <p:nvPr/>
        </p:nvSpPr>
        <p:spPr>
          <a:xfrm>
            <a:off x="9400000" y="1982768"/>
            <a:ext cx="2080254" cy="38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4D91F0"/>
                </a:solidFill>
                <a:latin typeface="Consolas"/>
                <a:ea typeface="Consolas"/>
                <a:cs typeface="Consolas"/>
              </a:rPr>
              <a:t>Thread A</a:t>
            </a:r>
            <a:endParaRPr lang="en-US" sz="1100" dirty="0"/>
          </a:p>
        </p:txBody>
      </p:sp>
      <p:sp>
        <p:nvSpPr>
          <p:cNvPr id="43" name="box"/>
          <p:cNvSpPr/>
          <p:nvPr/>
        </p:nvSpPr>
        <p:spPr>
          <a:xfrm>
            <a:off x="9400000" y="1982768"/>
            <a:ext cx="2080254" cy="38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BBF24"/>
                </a:solidFill>
                <a:latin typeface="Consolas"/>
                <a:ea typeface="Consolas"/>
                <a:cs typeface="Consolas"/>
              </a:rPr>
              <a:t>Thread B</a:t>
            </a:r>
            <a:endParaRPr lang="en-US" sz="1100" dirty="0"/>
          </a:p>
        </p:txBody>
      </p:sp>
      <p:sp>
        <p:nvSpPr>
          <p:cNvPr id="44" name="chip"/>
          <p:cNvSpPr/>
          <p:nvPr/>
        </p:nvSpPr>
        <p:spPr>
          <a:xfrm>
            <a:off x="5950000" y="1982768"/>
            <a:ext cx="1500000" cy="40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4D91F0"/>
                </a:solidFill>
                <a:latin typeface="Segoe UI"/>
                <a:ea typeface="Segoe UI"/>
                <a:cs typeface="Segoe UI"/>
              </a:rPr>
              <a:t>Thread A</a:t>
            </a:r>
            <a:endParaRPr lang="en-US" sz="1050" dirty="0"/>
          </a:p>
        </p:txBody>
      </p:sp>
      <p:sp>
        <p:nvSpPr>
          <p:cNvPr id="45" name="chip"/>
          <p:cNvSpPr/>
          <p:nvPr/>
        </p:nvSpPr>
        <p:spPr>
          <a:xfrm>
            <a:off x="5950000" y="2602768"/>
            <a:ext cx="1500000" cy="40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Thread B</a:t>
            </a:r>
            <a:endParaRPr lang="en-US" sz="1050" dirty="0"/>
          </a:p>
        </p:txBody>
      </p:sp>
      <p:sp>
        <p:nvSpPr>
          <p:cNvPr id="46" name="caption"/>
          <p:cNvSpPr/>
          <p:nvPr/>
        </p:nvSpPr>
        <p:spPr>
          <a:xfrm>
            <a:off x="5950000" y="3272768"/>
            <a:ext cx="5680254" cy="52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_sync is just an object with an owner slot. Right now nobody owns it.</a:t>
            </a:r>
            <a:endParaRPr lang="en-US" sz="1150" dirty="0"/>
          </a:p>
        </p:txBody>
      </p:sp>
      <p:sp>
        <p:nvSpPr>
          <p:cNvPr id="47" name="caption"/>
          <p:cNvSpPr/>
          <p:nvPr/>
        </p:nvSpPr>
        <p:spPr>
          <a:xfrm>
            <a:off x="5950000" y="3272768"/>
            <a:ext cx="5680254" cy="52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runs lock (_sync): "may I own it?" It is free, so A becomes the owner and enters. That is ACQUIRE.</a:t>
            </a:r>
            <a:endParaRPr lang="en-US" sz="1150" dirty="0"/>
          </a:p>
        </p:txBody>
      </p:sp>
      <p:sp>
        <p:nvSpPr>
          <p:cNvPr id="48" name="caption"/>
          <p:cNvSpPr/>
          <p:nvPr/>
        </p:nvSpPr>
        <p:spPr>
          <a:xfrm>
            <a:off x="5950000" y="3272768"/>
            <a:ext cx="5680254" cy="52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B runs lock (_sync) too. The owner is A, so B is blocked: it waits right here.</a:t>
            </a:r>
            <a:endParaRPr lang="en-US" sz="1150" dirty="0"/>
          </a:p>
        </p:txBody>
      </p:sp>
      <p:sp>
        <p:nvSpPr>
          <p:cNvPr id="49" name="caption"/>
          <p:cNvSpPr/>
          <p:nvPr/>
        </p:nvSpPr>
        <p:spPr>
          <a:xfrm>
            <a:off x="5950000" y="3272768"/>
            <a:ext cx="5680254" cy="52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C changes Stock without lock (_sync). Nothing stops it: Stock and Sold were never locked.</a:t>
            </a:r>
            <a:endParaRPr lang="en-US" sz="1150" dirty="0"/>
          </a:p>
        </p:txBody>
      </p:sp>
      <p:sp>
        <p:nvSpPr>
          <p:cNvPr id="50" name="caption"/>
          <p:cNvSpPr/>
          <p:nvPr/>
        </p:nvSpPr>
        <p:spPr>
          <a:xfrm>
            <a:off x="5950000" y="3272768"/>
            <a:ext cx="5680254" cy="52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leaves the block: it RELEASES _sync. B becomes the new owner and enters.</a:t>
            </a:r>
            <a:endParaRPr lang="en-US" sz="1150" dirty="0"/>
          </a:p>
        </p:txBody>
      </p:sp>
      <p:sp>
        <p:nvSpPr>
          <p:cNvPr id="51" name="lab"/>
          <p:cNvSpPr txBox="1"/>
          <p:nvPr/>
        </p:nvSpPr>
        <p:spPr>
          <a:xfrm>
            <a:off x="5950000" y="3892768"/>
            <a:ext cx="5680254"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Plain fields: no owner, no lock</a:t>
            </a:r>
            <a:endParaRPr lang="en-US" sz="1050" dirty="0"/>
          </a:p>
        </p:txBody>
      </p:sp>
      <p:sp>
        <p:nvSpPr>
          <p:cNvPr id="52" name="box"/>
          <p:cNvSpPr/>
          <p:nvPr/>
        </p:nvSpPr>
        <p:spPr>
          <a:xfrm>
            <a:off x="8450000" y="4192768"/>
            <a:ext cx="1500000" cy="45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FFFFFF"/>
                </a:solidFill>
                <a:latin typeface="Consolas"/>
                <a:ea typeface="Consolas"/>
                <a:cs typeface="Consolas"/>
              </a:rPr>
              <a:t>Stock = 10</a:t>
            </a:r>
            <a:endParaRPr lang="en-US" sz="1150" dirty="0"/>
          </a:p>
        </p:txBody>
      </p:sp>
      <p:sp>
        <p:nvSpPr>
          <p:cNvPr id="53" name="box"/>
          <p:cNvSpPr/>
          <p:nvPr/>
        </p:nvSpPr>
        <p:spPr>
          <a:xfrm>
            <a:off x="8450000" y="4192768"/>
            <a:ext cx="1500000" cy="45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F87171"/>
                </a:solidFill>
                <a:latin typeface="Consolas"/>
                <a:ea typeface="Consolas"/>
                <a:cs typeface="Consolas"/>
              </a:rPr>
              <a:t>Stock = 9</a:t>
            </a:r>
            <a:endParaRPr lang="en-US" sz="1150" dirty="0"/>
          </a:p>
        </p:txBody>
      </p:sp>
      <p:sp>
        <p:nvSpPr>
          <p:cNvPr id="54" name="box"/>
          <p:cNvSpPr/>
          <p:nvPr/>
        </p:nvSpPr>
        <p:spPr>
          <a:xfrm>
            <a:off x="10050000" y="4192768"/>
            <a:ext cx="1580254" cy="45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FFFFFF"/>
                </a:solidFill>
                <a:latin typeface="Consolas"/>
                <a:ea typeface="Consolas"/>
                <a:cs typeface="Consolas"/>
              </a:rPr>
              <a:t>Sold = 0</a:t>
            </a:r>
            <a:endParaRPr lang="en-US" sz="1150" dirty="0"/>
          </a:p>
        </p:txBody>
      </p:sp>
      <p:sp>
        <p:nvSpPr>
          <p:cNvPr id="55" name="chip"/>
          <p:cNvSpPr/>
          <p:nvPr/>
        </p:nvSpPr>
        <p:spPr>
          <a:xfrm>
            <a:off x="5950000" y="4217768"/>
            <a:ext cx="1350000" cy="400000"/>
          </a:xfrm>
          <a:prstGeom prst="roundRect">
            <a:avLst>
              <a:gd name="adj" fmla="val 25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87171"/>
                </a:solidFill>
                <a:latin typeface="Segoe UI"/>
                <a:ea typeface="Segoe UI"/>
                <a:cs typeface="Segoe UI"/>
              </a:rPr>
              <a:t>Thread C</a:t>
            </a:r>
            <a:endParaRPr lang="en-US" sz="1050" dirty="0"/>
          </a:p>
        </p:txBody>
      </p:sp>
      <p:sp>
        <p:nvSpPr>
          <p:cNvPr id="56"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lock does not lock variables. It locks the OBJECT _sync, and only threads that ask for the same _sync wait.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3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3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3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300"/>
                                        <p:tgtEl>
                                          <p:spTgt spid="4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fade">
                                      <p:cBhvr>
                                        <p:cTn id="81" dur="300"/>
                                        <p:tgtEl>
                                          <p:spTgt spid="4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3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300"/>
                                        <p:tgtEl>
                                          <p:spTgt spid="44"/>
                                        </p:tgtEl>
                                      </p:cBhvr>
                                    </p:animEffect>
                                  </p:childTnLst>
                                </p:cTn>
                              </p:par>
                              <p:par>
                                <p:cTn id="90" presetID="0" presetClass="path" presetSubtype="0" accel="50000" decel="50000" fill="hold" grpId="1" nodeType="withEffect">
                                  <p:stCondLst>
                                    <p:cond delay="300"/>
                                  </p:stCondLst>
                                  <p:childTnLst>
                                    <p:animMotion origin="layout" path="M 0.00000 0.00000 L 0.27396 0.09041 E" pathEditMode="relative" rAng="0" ptsTypes="AA">
                                      <p:cBhvr>
                                        <p:cTn id="91" dur="900" fill="hold"/>
                                        <p:tgtEl>
                                          <p:spTgt spid="44"/>
                                        </p:tgtEl>
                                        <p:attrNameLst>
                                          <p:attrName>ppt_x</p:attrName>
                                          <p:attrName>ppt_y</p:attrName>
                                        </p:attrNameLst>
                                      </p:cBhvr>
                                      <p:rCtr x="13698" y="4520"/>
                                    </p:animMotion>
                                  </p:childTnLst>
                                </p:cTn>
                              </p:par>
                              <p:par>
                                <p:cTn id="92" presetID="10" presetClass="entr" presetSubtype="0" fill="hold" grpId="0" nodeType="withEffect">
                                  <p:stCondLst>
                                    <p:cond delay="120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par>
                                <p:cTn id="95" presetID="10" presetClass="entr" presetSubtype="0" fill="hold" grpId="0" nodeType="withEffect">
                                  <p:stCondLst>
                                    <p:cond delay="120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300"/>
                                        <p:tgtEl>
                                          <p:spTgt spid="47"/>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300"/>
                                        <p:tgtEl>
                                          <p:spTgt spid="45"/>
                                        </p:tgtEl>
                                      </p:cBhvr>
                                    </p:animEffect>
                                  </p:childTnLst>
                                </p:cTn>
                              </p:par>
                              <p:par>
                                <p:cTn id="103" presetID="0" presetClass="path" presetSubtype="0" accel="50000" decel="50000" fill="hold" grpId="1" nodeType="withEffect">
                                  <p:stCondLst>
                                    <p:cond delay="300"/>
                                  </p:stCondLst>
                                  <p:childTnLst>
                                    <p:animMotion origin="layout" path="M 0.00000 0.00000 L 0.06562 0.00000 E" pathEditMode="relative" rAng="0" ptsTypes="AA">
                                      <p:cBhvr>
                                        <p:cTn id="104" dur="600" fill="hold"/>
                                        <p:tgtEl>
                                          <p:spTgt spid="45"/>
                                        </p:tgtEl>
                                        <p:attrNameLst>
                                          <p:attrName>ppt_x</p:attrName>
                                          <p:attrName>ppt_y</p:attrName>
                                        </p:attrNameLst>
                                      </p:cBhvr>
                                      <p:rCtr x="3281" y="0"/>
                                    </p:animMotion>
                                  </p:childTnLst>
                                </p:cTn>
                              </p:par>
                              <p:par>
                                <p:cTn id="105" presetID="10" presetClass="entr" presetSubtype="0" fill="hold" grpId="0" nodeType="withEffect">
                                  <p:stCondLst>
                                    <p:cond delay="90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300"/>
                                        <p:tgtEl>
                                          <p:spTgt spid="4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300"/>
                                        <p:tgtEl>
                                          <p:spTgt spid="3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fade">
                                      <p:cBhvr>
                                        <p:cTn id="115" dur="300"/>
                                        <p:tgtEl>
                                          <p:spTgt spid="5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fade">
                                      <p:cBhvr>
                                        <p:cTn id="118" dur="300"/>
                                        <p:tgtEl>
                                          <p:spTgt spid="5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4"/>
                                        </p:tgtEl>
                                        <p:attrNameLst>
                                          <p:attrName>style.visibility</p:attrName>
                                        </p:attrNameLst>
                                      </p:cBhvr>
                                      <p:to>
                                        <p:strVal val="visible"/>
                                      </p:to>
                                    </p:set>
                                    <p:animEffect transition="in" filter="fade">
                                      <p:cBhvr>
                                        <p:cTn id="121" dur="300"/>
                                        <p:tgtEl>
                                          <p:spTgt spid="5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fade">
                                      <p:cBhvr>
                                        <p:cTn id="124" dur="300"/>
                                        <p:tgtEl>
                                          <p:spTgt spid="55"/>
                                        </p:tgtEl>
                                      </p:cBhvr>
                                    </p:animEffect>
                                  </p:childTnLst>
                                </p:cTn>
                              </p:par>
                              <p:par>
                                <p:cTn id="125" presetID="0" presetClass="path" presetSubtype="0" accel="50000" decel="50000" fill="hold" grpId="1" nodeType="withEffect">
                                  <p:stCondLst>
                                    <p:cond delay="500"/>
                                  </p:stCondLst>
                                  <p:childTnLst>
                                    <p:animMotion origin="layout" path="M 0.00000 0.00000 L 0.08612 0.00000 E" pathEditMode="relative" rAng="0" ptsTypes="AA">
                                      <p:cBhvr>
                                        <p:cTn id="126" dur="700" fill="hold"/>
                                        <p:tgtEl>
                                          <p:spTgt spid="55"/>
                                        </p:tgtEl>
                                        <p:attrNameLst>
                                          <p:attrName>ppt_x</p:attrName>
                                          <p:attrName>ppt_y</p:attrName>
                                        </p:attrNameLst>
                                      </p:cBhvr>
                                      <p:rCtr x="4306" y="0"/>
                                    </p:animMotion>
                                  </p:childTnLst>
                                </p:cTn>
                              </p:par>
                              <p:par>
                                <p:cTn id="127" presetID="10" presetClass="entr" presetSubtype="0" fill="hold" grpId="0" nodeType="withEffect">
                                  <p:stCondLst>
                                    <p:cond delay="130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300"/>
                                        <p:tgtEl>
                                          <p:spTgt spid="53"/>
                                        </p:tgtEl>
                                      </p:cBhvr>
                                    </p:animEffect>
                                  </p:childTnLst>
                                </p:cTn>
                              </p:par>
                              <p:par>
                                <p:cTn id="130" presetID="10" presetClass="entr" presetSubtype="0" fill="hold" grpId="0" nodeType="withEffect">
                                  <p:stCondLst>
                                    <p:cond delay="130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300"/>
                                        <p:tgtEl>
                                          <p:spTgt spid="49"/>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fade">
                                      <p:cBhvr>
                                        <p:cTn id="137" dur="300"/>
                                        <p:tgtEl>
                                          <p:spTgt spid="37"/>
                                        </p:tgtEl>
                                      </p:cBhvr>
                                    </p:animEffect>
                                  </p:childTnLst>
                                </p:cTn>
                              </p:par>
                              <p:par>
                                <p:cTn id="138" presetID="10" presetClass="exit" presetSubtype="0" fill="hold" grpId="2" nodeType="withEffect">
                                  <p:stCondLst>
                                    <p:cond delay="0"/>
                                  </p:stCondLst>
                                  <p:childTnLst>
                                    <p:animEffect transition="out" filter="fade">
                                      <p:cBhvr>
                                        <p:cTn id="139" dur="300"/>
                                        <p:tgtEl>
                                          <p:spTgt spid="44"/>
                                        </p:tgtEl>
                                      </p:cBhvr>
                                    </p:animEffect>
                                    <p:set>
                                      <p:cBhvr>
                                        <p:cTn id="140" dur="1" fill="hold">
                                          <p:stCondLst>
                                            <p:cond delay="299"/>
                                          </p:stCondLst>
                                        </p:cTn>
                                        <p:tgtEl>
                                          <p:spTgt spid="44"/>
                                        </p:tgtEl>
                                        <p:attrNameLst>
                                          <p:attrName>style.visibility</p:attrName>
                                        </p:attrNameLst>
                                      </p:cBhvr>
                                      <p:to>
                                        <p:strVal val="hidden"/>
                                      </p:to>
                                    </p:set>
                                  </p:childTnLst>
                                </p:cTn>
                              </p:par>
                              <p:par>
                                <p:cTn id="141" presetID="10" presetClass="entr" presetSubtype="0" fill="hold" grpId="0" nodeType="withEffect">
                                  <p:stCondLst>
                                    <p:cond delay="30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300"/>
                                        <p:tgtEl>
                                          <p:spTgt spid="43"/>
                                        </p:tgtEl>
                                      </p:cBhvr>
                                    </p:animEffect>
                                  </p:childTnLst>
                                </p:cTn>
                              </p:par>
                              <p:par>
                                <p:cTn id="144" presetID="10" presetClass="entr" presetSubtype="0" fill="hold" grpId="0" nodeType="withEffect">
                                  <p:stCondLst>
                                    <p:cond delay="300"/>
                                  </p:stCondLst>
                                  <p:childTnLst>
                                    <p:set>
                                      <p:cBhvr>
                                        <p:cTn id="145" dur="1" fill="hold">
                                          <p:stCondLst>
                                            <p:cond delay="0"/>
                                          </p:stCondLst>
                                        </p:cTn>
                                        <p:tgtEl>
                                          <p:spTgt spid="50"/>
                                        </p:tgtEl>
                                        <p:attrNameLst>
                                          <p:attrName>style.visibility</p:attrName>
                                        </p:attrNameLst>
                                      </p:cBhvr>
                                      <p:to>
                                        <p:strVal val="visible"/>
                                      </p:to>
                                    </p:set>
                                    <p:animEffect transition="in" filter="fade">
                                      <p:cBhvr>
                                        <p:cTn id="146" dur="300"/>
                                        <p:tgtEl>
                                          <p:spTgt spid="50"/>
                                        </p:tgtEl>
                                      </p:cBhvr>
                                    </p:animEffect>
                                  </p:childTnLst>
                                </p:cTn>
                              </p:par>
                              <p:par>
                                <p:cTn id="147" presetID="0" presetClass="path" presetSubtype="0" accel="50000" decel="50000" fill="hold" grpId="2" nodeType="withEffect">
                                  <p:stCondLst>
                                    <p:cond delay="500"/>
                                  </p:stCondLst>
                                  <p:childTnLst>
                                    <p:animMotion origin="layout" path="M 0.06562 0.00000 L 0.27396 0.00000 E" pathEditMode="relative" rAng="0" ptsTypes="AA">
                                      <p:cBhvr>
                                        <p:cTn id="148" dur="800" fill="hold"/>
                                        <p:tgtEl>
                                          <p:spTgt spid="45"/>
                                        </p:tgtEl>
                                        <p:attrNameLst>
                                          <p:attrName>ppt_x</p:attrName>
                                          <p:attrName>ppt_y</p:attrName>
                                        </p:attrNameLst>
                                      </p:cBhvr>
                                      <p:rCtr x="13698" y="0"/>
                                    </p:animMotion>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3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4" grpId="0" animBg="1"/>
      <p:bldP spid="35" grpId="0" animBg="1"/>
      <p:bldP spid="36" grpId="0" animBg="1"/>
      <p:bldP spid="37"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8" grpId="0" animBg="1"/>
      <p:bldP spid="39" grpId="0" animBg="1"/>
      <p:bldP spid="40" grpId="0" animBg="1"/>
      <p:bldP spid="41" grpId="0" animBg="1"/>
      <p:bldP spid="42" grpId="0" animBg="1"/>
      <p:bldP spid="43" grpId="0" animBg="1"/>
      <p:bldP spid="44" grpId="0" animBg="1"/>
      <p:bldP spid="44" grpId="1" animBg="1"/>
      <p:bldP spid="44" grpId="2" animBg="1"/>
      <p:bldP spid="45" grpId="0" animBg="1"/>
      <p:bldP spid="45" grpId="1" animBg="1"/>
      <p:bldP spid="45" grpId="2"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5" grpId="1" animBg="1"/>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PRODUCTION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ASP.NET Core: One lock per Process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38</a:t>
            </a:r>
            <a:endParaRPr lang="en-US" sz="850" dirty="0"/>
          </a:p>
        </p:txBody>
      </p:sp>
      <p:sp>
        <p:nvSpPr>
          <p:cNvPr id="15" name="pill"/>
          <p:cNvSpPr/>
          <p:nvPr/>
        </p:nvSpPr>
        <p:spPr>
          <a:xfrm>
            <a:off x="543154" y="1572768"/>
            <a:ext cx="5303520" cy="400000"/>
          </a:xfrm>
          <a:prstGeom prst="roundRect">
            <a:avLst>
              <a:gd name="adj" fmla="val 20000"/>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A78BFA"/>
                </a:solidFill>
                <a:latin typeface="Segoe UI"/>
                <a:ea typeface="Segoe UI"/>
                <a:cs typeface="Segoe UI"/>
              </a:rPr>
              <a:t>Load balancer: any request can reach any instance</a:t>
            </a:r>
            <a:endParaRPr lang="en-US" sz="1100" dirty="0"/>
          </a:p>
        </p:txBody>
      </p:sp>
      <p:sp>
        <p:nvSpPr>
          <p:cNvPr id="16" name="card"/>
          <p:cNvSpPr/>
          <p:nvPr/>
        </p:nvSpPr>
        <p:spPr>
          <a:xfrm>
            <a:off x="543154" y="2272768"/>
            <a:ext cx="2550000" cy="1150000"/>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API INSTANCE 1</a:t>
            </a:r>
            <a:endParaRPr lang="en-US" sz="1000" dirty="0"/>
          </a:p>
          <a:p>
            <a:pPr marL="0" indent="0" algn="l">
              <a:spcBef>
                <a:spcPts val="0"/>
              </a:spcBef>
              <a:spcAft>
                <a:spcPts val="250"/>
              </a:spcAft>
              <a:buNone/>
            </a:pPr>
            <a:r>
              <a:rPr lang="en-US" sz="1100" b="0" dirty="0">
                <a:solidFill>
                  <a:srgbClr val="CBD5E1"/>
                </a:solidFill>
                <a:latin typeface="Segoe UI"/>
                <a:ea typeface="Segoe UI"/>
                <a:cs typeface="Segoe UI"/>
              </a:rPr>
              <a:t>own memory, own _sync</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Customer A: sees Stock = 1</a:t>
            </a:r>
            <a:endParaRPr lang="en-US" sz="1100" dirty="0"/>
          </a:p>
        </p:txBody>
      </p:sp>
      <p:sp>
        <p:nvSpPr>
          <p:cNvPr id="17" name="card"/>
          <p:cNvSpPr/>
          <p:nvPr/>
        </p:nvSpPr>
        <p:spPr>
          <a:xfrm>
            <a:off x="3296674" y="2272768"/>
            <a:ext cx="2550000" cy="115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API INSTANCE 2</a:t>
            </a:r>
            <a:endParaRPr lang="en-US" sz="1000" dirty="0"/>
          </a:p>
          <a:p>
            <a:pPr marL="0" indent="0" algn="l">
              <a:spcBef>
                <a:spcPts val="0"/>
              </a:spcBef>
              <a:spcAft>
                <a:spcPts val="250"/>
              </a:spcAft>
              <a:buNone/>
            </a:pPr>
            <a:r>
              <a:rPr lang="en-US" sz="1100" b="0" dirty="0">
                <a:solidFill>
                  <a:srgbClr val="CBD5E1"/>
                </a:solidFill>
                <a:latin typeface="Segoe UI"/>
                <a:ea typeface="Segoe UI"/>
                <a:cs typeface="Segoe UI"/>
              </a:rPr>
              <a:t>own memory, own _sync</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Customer B: sees Stock = 1</a:t>
            </a:r>
            <a:endParaRPr lang="en-US" sz="1100" dirty="0"/>
          </a:p>
        </p:txBody>
      </p:sp>
      <p:cxnSp>
        <p:nvCxnSpPr>
          <p:cNvPr id="18" name="arrow"/>
          <p:cNvCxnSpPr/>
          <p:nvPr/>
        </p:nvCxnSpPr>
        <p:spPr>
          <a:xfrm>
            <a:off x="1818154" y="1972768"/>
            <a:ext cx="0" cy="280000"/>
          </a:xfrm>
          <a:prstGeom prst="line">
            <a:avLst/>
          </a:prstGeom>
          <a:ln w="28575">
            <a:solidFill>
              <a:srgbClr val="A78BFA"/>
            </a:solidFill>
            <a:tailEnd type="triangle" w="med" len="med"/>
          </a:ln>
        </p:spPr>
      </p:cxnSp>
      <p:cxnSp>
        <p:nvCxnSpPr>
          <p:cNvPr id="19" name="arrow"/>
          <p:cNvCxnSpPr/>
          <p:nvPr/>
        </p:nvCxnSpPr>
        <p:spPr>
          <a:xfrm>
            <a:off x="4571674" y="1972768"/>
            <a:ext cx="0" cy="280000"/>
          </a:xfrm>
          <a:prstGeom prst="line">
            <a:avLst/>
          </a:prstGeom>
          <a:ln w="28575">
            <a:solidFill>
              <a:srgbClr val="A78BFA"/>
            </a:solidFill>
            <a:tailEnd type="triangle" w="med" len="med"/>
          </a:ln>
        </p:spPr>
      </p:cxnSp>
      <p:sp>
        <p:nvSpPr>
          <p:cNvPr id="20" name="pill"/>
          <p:cNvSpPr/>
          <p:nvPr/>
        </p:nvSpPr>
        <p:spPr>
          <a:xfrm>
            <a:off x="543154" y="3722768"/>
            <a:ext cx="5303520" cy="480000"/>
          </a:xfrm>
          <a:prstGeom prst="roundRect">
            <a:avLst>
              <a:gd name="adj" fmla="val 20000"/>
            </a:avLst>
          </a:prstGeom>
          <a:solidFill>
            <a:srgbClr val="13D0F7">
              <a:alpha val="12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13D0F7"/>
                </a:solidFill>
                <a:latin typeface="Segoe UI"/>
                <a:ea typeface="Segoe UI"/>
                <a:cs typeface="Segoe UI"/>
              </a:rPr>
              <a:t>Database: Stock = 1   (shared by every instance)</a:t>
            </a:r>
            <a:endParaRPr lang="en-US" sz="1150" dirty="0"/>
          </a:p>
        </p:txBody>
      </p:sp>
      <p:cxnSp>
        <p:nvCxnSpPr>
          <p:cNvPr id="21" name="arrow"/>
          <p:cNvCxnSpPr/>
          <p:nvPr/>
        </p:nvCxnSpPr>
        <p:spPr>
          <a:xfrm>
            <a:off x="1818154" y="3432768"/>
            <a:ext cx="0" cy="270000"/>
          </a:xfrm>
          <a:prstGeom prst="line">
            <a:avLst/>
          </a:prstGeom>
          <a:ln w="28575">
            <a:solidFill>
              <a:srgbClr val="4D91F0"/>
            </a:solidFill>
            <a:tailEnd type="triangle" w="med" len="med"/>
          </a:ln>
        </p:spPr>
      </p:cxnSp>
      <p:cxnSp>
        <p:nvCxnSpPr>
          <p:cNvPr id="22" name="arrow"/>
          <p:cNvCxnSpPr/>
          <p:nvPr/>
        </p:nvCxnSpPr>
        <p:spPr>
          <a:xfrm>
            <a:off x="4571674" y="3432768"/>
            <a:ext cx="0" cy="270000"/>
          </a:xfrm>
          <a:prstGeom prst="line">
            <a:avLst/>
          </a:prstGeom>
          <a:ln w="28575">
            <a:solidFill>
              <a:srgbClr val="FBBF24"/>
            </a:solidFill>
            <a:tailEnd type="triangle" w="med" len="med"/>
          </a:ln>
        </p:spPr>
      </p:cxnSp>
      <p:sp>
        <p:nvSpPr>
          <p:cNvPr id="23" name="lab"/>
          <p:cNvSpPr txBox="1"/>
          <p:nvPr/>
        </p:nvSpPr>
        <p:spPr>
          <a:xfrm>
            <a:off x="543154" y="4282768"/>
            <a:ext cx="5303520" cy="6772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Two different locks never wait for each other: the last item is sold twice.</a:t>
            </a:r>
            <a:endParaRPr lang="en-US" sz="1200" dirty="0"/>
          </a:p>
        </p:txBody>
      </p:sp>
      <p:sp>
        <p:nvSpPr>
          <p:cNvPr id="24" name="cw_win"/>
          <p:cNvSpPr/>
          <p:nvPr/>
        </p:nvSpPr>
        <p:spPr>
          <a:xfrm>
            <a:off x="6035000" y="1572768"/>
            <a:ext cx="5595254" cy="1706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5" name="cw_bar"/>
          <p:cNvSpPr/>
          <p:nvPr/>
        </p:nvSpPr>
        <p:spPr>
          <a:xfrm>
            <a:off x="6035000" y="1572768"/>
            <a:ext cx="559525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6" name="cw_barfill"/>
          <p:cNvSpPr/>
          <p:nvPr/>
        </p:nvSpPr>
        <p:spPr>
          <a:xfrm>
            <a:off x="6035000" y="1744218"/>
            <a:ext cx="5595254" cy="171450"/>
          </a:xfrm>
          <a:prstGeom prst="rect">
            <a:avLst/>
          </a:prstGeom>
          <a:solidFill>
            <a:srgbClr val="0A1220"/>
          </a:solidFill>
          <a:ln w="12700">
            <a:solidFill>
              <a:srgbClr val="0A1220"/>
            </a:solidFill>
            <a:prstDash val="solid"/>
          </a:ln>
        </p:spPr>
        <p:txBody>
          <a:bodyPr/>
          <a:lstStyle/>
          <a:p>
            <a:endParaRPr lang="en-US"/>
          </a:p>
        </p:txBody>
      </p:sp>
      <p:sp>
        <p:nvSpPr>
          <p:cNvPr id="27" name="cw_dot0"/>
          <p:cNvSpPr/>
          <p:nvPr/>
        </p:nvSpPr>
        <p:spPr>
          <a:xfrm>
            <a:off x="619684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28" name="cw_dot1"/>
          <p:cNvSpPr/>
          <p:nvPr/>
        </p:nvSpPr>
        <p:spPr>
          <a:xfrm>
            <a:off x="638247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9" name="cw_dot2"/>
          <p:cNvSpPr/>
          <p:nvPr/>
        </p:nvSpPr>
        <p:spPr>
          <a:xfrm>
            <a:off x="656809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0" name="cw_tab"/>
          <p:cNvSpPr/>
          <p:nvPr/>
        </p:nvSpPr>
        <p:spPr>
          <a:xfrm>
            <a:off x="6815897"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Reserve.sql</a:t>
            </a:r>
            <a:endParaRPr lang="en-US" sz="950" dirty="0"/>
          </a:p>
        </p:txBody>
      </p:sp>
      <p:sp>
        <p:nvSpPr>
          <p:cNvPr id="31" name="cw_hl02"/>
          <p:cNvSpPr/>
          <p:nvPr/>
        </p:nvSpPr>
        <p:spPr>
          <a:xfrm>
            <a:off x="6168502" y="2429968"/>
            <a:ext cx="5328250" cy="260096"/>
          </a:xfrm>
          <a:prstGeom prst="rect">
            <a:avLst/>
          </a:prstGeom>
          <a:solidFill>
            <a:srgbClr val="34D399">
              <a:alpha val="15000"/>
            </a:srgbClr>
          </a:solidFill>
          <a:ln w="12700">
            <a:solidFill>
              <a:srgbClr val="34D399"/>
            </a:solidFill>
            <a:prstDash val="solid"/>
          </a:ln>
        </p:spPr>
        <p:txBody>
          <a:bodyPr/>
          <a:lstStyle/>
          <a:p>
            <a:endParaRPr lang="en-US"/>
          </a:p>
        </p:txBody>
      </p:sp>
      <p:sp>
        <p:nvSpPr>
          <p:cNvPr id="32" name="cw_L00"/>
          <p:cNvSpPr txBox="1"/>
          <p:nvPr/>
        </p:nvSpPr>
        <p:spPr>
          <a:xfrm>
            <a:off x="6263600" y="2001216"/>
            <a:ext cx="5211206"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UPDATE </a:t>
            </a:r>
            <a:r>
              <a:rPr lang="en-US" sz="1100" b="0" dirty="0">
                <a:solidFill>
                  <a:srgbClr val="E2E8F0"/>
                </a:solidFill>
                <a:latin typeface="Consolas"/>
                <a:ea typeface="Consolas"/>
                <a:cs typeface="Consolas"/>
              </a:rPr>
              <a:t>Products</a:t>
            </a:r>
            <a:endParaRPr lang="en-US" sz="1100" dirty="0"/>
          </a:p>
        </p:txBody>
      </p:sp>
      <p:sp>
        <p:nvSpPr>
          <p:cNvPr id="33" name="cw_L01"/>
          <p:cNvSpPr txBox="1"/>
          <p:nvPr/>
        </p:nvSpPr>
        <p:spPr>
          <a:xfrm>
            <a:off x="6263600" y="2224736"/>
            <a:ext cx="5211206"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SET    </a:t>
            </a:r>
            <a:r>
              <a:rPr lang="en-US" sz="1100" b="0" dirty="0">
                <a:solidFill>
                  <a:srgbClr val="E2E8F0"/>
                </a:solidFill>
                <a:latin typeface="Consolas"/>
                <a:ea typeface="Consolas"/>
                <a:cs typeface="Consolas"/>
              </a:rPr>
              <a:t>Stock = Stock - 1</a:t>
            </a:r>
            <a:endParaRPr lang="en-US" sz="1100" dirty="0"/>
          </a:p>
        </p:txBody>
      </p:sp>
      <p:sp>
        <p:nvSpPr>
          <p:cNvPr id="34" name="cw_L02"/>
          <p:cNvSpPr txBox="1"/>
          <p:nvPr/>
        </p:nvSpPr>
        <p:spPr>
          <a:xfrm>
            <a:off x="6263600" y="2448256"/>
            <a:ext cx="5211206"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WHERE  </a:t>
            </a:r>
            <a:r>
              <a:rPr lang="en-US" sz="1100" b="0" dirty="0">
                <a:solidFill>
                  <a:srgbClr val="E2E8F0"/>
                </a:solidFill>
                <a:latin typeface="Consolas"/>
                <a:ea typeface="Consolas"/>
                <a:cs typeface="Consolas"/>
              </a:rPr>
              <a:t>Id = @id </a:t>
            </a:r>
            <a:r>
              <a:rPr lang="en-US" sz="1100" b="0" dirty="0">
                <a:solidFill>
                  <a:srgbClr val="60A5FA"/>
                </a:solidFill>
                <a:latin typeface="Consolas"/>
                <a:ea typeface="Consolas"/>
                <a:cs typeface="Consolas"/>
              </a:rPr>
              <a:t>AND </a:t>
            </a:r>
            <a:r>
              <a:rPr lang="en-US" sz="1100" b="0" dirty="0">
                <a:solidFill>
                  <a:srgbClr val="E2E8F0"/>
                </a:solidFill>
                <a:latin typeface="Consolas"/>
                <a:ea typeface="Consolas"/>
                <a:cs typeface="Consolas"/>
              </a:rPr>
              <a:t>Stock &gt; 0;</a:t>
            </a:r>
            <a:endParaRPr lang="en-US" sz="1100" dirty="0"/>
          </a:p>
        </p:txBody>
      </p:sp>
      <p:sp>
        <p:nvSpPr>
          <p:cNvPr id="35" name="cw_L04"/>
          <p:cNvSpPr txBox="1"/>
          <p:nvPr/>
        </p:nvSpPr>
        <p:spPr>
          <a:xfrm>
            <a:off x="6263600" y="2895296"/>
            <a:ext cx="5211206"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-- 1 row changed: reserved, 0 rows: sold out</a:t>
            </a:r>
            <a:endParaRPr lang="en-US" sz="1100" dirty="0"/>
          </a:p>
        </p:txBody>
      </p:sp>
      <p:sp>
        <p:nvSpPr>
          <p:cNvPr id="36" name="card"/>
          <p:cNvSpPr/>
          <p:nvPr/>
        </p:nvSpPr>
        <p:spPr>
          <a:xfrm>
            <a:off x="6035000" y="3415976"/>
            <a:ext cx="5595254" cy="7034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ATOMIC CONDITIONAL UPDATE</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The database checks and decrements in one statement, for every instance at once.</a:t>
            </a:r>
            <a:endParaRPr lang="en-US" sz="1150" dirty="0"/>
          </a:p>
        </p:txBody>
      </p:sp>
      <p:sp>
        <p:nvSpPr>
          <p:cNvPr id="37" name="card"/>
          <p:cNvSpPr/>
          <p:nvPr/>
        </p:nvSpPr>
        <p:spPr>
          <a:xfrm>
            <a:off x="6035000" y="4256568"/>
            <a:ext cx="5595254" cy="703432"/>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DATABASE TRANSACTION</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Group related changes (reserve item, create order) so they commit or roll back together.</a:t>
            </a:r>
            <a:endParaRPr lang="en-US" sz="1150" dirty="0"/>
          </a:p>
        </p:txBody>
      </p:sp>
      <p:sp>
        <p:nvSpPr>
          <p:cNvPr id="38"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 C# lock coordinates threads inside one process. Across instances, let the database make the decision atomic.</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3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3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3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0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3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3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3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3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3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3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3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3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3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3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300"/>
                                        <p:tgtEl>
                                          <p:spTgt spid="3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3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0"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798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ATOMIC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Does Atomic Mean?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39</a:t>
            </a:r>
            <a:endParaRPr lang="en-US" sz="850" dirty="0"/>
          </a:p>
        </p:txBody>
      </p:sp>
      <p:sp>
        <p:nvSpPr>
          <p:cNvPr id="15" name="card"/>
          <p:cNvSpPr/>
          <p:nvPr/>
        </p:nvSpPr>
        <p:spPr>
          <a:xfrm>
            <a:off x="543154" y="1572768"/>
            <a:ext cx="5250000" cy="1650000"/>
          </a:xfrm>
          <a:prstGeom prst="roundRect">
            <a:avLst>
              <a:gd name="adj" fmla="val 5000"/>
            </a:avLst>
          </a:prstGeom>
          <a:solidFill>
            <a:srgbClr val="111B2E"/>
          </a:solidFill>
          <a:ln w="12700">
            <a:solidFill>
              <a:srgbClr val="34D399"/>
            </a:solidFill>
            <a:prstDash val="solid"/>
          </a:ln>
        </p:spPr>
        <p:txBody>
          <a:bodyPr wrap="square" lIns="182880" tIns="64008" rIns="137160" bIns="64008" rtlCol="0" anchor="t">
            <a:noAutofit/>
          </a:bodyPr>
          <a:lstStyle/>
          <a:p>
            <a:pPr marL="0" indent="0" algn="l">
              <a:spcBef>
                <a:spcPts val="0"/>
              </a:spcBef>
              <a:spcAft>
                <a:spcPts val="250"/>
              </a:spcAft>
              <a:buNone/>
            </a:pPr>
            <a:r>
              <a:rPr lang="en-US" sz="1100" b="1" dirty="0">
                <a:solidFill>
                  <a:srgbClr val="34D399"/>
                </a:solidFill>
                <a:latin typeface="Segoe UI"/>
                <a:ea typeface="Segoe UI"/>
                <a:cs typeface="Segoe UI"/>
              </a:rPr>
              <a:t>ATOMIC OPERATION = ONE INDIVISIBLE ACTION</a:t>
            </a:r>
            <a:endParaRPr lang="en-US" sz="1100" dirty="0"/>
          </a:p>
          <a:p>
            <a:pPr marL="0" indent="0" algn="l">
              <a:spcBef>
                <a:spcPts val="0"/>
              </a:spcBef>
              <a:spcAft>
                <a:spcPts val="250"/>
              </a:spcAft>
              <a:buNone/>
            </a:pPr>
            <a:r>
              <a:rPr lang="en-US" sz="1150" b="0" dirty="0">
                <a:solidFill>
                  <a:srgbClr val="CBD5E1"/>
                </a:solidFill>
                <a:latin typeface="Segoe UI"/>
                <a:ea typeface="Segoe UI"/>
                <a:cs typeface="Segoe UI"/>
              </a:rPr>
              <a:t>No other thread can see it halfway through.</a:t>
            </a:r>
            <a:endParaRPr lang="en-US" sz="1150" dirty="0"/>
          </a:p>
          <a:p>
            <a:pPr marL="0" indent="0" algn="l">
              <a:spcBef>
                <a:spcPts val="0"/>
              </a:spcBef>
              <a:spcAft>
                <a:spcPts val="250"/>
              </a:spcAft>
              <a:buNone/>
            </a:pPr>
            <a:r>
              <a:rPr lang="en-US" sz="1150" b="0" dirty="0">
                <a:solidFill>
                  <a:srgbClr val="CBD5E1"/>
                </a:solidFill>
                <a:latin typeface="Segoe UI"/>
                <a:ea typeface="Segoe UI"/>
                <a:cs typeface="Segoe UI"/>
              </a:rPr>
              <a:t>Threads cannot interfere with each other's atomic updates to the same variable.</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It either completes, or it has no effect at all.</a:t>
            </a:r>
            <a:endParaRPr lang="en-US" sz="1150" dirty="0"/>
          </a:p>
        </p:txBody>
      </p:sp>
      <p:sp>
        <p:nvSpPr>
          <p:cNvPr id="16" name="cw_win"/>
          <p:cNvSpPr/>
          <p:nvPr/>
        </p:nvSpPr>
        <p:spPr>
          <a:xfrm>
            <a:off x="543154" y="3359928"/>
            <a:ext cx="5250000" cy="159007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3359928"/>
            <a:ext cx="52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3531378"/>
            <a:ext cx="525000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348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348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50" y="348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3407477"/>
            <a:ext cx="15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Conceptually.cs</a:t>
            </a:r>
            <a:endParaRPr lang="en-US" sz="950" dirty="0"/>
          </a:p>
        </p:txBody>
      </p:sp>
      <p:sp>
        <p:nvSpPr>
          <p:cNvPr id="27" name="cw_hl00"/>
          <p:cNvSpPr/>
          <p:nvPr/>
        </p:nvSpPr>
        <p:spPr>
          <a:xfrm>
            <a:off x="676656" y="3770088"/>
            <a:ext cx="4982996" cy="260096"/>
          </a:xfrm>
          <a:prstGeom prst="rect">
            <a:avLst/>
          </a:prstGeom>
          <a:solidFill>
            <a:srgbClr val="FBBF24">
              <a:alpha val="15000"/>
            </a:srgbClr>
          </a:solidFill>
          <a:ln w="12700">
            <a:solidFill>
              <a:srgbClr val="FBBF24"/>
            </a:solidFill>
            <a:prstDash val="solid"/>
          </a:ln>
        </p:spPr>
        <p:txBody>
          <a:bodyPr/>
          <a:lstStyle/>
          <a:p>
            <a:endParaRPr lang="en-US"/>
          </a:p>
        </p:txBody>
      </p:sp>
      <p:sp>
        <p:nvSpPr>
          <p:cNvPr id="28" name="cw_hl02"/>
          <p:cNvSpPr/>
          <p:nvPr/>
        </p:nvSpPr>
        <p:spPr>
          <a:xfrm>
            <a:off x="676656" y="4217128"/>
            <a:ext cx="4982996" cy="707136"/>
          </a:xfrm>
          <a:prstGeom prst="rect">
            <a:avLst/>
          </a:prstGeom>
          <a:solidFill>
            <a:srgbClr val="F87171">
              <a:alpha val="15000"/>
            </a:srgbClr>
          </a:solidFill>
          <a:ln w="12700">
            <a:solidFill>
              <a:srgbClr val="F87171"/>
            </a:solidFill>
            <a:prstDash val="solid"/>
          </a:ln>
        </p:spPr>
        <p:txBody>
          <a:bodyPr/>
          <a:lstStyle/>
          <a:p>
            <a:endParaRPr lang="en-US"/>
          </a:p>
        </p:txBody>
      </p:sp>
      <p:sp>
        <p:nvSpPr>
          <p:cNvPr id="23" name="cw_L00"/>
          <p:cNvSpPr txBox="1"/>
          <p:nvPr/>
        </p:nvSpPr>
        <p:spPr>
          <a:xfrm>
            <a:off x="771754" y="3788376"/>
            <a:ext cx="486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counter++;              </a:t>
            </a:r>
            <a:r>
              <a:rPr lang="en-US" sz="1100" b="0" dirty="0">
                <a:solidFill>
                  <a:srgbClr val="6FAE7A"/>
                </a:solidFill>
                <a:latin typeface="Consolas"/>
                <a:ea typeface="Consolas"/>
                <a:cs typeface="Consolas"/>
              </a:rPr>
              <a:t>// what you write</a:t>
            </a:r>
            <a:endParaRPr lang="en-US" sz="1100" dirty="0"/>
          </a:p>
        </p:txBody>
      </p:sp>
      <p:sp>
        <p:nvSpPr>
          <p:cNvPr id="24" name="cw_L02"/>
          <p:cNvSpPr txBox="1"/>
          <p:nvPr/>
        </p:nvSpPr>
        <p:spPr>
          <a:xfrm>
            <a:off x="771754" y="4235416"/>
            <a:ext cx="486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int </a:t>
            </a:r>
            <a:r>
              <a:rPr lang="en-US" sz="1100" b="0" dirty="0">
                <a:solidFill>
                  <a:srgbClr val="E2E8F0"/>
                </a:solidFill>
                <a:latin typeface="Consolas"/>
                <a:ea typeface="Consolas"/>
                <a:cs typeface="Consolas"/>
              </a:rPr>
              <a:t>temp = counter;     </a:t>
            </a:r>
            <a:r>
              <a:rPr lang="en-US" sz="1100" b="0" dirty="0">
                <a:solidFill>
                  <a:srgbClr val="6FAE7A"/>
                </a:solidFill>
                <a:latin typeface="Consolas"/>
                <a:ea typeface="Consolas"/>
                <a:cs typeface="Consolas"/>
              </a:rPr>
              <a:t>// 1. READ</a:t>
            </a:r>
            <a:endParaRPr lang="en-US" sz="1100" dirty="0"/>
          </a:p>
        </p:txBody>
      </p:sp>
      <p:sp>
        <p:nvSpPr>
          <p:cNvPr id="25" name="cw_L03"/>
          <p:cNvSpPr txBox="1"/>
          <p:nvPr/>
        </p:nvSpPr>
        <p:spPr>
          <a:xfrm>
            <a:off x="771754" y="4458936"/>
            <a:ext cx="486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temp = temp + 1;        </a:t>
            </a:r>
            <a:r>
              <a:rPr lang="en-US" sz="1100" b="0" dirty="0">
                <a:solidFill>
                  <a:srgbClr val="6FAE7A"/>
                </a:solidFill>
                <a:latin typeface="Consolas"/>
                <a:ea typeface="Consolas"/>
                <a:cs typeface="Consolas"/>
              </a:rPr>
              <a:t>// 2. ADD</a:t>
            </a:r>
            <a:endParaRPr lang="en-US" sz="1100" dirty="0"/>
          </a:p>
        </p:txBody>
      </p:sp>
      <p:sp>
        <p:nvSpPr>
          <p:cNvPr id="26" name="cw_L04"/>
          <p:cNvSpPr txBox="1"/>
          <p:nvPr/>
        </p:nvSpPr>
        <p:spPr>
          <a:xfrm>
            <a:off x="771754" y="4682456"/>
            <a:ext cx="486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counter = temp;         </a:t>
            </a:r>
            <a:r>
              <a:rPr lang="en-US" sz="1100" b="0" dirty="0">
                <a:solidFill>
                  <a:srgbClr val="6FAE7A"/>
                </a:solidFill>
                <a:latin typeface="Consolas"/>
                <a:ea typeface="Consolas"/>
                <a:cs typeface="Consolas"/>
              </a:rPr>
              <a:t>// 3. WRITE</a:t>
            </a:r>
            <a:endParaRPr lang="en-US" sz="1100" dirty="0"/>
          </a:p>
        </p:txBody>
      </p:sp>
      <p:sp>
        <p:nvSpPr>
          <p:cNvPr id="29" name="lab"/>
          <p:cNvSpPr txBox="1"/>
          <p:nvPr/>
        </p:nvSpPr>
        <p:spPr>
          <a:xfrm>
            <a:off x="6100000" y="1572768"/>
            <a:ext cx="5530254"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Segoe UI"/>
                <a:ea typeface="Segoe UI"/>
                <a:cs typeface="Segoe UI"/>
              </a:rPr>
              <a:t>counter++ is really three steps</a:t>
            </a:r>
            <a:endParaRPr lang="en-US" sz="1150" dirty="0"/>
          </a:p>
        </p:txBody>
      </p:sp>
      <p:sp>
        <p:nvSpPr>
          <p:cNvPr id="30" name="bar"/>
          <p:cNvSpPr/>
          <p:nvPr/>
        </p:nvSpPr>
        <p:spPr>
          <a:xfrm>
            <a:off x="6100000" y="1972768"/>
            <a:ext cx="1643418" cy="50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1. READ counter</a:t>
            </a:r>
            <a:endParaRPr lang="en-US" sz="1050" dirty="0"/>
          </a:p>
        </p:txBody>
      </p:sp>
      <p:sp>
        <p:nvSpPr>
          <p:cNvPr id="31" name="bar"/>
          <p:cNvSpPr/>
          <p:nvPr/>
        </p:nvSpPr>
        <p:spPr>
          <a:xfrm>
            <a:off x="8043418" y="1972768"/>
            <a:ext cx="1643418" cy="500000"/>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2. ADD 1</a:t>
            </a:r>
            <a:endParaRPr lang="en-US" sz="1050" dirty="0"/>
          </a:p>
        </p:txBody>
      </p:sp>
      <p:sp>
        <p:nvSpPr>
          <p:cNvPr id="32" name="bar"/>
          <p:cNvSpPr/>
          <p:nvPr/>
        </p:nvSpPr>
        <p:spPr>
          <a:xfrm>
            <a:off x="9986836" y="1972768"/>
            <a:ext cx="1643418" cy="500000"/>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3. WRITE counter</a:t>
            </a:r>
            <a:endParaRPr lang="en-US" sz="1050" dirty="0"/>
          </a:p>
        </p:txBody>
      </p:sp>
      <p:sp>
        <p:nvSpPr>
          <p:cNvPr id="33" name="lab"/>
          <p:cNvSpPr txBox="1"/>
          <p:nvPr/>
        </p:nvSpPr>
        <p:spPr>
          <a:xfrm>
            <a:off x="7743418" y="1972768"/>
            <a:ext cx="300000" cy="50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600" b="1" dirty="0">
                <a:solidFill>
                  <a:srgbClr val="F87171"/>
                </a:solidFill>
                <a:latin typeface="Segoe UI"/>
                <a:ea typeface="Segoe UI"/>
                <a:cs typeface="Segoe UI"/>
              </a:rPr>
              <a:t>?</a:t>
            </a:r>
            <a:endParaRPr lang="en-US" sz="1600" dirty="0"/>
          </a:p>
        </p:txBody>
      </p:sp>
      <p:sp>
        <p:nvSpPr>
          <p:cNvPr id="34" name="lab"/>
          <p:cNvSpPr txBox="1"/>
          <p:nvPr/>
        </p:nvSpPr>
        <p:spPr>
          <a:xfrm>
            <a:off x="9686836" y="1972768"/>
            <a:ext cx="300000" cy="50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600" b="1" dirty="0">
                <a:solidFill>
                  <a:srgbClr val="F87171"/>
                </a:solidFill>
                <a:latin typeface="Segoe UI"/>
                <a:ea typeface="Segoe UI"/>
                <a:cs typeface="Segoe UI"/>
              </a:rPr>
              <a:t>?</a:t>
            </a:r>
            <a:endParaRPr lang="en-US" sz="1600" dirty="0"/>
          </a:p>
        </p:txBody>
      </p:sp>
      <p:sp>
        <p:nvSpPr>
          <p:cNvPr id="35" name="caption"/>
          <p:cNvSpPr/>
          <p:nvPr/>
        </p:nvSpPr>
        <p:spPr>
          <a:xfrm>
            <a:off x="6100000" y="2602768"/>
            <a:ext cx="5530254" cy="52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At every "?" another thread can run and use the same counter.</a:t>
            </a:r>
            <a:endParaRPr lang="en-US" sz="1150" dirty="0"/>
          </a:p>
        </p:txBody>
      </p:sp>
      <p:sp>
        <p:nvSpPr>
          <p:cNvPr id="36" name="lab"/>
          <p:cNvSpPr txBox="1"/>
          <p:nvPr/>
        </p:nvSpPr>
        <p:spPr>
          <a:xfrm>
            <a:off x="6100000" y="3292768"/>
            <a:ext cx="5530254"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An atomic operation has no gaps</a:t>
            </a:r>
            <a:endParaRPr lang="en-US" sz="1150" dirty="0"/>
          </a:p>
        </p:txBody>
      </p:sp>
      <p:sp>
        <p:nvSpPr>
          <p:cNvPr id="37" name="bar"/>
          <p:cNvSpPr/>
          <p:nvPr/>
        </p:nvSpPr>
        <p:spPr>
          <a:xfrm>
            <a:off x="6100000" y="3692768"/>
            <a:ext cx="5530254" cy="50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READ + ADD + WRITE  as ONE step: nobody can step in</a:t>
            </a:r>
            <a:endParaRPr lang="en-US" sz="1100" dirty="0"/>
          </a:p>
        </p:txBody>
      </p:sp>
      <p:sp>
        <p:nvSpPr>
          <p:cNvPr id="38" name="caption"/>
          <p:cNvSpPr/>
          <p:nvPr/>
        </p:nvSpPr>
        <p:spPr>
          <a:xfrm>
            <a:off x="6100000" y="4322768"/>
            <a:ext cx="5530254" cy="627232"/>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Interlocked gives you exactly this for simple operations on one variable.</a:t>
            </a:r>
            <a:endParaRPr lang="en-US" sz="1150" dirty="0"/>
          </a:p>
        </p:txBody>
      </p:sp>
      <p:sp>
        <p:nvSpPr>
          <p:cNvPr id="39"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Atomic = all or nothing, in one step. counter++ is NOT atomic: it is read, add, write.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3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00"/>
                                        <p:tgtEl>
                                          <p:spTgt spid="2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3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3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3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30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300"/>
                                        <p:tgtEl>
                                          <p:spTgt spid="2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left)">
                                      <p:cBhvr>
                                        <p:cTn id="56" dur="600"/>
                                        <p:tgtEl>
                                          <p:spTgt spid="30"/>
                                        </p:tgtEl>
                                      </p:cBhvr>
                                    </p:animEffect>
                                  </p:childTnLst>
                                </p:cTn>
                              </p:par>
                              <p:par>
                                <p:cTn id="57" presetID="22" presetClass="entr" presetSubtype="8" fill="hold" grpId="0" nodeType="withEffect">
                                  <p:stCondLst>
                                    <p:cond delay="600"/>
                                  </p:stCondLst>
                                  <p:childTnLst>
                                    <p:set>
                                      <p:cBhvr>
                                        <p:cTn id="58" dur="1" fill="hold">
                                          <p:stCondLst>
                                            <p:cond delay="0"/>
                                          </p:stCondLst>
                                        </p:cTn>
                                        <p:tgtEl>
                                          <p:spTgt spid="31"/>
                                        </p:tgtEl>
                                        <p:attrNameLst>
                                          <p:attrName>style.visibility</p:attrName>
                                        </p:attrNameLst>
                                      </p:cBhvr>
                                      <p:to>
                                        <p:strVal val="visible"/>
                                      </p:to>
                                    </p:set>
                                    <p:animEffect transition="in" filter="wipe(left)">
                                      <p:cBhvr>
                                        <p:cTn id="59" dur="600"/>
                                        <p:tgtEl>
                                          <p:spTgt spid="31"/>
                                        </p:tgtEl>
                                      </p:cBhvr>
                                    </p:animEffect>
                                  </p:childTnLst>
                                </p:cTn>
                              </p:par>
                              <p:par>
                                <p:cTn id="60" presetID="22" presetClass="entr" presetSubtype="8" fill="hold" grpId="0" nodeType="withEffect">
                                  <p:stCondLst>
                                    <p:cond delay="120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6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3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300"/>
                                        <p:tgtEl>
                                          <p:spTgt spid="34"/>
                                        </p:tgtEl>
                                      </p:cBhvr>
                                    </p:animEffect>
                                  </p:childTnLst>
                                </p:cTn>
                              </p:par>
                              <p:par>
                                <p:cTn id="71" presetID="10" presetClass="entr" presetSubtype="0" fill="hold" grpId="0" nodeType="withEffect">
                                  <p:stCondLst>
                                    <p:cond delay="30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3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300"/>
                                        <p:tgtEl>
                                          <p:spTgt spid="36"/>
                                        </p:tgtEl>
                                      </p:cBhvr>
                                    </p:animEffect>
                                  </p:childTnLst>
                                </p:cTn>
                              </p:par>
                              <p:par>
                                <p:cTn id="79" presetID="22" presetClass="entr" presetSubtype="8" fill="hold" grpId="0" nodeType="withEffect">
                                  <p:stCondLst>
                                    <p:cond delay="200"/>
                                  </p:stCondLst>
                                  <p:childTnLst>
                                    <p:set>
                                      <p:cBhvr>
                                        <p:cTn id="80" dur="1" fill="hold">
                                          <p:stCondLst>
                                            <p:cond delay="0"/>
                                          </p:stCondLst>
                                        </p:cTn>
                                        <p:tgtEl>
                                          <p:spTgt spid="37"/>
                                        </p:tgtEl>
                                        <p:attrNameLst>
                                          <p:attrName>style.visibility</p:attrName>
                                        </p:attrNameLst>
                                      </p:cBhvr>
                                      <p:to>
                                        <p:strVal val="visible"/>
                                      </p:to>
                                    </p:set>
                                    <p:animEffect transition="in" filter="wipe(left)">
                                      <p:cBhvr>
                                        <p:cTn id="81" dur="600"/>
                                        <p:tgtEl>
                                          <p:spTgt spid="37"/>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7" grpId="0" animBg="1"/>
      <p:bldP spid="28" grpId="0" animBg="1"/>
      <p:bldP spid="23" grpId="0" animBg="1"/>
      <p:bldP spid="24" grpId="0" animBg="1"/>
      <p:bldP spid="25" grpId="0" animBg="1"/>
      <p:bldP spid="26"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88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LOST UPDATE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Problem Without Interlocked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40</a:t>
            </a:r>
            <a:endParaRPr lang="en-US" sz="850" dirty="0"/>
          </a:p>
        </p:txBody>
      </p:sp>
      <p:sp>
        <p:nvSpPr>
          <p:cNvPr id="15" name="cw_win"/>
          <p:cNvSpPr/>
          <p:nvPr/>
        </p:nvSpPr>
        <p:spPr>
          <a:xfrm>
            <a:off x="543154" y="1572768"/>
            <a:ext cx="4400000" cy="195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44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44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6" name="cw_hl04"/>
          <p:cNvSpPr/>
          <p:nvPr/>
        </p:nvSpPr>
        <p:spPr>
          <a:xfrm>
            <a:off x="676656" y="2877008"/>
            <a:ext cx="4132996" cy="260096"/>
          </a:xfrm>
          <a:prstGeom prst="rect">
            <a:avLst/>
          </a:prstGeom>
          <a:solidFill>
            <a:srgbClr val="F87171">
              <a:alpha val="15000"/>
            </a:srgbClr>
          </a:solidFill>
          <a:ln w="12700">
            <a:solidFill>
              <a:srgbClr val="F87171"/>
            </a:solidFill>
            <a:prstDash val="solid"/>
          </a:ln>
        </p:spPr>
        <p:txBody>
          <a:bodyPr/>
          <a:lstStyle/>
          <a:p>
            <a:endParaRPr lang="en-US"/>
          </a:p>
        </p:txBody>
      </p:sp>
      <p:sp>
        <p:nvSpPr>
          <p:cNvPr id="22" name="cw_L00"/>
          <p:cNvSpPr txBox="1"/>
          <p:nvPr/>
        </p:nvSpPr>
        <p:spPr>
          <a:xfrm>
            <a:off x="771754" y="2001216"/>
            <a:ext cx="4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int </a:t>
            </a:r>
            <a:r>
              <a:rPr lang="en-US" sz="1100" b="0" dirty="0">
                <a:solidFill>
                  <a:srgbClr val="E2E8F0"/>
                </a:solidFill>
                <a:latin typeface="Consolas"/>
                <a:ea typeface="Consolas"/>
                <a:cs typeface="Consolas"/>
              </a:rPr>
              <a:t>counter = 0;</a:t>
            </a:r>
            <a:endParaRPr lang="en-US" sz="1100" dirty="0"/>
          </a:p>
        </p:txBody>
      </p:sp>
      <p:sp>
        <p:nvSpPr>
          <p:cNvPr id="23" name="cw_L02"/>
          <p:cNvSpPr txBox="1"/>
          <p:nvPr/>
        </p:nvSpPr>
        <p:spPr>
          <a:xfrm>
            <a:off x="771754" y="2448256"/>
            <a:ext cx="4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Thread A and Thread B</a:t>
            </a:r>
            <a:endParaRPr lang="en-US" sz="1100" dirty="0"/>
          </a:p>
        </p:txBody>
      </p:sp>
      <p:sp>
        <p:nvSpPr>
          <p:cNvPr id="24" name="cw_L03"/>
          <p:cNvSpPr txBox="1"/>
          <p:nvPr/>
        </p:nvSpPr>
        <p:spPr>
          <a:xfrm>
            <a:off x="771754" y="2671776"/>
            <a:ext cx="4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both run this once:</a:t>
            </a:r>
            <a:endParaRPr lang="en-US" sz="1100" dirty="0"/>
          </a:p>
        </p:txBody>
      </p:sp>
      <p:sp>
        <p:nvSpPr>
          <p:cNvPr id="25" name="cw_L04"/>
          <p:cNvSpPr txBox="1"/>
          <p:nvPr/>
        </p:nvSpPr>
        <p:spPr>
          <a:xfrm>
            <a:off x="771754" y="2895296"/>
            <a:ext cx="4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counter++;</a:t>
            </a:r>
            <a:endParaRPr lang="en-US" sz="1100" dirty="0"/>
          </a:p>
        </p:txBody>
      </p:sp>
      <p:sp>
        <p:nvSpPr>
          <p:cNvPr id="27" name="lab"/>
          <p:cNvSpPr txBox="1"/>
          <p:nvPr/>
        </p:nvSpPr>
        <p:spPr>
          <a:xfrm>
            <a:off x="543154" y="3662768"/>
            <a:ext cx="140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FBBF24"/>
                </a:solidFill>
                <a:latin typeface="Segoe UI"/>
                <a:ea typeface="Segoe UI"/>
                <a:cs typeface="Segoe UI"/>
              </a:rPr>
              <a:t>counter</a:t>
            </a:r>
            <a:endParaRPr lang="en-US" sz="1100" dirty="0"/>
          </a:p>
        </p:txBody>
      </p:sp>
      <p:sp>
        <p:nvSpPr>
          <p:cNvPr id="28" name="box"/>
          <p:cNvSpPr/>
          <p:nvPr/>
        </p:nvSpPr>
        <p:spPr>
          <a:xfrm>
            <a:off x="543154" y="3962768"/>
            <a:ext cx="1400000" cy="76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Consolas"/>
                <a:ea typeface="Consolas"/>
                <a:cs typeface="Consolas"/>
              </a:rPr>
              <a:t>0</a:t>
            </a:r>
            <a:endParaRPr lang="en-US" sz="2000" dirty="0"/>
          </a:p>
        </p:txBody>
      </p:sp>
      <p:sp>
        <p:nvSpPr>
          <p:cNvPr id="29" name="box"/>
          <p:cNvSpPr/>
          <p:nvPr/>
        </p:nvSpPr>
        <p:spPr>
          <a:xfrm>
            <a:off x="543154" y="3962768"/>
            <a:ext cx="1400000" cy="76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Consolas"/>
                <a:ea typeface="Consolas"/>
                <a:cs typeface="Consolas"/>
              </a:rPr>
              <a:t>1</a:t>
            </a:r>
            <a:endParaRPr lang="en-US" sz="2000" dirty="0"/>
          </a:p>
        </p:txBody>
      </p:sp>
      <p:sp>
        <p:nvSpPr>
          <p:cNvPr id="30" name="box"/>
          <p:cNvSpPr/>
          <p:nvPr/>
        </p:nvSpPr>
        <p:spPr>
          <a:xfrm>
            <a:off x="543154" y="3962768"/>
            <a:ext cx="1400000" cy="76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87171"/>
                </a:solidFill>
                <a:latin typeface="Consolas"/>
                <a:ea typeface="Consolas"/>
                <a:cs typeface="Consolas"/>
              </a:rPr>
              <a:t>1</a:t>
            </a:r>
            <a:endParaRPr lang="en-US" sz="2000" dirty="0"/>
          </a:p>
        </p:txBody>
      </p:sp>
      <p:sp>
        <p:nvSpPr>
          <p:cNvPr id="31" name="lab"/>
          <p:cNvSpPr txBox="1"/>
          <p:nvPr/>
        </p:nvSpPr>
        <p:spPr>
          <a:xfrm>
            <a:off x="2093154" y="3662768"/>
            <a:ext cx="135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34D399"/>
                </a:solidFill>
                <a:latin typeface="Segoe UI"/>
                <a:ea typeface="Segoe UI"/>
                <a:cs typeface="Segoe UI"/>
              </a:rPr>
              <a:t>Expected</a:t>
            </a:r>
            <a:endParaRPr lang="en-US" sz="1100" dirty="0"/>
          </a:p>
        </p:txBody>
      </p:sp>
      <p:sp>
        <p:nvSpPr>
          <p:cNvPr id="32" name="box"/>
          <p:cNvSpPr/>
          <p:nvPr/>
        </p:nvSpPr>
        <p:spPr>
          <a:xfrm>
            <a:off x="2093154" y="3962768"/>
            <a:ext cx="1350000" cy="76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34D399"/>
                </a:solidFill>
                <a:latin typeface="Consolas"/>
                <a:ea typeface="Consolas"/>
                <a:cs typeface="Consolas"/>
              </a:rPr>
              <a:t>2</a:t>
            </a:r>
            <a:endParaRPr lang="en-US" sz="2000" dirty="0"/>
          </a:p>
        </p:txBody>
      </p:sp>
      <p:sp>
        <p:nvSpPr>
          <p:cNvPr id="33" name="lab"/>
          <p:cNvSpPr txBox="1"/>
          <p:nvPr/>
        </p:nvSpPr>
        <p:spPr>
          <a:xfrm>
            <a:off x="3593154" y="3662768"/>
            <a:ext cx="135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F87171"/>
                </a:solidFill>
                <a:latin typeface="Segoe UI"/>
                <a:ea typeface="Segoe UI"/>
                <a:cs typeface="Segoe UI"/>
              </a:rPr>
              <a:t>Actual</a:t>
            </a:r>
            <a:endParaRPr lang="en-US" sz="1100" dirty="0"/>
          </a:p>
        </p:txBody>
      </p:sp>
      <p:sp>
        <p:nvSpPr>
          <p:cNvPr id="34" name="box"/>
          <p:cNvSpPr/>
          <p:nvPr/>
        </p:nvSpPr>
        <p:spPr>
          <a:xfrm>
            <a:off x="3593154" y="3962768"/>
            <a:ext cx="1350000" cy="76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87171"/>
                </a:solidFill>
                <a:latin typeface="Consolas"/>
                <a:ea typeface="Consolas"/>
                <a:cs typeface="Consolas"/>
              </a:rPr>
              <a:t>1</a:t>
            </a:r>
            <a:endParaRPr lang="en-US" sz="2000" dirty="0"/>
          </a:p>
        </p:txBody>
      </p:sp>
      <p:sp>
        <p:nvSpPr>
          <p:cNvPr id="35" name="tbl_head"/>
          <p:cNvSpPr/>
          <p:nvPr/>
        </p:nvSpPr>
        <p:spPr>
          <a:xfrm>
            <a:off x="5193154" y="1572768"/>
            <a:ext cx="64371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6" name="tbl_h"/>
          <p:cNvSpPr txBox="1"/>
          <p:nvPr/>
        </p:nvSpPr>
        <p:spPr>
          <a:xfrm>
            <a:off x="5321170" y="1572768"/>
            <a:ext cx="52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STEP</a:t>
            </a:r>
            <a:endParaRPr lang="en-US" sz="1000" dirty="0"/>
          </a:p>
        </p:txBody>
      </p:sp>
      <p:sp>
        <p:nvSpPr>
          <p:cNvPr id="37" name="tbl_h"/>
          <p:cNvSpPr txBox="1"/>
          <p:nvPr/>
        </p:nvSpPr>
        <p:spPr>
          <a:xfrm>
            <a:off x="5893154" y="1572768"/>
            <a:ext cx="22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THREAD A</a:t>
            </a:r>
            <a:endParaRPr lang="en-US" sz="1000" dirty="0"/>
          </a:p>
        </p:txBody>
      </p:sp>
      <p:sp>
        <p:nvSpPr>
          <p:cNvPr id="38" name="tbl_h"/>
          <p:cNvSpPr txBox="1"/>
          <p:nvPr/>
        </p:nvSpPr>
        <p:spPr>
          <a:xfrm>
            <a:off x="8193154" y="1572768"/>
            <a:ext cx="22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THREAD B</a:t>
            </a:r>
            <a:endParaRPr lang="en-US" sz="1000" dirty="0"/>
          </a:p>
        </p:txBody>
      </p:sp>
      <p:sp>
        <p:nvSpPr>
          <p:cNvPr id="39" name="tbl_h"/>
          <p:cNvSpPr txBox="1"/>
          <p:nvPr/>
        </p:nvSpPr>
        <p:spPr>
          <a:xfrm>
            <a:off x="10730254" y="1572768"/>
            <a:ext cx="8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COUNTER</a:t>
            </a:r>
            <a:endParaRPr lang="en-US" sz="1000" dirty="0"/>
          </a:p>
        </p:txBody>
      </p:sp>
      <p:sp>
        <p:nvSpPr>
          <p:cNvPr id="40" name="tbl_row"/>
          <p:cNvSpPr/>
          <p:nvPr/>
        </p:nvSpPr>
        <p:spPr>
          <a:xfrm>
            <a:off x="5193154" y="1920240"/>
            <a:ext cx="6437100" cy="42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41" name="tbl_c"/>
          <p:cNvSpPr txBox="1"/>
          <p:nvPr/>
        </p:nvSpPr>
        <p:spPr>
          <a:xfrm>
            <a:off x="5321170" y="192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1</a:t>
            </a:r>
            <a:endParaRPr lang="en-US" sz="1150" dirty="0"/>
          </a:p>
        </p:txBody>
      </p:sp>
      <p:sp>
        <p:nvSpPr>
          <p:cNvPr id="42" name="tbl_c"/>
          <p:cNvSpPr txBox="1"/>
          <p:nvPr/>
        </p:nvSpPr>
        <p:spPr>
          <a:xfrm>
            <a:off x="5893154" y="192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Reads 0</a:t>
            </a:r>
            <a:endParaRPr lang="en-US" sz="1150" dirty="0"/>
          </a:p>
        </p:txBody>
      </p:sp>
      <p:sp>
        <p:nvSpPr>
          <p:cNvPr id="43" name="tbl_c"/>
          <p:cNvSpPr txBox="1"/>
          <p:nvPr/>
        </p:nvSpPr>
        <p:spPr>
          <a:xfrm>
            <a:off x="10730254" y="192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0</a:t>
            </a:r>
            <a:endParaRPr lang="en-US" sz="1150" dirty="0"/>
          </a:p>
        </p:txBody>
      </p:sp>
      <p:sp>
        <p:nvSpPr>
          <p:cNvPr id="44" name="tbl_row"/>
          <p:cNvSpPr/>
          <p:nvPr/>
        </p:nvSpPr>
        <p:spPr>
          <a:xfrm>
            <a:off x="5193154" y="2380240"/>
            <a:ext cx="6437100" cy="42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45" name="tbl_c"/>
          <p:cNvSpPr txBox="1"/>
          <p:nvPr/>
        </p:nvSpPr>
        <p:spPr>
          <a:xfrm>
            <a:off x="5321170" y="238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2</a:t>
            </a:r>
            <a:endParaRPr lang="en-US" sz="1150" dirty="0"/>
          </a:p>
        </p:txBody>
      </p:sp>
      <p:sp>
        <p:nvSpPr>
          <p:cNvPr id="46" name="tbl_c"/>
          <p:cNvSpPr txBox="1"/>
          <p:nvPr/>
        </p:nvSpPr>
        <p:spPr>
          <a:xfrm>
            <a:off x="8193154" y="238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Reads 0</a:t>
            </a:r>
            <a:endParaRPr lang="en-US" sz="1150" dirty="0"/>
          </a:p>
        </p:txBody>
      </p:sp>
      <p:sp>
        <p:nvSpPr>
          <p:cNvPr id="47" name="tbl_c"/>
          <p:cNvSpPr txBox="1"/>
          <p:nvPr/>
        </p:nvSpPr>
        <p:spPr>
          <a:xfrm>
            <a:off x="10730254" y="238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0</a:t>
            </a:r>
            <a:endParaRPr lang="en-US" sz="1150" dirty="0"/>
          </a:p>
        </p:txBody>
      </p:sp>
      <p:sp>
        <p:nvSpPr>
          <p:cNvPr id="48" name="tbl_row"/>
          <p:cNvSpPr/>
          <p:nvPr/>
        </p:nvSpPr>
        <p:spPr>
          <a:xfrm>
            <a:off x="5193154" y="2840240"/>
            <a:ext cx="6437100" cy="42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49" name="tbl_c"/>
          <p:cNvSpPr txBox="1"/>
          <p:nvPr/>
        </p:nvSpPr>
        <p:spPr>
          <a:xfrm>
            <a:off x="5321170" y="284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3</a:t>
            </a:r>
            <a:endParaRPr lang="en-US" sz="1150" dirty="0"/>
          </a:p>
        </p:txBody>
      </p:sp>
      <p:sp>
        <p:nvSpPr>
          <p:cNvPr id="50" name="tbl_c"/>
          <p:cNvSpPr txBox="1"/>
          <p:nvPr/>
        </p:nvSpPr>
        <p:spPr>
          <a:xfrm>
            <a:off x="5893154" y="284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Adds 1 → 1</a:t>
            </a:r>
            <a:endParaRPr lang="en-US" sz="1150" dirty="0"/>
          </a:p>
        </p:txBody>
      </p:sp>
      <p:sp>
        <p:nvSpPr>
          <p:cNvPr id="51" name="tbl_c"/>
          <p:cNvSpPr txBox="1"/>
          <p:nvPr/>
        </p:nvSpPr>
        <p:spPr>
          <a:xfrm>
            <a:off x="10730254" y="284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0</a:t>
            </a:r>
            <a:endParaRPr lang="en-US" sz="1150" dirty="0"/>
          </a:p>
        </p:txBody>
      </p:sp>
      <p:sp>
        <p:nvSpPr>
          <p:cNvPr id="52" name="tbl_row"/>
          <p:cNvSpPr/>
          <p:nvPr/>
        </p:nvSpPr>
        <p:spPr>
          <a:xfrm>
            <a:off x="5193154" y="3300240"/>
            <a:ext cx="6437100" cy="42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53" name="tbl_c"/>
          <p:cNvSpPr txBox="1"/>
          <p:nvPr/>
        </p:nvSpPr>
        <p:spPr>
          <a:xfrm>
            <a:off x="5321170" y="330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4</a:t>
            </a:r>
            <a:endParaRPr lang="en-US" sz="1150" dirty="0"/>
          </a:p>
        </p:txBody>
      </p:sp>
      <p:sp>
        <p:nvSpPr>
          <p:cNvPr id="54" name="tbl_c"/>
          <p:cNvSpPr txBox="1"/>
          <p:nvPr/>
        </p:nvSpPr>
        <p:spPr>
          <a:xfrm>
            <a:off x="8193154" y="330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Adds 1 → 1</a:t>
            </a:r>
            <a:endParaRPr lang="en-US" sz="1150" dirty="0"/>
          </a:p>
        </p:txBody>
      </p:sp>
      <p:sp>
        <p:nvSpPr>
          <p:cNvPr id="55" name="tbl_c"/>
          <p:cNvSpPr txBox="1"/>
          <p:nvPr/>
        </p:nvSpPr>
        <p:spPr>
          <a:xfrm>
            <a:off x="10730254" y="330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0</a:t>
            </a:r>
            <a:endParaRPr lang="en-US" sz="1150" dirty="0"/>
          </a:p>
        </p:txBody>
      </p:sp>
      <p:sp>
        <p:nvSpPr>
          <p:cNvPr id="56" name="tbl_row"/>
          <p:cNvSpPr/>
          <p:nvPr/>
        </p:nvSpPr>
        <p:spPr>
          <a:xfrm>
            <a:off x="5193154" y="3760240"/>
            <a:ext cx="6437100" cy="42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57" name="tbl_c"/>
          <p:cNvSpPr txBox="1"/>
          <p:nvPr/>
        </p:nvSpPr>
        <p:spPr>
          <a:xfrm>
            <a:off x="5321170" y="376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5</a:t>
            </a:r>
            <a:endParaRPr lang="en-US" sz="1150" dirty="0"/>
          </a:p>
        </p:txBody>
      </p:sp>
      <p:sp>
        <p:nvSpPr>
          <p:cNvPr id="58" name="tbl_c"/>
          <p:cNvSpPr txBox="1"/>
          <p:nvPr/>
        </p:nvSpPr>
        <p:spPr>
          <a:xfrm>
            <a:off x="5893154" y="376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Writes 1</a:t>
            </a:r>
            <a:endParaRPr lang="en-US" sz="1150" dirty="0"/>
          </a:p>
        </p:txBody>
      </p:sp>
      <p:sp>
        <p:nvSpPr>
          <p:cNvPr id="59" name="tbl_c"/>
          <p:cNvSpPr txBox="1"/>
          <p:nvPr/>
        </p:nvSpPr>
        <p:spPr>
          <a:xfrm>
            <a:off x="10730254" y="376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1</a:t>
            </a:r>
            <a:endParaRPr lang="en-US" sz="1150" dirty="0"/>
          </a:p>
        </p:txBody>
      </p:sp>
      <p:sp>
        <p:nvSpPr>
          <p:cNvPr id="60" name="tbl_row"/>
          <p:cNvSpPr/>
          <p:nvPr/>
        </p:nvSpPr>
        <p:spPr>
          <a:xfrm>
            <a:off x="5193154" y="4220240"/>
            <a:ext cx="6437100" cy="420000"/>
          </a:xfrm>
          <a:prstGeom prst="roundRect">
            <a:avLst>
              <a:gd name="adj" fmla="val 17777"/>
            </a:avLst>
          </a:prstGeom>
          <a:solidFill>
            <a:srgbClr val="111B2E"/>
          </a:solidFill>
          <a:ln w="12700">
            <a:solidFill>
              <a:srgbClr val="F87171"/>
            </a:solidFill>
            <a:prstDash val="solid"/>
          </a:ln>
        </p:spPr>
        <p:txBody>
          <a:bodyPr/>
          <a:lstStyle/>
          <a:p>
            <a:endParaRPr lang="en-US"/>
          </a:p>
        </p:txBody>
      </p:sp>
      <p:sp>
        <p:nvSpPr>
          <p:cNvPr id="61" name="tbl_c"/>
          <p:cNvSpPr txBox="1"/>
          <p:nvPr/>
        </p:nvSpPr>
        <p:spPr>
          <a:xfrm>
            <a:off x="5321170" y="4220240"/>
            <a:ext cx="52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6</a:t>
            </a:r>
            <a:endParaRPr lang="en-US" sz="1150" dirty="0"/>
          </a:p>
        </p:txBody>
      </p:sp>
      <p:sp>
        <p:nvSpPr>
          <p:cNvPr id="62" name="tbl_c"/>
          <p:cNvSpPr txBox="1"/>
          <p:nvPr/>
        </p:nvSpPr>
        <p:spPr>
          <a:xfrm>
            <a:off x="8193154" y="4220240"/>
            <a:ext cx="225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Writes 1 (overwrites A)</a:t>
            </a:r>
            <a:endParaRPr lang="en-US" sz="1150" dirty="0"/>
          </a:p>
        </p:txBody>
      </p:sp>
      <p:sp>
        <p:nvSpPr>
          <p:cNvPr id="63" name="tbl_c"/>
          <p:cNvSpPr txBox="1"/>
          <p:nvPr/>
        </p:nvSpPr>
        <p:spPr>
          <a:xfrm>
            <a:off x="10730254" y="4220240"/>
            <a:ext cx="8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1</a:t>
            </a:r>
            <a:endParaRPr lang="en-US" sz="1150" dirty="0"/>
          </a:p>
        </p:txBody>
      </p:sp>
      <p:sp>
        <p:nvSpPr>
          <p:cNvPr id="64"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Two increments, one result: B overwrote A's update. This race condition is called a lost update.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3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3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3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3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3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3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3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3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3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300"/>
                                        <p:tgtEl>
                                          <p:spTgt spid="4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300"/>
                                        <p:tgtEl>
                                          <p:spTgt spid="4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300"/>
                                        <p:tgtEl>
                                          <p:spTgt spid="4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300"/>
                                        <p:tgtEl>
                                          <p:spTgt spid="4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8"/>
                                        </p:tgtEl>
                                        <p:attrNameLst>
                                          <p:attrName>style.visibility</p:attrName>
                                        </p:attrNameLst>
                                      </p:cBhvr>
                                      <p:to>
                                        <p:strVal val="visible"/>
                                      </p:to>
                                    </p:set>
                                    <p:animEffect transition="in" filter="fade">
                                      <p:cBhvr>
                                        <p:cTn id="94" dur="300"/>
                                        <p:tgtEl>
                                          <p:spTgt spid="4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fade">
                                      <p:cBhvr>
                                        <p:cTn id="97" dur="300"/>
                                        <p:tgtEl>
                                          <p:spTgt spid="4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fade">
                                      <p:cBhvr>
                                        <p:cTn id="100" dur="300"/>
                                        <p:tgtEl>
                                          <p:spTgt spid="5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300"/>
                                        <p:tgtEl>
                                          <p:spTgt spid="51"/>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300"/>
                                        <p:tgtEl>
                                          <p:spTgt spid="5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3"/>
                                        </p:tgtEl>
                                        <p:attrNameLst>
                                          <p:attrName>style.visibility</p:attrName>
                                        </p:attrNameLst>
                                      </p:cBhvr>
                                      <p:to>
                                        <p:strVal val="visible"/>
                                      </p:to>
                                    </p:set>
                                    <p:animEffect transition="in" filter="fade">
                                      <p:cBhvr>
                                        <p:cTn id="111" dur="300"/>
                                        <p:tgtEl>
                                          <p:spTgt spid="5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300"/>
                                        <p:tgtEl>
                                          <p:spTgt spid="54"/>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fade">
                                      <p:cBhvr>
                                        <p:cTn id="117" dur="300"/>
                                        <p:tgtEl>
                                          <p:spTgt spid="55"/>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6"/>
                                        </p:tgtEl>
                                        <p:attrNameLst>
                                          <p:attrName>style.visibility</p:attrName>
                                        </p:attrNameLst>
                                      </p:cBhvr>
                                      <p:to>
                                        <p:strVal val="visible"/>
                                      </p:to>
                                    </p:set>
                                    <p:animEffect transition="in" filter="fade">
                                      <p:cBhvr>
                                        <p:cTn id="122" dur="300"/>
                                        <p:tgtEl>
                                          <p:spTgt spid="5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7"/>
                                        </p:tgtEl>
                                        <p:attrNameLst>
                                          <p:attrName>style.visibility</p:attrName>
                                        </p:attrNameLst>
                                      </p:cBhvr>
                                      <p:to>
                                        <p:strVal val="visible"/>
                                      </p:to>
                                    </p:set>
                                    <p:animEffect transition="in" filter="fade">
                                      <p:cBhvr>
                                        <p:cTn id="125" dur="300"/>
                                        <p:tgtEl>
                                          <p:spTgt spid="5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8"/>
                                        </p:tgtEl>
                                        <p:attrNameLst>
                                          <p:attrName>style.visibility</p:attrName>
                                        </p:attrNameLst>
                                      </p:cBhvr>
                                      <p:to>
                                        <p:strVal val="visible"/>
                                      </p:to>
                                    </p:set>
                                    <p:animEffect transition="in" filter="fade">
                                      <p:cBhvr>
                                        <p:cTn id="128" dur="300"/>
                                        <p:tgtEl>
                                          <p:spTgt spid="58"/>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9"/>
                                        </p:tgtEl>
                                        <p:attrNameLst>
                                          <p:attrName>style.visibility</p:attrName>
                                        </p:attrNameLst>
                                      </p:cBhvr>
                                      <p:to>
                                        <p:strVal val="visible"/>
                                      </p:to>
                                    </p:set>
                                    <p:animEffect transition="in" filter="fade">
                                      <p:cBhvr>
                                        <p:cTn id="131" dur="300"/>
                                        <p:tgtEl>
                                          <p:spTgt spid="59"/>
                                        </p:tgtEl>
                                      </p:cBhvr>
                                    </p:animEffect>
                                  </p:childTnLst>
                                </p:cTn>
                              </p:par>
                              <p:par>
                                <p:cTn id="132" presetID="10" presetClass="entr" presetSubtype="0" fill="hold" grpId="0" nodeType="withEffect">
                                  <p:stCondLst>
                                    <p:cond delay="30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300"/>
                                        <p:tgtEl>
                                          <p:spTgt spid="29"/>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0"/>
                                        </p:tgtEl>
                                        <p:attrNameLst>
                                          <p:attrName>style.visibility</p:attrName>
                                        </p:attrNameLst>
                                      </p:cBhvr>
                                      <p:to>
                                        <p:strVal val="visible"/>
                                      </p:to>
                                    </p:set>
                                    <p:animEffect transition="in" filter="fade">
                                      <p:cBhvr>
                                        <p:cTn id="139" dur="300"/>
                                        <p:tgtEl>
                                          <p:spTgt spid="6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61"/>
                                        </p:tgtEl>
                                        <p:attrNameLst>
                                          <p:attrName>style.visibility</p:attrName>
                                        </p:attrNameLst>
                                      </p:cBhvr>
                                      <p:to>
                                        <p:strVal val="visible"/>
                                      </p:to>
                                    </p:set>
                                    <p:animEffect transition="in" filter="fade">
                                      <p:cBhvr>
                                        <p:cTn id="142" dur="300"/>
                                        <p:tgtEl>
                                          <p:spTgt spid="6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animEffect transition="in" filter="fade">
                                      <p:cBhvr>
                                        <p:cTn id="145" dur="300"/>
                                        <p:tgtEl>
                                          <p:spTgt spid="6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3"/>
                                        </p:tgtEl>
                                        <p:attrNameLst>
                                          <p:attrName>style.visibility</p:attrName>
                                        </p:attrNameLst>
                                      </p:cBhvr>
                                      <p:to>
                                        <p:strVal val="visible"/>
                                      </p:to>
                                    </p:set>
                                    <p:animEffect transition="in" filter="fade">
                                      <p:cBhvr>
                                        <p:cTn id="148" dur="300"/>
                                        <p:tgtEl>
                                          <p:spTgt spid="63"/>
                                        </p:tgtEl>
                                      </p:cBhvr>
                                    </p:animEffect>
                                  </p:childTnLst>
                                </p:cTn>
                              </p:par>
                              <p:par>
                                <p:cTn id="149" presetID="10" presetClass="entr" presetSubtype="0" fill="hold" grpId="0" nodeType="withEffect">
                                  <p:stCondLst>
                                    <p:cond delay="300"/>
                                  </p:stCondLst>
                                  <p:childTnLst>
                                    <p:set>
                                      <p:cBhvr>
                                        <p:cTn id="150" dur="1" fill="hold">
                                          <p:stCondLst>
                                            <p:cond delay="0"/>
                                          </p:stCondLst>
                                        </p:cTn>
                                        <p:tgtEl>
                                          <p:spTgt spid="30"/>
                                        </p:tgtEl>
                                        <p:attrNameLst>
                                          <p:attrName>style.visibility</p:attrName>
                                        </p:attrNameLst>
                                      </p:cBhvr>
                                      <p:to>
                                        <p:strVal val="visible"/>
                                      </p:to>
                                    </p:set>
                                    <p:animEffect transition="in" filter="fade">
                                      <p:cBhvr>
                                        <p:cTn id="151" dur="300"/>
                                        <p:tgtEl>
                                          <p:spTgt spid="30"/>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31"/>
                                        </p:tgtEl>
                                        <p:attrNameLst>
                                          <p:attrName>style.visibility</p:attrName>
                                        </p:attrNameLst>
                                      </p:cBhvr>
                                      <p:to>
                                        <p:strVal val="visible"/>
                                      </p:to>
                                    </p:set>
                                    <p:animEffect transition="in" filter="fade">
                                      <p:cBhvr>
                                        <p:cTn id="156" dur="300"/>
                                        <p:tgtEl>
                                          <p:spTgt spid="31"/>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32"/>
                                        </p:tgtEl>
                                        <p:attrNameLst>
                                          <p:attrName>style.visibility</p:attrName>
                                        </p:attrNameLst>
                                      </p:cBhvr>
                                      <p:to>
                                        <p:strVal val="visible"/>
                                      </p:to>
                                    </p:set>
                                    <p:animEffect transition="in" filter="fade">
                                      <p:cBhvr>
                                        <p:cTn id="159" dur="300"/>
                                        <p:tgtEl>
                                          <p:spTgt spid="32"/>
                                        </p:tgtEl>
                                      </p:cBhvr>
                                    </p:animEffect>
                                  </p:childTnLst>
                                </p:cTn>
                              </p:par>
                              <p:par>
                                <p:cTn id="160" presetID="10" presetClass="entr" presetSubtype="0" fill="hold" grpId="0" nodeType="withEffect">
                                  <p:stCondLst>
                                    <p:cond delay="50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300"/>
                                        <p:tgtEl>
                                          <p:spTgt spid="33"/>
                                        </p:tgtEl>
                                      </p:cBhvr>
                                    </p:animEffect>
                                  </p:childTnLst>
                                </p:cTn>
                              </p:par>
                              <p:par>
                                <p:cTn id="163" presetID="10" presetClass="entr" presetSubtype="0" fill="hold" grpId="0" nodeType="withEffect">
                                  <p:stCondLst>
                                    <p:cond delay="500"/>
                                  </p:stCondLst>
                                  <p:childTnLst>
                                    <p:set>
                                      <p:cBhvr>
                                        <p:cTn id="164" dur="1" fill="hold">
                                          <p:stCondLst>
                                            <p:cond delay="0"/>
                                          </p:stCondLst>
                                        </p:cTn>
                                        <p:tgtEl>
                                          <p:spTgt spid="34"/>
                                        </p:tgtEl>
                                        <p:attrNameLst>
                                          <p:attrName>style.visibility</p:attrName>
                                        </p:attrNameLst>
                                      </p:cBhvr>
                                      <p:to>
                                        <p:strVal val="visible"/>
                                      </p:to>
                                    </p:set>
                                    <p:animEffect transition="in" filter="fade">
                                      <p:cBhvr>
                                        <p:cTn id="165" dur="300"/>
                                        <p:tgtEl>
                                          <p:spTgt spid="34"/>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64"/>
                                        </p:tgtEl>
                                        <p:attrNameLst>
                                          <p:attrName>style.visibility</p:attrName>
                                        </p:attrNameLst>
                                      </p:cBhvr>
                                      <p:to>
                                        <p:strVal val="visible"/>
                                      </p:to>
                                    </p:set>
                                    <p:animEffect transition="in" filter="fade">
                                      <p:cBhvr>
                                        <p:cTn id="170" dur="3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6"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88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INTERLOCKED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Solution: Interlocked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41</a:t>
            </a:r>
            <a:endParaRPr lang="en-US" sz="850" dirty="0"/>
          </a:p>
        </p:txBody>
      </p:sp>
      <p:sp>
        <p:nvSpPr>
          <p:cNvPr id="15" name="cw_win"/>
          <p:cNvSpPr/>
          <p:nvPr/>
        </p:nvSpPr>
        <p:spPr>
          <a:xfrm>
            <a:off x="543154" y="1572768"/>
            <a:ext cx="5100000" cy="1706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1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1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6" name="cw_hl04"/>
          <p:cNvSpPr/>
          <p:nvPr/>
        </p:nvSpPr>
        <p:spPr>
          <a:xfrm>
            <a:off x="676656" y="2877008"/>
            <a:ext cx="4832996" cy="26009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47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int </a:t>
            </a:r>
            <a:r>
              <a:rPr lang="en-US" sz="1100" b="0" dirty="0">
                <a:solidFill>
                  <a:srgbClr val="E2E8F0"/>
                </a:solidFill>
                <a:latin typeface="Consolas"/>
                <a:ea typeface="Consolas"/>
                <a:cs typeface="Consolas"/>
              </a:rPr>
              <a:t>counter = 0;</a:t>
            </a:r>
            <a:endParaRPr lang="en-US" sz="1100" dirty="0"/>
          </a:p>
        </p:txBody>
      </p:sp>
      <p:sp>
        <p:nvSpPr>
          <p:cNvPr id="23" name="cw_L02"/>
          <p:cNvSpPr txBox="1"/>
          <p:nvPr/>
        </p:nvSpPr>
        <p:spPr>
          <a:xfrm>
            <a:off x="771754" y="2448256"/>
            <a:ext cx="47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Thread A and Thread B</a:t>
            </a:r>
            <a:endParaRPr lang="en-US" sz="1100" dirty="0"/>
          </a:p>
        </p:txBody>
      </p:sp>
      <p:sp>
        <p:nvSpPr>
          <p:cNvPr id="24" name="cw_L03"/>
          <p:cNvSpPr txBox="1"/>
          <p:nvPr/>
        </p:nvSpPr>
        <p:spPr>
          <a:xfrm>
            <a:off x="771754" y="2671776"/>
            <a:ext cx="47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both run this once:</a:t>
            </a:r>
            <a:endParaRPr lang="en-US" sz="1100" dirty="0"/>
          </a:p>
        </p:txBody>
      </p:sp>
      <p:sp>
        <p:nvSpPr>
          <p:cNvPr id="25" name="cw_L04"/>
          <p:cNvSpPr txBox="1"/>
          <p:nvPr/>
        </p:nvSpPr>
        <p:spPr>
          <a:xfrm>
            <a:off x="771754" y="2895296"/>
            <a:ext cx="47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Interlocked.Increment(</a:t>
            </a:r>
            <a:r>
              <a:rPr lang="en-US" sz="1100" b="0" dirty="0">
                <a:solidFill>
                  <a:srgbClr val="60A5FA"/>
                </a:solidFill>
                <a:latin typeface="Consolas"/>
                <a:ea typeface="Consolas"/>
                <a:cs typeface="Consolas"/>
              </a:rPr>
              <a:t>ref </a:t>
            </a:r>
            <a:r>
              <a:rPr lang="en-US" sz="1100" b="0" dirty="0">
                <a:solidFill>
                  <a:srgbClr val="E2E8F0"/>
                </a:solidFill>
                <a:latin typeface="Consolas"/>
                <a:ea typeface="Consolas"/>
                <a:cs typeface="Consolas"/>
              </a:rPr>
              <a:t>counter);</a:t>
            </a:r>
            <a:endParaRPr lang="en-US" sz="1100" dirty="0"/>
          </a:p>
        </p:txBody>
      </p:sp>
      <p:sp>
        <p:nvSpPr>
          <p:cNvPr id="27" name="card"/>
          <p:cNvSpPr/>
          <p:nvPr/>
        </p:nvSpPr>
        <p:spPr>
          <a:xfrm>
            <a:off x="543154" y="3415976"/>
            <a:ext cx="5100000" cy="1534024"/>
          </a:xfrm>
          <a:prstGeom prst="roundRect">
            <a:avLst>
              <a:gd name="adj" fmla="val 5000"/>
            </a:avLst>
          </a:prstGeom>
          <a:solidFill>
            <a:srgbClr val="111B2E"/>
          </a:solidFill>
          <a:ln w="12700">
            <a:solidFill>
              <a:srgbClr val="4D91F0"/>
            </a:solidFill>
            <a:prstDash val="solid"/>
          </a:ln>
        </p:spPr>
        <p:txBody>
          <a:bodyPr wrap="square" lIns="182880" tIns="64008" rIns="137160" bIns="64008" rtlCol="0" anchor="t">
            <a:noAutofit/>
          </a:bodyPr>
          <a:lstStyle/>
          <a:p>
            <a:pPr marL="0" indent="0" algn="l">
              <a:spcBef>
                <a:spcPts val="0"/>
              </a:spcBef>
              <a:spcAft>
                <a:spcPts val="250"/>
              </a:spcAft>
              <a:buNone/>
            </a:pPr>
            <a:r>
              <a:rPr lang="en-US" sz="1050" b="1" dirty="0">
                <a:solidFill>
                  <a:srgbClr val="4D91F0"/>
                </a:solidFill>
                <a:latin typeface="Segoe UI"/>
                <a:ea typeface="Segoe UI"/>
                <a:cs typeface="Segoe UI"/>
              </a:rPr>
              <a:t>BEHIND THE SCENES</a:t>
            </a:r>
            <a:endParaRPr lang="en-US" sz="1050" dirty="0"/>
          </a:p>
          <a:p>
            <a:pPr marL="0" indent="0" algn="l">
              <a:spcBef>
                <a:spcPts val="0"/>
              </a:spcBef>
              <a:spcAft>
                <a:spcPts val="250"/>
              </a:spcAft>
              <a:buNone/>
            </a:pPr>
            <a:r>
              <a:rPr lang="en-US" sz="1100" b="0" dirty="0">
                <a:solidFill>
                  <a:srgbClr val="CBD5E1"/>
                </a:solidFill>
                <a:latin typeface="Segoe UI"/>
                <a:ea typeface="Segoe UI"/>
                <a:cs typeface="Segoe UI"/>
              </a:rPr>
              <a:t>Interlocked uses CPU-supported atomic instructions (or equivalent platform mechanisms).</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The CPU makes competing updates to the same memory location take turns. No lock object needed.</a:t>
            </a:r>
            <a:endParaRPr lang="en-US" sz="1100" dirty="0"/>
          </a:p>
        </p:txBody>
      </p:sp>
      <p:sp>
        <p:nvSpPr>
          <p:cNvPr id="28" name="lab"/>
          <p:cNvSpPr txBox="1"/>
          <p:nvPr/>
        </p:nvSpPr>
        <p:spPr>
          <a:xfrm>
            <a:off x="5943154" y="1572768"/>
            <a:ext cx="5687100"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Both threads call Increment at the same moment</a:t>
            </a:r>
            <a:endParaRPr lang="en-US" sz="1100" dirty="0"/>
          </a:p>
        </p:txBody>
      </p:sp>
      <p:sp>
        <p:nvSpPr>
          <p:cNvPr id="29" name="lab"/>
          <p:cNvSpPr txBox="1"/>
          <p:nvPr/>
        </p:nvSpPr>
        <p:spPr>
          <a:xfrm>
            <a:off x="5943154" y="1992768"/>
            <a:ext cx="10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Thread A</a:t>
            </a:r>
            <a:endParaRPr lang="en-US" sz="1100" dirty="0"/>
          </a:p>
        </p:txBody>
      </p:sp>
      <p:sp>
        <p:nvSpPr>
          <p:cNvPr id="30" name="lab"/>
          <p:cNvSpPr txBox="1"/>
          <p:nvPr/>
        </p:nvSpPr>
        <p:spPr>
          <a:xfrm>
            <a:off x="5943154" y="2532768"/>
            <a:ext cx="10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Thread B</a:t>
            </a:r>
            <a:endParaRPr lang="en-US" sz="1100" dirty="0"/>
          </a:p>
        </p:txBody>
      </p:sp>
      <p:sp>
        <p:nvSpPr>
          <p:cNvPr id="31" name="lane"/>
          <p:cNvSpPr/>
          <p:nvPr/>
        </p:nvSpPr>
        <p:spPr>
          <a:xfrm>
            <a:off x="6993154" y="2192768"/>
            <a:ext cx="4637100" cy="18288"/>
          </a:xfrm>
          <a:prstGeom prst="rect">
            <a:avLst/>
          </a:prstGeom>
          <a:solidFill>
            <a:srgbClr val="1E3A5F"/>
          </a:solidFill>
          <a:ln w="12700">
            <a:solidFill>
              <a:srgbClr val="1E3A5F"/>
            </a:solidFill>
            <a:prstDash val="solid"/>
          </a:ln>
        </p:spPr>
        <p:txBody>
          <a:bodyPr/>
          <a:lstStyle/>
          <a:p>
            <a:endParaRPr lang="en-US"/>
          </a:p>
        </p:txBody>
      </p:sp>
      <p:sp>
        <p:nvSpPr>
          <p:cNvPr id="32" name="lane"/>
          <p:cNvSpPr/>
          <p:nvPr/>
        </p:nvSpPr>
        <p:spPr>
          <a:xfrm>
            <a:off x="6993154" y="2732768"/>
            <a:ext cx="4637100" cy="18288"/>
          </a:xfrm>
          <a:prstGeom prst="rect">
            <a:avLst/>
          </a:prstGeom>
          <a:solidFill>
            <a:srgbClr val="1E3A5F"/>
          </a:solidFill>
          <a:ln w="12700">
            <a:solidFill>
              <a:srgbClr val="1E3A5F"/>
            </a:solidFill>
            <a:prstDash val="solid"/>
          </a:ln>
        </p:spPr>
        <p:txBody>
          <a:bodyPr/>
          <a:lstStyle/>
          <a:p>
            <a:endParaRPr lang="en-US"/>
          </a:p>
        </p:txBody>
      </p:sp>
      <p:sp>
        <p:nvSpPr>
          <p:cNvPr id="33" name="bar"/>
          <p:cNvSpPr/>
          <p:nvPr/>
        </p:nvSpPr>
        <p:spPr>
          <a:xfrm>
            <a:off x="6993154" y="1992768"/>
            <a:ext cx="2288550" cy="42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atomic: 0 → 1</a:t>
            </a:r>
            <a:endParaRPr lang="en-US" sz="1050" dirty="0"/>
          </a:p>
        </p:txBody>
      </p:sp>
      <p:sp>
        <p:nvSpPr>
          <p:cNvPr id="34" name="bar"/>
          <p:cNvSpPr/>
          <p:nvPr/>
        </p:nvSpPr>
        <p:spPr>
          <a:xfrm>
            <a:off x="6993154" y="2532768"/>
            <a:ext cx="2288550" cy="420000"/>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CPU: wait your turn</a:t>
            </a:r>
            <a:endParaRPr lang="en-US" sz="950" dirty="0"/>
          </a:p>
        </p:txBody>
      </p:sp>
      <p:sp>
        <p:nvSpPr>
          <p:cNvPr id="35" name="bar"/>
          <p:cNvSpPr/>
          <p:nvPr/>
        </p:nvSpPr>
        <p:spPr>
          <a:xfrm>
            <a:off x="9311704" y="2532768"/>
            <a:ext cx="2288550" cy="42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FFFFF"/>
                </a:solidFill>
                <a:latin typeface="Segoe UI"/>
                <a:ea typeface="Segoe UI"/>
                <a:cs typeface="Segoe UI"/>
              </a:rPr>
              <a:t>atomic: 1 → 2</a:t>
            </a:r>
            <a:endParaRPr lang="en-US" sz="1050" dirty="0"/>
          </a:p>
        </p:txBody>
      </p:sp>
      <p:sp>
        <p:nvSpPr>
          <p:cNvPr id="36" name="lab"/>
          <p:cNvSpPr txBox="1"/>
          <p:nvPr/>
        </p:nvSpPr>
        <p:spPr>
          <a:xfrm>
            <a:off x="5943154" y="3132768"/>
            <a:ext cx="140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FBBF24"/>
                </a:solidFill>
                <a:latin typeface="Segoe UI"/>
                <a:ea typeface="Segoe UI"/>
                <a:cs typeface="Segoe UI"/>
              </a:rPr>
              <a:t>counter</a:t>
            </a:r>
            <a:endParaRPr lang="en-US" sz="1100" dirty="0"/>
          </a:p>
        </p:txBody>
      </p:sp>
      <p:sp>
        <p:nvSpPr>
          <p:cNvPr id="37" name="box"/>
          <p:cNvSpPr/>
          <p:nvPr/>
        </p:nvSpPr>
        <p:spPr>
          <a:xfrm>
            <a:off x="5943154" y="3432768"/>
            <a:ext cx="1400000" cy="70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Consolas"/>
                <a:ea typeface="Consolas"/>
                <a:cs typeface="Consolas"/>
              </a:rPr>
              <a:t>0</a:t>
            </a:r>
            <a:endParaRPr lang="en-US" sz="2000" dirty="0"/>
          </a:p>
        </p:txBody>
      </p:sp>
      <p:sp>
        <p:nvSpPr>
          <p:cNvPr id="38" name="box"/>
          <p:cNvSpPr/>
          <p:nvPr/>
        </p:nvSpPr>
        <p:spPr>
          <a:xfrm>
            <a:off x="5943154" y="3432768"/>
            <a:ext cx="1400000" cy="70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Consolas"/>
                <a:ea typeface="Consolas"/>
                <a:cs typeface="Consolas"/>
              </a:rPr>
              <a:t>1</a:t>
            </a:r>
            <a:endParaRPr lang="en-US" sz="2000" dirty="0"/>
          </a:p>
        </p:txBody>
      </p:sp>
      <p:sp>
        <p:nvSpPr>
          <p:cNvPr id="39" name="box"/>
          <p:cNvSpPr/>
          <p:nvPr/>
        </p:nvSpPr>
        <p:spPr>
          <a:xfrm>
            <a:off x="5943154" y="3432768"/>
            <a:ext cx="1400000" cy="70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34D399"/>
                </a:solidFill>
                <a:latin typeface="Consolas"/>
                <a:ea typeface="Consolas"/>
                <a:cs typeface="Consolas"/>
              </a:rPr>
              <a:t>2</a:t>
            </a:r>
            <a:endParaRPr lang="en-US" sz="2000" dirty="0"/>
          </a:p>
        </p:txBody>
      </p:sp>
      <p:sp>
        <p:nvSpPr>
          <p:cNvPr id="40" name="caption"/>
          <p:cNvSpPr/>
          <p:nvPr/>
        </p:nvSpPr>
        <p:spPr>
          <a:xfrm>
            <a:off x="7493154" y="3432768"/>
            <a:ext cx="4137100" cy="70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Always 2: neither update is lost (assuming those are the only two increments).</a:t>
            </a:r>
            <a:endParaRPr lang="en-US" sz="1150" dirty="0"/>
          </a:p>
        </p:txBody>
      </p:sp>
      <p:sp>
        <p:nvSpPr>
          <p:cNvPr id="41" name="card"/>
          <p:cNvSpPr/>
          <p:nvPr/>
        </p:nvSpPr>
        <p:spPr>
          <a:xfrm>
            <a:off x="5943154" y="4272768"/>
            <a:ext cx="5687100" cy="677232"/>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OTHER ATOMIC HELPERS</a:t>
            </a:r>
            <a:endParaRPr lang="en-US" sz="1000" dirty="0"/>
          </a:p>
          <a:p>
            <a:pPr marL="0" indent="0" algn="l">
              <a:spcBef>
                <a:spcPts val="0"/>
              </a:spcBef>
              <a:spcAft>
                <a:spcPts val="0"/>
              </a:spcAft>
              <a:buNone/>
            </a:pPr>
            <a:r>
              <a:rPr lang="en-US" sz="1100" b="0" dirty="0">
                <a:solidFill>
                  <a:srgbClr val="CBD5E1"/>
                </a:solidFill>
                <a:latin typeface="Consolas"/>
                <a:ea typeface="Consolas"/>
                <a:cs typeface="Consolas"/>
              </a:rPr>
              <a:t>Decrement · Add · Exchange · CompareExchange</a:t>
            </a:r>
            <a:endParaRPr lang="en-US" sz="1100" dirty="0"/>
          </a:p>
        </p:txBody>
      </p:sp>
      <p:sp>
        <p:nvSpPr>
          <p:cNvPr id="42"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Interlocked.Increment does read + add + write as ONE atomic step. The result is always 2.</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300"/>
                                        <p:tgtEl>
                                          <p:spTgt spid="2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300"/>
                                        <p:tgtEl>
                                          <p:spTgt spid="2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3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3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3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3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300"/>
                                        <p:tgtEl>
                                          <p:spTgt spid="3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wipe(left)">
                                      <p:cBhvr>
                                        <p:cTn id="68" dur="600"/>
                                        <p:tgtEl>
                                          <p:spTgt spid="33"/>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wipe(left)">
                                      <p:cBhvr>
                                        <p:cTn id="71" dur="600"/>
                                        <p:tgtEl>
                                          <p:spTgt spid="34"/>
                                        </p:tgtEl>
                                      </p:cBhvr>
                                    </p:animEffect>
                                  </p:childTnLst>
                                </p:cTn>
                              </p:par>
                              <p:par>
                                <p:cTn id="72" presetID="10" presetClass="entr" presetSubtype="0" fill="hold" grpId="0" nodeType="withEffect">
                                  <p:stCondLst>
                                    <p:cond delay="60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300"/>
                                        <p:tgtEl>
                                          <p:spTgt spid="3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wipe(left)">
                                      <p:cBhvr>
                                        <p:cTn id="79" dur="600"/>
                                        <p:tgtEl>
                                          <p:spTgt spid="35"/>
                                        </p:tgtEl>
                                      </p:cBhvr>
                                    </p:animEffect>
                                  </p:childTnLst>
                                </p:cTn>
                              </p:par>
                              <p:par>
                                <p:cTn id="80" presetID="10" presetClass="entr" presetSubtype="0" fill="hold" grpId="0" nodeType="withEffect">
                                  <p:stCondLst>
                                    <p:cond delay="60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3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300"/>
                                        <p:tgtEl>
                                          <p:spTgt spid="4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3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300"/>
                                        <p:tgtEl>
                                          <p:spTgt spid="4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6"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00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CHOOSE THE TOOL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Interlocked vs 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42</a:t>
            </a:r>
            <a:endParaRPr lang="en-US" sz="850" dirty="0"/>
          </a:p>
        </p:txBody>
      </p:sp>
      <p:sp>
        <p:nvSpPr>
          <p:cNvPr id="15" name="cwa_win"/>
          <p:cNvSpPr/>
          <p:nvPr/>
        </p:nvSpPr>
        <p:spPr>
          <a:xfrm>
            <a:off x="543154" y="1572768"/>
            <a:ext cx="5314950" cy="227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a_bar"/>
          <p:cNvSpPr/>
          <p:nvPr/>
        </p:nvSpPr>
        <p:spPr>
          <a:xfrm>
            <a:off x="543154" y="1572768"/>
            <a:ext cx="53149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a_barfill"/>
          <p:cNvSpPr/>
          <p:nvPr/>
        </p:nvSpPr>
        <p:spPr>
          <a:xfrm>
            <a:off x="543154" y="1744218"/>
            <a:ext cx="5314950" cy="171450"/>
          </a:xfrm>
          <a:prstGeom prst="rect">
            <a:avLst/>
          </a:prstGeom>
          <a:solidFill>
            <a:srgbClr val="0A1220"/>
          </a:solidFill>
          <a:ln w="12700">
            <a:solidFill>
              <a:srgbClr val="0A1220"/>
            </a:solidFill>
            <a:prstDash val="solid"/>
          </a:ln>
        </p:spPr>
        <p:txBody>
          <a:bodyPr/>
          <a:lstStyle/>
          <a:p>
            <a:endParaRPr lang="en-US"/>
          </a:p>
        </p:txBody>
      </p:sp>
      <p:sp>
        <p:nvSpPr>
          <p:cNvPr id="18" name="cwa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a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a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a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Interlocked</a:t>
            </a:r>
            <a:endParaRPr lang="en-US" sz="950" dirty="0"/>
          </a:p>
        </p:txBody>
      </p:sp>
      <p:sp>
        <p:nvSpPr>
          <p:cNvPr id="22" name="cwa_L00"/>
          <p:cNvSpPr txBox="1"/>
          <p:nvPr/>
        </p:nvSpPr>
        <p:spPr>
          <a:xfrm>
            <a:off x="771754" y="200121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ONE variable, ONE simple step:</a:t>
            </a:r>
            <a:endParaRPr lang="en-US" sz="1050" dirty="0"/>
          </a:p>
        </p:txBody>
      </p:sp>
      <p:sp>
        <p:nvSpPr>
          <p:cNvPr id="23" name="cwa_L01"/>
          <p:cNvSpPr txBox="1"/>
          <p:nvPr/>
        </p:nvSpPr>
        <p:spPr>
          <a:xfrm>
            <a:off x="771754" y="221457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Interlocked.Increment(</a:t>
            </a:r>
            <a:r>
              <a:rPr lang="en-US" sz="1050" b="0" dirty="0">
                <a:solidFill>
                  <a:srgbClr val="60A5FA"/>
                </a:solidFill>
                <a:latin typeface="Consolas"/>
                <a:ea typeface="Consolas"/>
                <a:cs typeface="Consolas"/>
              </a:rPr>
              <a:t>ref </a:t>
            </a:r>
            <a:r>
              <a:rPr lang="en-US" sz="1050" b="0" dirty="0">
                <a:solidFill>
                  <a:srgbClr val="E2E8F0"/>
                </a:solidFill>
                <a:latin typeface="Consolas"/>
                <a:ea typeface="Consolas"/>
                <a:cs typeface="Consolas"/>
              </a:rPr>
              <a:t>counter);</a:t>
            </a:r>
            <a:endParaRPr lang="en-US" sz="1050" dirty="0"/>
          </a:p>
        </p:txBody>
      </p:sp>
      <p:sp>
        <p:nvSpPr>
          <p:cNvPr id="24" name="cwa_L02"/>
          <p:cNvSpPr txBox="1"/>
          <p:nvPr/>
        </p:nvSpPr>
        <p:spPr>
          <a:xfrm>
            <a:off x="771754" y="242793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Interlocked.Decrement(</a:t>
            </a:r>
            <a:r>
              <a:rPr lang="en-US" sz="1050" b="0" dirty="0">
                <a:solidFill>
                  <a:srgbClr val="60A5FA"/>
                </a:solidFill>
                <a:latin typeface="Consolas"/>
                <a:ea typeface="Consolas"/>
                <a:cs typeface="Consolas"/>
              </a:rPr>
              <a:t>ref </a:t>
            </a:r>
            <a:r>
              <a:rPr lang="en-US" sz="1050" b="0" dirty="0">
                <a:solidFill>
                  <a:srgbClr val="E2E8F0"/>
                </a:solidFill>
                <a:latin typeface="Consolas"/>
                <a:ea typeface="Consolas"/>
                <a:cs typeface="Consolas"/>
              </a:rPr>
              <a:t>counter);</a:t>
            </a:r>
            <a:endParaRPr lang="en-US" sz="1050" dirty="0"/>
          </a:p>
        </p:txBody>
      </p:sp>
      <p:sp>
        <p:nvSpPr>
          <p:cNvPr id="25" name="cwa_L03"/>
          <p:cNvSpPr txBox="1"/>
          <p:nvPr/>
        </p:nvSpPr>
        <p:spPr>
          <a:xfrm>
            <a:off x="771754" y="264129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Interlocked.Add(</a:t>
            </a:r>
            <a:r>
              <a:rPr lang="en-US" sz="1050" b="0" dirty="0">
                <a:solidFill>
                  <a:srgbClr val="60A5FA"/>
                </a:solidFill>
                <a:latin typeface="Consolas"/>
                <a:ea typeface="Consolas"/>
                <a:cs typeface="Consolas"/>
              </a:rPr>
              <a:t>ref </a:t>
            </a:r>
            <a:r>
              <a:rPr lang="en-US" sz="1050" b="0" dirty="0">
                <a:solidFill>
                  <a:srgbClr val="E2E8F0"/>
                </a:solidFill>
                <a:latin typeface="Consolas"/>
                <a:ea typeface="Consolas"/>
                <a:cs typeface="Consolas"/>
              </a:rPr>
              <a:t>total, 5);</a:t>
            </a:r>
            <a:endParaRPr lang="en-US" sz="1050" dirty="0"/>
          </a:p>
        </p:txBody>
      </p:sp>
      <p:sp>
        <p:nvSpPr>
          <p:cNvPr id="26" name="cwa_L04"/>
          <p:cNvSpPr txBox="1"/>
          <p:nvPr/>
        </p:nvSpPr>
        <p:spPr>
          <a:xfrm>
            <a:off x="771754" y="285465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Interlocked.Exchange(</a:t>
            </a:r>
            <a:r>
              <a:rPr lang="en-US" sz="1050" b="0" dirty="0">
                <a:solidFill>
                  <a:srgbClr val="60A5FA"/>
                </a:solidFill>
                <a:latin typeface="Consolas"/>
                <a:ea typeface="Consolas"/>
                <a:cs typeface="Consolas"/>
              </a:rPr>
              <a:t>ref </a:t>
            </a:r>
            <a:r>
              <a:rPr lang="en-US" sz="1050" b="0" dirty="0">
                <a:solidFill>
                  <a:srgbClr val="E2E8F0"/>
                </a:solidFill>
                <a:latin typeface="Consolas"/>
                <a:ea typeface="Consolas"/>
                <a:cs typeface="Consolas"/>
              </a:rPr>
              <a:t>status, 2);</a:t>
            </a:r>
            <a:endParaRPr lang="en-US" sz="1050" dirty="0"/>
          </a:p>
        </p:txBody>
      </p:sp>
      <p:sp>
        <p:nvSpPr>
          <p:cNvPr id="27" name="pill"/>
          <p:cNvSpPr/>
          <p:nvPr/>
        </p:nvSpPr>
        <p:spPr>
          <a:xfrm>
            <a:off x="4066664" y="1625346"/>
            <a:ext cx="170000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ATOMIC OPERATION</a:t>
            </a:r>
            <a:endParaRPr lang="en-US" sz="900" dirty="0"/>
          </a:p>
        </p:txBody>
      </p:sp>
      <p:sp>
        <p:nvSpPr>
          <p:cNvPr id="28" name="cwb_win"/>
          <p:cNvSpPr/>
          <p:nvPr/>
        </p:nvSpPr>
        <p:spPr>
          <a:xfrm>
            <a:off x="6315304" y="1572768"/>
            <a:ext cx="5314950" cy="227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9" name="cwb_bar"/>
          <p:cNvSpPr/>
          <p:nvPr/>
        </p:nvSpPr>
        <p:spPr>
          <a:xfrm>
            <a:off x="6315304" y="1572768"/>
            <a:ext cx="53149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0" name="cwb_barfill"/>
          <p:cNvSpPr/>
          <p:nvPr/>
        </p:nvSpPr>
        <p:spPr>
          <a:xfrm>
            <a:off x="6315304" y="1744218"/>
            <a:ext cx="5314950" cy="171450"/>
          </a:xfrm>
          <a:prstGeom prst="rect">
            <a:avLst/>
          </a:prstGeom>
          <a:solidFill>
            <a:srgbClr val="0A1220"/>
          </a:solidFill>
          <a:ln w="12700">
            <a:solidFill>
              <a:srgbClr val="0A1220"/>
            </a:solidFill>
            <a:prstDash val="solid"/>
          </a:ln>
        </p:spPr>
        <p:txBody>
          <a:bodyPr/>
          <a:lstStyle/>
          <a:p>
            <a:endParaRPr lang="en-US"/>
          </a:p>
        </p:txBody>
      </p:sp>
      <p:sp>
        <p:nvSpPr>
          <p:cNvPr id="31" name="cwb_dot0"/>
          <p:cNvSpPr/>
          <p:nvPr/>
        </p:nvSpPr>
        <p:spPr>
          <a:xfrm>
            <a:off x="647715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2" name="cwb_dot1"/>
          <p:cNvSpPr/>
          <p:nvPr/>
        </p:nvSpPr>
        <p:spPr>
          <a:xfrm>
            <a:off x="666277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3" name="cwb_dot2"/>
          <p:cNvSpPr/>
          <p:nvPr/>
        </p:nvSpPr>
        <p:spPr>
          <a:xfrm>
            <a:off x="684840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4" name="cwb_tab"/>
          <p:cNvSpPr/>
          <p:nvPr/>
        </p:nvSpPr>
        <p:spPr>
          <a:xfrm>
            <a:off x="709620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lock</a:t>
            </a:r>
            <a:endParaRPr lang="en-US" sz="950" dirty="0"/>
          </a:p>
        </p:txBody>
      </p:sp>
      <p:sp>
        <p:nvSpPr>
          <p:cNvPr id="44" name="cw_hl02"/>
          <p:cNvSpPr/>
          <p:nvPr/>
        </p:nvSpPr>
        <p:spPr>
          <a:xfrm>
            <a:off x="6448806" y="2409648"/>
            <a:ext cx="504794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45" name="cw_hl04"/>
          <p:cNvSpPr/>
          <p:nvPr/>
        </p:nvSpPr>
        <p:spPr>
          <a:xfrm>
            <a:off x="6448806" y="2836368"/>
            <a:ext cx="5047946" cy="463296"/>
          </a:xfrm>
          <a:prstGeom prst="rect">
            <a:avLst/>
          </a:prstGeom>
          <a:solidFill>
            <a:srgbClr val="F87171">
              <a:alpha val="15000"/>
            </a:srgbClr>
          </a:solidFill>
          <a:ln w="12700">
            <a:solidFill>
              <a:srgbClr val="F87171"/>
            </a:solidFill>
            <a:prstDash val="solid"/>
          </a:ln>
        </p:spPr>
        <p:txBody>
          <a:bodyPr/>
          <a:lstStyle/>
          <a:p>
            <a:endParaRPr lang="en-US"/>
          </a:p>
        </p:txBody>
      </p:sp>
      <p:sp>
        <p:nvSpPr>
          <p:cNvPr id="35" name="cwb_L00"/>
          <p:cNvSpPr txBox="1"/>
          <p:nvPr/>
        </p:nvSpPr>
        <p:spPr>
          <a:xfrm>
            <a:off x="6543904" y="200121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lock </a:t>
            </a:r>
            <a:r>
              <a:rPr lang="en-US" sz="1050" b="0" dirty="0">
                <a:solidFill>
                  <a:srgbClr val="E2E8F0"/>
                </a:solidFill>
                <a:latin typeface="Consolas"/>
                <a:ea typeface="Consolas"/>
                <a:cs typeface="Consolas"/>
              </a:rPr>
              <a:t>(_sync)</a:t>
            </a:r>
            <a:endParaRPr lang="en-US" sz="1050" dirty="0"/>
          </a:p>
        </p:txBody>
      </p:sp>
      <p:sp>
        <p:nvSpPr>
          <p:cNvPr id="36" name="cwb_L01"/>
          <p:cNvSpPr txBox="1"/>
          <p:nvPr/>
        </p:nvSpPr>
        <p:spPr>
          <a:xfrm>
            <a:off x="6543904" y="221457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7" name="cwb_L02"/>
          <p:cNvSpPr txBox="1"/>
          <p:nvPr/>
        </p:nvSpPr>
        <p:spPr>
          <a:xfrm>
            <a:off x="6543904" y="2427936"/>
            <a:ext cx="493090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if </a:t>
            </a:r>
            <a:r>
              <a:rPr lang="en-US" sz="1050" b="0" dirty="0">
                <a:solidFill>
                  <a:srgbClr val="E2E8F0"/>
                </a:solidFill>
                <a:latin typeface="Consolas"/>
                <a:ea typeface="Consolas"/>
                <a:cs typeface="Consolas"/>
              </a:rPr>
              <a:t>(Stock &gt; 0)      </a:t>
            </a:r>
            <a:r>
              <a:rPr lang="en-US" sz="1050" b="0" dirty="0">
                <a:solidFill>
                  <a:srgbClr val="6FAE7A"/>
                </a:solidFill>
                <a:latin typeface="Consolas"/>
                <a:ea typeface="Consolas"/>
                <a:cs typeface="Consolas"/>
              </a:rPr>
              <a:t>// condition</a:t>
            </a:r>
            <a:endParaRPr lang="en-US" sz="1050" dirty="0"/>
          </a:p>
        </p:txBody>
      </p:sp>
      <p:sp>
        <p:nvSpPr>
          <p:cNvPr id="38" name="cwb_L03"/>
          <p:cNvSpPr txBox="1"/>
          <p:nvPr/>
        </p:nvSpPr>
        <p:spPr>
          <a:xfrm>
            <a:off x="6543904" y="2641296"/>
            <a:ext cx="493090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9" name="cwb_L04"/>
          <p:cNvSpPr txBox="1"/>
          <p:nvPr/>
        </p:nvSpPr>
        <p:spPr>
          <a:xfrm>
            <a:off x="6543904" y="2854656"/>
            <a:ext cx="493090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Stock--;        </a:t>
            </a:r>
            <a:r>
              <a:rPr lang="en-US" sz="1050" b="0" dirty="0">
                <a:solidFill>
                  <a:srgbClr val="6FAE7A"/>
                </a:solidFill>
                <a:latin typeface="Consolas"/>
                <a:ea typeface="Consolas"/>
                <a:cs typeface="Consolas"/>
              </a:rPr>
              <a:t>// operation 1</a:t>
            </a:r>
            <a:endParaRPr lang="en-US" sz="1050" dirty="0"/>
          </a:p>
        </p:txBody>
      </p:sp>
      <p:sp>
        <p:nvSpPr>
          <p:cNvPr id="40" name="cwb_L05"/>
          <p:cNvSpPr txBox="1"/>
          <p:nvPr/>
        </p:nvSpPr>
        <p:spPr>
          <a:xfrm>
            <a:off x="6543904" y="3068016"/>
            <a:ext cx="493090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Sold++;         </a:t>
            </a:r>
            <a:r>
              <a:rPr lang="en-US" sz="1050" b="0" dirty="0">
                <a:solidFill>
                  <a:srgbClr val="6FAE7A"/>
                </a:solidFill>
                <a:latin typeface="Consolas"/>
                <a:ea typeface="Consolas"/>
                <a:cs typeface="Consolas"/>
              </a:rPr>
              <a:t>// operation 2</a:t>
            </a:r>
            <a:endParaRPr lang="en-US" sz="1050" dirty="0"/>
          </a:p>
        </p:txBody>
      </p:sp>
      <p:sp>
        <p:nvSpPr>
          <p:cNvPr id="41" name="cwb_L06"/>
          <p:cNvSpPr txBox="1"/>
          <p:nvPr/>
        </p:nvSpPr>
        <p:spPr>
          <a:xfrm>
            <a:off x="6543904" y="3281376"/>
            <a:ext cx="493090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2" name="cwb_L07"/>
          <p:cNvSpPr txBox="1"/>
          <p:nvPr/>
        </p:nvSpPr>
        <p:spPr>
          <a:xfrm>
            <a:off x="6543904" y="3494736"/>
            <a:ext cx="493090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3" name="pill"/>
          <p:cNvSpPr/>
          <p:nvPr/>
        </p:nvSpPr>
        <p:spPr>
          <a:xfrm>
            <a:off x="9438814" y="1625346"/>
            <a:ext cx="2100000" cy="237744"/>
          </a:xfrm>
          <a:prstGeom prst="roundRect">
            <a:avLst>
              <a:gd name="adj" fmla="val 30000"/>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BBF24"/>
                </a:solidFill>
                <a:latin typeface="Segoe UI"/>
                <a:ea typeface="Segoe UI"/>
                <a:cs typeface="Segoe UI"/>
              </a:rPr>
              <a:t>CONDITION + OPERATIONS</a:t>
            </a:r>
            <a:endParaRPr lang="en-US" sz="900" dirty="0"/>
          </a:p>
        </p:txBody>
      </p:sp>
      <p:sp>
        <p:nvSpPr>
          <p:cNvPr id="46" name="vs"/>
          <p:cNvSpPr/>
          <p:nvPr/>
        </p:nvSpPr>
        <p:spPr>
          <a:xfrm>
            <a:off x="5896204" y="2519932"/>
            <a:ext cx="381000" cy="381000"/>
          </a:xfrm>
          <a:prstGeom prst="ellipse">
            <a:avLst/>
          </a:prstGeom>
          <a:solidFill>
            <a:srgbClr val="0C1628"/>
          </a:solidFill>
          <a:ln w="1905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vs</a:t>
            </a:r>
            <a:endParaRPr lang="en-US" sz="1000" dirty="0"/>
          </a:p>
        </p:txBody>
      </p:sp>
      <p:sp>
        <p:nvSpPr>
          <p:cNvPr id="47" name="card"/>
          <p:cNvSpPr/>
          <p:nvPr/>
        </p:nvSpPr>
        <p:spPr>
          <a:xfrm>
            <a:off x="543154" y="3985256"/>
            <a:ext cx="5314950" cy="964744"/>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USE Interlocked FOR</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counters, totals, flags, swapping one value. No lock object, nothing waits.</a:t>
            </a:r>
            <a:endParaRPr lang="en-US" sz="1150" dirty="0"/>
          </a:p>
        </p:txBody>
      </p:sp>
      <p:sp>
        <p:nvSpPr>
          <p:cNvPr id="48" name="card"/>
          <p:cNvSpPr/>
          <p:nvPr/>
        </p:nvSpPr>
        <p:spPr>
          <a:xfrm>
            <a:off x="6315304" y="3985256"/>
            <a:ext cx="5314950" cy="964744"/>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BBF24"/>
                </a:solidFill>
                <a:latin typeface="Segoe UI"/>
                <a:ea typeface="Segoe UI"/>
                <a:cs typeface="Segoe UI"/>
              </a:rPr>
              <a:t>USE lock FOR</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an if before a change, or several variables that must change together.</a:t>
            </a:r>
            <a:endParaRPr lang="en-US" sz="1150" dirty="0"/>
          </a:p>
        </p:txBody>
      </p:sp>
      <p:sp>
        <p:nvSpPr>
          <p:cNvPr id="49"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ONE atomic operation on ONE variable: Interlocked.   Condition + operation(s): lock.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3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300"/>
                                        <p:tgtEl>
                                          <p:spTgt spid="4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300"/>
                                        <p:tgtEl>
                                          <p:spTgt spid="2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3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3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3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3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3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3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300"/>
                                        <p:tgtEl>
                                          <p:spTgt spid="3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3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300"/>
                                        <p:tgtEl>
                                          <p:spTgt spid="4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300"/>
                                        <p:tgtEl>
                                          <p:spTgt spid="4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300"/>
                                        <p:tgtEl>
                                          <p:spTgt spid="4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300"/>
                                        <p:tgtEl>
                                          <p:spTgt spid="4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300"/>
                                        <p:tgtEl>
                                          <p:spTgt spid="45"/>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fade">
                                      <p:cBhvr>
                                        <p:cTn id="116" dur="300"/>
                                        <p:tgtEl>
                                          <p:spTgt spid="48"/>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44" grpId="0" animBg="1"/>
      <p:bldP spid="45" grpId="0" animBg="1"/>
      <p:bldP spid="35" grpId="0" animBg="1"/>
      <p:bldP spid="36" grpId="0" animBg="1"/>
      <p:bldP spid="37" grpId="0" animBg="1"/>
      <p:bldP spid="38" grpId="0" animBg="1"/>
      <p:bldP spid="39" grpId="0" animBg="1"/>
      <p:bldP spid="40" grpId="0" animBg="1"/>
      <p:bldP spid="41" grpId="0" animBg="1"/>
      <p:bldP spid="42" grpId="0" animBg="1"/>
      <p:bldP spid="43" grpId="0" animBg="1"/>
      <p:bldP spid="46" grpId="0" animBg="1"/>
      <p:bldP spid="47" grpId="0" animBg="1"/>
      <p:bldP spid="48" grpId="0" animBg="1"/>
      <p:bldP spid="4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88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INTERLOCKED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Interlocked Is Atomic. Your if Is Not.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43</a:t>
            </a:r>
            <a:endParaRPr lang="en-US" sz="850" dirty="0"/>
          </a:p>
        </p:txBody>
      </p:sp>
      <p:sp>
        <p:nvSpPr>
          <p:cNvPr id="15" name="cw_win"/>
          <p:cNvSpPr/>
          <p:nvPr/>
        </p:nvSpPr>
        <p:spPr>
          <a:xfrm>
            <a:off x="543154" y="1572768"/>
            <a:ext cx="5400000" cy="1706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4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4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27" name="cw_hl02"/>
          <p:cNvSpPr/>
          <p:nvPr/>
        </p:nvSpPr>
        <p:spPr>
          <a:xfrm>
            <a:off x="676656" y="2429968"/>
            <a:ext cx="5132996" cy="260096"/>
          </a:xfrm>
          <a:prstGeom prst="rect">
            <a:avLst/>
          </a:prstGeom>
          <a:solidFill>
            <a:srgbClr val="FBBF24">
              <a:alpha val="15000"/>
            </a:srgbClr>
          </a:solidFill>
          <a:ln w="12700">
            <a:solidFill>
              <a:srgbClr val="FBBF24"/>
            </a:solidFill>
            <a:prstDash val="solid"/>
          </a:ln>
        </p:spPr>
        <p:txBody>
          <a:bodyPr/>
          <a:lstStyle/>
          <a:p>
            <a:endParaRPr lang="en-US"/>
          </a:p>
        </p:txBody>
      </p:sp>
      <p:sp>
        <p:nvSpPr>
          <p:cNvPr id="28" name="cw_hl03"/>
          <p:cNvSpPr/>
          <p:nvPr/>
        </p:nvSpPr>
        <p:spPr>
          <a:xfrm>
            <a:off x="676656" y="2653488"/>
            <a:ext cx="5132996" cy="26009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5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public void </a:t>
            </a:r>
            <a:r>
              <a:rPr lang="en-US" sz="1100" b="0" dirty="0">
                <a:solidFill>
                  <a:srgbClr val="E2E8F0"/>
                </a:solidFill>
                <a:latin typeface="Consolas"/>
                <a:ea typeface="Consolas"/>
                <a:cs typeface="Consolas"/>
              </a:rPr>
              <a:t>Buy()</a:t>
            </a:r>
            <a:endParaRPr lang="en-US" sz="1100" dirty="0"/>
          </a:p>
        </p:txBody>
      </p:sp>
      <p:sp>
        <p:nvSpPr>
          <p:cNvPr id="23" name="cw_L01"/>
          <p:cNvSpPr txBox="1"/>
          <p:nvPr/>
        </p:nvSpPr>
        <p:spPr>
          <a:xfrm>
            <a:off x="771754" y="2224736"/>
            <a:ext cx="5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4" name="cw_L02"/>
          <p:cNvSpPr txBox="1"/>
          <p:nvPr/>
        </p:nvSpPr>
        <p:spPr>
          <a:xfrm>
            <a:off x="771754" y="2448256"/>
            <a:ext cx="50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if </a:t>
            </a:r>
            <a:r>
              <a:rPr lang="en-US" sz="1100" b="0" dirty="0">
                <a:solidFill>
                  <a:srgbClr val="E2E8F0"/>
                </a:solidFill>
                <a:latin typeface="Consolas"/>
                <a:ea typeface="Consolas"/>
                <a:cs typeface="Consolas"/>
              </a:rPr>
              <a:t>(Stock &gt; 0)                          </a:t>
            </a:r>
            <a:r>
              <a:rPr lang="en-US" sz="1100" b="0" dirty="0">
                <a:solidFill>
                  <a:srgbClr val="6FAE7A"/>
                </a:solidFill>
                <a:latin typeface="Consolas"/>
                <a:ea typeface="Consolas"/>
                <a:cs typeface="Consolas"/>
              </a:rPr>
              <a:t>// check</a:t>
            </a:r>
            <a:endParaRPr lang="en-US" sz="1100" dirty="0"/>
          </a:p>
        </p:txBody>
      </p:sp>
      <p:sp>
        <p:nvSpPr>
          <p:cNvPr id="25" name="cw_L03"/>
          <p:cNvSpPr txBox="1"/>
          <p:nvPr/>
        </p:nvSpPr>
        <p:spPr>
          <a:xfrm>
            <a:off x="771754" y="2671776"/>
            <a:ext cx="5015952" cy="223520"/>
          </a:xfrm>
          <a:prstGeom prst="rect">
            <a:avLst/>
          </a:prstGeom>
          <a:noFill/>
          <a:ln>
            <a:noFill/>
          </a:ln>
        </p:spPr>
        <p:txBody>
          <a:bodyPr wrap="none" lIns="0" tIns="0" rIns="0" bIns="0" rtlCol="0" anchor="ctr">
            <a:noAutofit/>
          </a:bodyPr>
          <a:lstStyle/>
          <a:p>
            <a:pPr marL="614680" indent="0" algn="l">
              <a:spcBef>
                <a:spcPts val="0"/>
              </a:spcBef>
              <a:spcAft>
                <a:spcPts val="0"/>
              </a:spcAft>
              <a:buNone/>
            </a:pPr>
            <a:r>
              <a:rPr lang="en-US" sz="1100" b="0" dirty="0">
                <a:solidFill>
                  <a:srgbClr val="E2E8F0"/>
                </a:solidFill>
                <a:latin typeface="Consolas"/>
                <a:ea typeface="Consolas"/>
                <a:cs typeface="Consolas"/>
              </a:rPr>
              <a:t>Interlocked.Decrement(</a:t>
            </a:r>
            <a:r>
              <a:rPr lang="en-US" sz="1100" b="0" dirty="0">
                <a:solidFill>
                  <a:srgbClr val="60A5FA"/>
                </a:solidFill>
                <a:latin typeface="Consolas"/>
                <a:ea typeface="Consolas"/>
                <a:cs typeface="Consolas"/>
              </a:rPr>
              <a:t>ref </a:t>
            </a:r>
            <a:r>
              <a:rPr lang="en-US" sz="1100" b="0" dirty="0">
                <a:solidFill>
                  <a:srgbClr val="E2E8F0"/>
                </a:solidFill>
                <a:latin typeface="Consolas"/>
                <a:ea typeface="Consolas"/>
                <a:cs typeface="Consolas"/>
              </a:rPr>
              <a:t>Stock);   </a:t>
            </a:r>
            <a:r>
              <a:rPr lang="en-US" sz="1100" b="0" dirty="0">
                <a:solidFill>
                  <a:srgbClr val="6FAE7A"/>
                </a:solidFill>
                <a:latin typeface="Consolas"/>
                <a:ea typeface="Consolas"/>
                <a:cs typeface="Consolas"/>
              </a:rPr>
              <a:t>// atomic</a:t>
            </a:r>
            <a:endParaRPr lang="en-US" sz="1100" dirty="0"/>
          </a:p>
        </p:txBody>
      </p:sp>
      <p:sp>
        <p:nvSpPr>
          <p:cNvPr id="26" name="cw_L04"/>
          <p:cNvSpPr txBox="1"/>
          <p:nvPr/>
        </p:nvSpPr>
        <p:spPr>
          <a:xfrm>
            <a:off x="771754" y="2895296"/>
            <a:ext cx="50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9" name="card"/>
          <p:cNvSpPr/>
          <p:nvPr/>
        </p:nvSpPr>
        <p:spPr>
          <a:xfrm>
            <a:off x="543154" y="3398816"/>
            <a:ext cx="3950000" cy="330000"/>
          </a:xfrm>
          <a:prstGeom prst="roundRect">
            <a:avLst>
              <a:gd name="adj" fmla="val 20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4D91F0"/>
                </a:solidFill>
                <a:latin typeface="Segoe UI"/>
                <a:ea typeface="Segoe UI"/>
                <a:cs typeface="Segoe UI"/>
              </a:rPr>
              <a:t>A  </a:t>
            </a:r>
            <a:r>
              <a:rPr lang="en-US" sz="1050" b="0" dirty="0">
                <a:solidFill>
                  <a:srgbClr val="CBD5E1"/>
                </a:solidFill>
                <a:latin typeface="Segoe UI"/>
                <a:ea typeface="Segoe UI"/>
                <a:cs typeface="Segoe UI"/>
              </a:rPr>
              <a:t>checks Stock &gt; 0:  1 &gt; 0, passes</a:t>
            </a:r>
            <a:endParaRPr lang="en-US" sz="1050" dirty="0"/>
          </a:p>
        </p:txBody>
      </p:sp>
      <p:sp>
        <p:nvSpPr>
          <p:cNvPr id="30" name="card"/>
          <p:cNvSpPr/>
          <p:nvPr/>
        </p:nvSpPr>
        <p:spPr>
          <a:xfrm>
            <a:off x="543154" y="3773816"/>
            <a:ext cx="3950000" cy="330000"/>
          </a:xfrm>
          <a:prstGeom prst="roundRect">
            <a:avLst>
              <a:gd name="adj" fmla="val 20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FBBF24"/>
                </a:solidFill>
                <a:latin typeface="Segoe UI"/>
                <a:ea typeface="Segoe UI"/>
                <a:cs typeface="Segoe UI"/>
              </a:rPr>
              <a:t>B  </a:t>
            </a:r>
            <a:r>
              <a:rPr lang="en-US" sz="1050" b="0" dirty="0">
                <a:solidFill>
                  <a:srgbClr val="CBD5E1"/>
                </a:solidFill>
                <a:latin typeface="Segoe UI"/>
                <a:ea typeface="Segoe UI"/>
                <a:cs typeface="Segoe UI"/>
              </a:rPr>
              <a:t>checks Stock &gt; 0:  1 &gt; 0, passes</a:t>
            </a:r>
            <a:endParaRPr lang="en-US" sz="1050" dirty="0"/>
          </a:p>
        </p:txBody>
      </p:sp>
      <p:sp>
        <p:nvSpPr>
          <p:cNvPr id="31" name="card"/>
          <p:cNvSpPr/>
          <p:nvPr/>
        </p:nvSpPr>
        <p:spPr>
          <a:xfrm>
            <a:off x="543154" y="4148816"/>
            <a:ext cx="3950000" cy="330000"/>
          </a:xfrm>
          <a:prstGeom prst="roundRect">
            <a:avLst>
              <a:gd name="adj" fmla="val 20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4D91F0"/>
                </a:solidFill>
                <a:latin typeface="Segoe UI"/>
                <a:ea typeface="Segoe UI"/>
                <a:cs typeface="Segoe UI"/>
              </a:rPr>
              <a:t>A  </a:t>
            </a:r>
            <a:r>
              <a:rPr lang="en-US" sz="1050" b="0" dirty="0">
                <a:solidFill>
                  <a:srgbClr val="CBD5E1"/>
                </a:solidFill>
                <a:latin typeface="Segoe UI"/>
                <a:ea typeface="Segoe UI"/>
                <a:cs typeface="Segoe UI"/>
              </a:rPr>
              <a:t>Interlocked.Decrement:  Stock = 0</a:t>
            </a:r>
            <a:endParaRPr lang="en-US" sz="1050" dirty="0"/>
          </a:p>
        </p:txBody>
      </p:sp>
      <p:sp>
        <p:nvSpPr>
          <p:cNvPr id="32" name="card"/>
          <p:cNvSpPr/>
          <p:nvPr/>
        </p:nvSpPr>
        <p:spPr>
          <a:xfrm>
            <a:off x="543154" y="4523816"/>
            <a:ext cx="3950000" cy="330000"/>
          </a:xfrm>
          <a:prstGeom prst="roundRect">
            <a:avLst>
              <a:gd name="adj" fmla="val 20000"/>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F87171"/>
                </a:solidFill>
                <a:latin typeface="Segoe UI"/>
                <a:ea typeface="Segoe UI"/>
                <a:cs typeface="Segoe UI"/>
              </a:rPr>
              <a:t>B  </a:t>
            </a:r>
            <a:r>
              <a:rPr lang="en-US" sz="1050" b="0" dirty="0">
                <a:solidFill>
                  <a:srgbClr val="CBD5E1"/>
                </a:solidFill>
                <a:latin typeface="Segoe UI"/>
                <a:ea typeface="Segoe UI"/>
                <a:cs typeface="Segoe UI"/>
              </a:rPr>
              <a:t>Interlocked.Decrement:  Stock = -1  oversold!</a:t>
            </a:r>
            <a:endParaRPr lang="en-US" sz="1050" dirty="0"/>
          </a:p>
        </p:txBody>
      </p:sp>
      <p:sp>
        <p:nvSpPr>
          <p:cNvPr id="33" name="lab"/>
          <p:cNvSpPr txBox="1"/>
          <p:nvPr/>
        </p:nvSpPr>
        <p:spPr>
          <a:xfrm>
            <a:off x="4643154" y="3398816"/>
            <a:ext cx="1300000"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Stock</a:t>
            </a:r>
            <a:endParaRPr lang="en-US" sz="1050" dirty="0"/>
          </a:p>
        </p:txBody>
      </p:sp>
      <p:sp>
        <p:nvSpPr>
          <p:cNvPr id="34" name="box"/>
          <p:cNvSpPr/>
          <p:nvPr/>
        </p:nvSpPr>
        <p:spPr>
          <a:xfrm>
            <a:off x="4643154" y="3698816"/>
            <a:ext cx="1300000" cy="70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1</a:t>
            </a:r>
            <a:endParaRPr lang="en-US" sz="1800" dirty="0"/>
          </a:p>
        </p:txBody>
      </p:sp>
      <p:sp>
        <p:nvSpPr>
          <p:cNvPr id="35" name="box"/>
          <p:cNvSpPr/>
          <p:nvPr/>
        </p:nvSpPr>
        <p:spPr>
          <a:xfrm>
            <a:off x="4643154" y="3698816"/>
            <a:ext cx="1300000" cy="70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0</a:t>
            </a:r>
            <a:endParaRPr lang="en-US" sz="1800" dirty="0"/>
          </a:p>
        </p:txBody>
      </p:sp>
      <p:sp>
        <p:nvSpPr>
          <p:cNvPr id="36" name="box"/>
          <p:cNvSpPr/>
          <p:nvPr/>
        </p:nvSpPr>
        <p:spPr>
          <a:xfrm>
            <a:off x="4643154" y="3698816"/>
            <a:ext cx="1300000" cy="70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800" b="1" dirty="0">
                <a:solidFill>
                  <a:srgbClr val="F87171"/>
                </a:solidFill>
                <a:latin typeface="Consolas"/>
                <a:ea typeface="Consolas"/>
                <a:cs typeface="Consolas"/>
              </a:rPr>
              <a:t>-1</a:t>
            </a:r>
            <a:endParaRPr lang="en-US" sz="1800" dirty="0"/>
          </a:p>
        </p:txBody>
      </p:sp>
      <p:sp>
        <p:nvSpPr>
          <p:cNvPr id="37" name="tbl_head"/>
          <p:cNvSpPr/>
          <p:nvPr/>
        </p:nvSpPr>
        <p:spPr>
          <a:xfrm>
            <a:off x="6150000" y="1572768"/>
            <a:ext cx="5480254"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8" name="tbl_h"/>
          <p:cNvSpPr txBox="1"/>
          <p:nvPr/>
        </p:nvSpPr>
        <p:spPr>
          <a:xfrm>
            <a:off x="6278016" y="1572768"/>
            <a:ext cx="265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TASK</a:t>
            </a:r>
            <a:endParaRPr lang="en-US" sz="1000" dirty="0"/>
          </a:p>
        </p:txBody>
      </p:sp>
      <p:sp>
        <p:nvSpPr>
          <p:cNvPr id="39" name="tbl_h"/>
          <p:cNvSpPr txBox="1"/>
          <p:nvPr/>
        </p:nvSpPr>
        <p:spPr>
          <a:xfrm>
            <a:off x="9050000" y="1572768"/>
            <a:ext cx="2530254"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USE</a:t>
            </a:r>
            <a:endParaRPr lang="en-US" sz="1000" dirty="0"/>
          </a:p>
        </p:txBody>
      </p:sp>
      <p:sp>
        <p:nvSpPr>
          <p:cNvPr id="40" name="tbl_row"/>
          <p:cNvSpPr/>
          <p:nvPr/>
        </p:nvSpPr>
        <p:spPr>
          <a:xfrm>
            <a:off x="6150000" y="1920240"/>
            <a:ext cx="5480254" cy="40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41" name="tbl_c"/>
          <p:cNvSpPr txBox="1"/>
          <p:nvPr/>
        </p:nvSpPr>
        <p:spPr>
          <a:xfrm>
            <a:off x="6278016" y="1920240"/>
            <a:ext cx="26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counter++</a:t>
            </a:r>
            <a:endParaRPr lang="en-US" sz="1100" dirty="0"/>
          </a:p>
        </p:txBody>
      </p:sp>
      <p:sp>
        <p:nvSpPr>
          <p:cNvPr id="42" name="tbl_c"/>
          <p:cNvSpPr txBox="1"/>
          <p:nvPr/>
        </p:nvSpPr>
        <p:spPr>
          <a:xfrm>
            <a:off x="9050000" y="1920240"/>
            <a:ext cx="2530254"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Interlocked.Increment</a:t>
            </a:r>
            <a:endParaRPr lang="en-US" sz="1100" dirty="0"/>
          </a:p>
        </p:txBody>
      </p:sp>
      <p:sp>
        <p:nvSpPr>
          <p:cNvPr id="43" name="tbl_row"/>
          <p:cNvSpPr/>
          <p:nvPr/>
        </p:nvSpPr>
        <p:spPr>
          <a:xfrm>
            <a:off x="6150000" y="2365960"/>
            <a:ext cx="5480254" cy="40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44" name="tbl_c"/>
          <p:cNvSpPr txBox="1"/>
          <p:nvPr/>
        </p:nvSpPr>
        <p:spPr>
          <a:xfrm>
            <a:off x="6278016" y="2365960"/>
            <a:ext cx="26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views += n</a:t>
            </a:r>
            <a:endParaRPr lang="en-US" sz="1100" dirty="0"/>
          </a:p>
        </p:txBody>
      </p:sp>
      <p:sp>
        <p:nvSpPr>
          <p:cNvPr id="45" name="tbl_c"/>
          <p:cNvSpPr txBox="1"/>
          <p:nvPr/>
        </p:nvSpPr>
        <p:spPr>
          <a:xfrm>
            <a:off x="9050000" y="2365960"/>
            <a:ext cx="2530254"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Interlocked.Add</a:t>
            </a:r>
            <a:endParaRPr lang="en-US" sz="1100" dirty="0"/>
          </a:p>
        </p:txBody>
      </p:sp>
      <p:sp>
        <p:nvSpPr>
          <p:cNvPr id="46" name="tbl_row"/>
          <p:cNvSpPr/>
          <p:nvPr/>
        </p:nvSpPr>
        <p:spPr>
          <a:xfrm>
            <a:off x="6150000" y="2811680"/>
            <a:ext cx="5480254" cy="40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47" name="tbl_c"/>
          <p:cNvSpPr txBox="1"/>
          <p:nvPr/>
        </p:nvSpPr>
        <p:spPr>
          <a:xfrm>
            <a:off x="6278016" y="2811680"/>
            <a:ext cx="26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swap in a new value</a:t>
            </a:r>
            <a:endParaRPr lang="en-US" sz="1100" dirty="0"/>
          </a:p>
        </p:txBody>
      </p:sp>
      <p:sp>
        <p:nvSpPr>
          <p:cNvPr id="48" name="tbl_c"/>
          <p:cNvSpPr txBox="1"/>
          <p:nvPr/>
        </p:nvSpPr>
        <p:spPr>
          <a:xfrm>
            <a:off x="9050000" y="2811680"/>
            <a:ext cx="2530254"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Interlocked.Exchange</a:t>
            </a:r>
            <a:endParaRPr lang="en-US" sz="1100" dirty="0"/>
          </a:p>
        </p:txBody>
      </p:sp>
      <p:sp>
        <p:nvSpPr>
          <p:cNvPr id="49" name="tbl_row"/>
          <p:cNvSpPr/>
          <p:nvPr/>
        </p:nvSpPr>
        <p:spPr>
          <a:xfrm>
            <a:off x="6150000" y="3257400"/>
            <a:ext cx="5480254" cy="40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50" name="tbl_c"/>
          <p:cNvSpPr txBox="1"/>
          <p:nvPr/>
        </p:nvSpPr>
        <p:spPr>
          <a:xfrm>
            <a:off x="6278016" y="3257400"/>
            <a:ext cx="26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if (Stock &gt; 0) Stock--</a:t>
            </a:r>
            <a:endParaRPr lang="en-US" sz="1100" dirty="0"/>
          </a:p>
        </p:txBody>
      </p:sp>
      <p:sp>
        <p:nvSpPr>
          <p:cNvPr id="51" name="tbl_c"/>
          <p:cNvSpPr txBox="1"/>
          <p:nvPr/>
        </p:nvSpPr>
        <p:spPr>
          <a:xfrm>
            <a:off x="9050000" y="3257400"/>
            <a:ext cx="2530254"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lock</a:t>
            </a:r>
            <a:endParaRPr lang="en-US" sz="1100" dirty="0"/>
          </a:p>
        </p:txBody>
      </p:sp>
      <p:sp>
        <p:nvSpPr>
          <p:cNvPr id="52" name="tbl_row"/>
          <p:cNvSpPr/>
          <p:nvPr/>
        </p:nvSpPr>
        <p:spPr>
          <a:xfrm>
            <a:off x="6150000" y="3703120"/>
            <a:ext cx="5480254" cy="40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53" name="tbl_c"/>
          <p:cNvSpPr txBox="1"/>
          <p:nvPr/>
        </p:nvSpPr>
        <p:spPr>
          <a:xfrm>
            <a:off x="6278016" y="3703120"/>
            <a:ext cx="26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Stock-- AND Sold++</a:t>
            </a:r>
            <a:endParaRPr lang="en-US" sz="1100" dirty="0"/>
          </a:p>
        </p:txBody>
      </p:sp>
      <p:sp>
        <p:nvSpPr>
          <p:cNvPr id="54" name="tbl_c"/>
          <p:cNvSpPr txBox="1"/>
          <p:nvPr/>
        </p:nvSpPr>
        <p:spPr>
          <a:xfrm>
            <a:off x="9050000" y="3703120"/>
            <a:ext cx="2530254"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lock</a:t>
            </a:r>
            <a:endParaRPr lang="en-US" sz="1100" dirty="0"/>
          </a:p>
        </p:txBody>
      </p:sp>
      <p:sp>
        <p:nvSpPr>
          <p:cNvPr id="55" name="card"/>
          <p:cNvSpPr/>
          <p:nvPr/>
        </p:nvSpPr>
        <p:spPr>
          <a:xfrm>
            <a:off x="6150000" y="4223120"/>
            <a:ext cx="5480254" cy="72688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Interlocked makes ONE step atomic. Condition + update is TWO steps: another thread fits in between.</a:t>
            </a:r>
            <a:endParaRPr lang="en-US" sz="1100" dirty="0"/>
          </a:p>
        </p:txBody>
      </p:sp>
      <p:sp>
        <p:nvSpPr>
          <p:cNvPr id="56"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Atomic operation on one variable: Interlocked. Condition + update, or several variables: lock.</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300"/>
                                        <p:tgtEl>
                                          <p:spTgt spid="3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3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3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3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3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300"/>
                                        <p:tgtEl>
                                          <p:spTgt spid="31"/>
                                        </p:tgtEl>
                                      </p:cBhvr>
                                    </p:animEffect>
                                  </p:childTnLst>
                                </p:cTn>
                              </p:par>
                              <p:par>
                                <p:cTn id="68" presetID="10" presetClass="entr" presetSubtype="0" fill="hold" grpId="0" nodeType="withEffect">
                                  <p:stCondLst>
                                    <p:cond delay="30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3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300"/>
                                        <p:tgtEl>
                                          <p:spTgt spid="32"/>
                                        </p:tgtEl>
                                      </p:cBhvr>
                                    </p:animEffect>
                                  </p:childTnLst>
                                </p:cTn>
                              </p:par>
                              <p:par>
                                <p:cTn id="76" presetID="10" presetClass="entr" presetSubtype="0" fill="hold" grpId="0" nodeType="withEffect">
                                  <p:stCondLst>
                                    <p:cond delay="30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30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300"/>
                                        <p:tgtEl>
                                          <p:spTgt spid="3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3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300"/>
                                        <p:tgtEl>
                                          <p:spTgt spid="4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300"/>
                                        <p:tgtEl>
                                          <p:spTgt spid="4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300"/>
                                        <p:tgtEl>
                                          <p:spTgt spid="4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300"/>
                                        <p:tgtEl>
                                          <p:spTgt spid="4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300"/>
                                        <p:tgtEl>
                                          <p:spTgt spid="4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6"/>
                                        </p:tgtEl>
                                        <p:attrNameLst>
                                          <p:attrName>style.visibility</p:attrName>
                                        </p:attrNameLst>
                                      </p:cBhvr>
                                      <p:to>
                                        <p:strVal val="visible"/>
                                      </p:to>
                                    </p:set>
                                    <p:animEffect transition="in" filter="fade">
                                      <p:cBhvr>
                                        <p:cTn id="110" dur="300"/>
                                        <p:tgtEl>
                                          <p:spTgt spid="4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300"/>
                                        <p:tgtEl>
                                          <p:spTgt spid="47"/>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fade">
                                      <p:cBhvr>
                                        <p:cTn id="116" dur="300"/>
                                        <p:tgtEl>
                                          <p:spTgt spid="48"/>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300"/>
                                        <p:tgtEl>
                                          <p:spTgt spid="49"/>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300"/>
                                        <p:tgtEl>
                                          <p:spTgt spid="50"/>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300"/>
                                        <p:tgtEl>
                                          <p:spTgt spid="51"/>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300"/>
                                        <p:tgtEl>
                                          <p:spTgt spid="5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300"/>
                                        <p:tgtEl>
                                          <p:spTgt spid="53"/>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4"/>
                                        </p:tgtEl>
                                        <p:attrNameLst>
                                          <p:attrName>style.visibility</p:attrName>
                                        </p:attrNameLst>
                                      </p:cBhvr>
                                      <p:to>
                                        <p:strVal val="visible"/>
                                      </p:to>
                                    </p:set>
                                    <p:animEffect transition="in" filter="fade">
                                      <p:cBhvr>
                                        <p:cTn id="136" dur="300"/>
                                        <p:tgtEl>
                                          <p:spTgt spid="54"/>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5"/>
                                        </p:tgtEl>
                                        <p:attrNameLst>
                                          <p:attrName>style.visibility</p:attrName>
                                        </p:attrNameLst>
                                      </p:cBhvr>
                                      <p:to>
                                        <p:strVal val="visible"/>
                                      </p:to>
                                    </p:set>
                                    <p:animEffect transition="in" filter="fade">
                                      <p:cBhvr>
                                        <p:cTn id="139" dur="300"/>
                                        <p:tgtEl>
                                          <p:spTgt spid="55"/>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56"/>
                                        </p:tgtEl>
                                        <p:attrNameLst>
                                          <p:attrName>style.visibility</p:attrName>
                                        </p:attrNameLst>
                                      </p:cBhvr>
                                      <p:to>
                                        <p:strVal val="visible"/>
                                      </p:to>
                                    </p:set>
                                    <p:animEffect transition="in" filter="fade">
                                      <p:cBhvr>
                                        <p:cTn id="144" dur="3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7" grpId="0" animBg="1"/>
      <p:bldP spid="28" grpId="0" animBg="1"/>
      <p:bldP spid="22" grpId="0" animBg="1"/>
      <p:bldP spid="23" grpId="0" animBg="1"/>
      <p:bldP spid="24" grpId="0" animBg="1"/>
      <p:bldP spid="25" grpId="0" animBg="1"/>
      <p:bldP spid="26"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Half a 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44</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Only the act is inside the lock. Can the flash sale still oversell?</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private</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readonly</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object</a:t>
            </a:r>
            <a:r>
              <a:rPr lang="en-US" sz="1100" b="0" dirty="0">
                <a:solidFill>
                  <a:srgbClr val="E2E8F0"/>
                </a:solidFill>
                <a:latin typeface="Consolas"/>
                <a:ea typeface="Consolas"/>
                <a:cs typeface="Consolas"/>
              </a:rPr>
              <a:t> _sync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a:t>
            </a:r>
            <a:endParaRPr lang="en-US" sz="1100" dirty="0"/>
          </a:p>
        </p:txBody>
      </p:sp>
      <p:sp>
        <p:nvSpPr>
          <p:cNvPr id="24" name="cw_L02"/>
          <p:cNvSpPr txBox="1"/>
          <p:nvPr/>
        </p:nvSpPr>
        <p:spPr>
          <a:xfrm>
            <a:off x="771754" y="263245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public</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void</a:t>
            </a:r>
            <a:r>
              <a:rPr lang="en-US" sz="1100" b="0" dirty="0">
                <a:solidFill>
                  <a:srgbClr val="E2E8F0"/>
                </a:solidFill>
                <a:latin typeface="Consolas"/>
                <a:ea typeface="Consolas"/>
                <a:cs typeface="Consolas"/>
              </a:rPr>
              <a:t> Buy()</a:t>
            </a:r>
            <a:endParaRPr lang="en-US" sz="1100" dirty="0"/>
          </a:p>
        </p:txBody>
      </p:sp>
      <p:sp>
        <p:nvSpPr>
          <p:cNvPr id="25" name="cw_L03"/>
          <p:cNvSpPr txBox="1"/>
          <p:nvPr/>
        </p:nvSpPr>
        <p:spPr>
          <a:xfrm>
            <a:off x="771754" y="285597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6" name="cw_L04"/>
          <p:cNvSpPr txBox="1"/>
          <p:nvPr/>
        </p:nvSpPr>
        <p:spPr>
          <a:xfrm>
            <a:off x="771754" y="307949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if</a:t>
            </a:r>
            <a:r>
              <a:rPr lang="en-US" sz="1100" b="0" dirty="0">
                <a:solidFill>
                  <a:srgbClr val="E2E8F0"/>
                </a:solidFill>
                <a:latin typeface="Consolas"/>
                <a:ea typeface="Consolas"/>
                <a:cs typeface="Consolas"/>
              </a:rPr>
              <a:t> (Stock &lt;= 0) </a:t>
            </a:r>
            <a:r>
              <a:rPr lang="en-US" sz="1100" b="0" dirty="0">
                <a:solidFill>
                  <a:srgbClr val="60A5FA"/>
                </a:solidFill>
                <a:latin typeface="Consolas"/>
                <a:ea typeface="Consolas"/>
                <a:cs typeface="Consolas"/>
              </a:rPr>
              <a:t>return</a:t>
            </a:r>
            <a:r>
              <a:rPr lang="en-US" sz="1100" b="0" dirty="0">
                <a:solidFill>
                  <a:srgbClr val="E2E8F0"/>
                </a:solidFill>
                <a:latin typeface="Consolas"/>
                <a:ea typeface="Consolas"/>
                <a:cs typeface="Consolas"/>
              </a:rPr>
              <a:t>;      </a:t>
            </a:r>
            <a:r>
              <a:rPr lang="en-US" sz="1100" b="0" dirty="0">
                <a:solidFill>
                  <a:srgbClr val="6FAE7A"/>
                </a:solidFill>
                <a:latin typeface="Consolas"/>
                <a:ea typeface="Consolas"/>
                <a:cs typeface="Consolas"/>
              </a:rPr>
              <a:t>// outside the lock</a:t>
            </a:r>
            <a:endParaRPr lang="en-US" sz="1100" dirty="0"/>
          </a:p>
        </p:txBody>
      </p:sp>
      <p:sp>
        <p:nvSpPr>
          <p:cNvPr id="27" name="cw_L05"/>
          <p:cNvSpPr txBox="1"/>
          <p:nvPr/>
        </p:nvSpPr>
        <p:spPr>
          <a:xfrm>
            <a:off x="771754" y="330301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Thread.Sleep(10);</a:t>
            </a:r>
            <a:endParaRPr lang="en-US" sz="1100" dirty="0"/>
          </a:p>
        </p:txBody>
      </p:sp>
      <p:sp>
        <p:nvSpPr>
          <p:cNvPr id="28" name="cw_L06"/>
          <p:cNvSpPr txBox="1"/>
          <p:nvPr/>
        </p:nvSpPr>
        <p:spPr>
          <a:xfrm>
            <a:off x="771754" y="352653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lock</a:t>
            </a:r>
            <a:r>
              <a:rPr lang="en-US" sz="1100" b="0" dirty="0">
                <a:solidFill>
                  <a:srgbClr val="E2E8F0"/>
                </a:solidFill>
                <a:latin typeface="Consolas"/>
                <a:ea typeface="Consolas"/>
                <a:cs typeface="Consolas"/>
              </a:rPr>
              <a:t> (_sync)</a:t>
            </a:r>
            <a:endParaRPr lang="en-US" sz="1100" dirty="0"/>
          </a:p>
        </p:txBody>
      </p:sp>
      <p:sp>
        <p:nvSpPr>
          <p:cNvPr id="29" name="cw_L07"/>
          <p:cNvSpPr txBox="1"/>
          <p:nvPr/>
        </p:nvSpPr>
        <p:spPr>
          <a:xfrm>
            <a:off x="771754" y="375005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0" name="cw_L08"/>
          <p:cNvSpPr txBox="1"/>
          <p:nvPr/>
        </p:nvSpPr>
        <p:spPr>
          <a:xfrm>
            <a:off x="771754" y="3973576"/>
            <a:ext cx="5376672" cy="223520"/>
          </a:xfrm>
          <a:prstGeom prst="rect">
            <a:avLst/>
          </a:prstGeom>
          <a:noFill/>
          <a:ln>
            <a:noFill/>
          </a:ln>
        </p:spPr>
        <p:txBody>
          <a:bodyPr wrap="none" lIns="0" tIns="0" rIns="0" bIns="0" rtlCol="0" anchor="ctr">
            <a:noAutofit/>
          </a:bodyPr>
          <a:lstStyle/>
          <a:p>
            <a:pPr marL="614680" indent="0" algn="l">
              <a:spcBef>
                <a:spcPts val="0"/>
              </a:spcBef>
              <a:spcAft>
                <a:spcPts val="0"/>
              </a:spcAft>
              <a:buNone/>
            </a:pPr>
            <a:r>
              <a:rPr lang="en-US" sz="1100" b="0" dirty="0">
                <a:solidFill>
                  <a:srgbClr val="E2E8F0"/>
                </a:solidFill>
                <a:latin typeface="Consolas"/>
                <a:ea typeface="Consolas"/>
                <a:cs typeface="Consolas"/>
              </a:rPr>
              <a:t>Stock--; Sold++;</a:t>
            </a:r>
            <a:endParaRPr lang="en-US" sz="1100" dirty="0"/>
          </a:p>
        </p:txBody>
      </p:sp>
      <p:sp>
        <p:nvSpPr>
          <p:cNvPr id="31" name="cw_L09"/>
          <p:cNvSpPr txBox="1"/>
          <p:nvPr/>
        </p:nvSpPr>
        <p:spPr>
          <a:xfrm>
            <a:off x="771754" y="419709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2" name="cw_L10"/>
          <p:cNvSpPr txBox="1"/>
          <p:nvPr/>
        </p:nvSpPr>
        <p:spPr>
          <a:xfrm>
            <a:off x="771754" y="442061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3"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No: Stock-- is protected</a:t>
            </a:r>
            <a:endParaRPr lang="en-US" sz="1400" dirty="0"/>
          </a:p>
        </p:txBody>
      </p:sp>
      <p:sp>
        <p:nvSpPr>
          <p:cNvPr id="34"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Yes: many threads pass the check first</a:t>
            </a:r>
            <a:endParaRPr lang="en-US" sz="1400" dirty="0"/>
          </a:p>
        </p:txBody>
      </p:sp>
      <p:sp>
        <p:nvSpPr>
          <p:cNvPr id="35"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No: lock blocks every thread</a:t>
            </a:r>
            <a:endParaRPr lang="en-US" sz="1400" dirty="0"/>
          </a:p>
        </p:txBody>
      </p:sp>
      <p:sp>
        <p:nvSpPr>
          <p:cNvPr id="36"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It deadlocks</a:t>
            </a:r>
            <a:endParaRPr lang="en-US" sz="1400" dirty="0"/>
          </a:p>
        </p:txBody>
      </p:sp>
      <p:sp>
        <p:nvSpPr>
          <p:cNvPr id="37"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Yes: many threads pass the check first</a:t>
            </a:r>
            <a:endParaRPr lang="en-US" sz="1400" dirty="0"/>
          </a:p>
        </p:txBody>
      </p:sp>
      <p:sp>
        <p:nvSpPr>
          <p:cNvPr id="38"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The lock stops lost updates, but the check is still outside it. 50 threads see 10 meals, then each takes one in turn: stock ends at -40.</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5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25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50"/>
                                        <p:tgtEl>
                                          <p:spTgt spid="3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25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250"/>
                                        <p:tgtEl>
                                          <p:spTgt spid="3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P spid="37" grpId="0" animBg="1"/>
      <p:bldP spid="3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8238"/>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SEMAPHORESLIM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SemaphoreSlim: Allow N Permits at a Time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45</a:t>
            </a:r>
            <a:endParaRPr lang="en-US" sz="850" dirty="0"/>
          </a:p>
        </p:txBody>
      </p:sp>
      <p:sp>
        <p:nvSpPr>
          <p:cNvPr id="15" name="cw_win"/>
          <p:cNvSpPr/>
          <p:nvPr/>
        </p:nvSpPr>
        <p:spPr>
          <a:xfrm>
            <a:off x="543154" y="1572768"/>
            <a:ext cx="566928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6692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6692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2852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SemaphoreSlim kitchen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(3);   </a:t>
            </a:r>
            <a:r>
              <a:rPr lang="en-US" sz="1000" b="0" dirty="0">
                <a:solidFill>
                  <a:srgbClr val="6FAE7A"/>
                </a:solidFill>
                <a:latin typeface="Consolas"/>
                <a:ea typeface="Consolas"/>
                <a:cs typeface="Consolas"/>
              </a:rPr>
              <a:t>// 3 Permits</a:t>
            </a:r>
            <a:endParaRPr lang="en-US" sz="1000" dirty="0"/>
          </a:p>
        </p:txBody>
      </p:sp>
      <p:sp>
        <p:nvSpPr>
          <p:cNvPr id="23" name="cw_L02"/>
          <p:cNvSpPr txBox="1"/>
          <p:nvPr/>
        </p:nvSpPr>
        <p:spPr>
          <a:xfrm>
            <a:off x="771754" y="2454656"/>
            <a:ext cx="52852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void</a:t>
            </a:r>
            <a:r>
              <a:rPr lang="en-US" sz="1000" b="0" dirty="0">
                <a:solidFill>
                  <a:srgbClr val="E2E8F0"/>
                </a:solidFill>
                <a:latin typeface="Consolas"/>
                <a:ea typeface="Consolas"/>
                <a:cs typeface="Consolas"/>
              </a:rPr>
              <a:t> Prepare(</a:t>
            </a:r>
            <a:r>
              <a:rPr lang="en-US" sz="1000" b="0" dirty="0">
                <a:solidFill>
                  <a:srgbClr val="60A5FA"/>
                </a:solidFill>
                <a:latin typeface="Consolas"/>
                <a:ea typeface="Consolas"/>
                <a:cs typeface="Consolas"/>
              </a:rPr>
              <a:t>object</a:t>
            </a:r>
            <a:r>
              <a:rPr lang="en-US" sz="1000" b="0" dirty="0">
                <a:solidFill>
                  <a:srgbClr val="E2E8F0"/>
                </a:solidFill>
                <a:latin typeface="Consolas"/>
                <a:ea typeface="Consolas"/>
                <a:cs typeface="Consolas"/>
              </a:rPr>
              <a:t>? order)</a:t>
            </a:r>
            <a:endParaRPr lang="en-US" sz="1000" dirty="0"/>
          </a:p>
        </p:txBody>
      </p:sp>
      <p:sp>
        <p:nvSpPr>
          <p:cNvPr id="24" name="cw_L03"/>
          <p:cNvSpPr txBox="1"/>
          <p:nvPr/>
        </p:nvSpPr>
        <p:spPr>
          <a:xfrm>
            <a:off x="771754" y="2657856"/>
            <a:ext cx="52852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5" name="cw_L04"/>
          <p:cNvSpPr txBox="1"/>
          <p:nvPr/>
        </p:nvSpPr>
        <p:spPr>
          <a:xfrm>
            <a:off x="771754" y="28610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kitchen.Wait();               </a:t>
            </a:r>
            <a:r>
              <a:rPr lang="en-US" sz="1000" b="0" dirty="0">
                <a:solidFill>
                  <a:srgbClr val="6FAE7A"/>
                </a:solidFill>
                <a:latin typeface="Consolas"/>
                <a:ea typeface="Consolas"/>
                <a:cs typeface="Consolas"/>
              </a:rPr>
              <a:t>// wait for a free cook</a:t>
            </a:r>
            <a:endParaRPr lang="en-US" sz="1000" dirty="0"/>
          </a:p>
        </p:txBody>
      </p:sp>
      <p:sp>
        <p:nvSpPr>
          <p:cNvPr id="26" name="cw_L05"/>
          <p:cNvSpPr txBox="1"/>
          <p:nvPr/>
        </p:nvSpPr>
        <p:spPr>
          <a:xfrm>
            <a:off x="771754" y="30642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try</a:t>
            </a:r>
            <a:endParaRPr lang="en-US" sz="1000" dirty="0"/>
          </a:p>
        </p:txBody>
      </p:sp>
      <p:sp>
        <p:nvSpPr>
          <p:cNvPr id="27" name="cw_L06"/>
          <p:cNvSpPr txBox="1"/>
          <p:nvPr/>
        </p:nvSpPr>
        <p:spPr>
          <a:xfrm>
            <a:off x="771754" y="32674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7"/>
          <p:cNvSpPr txBox="1"/>
          <p:nvPr/>
        </p:nvSpPr>
        <p:spPr>
          <a:xfrm>
            <a:off x="771754" y="3470656"/>
            <a:ext cx="528523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$"Cooking order {order}"</a:t>
            </a:r>
            <a:r>
              <a:rPr lang="en-US" sz="1000" b="0" dirty="0">
                <a:solidFill>
                  <a:srgbClr val="E2E8F0"/>
                </a:solidFill>
                <a:latin typeface="Consolas"/>
                <a:ea typeface="Consolas"/>
                <a:cs typeface="Consolas"/>
              </a:rPr>
              <a:t>);</a:t>
            </a:r>
            <a:endParaRPr lang="en-US" sz="1000" dirty="0"/>
          </a:p>
        </p:txBody>
      </p:sp>
      <p:sp>
        <p:nvSpPr>
          <p:cNvPr id="29" name="cw_L08"/>
          <p:cNvSpPr txBox="1"/>
          <p:nvPr/>
        </p:nvSpPr>
        <p:spPr>
          <a:xfrm>
            <a:off x="771754" y="3673856"/>
            <a:ext cx="528523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Thread.Sleep(2000);       </a:t>
            </a:r>
            <a:r>
              <a:rPr lang="en-US" sz="1000" b="0" dirty="0">
                <a:solidFill>
                  <a:srgbClr val="6FAE7A"/>
                </a:solidFill>
                <a:latin typeface="Consolas"/>
                <a:ea typeface="Consolas"/>
                <a:cs typeface="Consolas"/>
              </a:rPr>
              <a:t>// cooking takes 2 s</a:t>
            </a:r>
            <a:endParaRPr lang="en-US" sz="1000" dirty="0"/>
          </a:p>
        </p:txBody>
      </p:sp>
      <p:sp>
        <p:nvSpPr>
          <p:cNvPr id="30" name="cw_L09"/>
          <p:cNvSpPr txBox="1"/>
          <p:nvPr/>
        </p:nvSpPr>
        <p:spPr>
          <a:xfrm>
            <a:off x="771754" y="38770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finally</a:t>
            </a:r>
            <a:endParaRPr lang="en-US" sz="1000" dirty="0"/>
          </a:p>
        </p:txBody>
      </p:sp>
      <p:sp>
        <p:nvSpPr>
          <p:cNvPr id="32" name="cw_L11"/>
          <p:cNvSpPr txBox="1"/>
          <p:nvPr/>
        </p:nvSpPr>
        <p:spPr>
          <a:xfrm>
            <a:off x="771754" y="42834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2"/>
          <p:cNvSpPr txBox="1"/>
          <p:nvPr/>
        </p:nvSpPr>
        <p:spPr>
          <a:xfrm>
            <a:off x="771754" y="4486656"/>
            <a:ext cx="528523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kitchen.Release();        </a:t>
            </a:r>
            <a:r>
              <a:rPr lang="en-US" sz="1000" b="0" dirty="0">
                <a:solidFill>
                  <a:srgbClr val="6FAE7A"/>
                </a:solidFill>
                <a:latin typeface="Consolas"/>
                <a:ea typeface="Consolas"/>
                <a:cs typeface="Consolas"/>
              </a:rPr>
              <a:t>// the cook is free again</a:t>
            </a:r>
            <a:endParaRPr lang="en-US" sz="1000" dirty="0"/>
          </a:p>
        </p:txBody>
      </p:sp>
      <p:sp>
        <p:nvSpPr>
          <p:cNvPr id="34" name="cw_L13"/>
          <p:cNvSpPr txBox="1"/>
          <p:nvPr/>
        </p:nvSpPr>
        <p:spPr>
          <a:xfrm>
            <a:off x="771754" y="46898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5" name="cw_L14"/>
          <p:cNvSpPr txBox="1"/>
          <p:nvPr/>
        </p:nvSpPr>
        <p:spPr>
          <a:xfrm>
            <a:off x="771754" y="4893056"/>
            <a:ext cx="52852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6" name="cw_L16"/>
          <p:cNvSpPr txBox="1"/>
          <p:nvPr/>
        </p:nvSpPr>
        <p:spPr>
          <a:xfrm>
            <a:off x="771754" y="5299456"/>
            <a:ext cx="52852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 = 1; i &lt;= 9; i++)</a:t>
            </a:r>
            <a:endParaRPr lang="en-US" sz="1000" dirty="0"/>
          </a:p>
        </p:txBody>
      </p:sp>
      <p:sp>
        <p:nvSpPr>
          <p:cNvPr id="37" name="cw_L17"/>
          <p:cNvSpPr txBox="1"/>
          <p:nvPr/>
        </p:nvSpPr>
        <p:spPr>
          <a:xfrm>
            <a:off x="771754" y="5502656"/>
            <a:ext cx="52852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Thread(Prepare).Start(i);</a:t>
            </a:r>
            <a:endParaRPr lang="en-US" sz="1000" dirty="0"/>
          </a:p>
        </p:txBody>
      </p:sp>
      <p:sp>
        <p:nvSpPr>
          <p:cNvPr id="38" name="kitchen"/>
          <p:cNvSpPr/>
          <p:nvPr/>
        </p:nvSpPr>
        <p:spPr>
          <a:xfrm>
            <a:off x="6486754" y="1572768"/>
            <a:ext cx="5143500" cy="1417320"/>
          </a:xfrm>
          <a:prstGeom prst="roundRect">
            <a:avLst>
              <a:gd name="adj" fmla="val 6000"/>
            </a:avLst>
          </a:prstGeom>
          <a:solidFill>
            <a:srgbClr val="0E2A26"/>
          </a:solidFill>
          <a:ln w="19050">
            <a:solidFill>
              <a:srgbClr val="34D399"/>
            </a:solidFill>
            <a:prstDash val="solid"/>
          </a:ln>
        </p:spPr>
        <p:txBody>
          <a:bodyPr wrap="square" lIns="182880" tIns="91440" rIns="91440" bIns="91440" rtlCol="0" anchor="t">
            <a:noAutofit/>
          </a:bodyPr>
          <a:lstStyle/>
          <a:p>
            <a:pPr marL="0" indent="0" algn="l">
              <a:spcBef>
                <a:spcPts val="0"/>
              </a:spcBef>
              <a:spcAft>
                <a:spcPts val="0"/>
              </a:spcAft>
              <a:buNone/>
            </a:pPr>
            <a:r>
              <a:rPr lang="en-US" sz="1050" b="1" dirty="0">
                <a:solidFill>
                  <a:srgbClr val="34D399"/>
                </a:solidFill>
                <a:latin typeface="Segoe UI"/>
                <a:ea typeface="Segoe UI"/>
                <a:cs typeface="Segoe UI"/>
              </a:rPr>
              <a:t>KITCHEN: SemaphoreSlim(3)</a:t>
            </a:r>
            <a:endParaRPr lang="en-US" sz="1050" dirty="0"/>
          </a:p>
        </p:txBody>
      </p:sp>
      <p:sp>
        <p:nvSpPr>
          <p:cNvPr id="39" name="lab"/>
          <p:cNvSpPr txBox="1"/>
          <p:nvPr/>
        </p:nvSpPr>
        <p:spPr>
          <a:xfrm>
            <a:off x="6486754" y="3127248"/>
            <a:ext cx="51435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WAITING</a:t>
            </a:r>
            <a:endParaRPr lang="en-US" sz="1050" dirty="0"/>
          </a:p>
        </p:txBody>
      </p:sp>
      <p:sp>
        <p:nvSpPr>
          <p:cNvPr id="40" name="pill"/>
          <p:cNvSpPr/>
          <p:nvPr/>
        </p:nvSpPr>
        <p:spPr>
          <a:xfrm>
            <a:off x="666963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1</a:t>
            </a:r>
            <a:endParaRPr lang="en-US" sz="1150" dirty="0"/>
          </a:p>
        </p:txBody>
      </p:sp>
      <p:sp>
        <p:nvSpPr>
          <p:cNvPr id="41" name="pill"/>
          <p:cNvSpPr/>
          <p:nvPr/>
        </p:nvSpPr>
        <p:spPr>
          <a:xfrm>
            <a:off x="826221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2</a:t>
            </a:r>
            <a:endParaRPr lang="en-US" sz="1150" dirty="0"/>
          </a:p>
        </p:txBody>
      </p:sp>
      <p:sp>
        <p:nvSpPr>
          <p:cNvPr id="42" name="pill"/>
          <p:cNvSpPr/>
          <p:nvPr/>
        </p:nvSpPr>
        <p:spPr>
          <a:xfrm>
            <a:off x="985479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3</a:t>
            </a:r>
            <a:endParaRPr lang="en-US" sz="1150" dirty="0"/>
          </a:p>
        </p:txBody>
      </p:sp>
      <p:sp>
        <p:nvSpPr>
          <p:cNvPr id="43" name="pill"/>
          <p:cNvSpPr/>
          <p:nvPr/>
        </p:nvSpPr>
        <p:spPr>
          <a:xfrm>
            <a:off x="648675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4</a:t>
            </a:r>
            <a:endParaRPr lang="en-US" sz="1050" dirty="0"/>
          </a:p>
        </p:txBody>
      </p:sp>
      <p:sp>
        <p:nvSpPr>
          <p:cNvPr id="44" name="pill"/>
          <p:cNvSpPr/>
          <p:nvPr/>
        </p:nvSpPr>
        <p:spPr>
          <a:xfrm>
            <a:off x="826221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5</a:t>
            </a:r>
            <a:endParaRPr lang="en-US" sz="1050" dirty="0"/>
          </a:p>
        </p:txBody>
      </p:sp>
      <p:sp>
        <p:nvSpPr>
          <p:cNvPr id="45" name="pill"/>
          <p:cNvSpPr/>
          <p:nvPr/>
        </p:nvSpPr>
        <p:spPr>
          <a:xfrm>
            <a:off x="1003767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6</a:t>
            </a:r>
            <a:endParaRPr lang="en-US" sz="1050" dirty="0"/>
          </a:p>
        </p:txBody>
      </p:sp>
      <p:sp>
        <p:nvSpPr>
          <p:cNvPr id="46" name="pill"/>
          <p:cNvSpPr/>
          <p:nvPr/>
        </p:nvSpPr>
        <p:spPr>
          <a:xfrm>
            <a:off x="6486754" y="395020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7</a:t>
            </a:r>
            <a:endParaRPr lang="en-US" sz="1050" dirty="0"/>
          </a:p>
        </p:txBody>
      </p:sp>
      <p:sp>
        <p:nvSpPr>
          <p:cNvPr id="47" name="pill"/>
          <p:cNvSpPr/>
          <p:nvPr/>
        </p:nvSpPr>
        <p:spPr>
          <a:xfrm>
            <a:off x="8262214" y="395020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8</a:t>
            </a:r>
            <a:endParaRPr lang="en-US" sz="1050" dirty="0"/>
          </a:p>
        </p:txBody>
      </p:sp>
      <p:sp>
        <p:nvSpPr>
          <p:cNvPr id="48" name="pill"/>
          <p:cNvSpPr/>
          <p:nvPr/>
        </p:nvSpPr>
        <p:spPr>
          <a:xfrm>
            <a:off x="10037674" y="395020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9</a:t>
            </a:r>
            <a:endParaRPr lang="en-US" sz="1050" dirty="0"/>
          </a:p>
        </p:txBody>
      </p:sp>
      <p:sp>
        <p:nvSpPr>
          <p:cNvPr id="49" name="lab"/>
          <p:cNvSpPr txBox="1"/>
          <p:nvPr/>
        </p:nvSpPr>
        <p:spPr>
          <a:xfrm>
            <a:off x="10441534" y="1645920"/>
            <a:ext cx="1005840" cy="237744"/>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300" b="1" dirty="0">
                <a:solidFill>
                  <a:srgbClr val="FFFFFF"/>
                </a:solidFill>
                <a:latin typeface="Segoe UI"/>
                <a:ea typeface="Segoe UI"/>
                <a:cs typeface="Segoe UI"/>
              </a:rPr>
              <a:t>0 s</a:t>
            </a:r>
            <a:endParaRPr lang="en-US" sz="1300" dirty="0"/>
          </a:p>
        </p:txBody>
      </p:sp>
      <p:sp>
        <p:nvSpPr>
          <p:cNvPr id="50" name="pill"/>
          <p:cNvSpPr/>
          <p:nvPr/>
        </p:nvSpPr>
        <p:spPr>
          <a:xfrm>
            <a:off x="666963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4</a:t>
            </a:r>
            <a:endParaRPr lang="en-US" sz="1150" dirty="0"/>
          </a:p>
        </p:txBody>
      </p:sp>
      <p:sp>
        <p:nvSpPr>
          <p:cNvPr id="51" name="pill"/>
          <p:cNvSpPr/>
          <p:nvPr/>
        </p:nvSpPr>
        <p:spPr>
          <a:xfrm>
            <a:off x="826221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5</a:t>
            </a:r>
            <a:endParaRPr lang="en-US" sz="1150" dirty="0"/>
          </a:p>
        </p:txBody>
      </p:sp>
      <p:sp>
        <p:nvSpPr>
          <p:cNvPr id="52" name="pill"/>
          <p:cNvSpPr/>
          <p:nvPr/>
        </p:nvSpPr>
        <p:spPr>
          <a:xfrm>
            <a:off x="985479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6</a:t>
            </a:r>
            <a:endParaRPr lang="en-US" sz="1150" dirty="0"/>
          </a:p>
        </p:txBody>
      </p:sp>
      <p:sp>
        <p:nvSpPr>
          <p:cNvPr id="53" name="pill"/>
          <p:cNvSpPr/>
          <p:nvPr/>
        </p:nvSpPr>
        <p:spPr>
          <a:xfrm>
            <a:off x="648675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7</a:t>
            </a:r>
            <a:endParaRPr lang="en-US" sz="1050" dirty="0"/>
          </a:p>
        </p:txBody>
      </p:sp>
      <p:sp>
        <p:nvSpPr>
          <p:cNvPr id="54" name="pill"/>
          <p:cNvSpPr/>
          <p:nvPr/>
        </p:nvSpPr>
        <p:spPr>
          <a:xfrm>
            <a:off x="826221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8</a:t>
            </a:r>
            <a:endParaRPr lang="en-US" sz="1050" dirty="0"/>
          </a:p>
        </p:txBody>
      </p:sp>
      <p:sp>
        <p:nvSpPr>
          <p:cNvPr id="55" name="pill"/>
          <p:cNvSpPr/>
          <p:nvPr/>
        </p:nvSpPr>
        <p:spPr>
          <a:xfrm>
            <a:off x="10037674" y="3447288"/>
            <a:ext cx="159258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order 9</a:t>
            </a:r>
            <a:endParaRPr lang="en-US" sz="1050" dirty="0"/>
          </a:p>
        </p:txBody>
      </p:sp>
      <p:sp>
        <p:nvSpPr>
          <p:cNvPr id="56" name="lab"/>
          <p:cNvSpPr txBox="1"/>
          <p:nvPr/>
        </p:nvSpPr>
        <p:spPr>
          <a:xfrm>
            <a:off x="10441534" y="1645920"/>
            <a:ext cx="1005840" cy="237744"/>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300" b="1" dirty="0">
                <a:solidFill>
                  <a:srgbClr val="FFFFFF"/>
                </a:solidFill>
                <a:latin typeface="Segoe UI"/>
                <a:ea typeface="Segoe UI"/>
                <a:cs typeface="Segoe UI"/>
              </a:rPr>
              <a:t>2 s</a:t>
            </a:r>
            <a:endParaRPr lang="en-US" sz="1300" dirty="0"/>
          </a:p>
        </p:txBody>
      </p:sp>
      <p:sp>
        <p:nvSpPr>
          <p:cNvPr id="57" name="pill"/>
          <p:cNvSpPr/>
          <p:nvPr/>
        </p:nvSpPr>
        <p:spPr>
          <a:xfrm>
            <a:off x="666963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7</a:t>
            </a:r>
            <a:endParaRPr lang="en-US" sz="1150" dirty="0"/>
          </a:p>
        </p:txBody>
      </p:sp>
      <p:sp>
        <p:nvSpPr>
          <p:cNvPr id="58" name="pill"/>
          <p:cNvSpPr/>
          <p:nvPr/>
        </p:nvSpPr>
        <p:spPr>
          <a:xfrm>
            <a:off x="826221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8</a:t>
            </a:r>
            <a:endParaRPr lang="en-US" sz="1150" dirty="0"/>
          </a:p>
        </p:txBody>
      </p:sp>
      <p:sp>
        <p:nvSpPr>
          <p:cNvPr id="59" name="pill"/>
          <p:cNvSpPr/>
          <p:nvPr/>
        </p:nvSpPr>
        <p:spPr>
          <a:xfrm>
            <a:off x="9854794" y="2121408"/>
            <a:ext cx="1455420" cy="4572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order 9</a:t>
            </a:r>
            <a:endParaRPr lang="en-US" sz="1150" dirty="0"/>
          </a:p>
        </p:txBody>
      </p:sp>
      <p:sp>
        <p:nvSpPr>
          <p:cNvPr id="60" name="lab"/>
          <p:cNvSpPr txBox="1"/>
          <p:nvPr/>
        </p:nvSpPr>
        <p:spPr>
          <a:xfrm>
            <a:off x="10441534" y="1645920"/>
            <a:ext cx="1005840" cy="237744"/>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300" b="1" dirty="0">
                <a:solidFill>
                  <a:srgbClr val="FFFFFF"/>
                </a:solidFill>
                <a:latin typeface="Segoe UI"/>
                <a:ea typeface="Segoe UI"/>
                <a:cs typeface="Segoe UI"/>
              </a:rPr>
              <a:t>4 s</a:t>
            </a:r>
            <a:endParaRPr lang="en-US" sz="1300" dirty="0"/>
          </a:p>
        </p:txBody>
      </p:sp>
      <p:sp>
        <p:nvSpPr>
          <p:cNvPr id="61" name="card"/>
          <p:cNvSpPr/>
          <p:nvPr/>
        </p:nvSpPr>
        <p:spPr>
          <a:xfrm>
            <a:off x="6486754" y="4590288"/>
            <a:ext cx="5143500" cy="1463040"/>
          </a:xfrm>
          <a:prstGeom prst="roundRect">
            <a:avLst>
              <a:gd name="adj" fmla="val 5624"/>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13D0F7"/>
                </a:solidFill>
                <a:latin typeface="Segoe UI"/>
                <a:ea typeface="Segoe UI"/>
                <a:cs typeface="Segoe UI"/>
              </a:rPr>
              <a:t>AT MOST N INSIDE · RELEASE IN finally</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Great for database connection limits, API rate limits, file processing: any limited resource.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2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25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250"/>
                                        <p:tgtEl>
                                          <p:spTgt spid="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25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250"/>
                                        <p:tgtEl>
                                          <p:spTgt spid="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fade">
                                      <p:cBhvr>
                                        <p:cTn id="81" dur="250"/>
                                        <p:tgtEl>
                                          <p:spTgt spid="4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250"/>
                                        <p:tgtEl>
                                          <p:spTgt spid="4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fade">
                                      <p:cBhvr>
                                        <p:cTn id="87" dur="250"/>
                                        <p:tgtEl>
                                          <p:spTgt spid="4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9"/>
                                        </p:tgtEl>
                                        <p:attrNameLst>
                                          <p:attrName>style.visibility</p:attrName>
                                        </p:attrNameLst>
                                      </p:cBhvr>
                                      <p:to>
                                        <p:strVal val="visible"/>
                                      </p:to>
                                    </p:set>
                                    <p:animEffect transition="in" filter="fade">
                                      <p:cBhvr>
                                        <p:cTn id="90" dur="250"/>
                                        <p:tgtEl>
                                          <p:spTgt spid="4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2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2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25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250"/>
                                        <p:tgtEl>
                                          <p:spTgt spid="5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fade">
                                      <p:cBhvr>
                                        <p:cTn id="107" dur="250"/>
                                        <p:tgtEl>
                                          <p:spTgt spid="5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250"/>
                                        <p:tgtEl>
                                          <p:spTgt spid="5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6"/>
                                        </p:tgtEl>
                                        <p:attrNameLst>
                                          <p:attrName>style.visibility</p:attrName>
                                        </p:attrNameLst>
                                      </p:cBhvr>
                                      <p:to>
                                        <p:strVal val="visible"/>
                                      </p:to>
                                    </p:set>
                                    <p:animEffect transition="in" filter="fade">
                                      <p:cBhvr>
                                        <p:cTn id="113" dur="250"/>
                                        <p:tgtEl>
                                          <p:spTgt spid="56"/>
                                        </p:tgtEl>
                                      </p:cBhvr>
                                    </p:animEffect>
                                  </p:childTnLst>
                                </p:cTn>
                              </p:par>
                              <p:par>
                                <p:cTn id="114" presetID="10" presetClass="exit" presetSubtype="0" fill="hold" grpId="1" nodeType="withEffect">
                                  <p:stCondLst>
                                    <p:cond delay="0"/>
                                  </p:stCondLst>
                                  <p:childTnLst>
                                    <p:animEffect transition="out" filter="fade">
                                      <p:cBhvr>
                                        <p:cTn id="115" dur="250"/>
                                        <p:tgtEl>
                                          <p:spTgt spid="40"/>
                                        </p:tgtEl>
                                      </p:cBhvr>
                                    </p:animEffect>
                                    <p:set>
                                      <p:cBhvr>
                                        <p:cTn id="116" dur="1" fill="hold">
                                          <p:stCondLst>
                                            <p:cond delay="249"/>
                                          </p:stCondLst>
                                        </p:cTn>
                                        <p:tgtEl>
                                          <p:spTgt spid="40"/>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250"/>
                                        <p:tgtEl>
                                          <p:spTgt spid="41"/>
                                        </p:tgtEl>
                                      </p:cBhvr>
                                    </p:animEffect>
                                    <p:set>
                                      <p:cBhvr>
                                        <p:cTn id="119" dur="1" fill="hold">
                                          <p:stCondLst>
                                            <p:cond delay="249"/>
                                          </p:stCondLst>
                                        </p:cTn>
                                        <p:tgtEl>
                                          <p:spTgt spid="41"/>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250"/>
                                        <p:tgtEl>
                                          <p:spTgt spid="42"/>
                                        </p:tgtEl>
                                      </p:cBhvr>
                                    </p:animEffect>
                                    <p:set>
                                      <p:cBhvr>
                                        <p:cTn id="122" dur="1" fill="hold">
                                          <p:stCondLst>
                                            <p:cond delay="249"/>
                                          </p:stCondLst>
                                        </p:cTn>
                                        <p:tgtEl>
                                          <p:spTgt spid="42"/>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250"/>
                                        <p:tgtEl>
                                          <p:spTgt spid="43"/>
                                        </p:tgtEl>
                                      </p:cBhvr>
                                    </p:animEffect>
                                    <p:set>
                                      <p:cBhvr>
                                        <p:cTn id="125" dur="1" fill="hold">
                                          <p:stCondLst>
                                            <p:cond delay="249"/>
                                          </p:stCondLst>
                                        </p:cTn>
                                        <p:tgtEl>
                                          <p:spTgt spid="43"/>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250"/>
                                        <p:tgtEl>
                                          <p:spTgt spid="44"/>
                                        </p:tgtEl>
                                      </p:cBhvr>
                                    </p:animEffect>
                                    <p:set>
                                      <p:cBhvr>
                                        <p:cTn id="128" dur="1" fill="hold">
                                          <p:stCondLst>
                                            <p:cond delay="249"/>
                                          </p:stCondLst>
                                        </p:cTn>
                                        <p:tgtEl>
                                          <p:spTgt spid="44"/>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250"/>
                                        <p:tgtEl>
                                          <p:spTgt spid="45"/>
                                        </p:tgtEl>
                                      </p:cBhvr>
                                    </p:animEffect>
                                    <p:set>
                                      <p:cBhvr>
                                        <p:cTn id="131" dur="1" fill="hold">
                                          <p:stCondLst>
                                            <p:cond delay="249"/>
                                          </p:stCondLst>
                                        </p:cTn>
                                        <p:tgtEl>
                                          <p:spTgt spid="45"/>
                                        </p:tgtEl>
                                        <p:attrNameLst>
                                          <p:attrName>style.visibility</p:attrName>
                                        </p:attrNameLst>
                                      </p:cBhvr>
                                      <p:to>
                                        <p:strVal val="hidden"/>
                                      </p:to>
                                    </p:set>
                                  </p:childTnLst>
                                </p:cTn>
                              </p:par>
                              <p:par>
                                <p:cTn id="132" presetID="10" presetClass="exit" presetSubtype="0" fill="hold" grpId="1" nodeType="withEffect">
                                  <p:stCondLst>
                                    <p:cond delay="0"/>
                                  </p:stCondLst>
                                  <p:childTnLst>
                                    <p:animEffect transition="out" filter="fade">
                                      <p:cBhvr>
                                        <p:cTn id="133" dur="250"/>
                                        <p:tgtEl>
                                          <p:spTgt spid="46"/>
                                        </p:tgtEl>
                                      </p:cBhvr>
                                    </p:animEffect>
                                    <p:set>
                                      <p:cBhvr>
                                        <p:cTn id="134" dur="1" fill="hold">
                                          <p:stCondLst>
                                            <p:cond delay="249"/>
                                          </p:stCondLst>
                                        </p:cTn>
                                        <p:tgtEl>
                                          <p:spTgt spid="46"/>
                                        </p:tgtEl>
                                        <p:attrNameLst>
                                          <p:attrName>style.visibility</p:attrName>
                                        </p:attrNameLst>
                                      </p:cBhvr>
                                      <p:to>
                                        <p:strVal val="hidden"/>
                                      </p:to>
                                    </p:set>
                                  </p:childTnLst>
                                </p:cTn>
                              </p:par>
                              <p:par>
                                <p:cTn id="135" presetID="10" presetClass="exit" presetSubtype="0" fill="hold" grpId="1" nodeType="withEffect">
                                  <p:stCondLst>
                                    <p:cond delay="0"/>
                                  </p:stCondLst>
                                  <p:childTnLst>
                                    <p:animEffect transition="out" filter="fade">
                                      <p:cBhvr>
                                        <p:cTn id="136" dur="250"/>
                                        <p:tgtEl>
                                          <p:spTgt spid="47"/>
                                        </p:tgtEl>
                                      </p:cBhvr>
                                    </p:animEffect>
                                    <p:set>
                                      <p:cBhvr>
                                        <p:cTn id="137" dur="1" fill="hold">
                                          <p:stCondLst>
                                            <p:cond delay="249"/>
                                          </p:stCondLst>
                                        </p:cTn>
                                        <p:tgtEl>
                                          <p:spTgt spid="47"/>
                                        </p:tgtEl>
                                        <p:attrNameLst>
                                          <p:attrName>style.visibility</p:attrName>
                                        </p:attrNameLst>
                                      </p:cBhvr>
                                      <p:to>
                                        <p:strVal val="hidden"/>
                                      </p:to>
                                    </p:set>
                                  </p:childTnLst>
                                </p:cTn>
                              </p:par>
                              <p:par>
                                <p:cTn id="138" presetID="10" presetClass="exit" presetSubtype="0" fill="hold" grpId="1" nodeType="withEffect">
                                  <p:stCondLst>
                                    <p:cond delay="0"/>
                                  </p:stCondLst>
                                  <p:childTnLst>
                                    <p:animEffect transition="out" filter="fade">
                                      <p:cBhvr>
                                        <p:cTn id="139" dur="250"/>
                                        <p:tgtEl>
                                          <p:spTgt spid="48"/>
                                        </p:tgtEl>
                                      </p:cBhvr>
                                    </p:animEffect>
                                    <p:set>
                                      <p:cBhvr>
                                        <p:cTn id="140" dur="1" fill="hold">
                                          <p:stCondLst>
                                            <p:cond delay="249"/>
                                          </p:stCondLst>
                                        </p:cTn>
                                        <p:tgtEl>
                                          <p:spTgt spid="48"/>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250"/>
                                        <p:tgtEl>
                                          <p:spTgt spid="49"/>
                                        </p:tgtEl>
                                      </p:cBhvr>
                                    </p:animEffect>
                                    <p:set>
                                      <p:cBhvr>
                                        <p:cTn id="143" dur="1" fill="hold">
                                          <p:stCondLst>
                                            <p:cond delay="249"/>
                                          </p:stCondLst>
                                        </p:cTn>
                                        <p:tgtEl>
                                          <p:spTgt spid="49"/>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250"/>
                                        <p:tgtEl>
                                          <p:spTgt spid="57"/>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250"/>
                                        <p:tgtEl>
                                          <p:spTgt spid="58"/>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250"/>
                                        <p:tgtEl>
                                          <p:spTgt spid="59"/>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250"/>
                                        <p:tgtEl>
                                          <p:spTgt spid="60"/>
                                        </p:tgtEl>
                                      </p:cBhvr>
                                    </p:animEffect>
                                  </p:childTnLst>
                                </p:cTn>
                              </p:par>
                              <p:par>
                                <p:cTn id="158" presetID="10" presetClass="exit" presetSubtype="0" fill="hold" grpId="1" nodeType="withEffect">
                                  <p:stCondLst>
                                    <p:cond delay="0"/>
                                  </p:stCondLst>
                                  <p:childTnLst>
                                    <p:animEffect transition="out" filter="fade">
                                      <p:cBhvr>
                                        <p:cTn id="159" dur="250"/>
                                        <p:tgtEl>
                                          <p:spTgt spid="50"/>
                                        </p:tgtEl>
                                      </p:cBhvr>
                                    </p:animEffect>
                                    <p:set>
                                      <p:cBhvr>
                                        <p:cTn id="160" dur="1" fill="hold">
                                          <p:stCondLst>
                                            <p:cond delay="249"/>
                                          </p:stCondLst>
                                        </p:cTn>
                                        <p:tgtEl>
                                          <p:spTgt spid="50"/>
                                        </p:tgtEl>
                                        <p:attrNameLst>
                                          <p:attrName>style.visibility</p:attrName>
                                        </p:attrNameLst>
                                      </p:cBhvr>
                                      <p:to>
                                        <p:strVal val="hidden"/>
                                      </p:to>
                                    </p:set>
                                  </p:childTnLst>
                                </p:cTn>
                              </p:par>
                              <p:par>
                                <p:cTn id="161" presetID="10" presetClass="exit" presetSubtype="0" fill="hold" grpId="1" nodeType="withEffect">
                                  <p:stCondLst>
                                    <p:cond delay="0"/>
                                  </p:stCondLst>
                                  <p:childTnLst>
                                    <p:animEffect transition="out" filter="fade">
                                      <p:cBhvr>
                                        <p:cTn id="162" dur="250"/>
                                        <p:tgtEl>
                                          <p:spTgt spid="51"/>
                                        </p:tgtEl>
                                      </p:cBhvr>
                                    </p:animEffect>
                                    <p:set>
                                      <p:cBhvr>
                                        <p:cTn id="163" dur="1" fill="hold">
                                          <p:stCondLst>
                                            <p:cond delay="249"/>
                                          </p:stCondLst>
                                        </p:cTn>
                                        <p:tgtEl>
                                          <p:spTgt spid="51"/>
                                        </p:tgtEl>
                                        <p:attrNameLst>
                                          <p:attrName>style.visibility</p:attrName>
                                        </p:attrNameLst>
                                      </p:cBhvr>
                                      <p:to>
                                        <p:strVal val="hidden"/>
                                      </p:to>
                                    </p:set>
                                  </p:childTnLst>
                                </p:cTn>
                              </p:par>
                              <p:par>
                                <p:cTn id="164" presetID="10" presetClass="exit" presetSubtype="0" fill="hold" grpId="1" nodeType="withEffect">
                                  <p:stCondLst>
                                    <p:cond delay="0"/>
                                  </p:stCondLst>
                                  <p:childTnLst>
                                    <p:animEffect transition="out" filter="fade">
                                      <p:cBhvr>
                                        <p:cTn id="165" dur="250"/>
                                        <p:tgtEl>
                                          <p:spTgt spid="52"/>
                                        </p:tgtEl>
                                      </p:cBhvr>
                                    </p:animEffect>
                                    <p:set>
                                      <p:cBhvr>
                                        <p:cTn id="166" dur="1" fill="hold">
                                          <p:stCondLst>
                                            <p:cond delay="249"/>
                                          </p:stCondLst>
                                        </p:cTn>
                                        <p:tgtEl>
                                          <p:spTgt spid="52"/>
                                        </p:tgtEl>
                                        <p:attrNameLst>
                                          <p:attrName>style.visibility</p:attrName>
                                        </p:attrNameLst>
                                      </p:cBhvr>
                                      <p:to>
                                        <p:strVal val="hidden"/>
                                      </p:to>
                                    </p:set>
                                  </p:childTnLst>
                                </p:cTn>
                              </p:par>
                              <p:par>
                                <p:cTn id="167" presetID="10" presetClass="exit" presetSubtype="0" fill="hold" grpId="1" nodeType="withEffect">
                                  <p:stCondLst>
                                    <p:cond delay="0"/>
                                  </p:stCondLst>
                                  <p:childTnLst>
                                    <p:animEffect transition="out" filter="fade">
                                      <p:cBhvr>
                                        <p:cTn id="168" dur="250"/>
                                        <p:tgtEl>
                                          <p:spTgt spid="53"/>
                                        </p:tgtEl>
                                      </p:cBhvr>
                                    </p:animEffect>
                                    <p:set>
                                      <p:cBhvr>
                                        <p:cTn id="169" dur="1" fill="hold">
                                          <p:stCondLst>
                                            <p:cond delay="249"/>
                                          </p:stCondLst>
                                        </p:cTn>
                                        <p:tgtEl>
                                          <p:spTgt spid="53"/>
                                        </p:tgtEl>
                                        <p:attrNameLst>
                                          <p:attrName>style.visibility</p:attrName>
                                        </p:attrNameLst>
                                      </p:cBhvr>
                                      <p:to>
                                        <p:strVal val="hidden"/>
                                      </p:to>
                                    </p:set>
                                  </p:childTnLst>
                                </p:cTn>
                              </p:par>
                              <p:par>
                                <p:cTn id="170" presetID="10" presetClass="exit" presetSubtype="0" fill="hold" grpId="1" nodeType="withEffect">
                                  <p:stCondLst>
                                    <p:cond delay="0"/>
                                  </p:stCondLst>
                                  <p:childTnLst>
                                    <p:animEffect transition="out" filter="fade">
                                      <p:cBhvr>
                                        <p:cTn id="171" dur="250"/>
                                        <p:tgtEl>
                                          <p:spTgt spid="54"/>
                                        </p:tgtEl>
                                      </p:cBhvr>
                                    </p:animEffect>
                                    <p:set>
                                      <p:cBhvr>
                                        <p:cTn id="172" dur="1" fill="hold">
                                          <p:stCondLst>
                                            <p:cond delay="249"/>
                                          </p:stCondLst>
                                        </p:cTn>
                                        <p:tgtEl>
                                          <p:spTgt spid="54"/>
                                        </p:tgtEl>
                                        <p:attrNameLst>
                                          <p:attrName>style.visibility</p:attrName>
                                        </p:attrNameLst>
                                      </p:cBhvr>
                                      <p:to>
                                        <p:strVal val="hidden"/>
                                      </p:to>
                                    </p:set>
                                  </p:childTnLst>
                                </p:cTn>
                              </p:par>
                              <p:par>
                                <p:cTn id="173" presetID="10" presetClass="exit" presetSubtype="0" fill="hold" grpId="1" nodeType="withEffect">
                                  <p:stCondLst>
                                    <p:cond delay="0"/>
                                  </p:stCondLst>
                                  <p:childTnLst>
                                    <p:animEffect transition="out" filter="fade">
                                      <p:cBhvr>
                                        <p:cTn id="174" dur="250"/>
                                        <p:tgtEl>
                                          <p:spTgt spid="55"/>
                                        </p:tgtEl>
                                      </p:cBhvr>
                                    </p:animEffect>
                                    <p:set>
                                      <p:cBhvr>
                                        <p:cTn id="175" dur="1" fill="hold">
                                          <p:stCondLst>
                                            <p:cond delay="249"/>
                                          </p:stCondLst>
                                        </p:cTn>
                                        <p:tgtEl>
                                          <p:spTgt spid="55"/>
                                        </p:tgtEl>
                                        <p:attrNameLst>
                                          <p:attrName>style.visibility</p:attrName>
                                        </p:attrNameLst>
                                      </p:cBhvr>
                                      <p:to>
                                        <p:strVal val="hidden"/>
                                      </p:to>
                                    </p:set>
                                  </p:childTnLst>
                                </p:cTn>
                              </p:par>
                              <p:par>
                                <p:cTn id="176" presetID="10" presetClass="exit" presetSubtype="0" fill="hold" grpId="1" nodeType="withEffect">
                                  <p:stCondLst>
                                    <p:cond delay="0"/>
                                  </p:stCondLst>
                                  <p:childTnLst>
                                    <p:animEffect transition="out" filter="fade">
                                      <p:cBhvr>
                                        <p:cTn id="177" dur="250"/>
                                        <p:tgtEl>
                                          <p:spTgt spid="56"/>
                                        </p:tgtEl>
                                      </p:cBhvr>
                                    </p:animEffect>
                                    <p:set>
                                      <p:cBhvr>
                                        <p:cTn id="178" dur="1" fill="hold">
                                          <p:stCondLst>
                                            <p:cond delay="249"/>
                                          </p:stCondLst>
                                        </p:cTn>
                                        <p:tgtEl>
                                          <p:spTgt spid="56"/>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grpId="0" nodeType="clickEffect">
                                  <p:stCondLst>
                                    <p:cond delay="0"/>
                                  </p:stCondLst>
                                  <p:childTnLst>
                                    <p:set>
                                      <p:cBhvr>
                                        <p:cTn id="182" dur="1" fill="hold">
                                          <p:stCondLst>
                                            <p:cond delay="0"/>
                                          </p:stCondLst>
                                        </p:cTn>
                                        <p:tgtEl>
                                          <p:spTgt spid="61"/>
                                        </p:tgtEl>
                                        <p:attrNameLst>
                                          <p:attrName>style.visibility</p:attrName>
                                        </p:attrNameLst>
                                      </p:cBhvr>
                                      <p:to>
                                        <p:strVal val="visible"/>
                                      </p:to>
                                    </p:set>
                                    <p:animEffect transition="in" filter="fade">
                                      <p:cBhvr>
                                        <p:cTn id="183"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animBg="1"/>
      <p:bldP spid="39" grpId="0"/>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p:bldP spid="49" grpId="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p:bldP spid="56" grpId="1"/>
      <p:bldP spid="57" grpId="0" animBg="1"/>
      <p:bldP spid="58" grpId="0" animBg="1"/>
      <p:bldP spid="59" grpId="0" animBg="1"/>
      <p:bldP spid="60" grpId="0"/>
      <p:bldP spid="6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41832"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DEADLOCK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Deadlock: Waiting for Each Other Forever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46</a:t>
            </a:r>
            <a:endParaRPr lang="en-US" sz="850" dirty="0"/>
          </a:p>
        </p:txBody>
      </p:sp>
      <p:sp>
        <p:nvSpPr>
          <p:cNvPr id="15" name="cw_win"/>
          <p:cNvSpPr/>
          <p:nvPr/>
        </p:nvSpPr>
        <p:spPr>
          <a:xfrm>
            <a:off x="543154" y="1572768"/>
            <a:ext cx="576072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7607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menuLock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23" name="cw_L01"/>
          <p:cNvSpPr txBox="1"/>
          <p:nvPr/>
        </p:nvSpPr>
        <p:spPr>
          <a:xfrm>
            <a:off x="771754" y="22412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stockLock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24" name="cw_L02"/>
          <p:cNvSpPr txBox="1"/>
          <p:nvPr/>
        </p:nvSpPr>
        <p:spPr>
          <a:xfrm>
            <a:off x="771754" y="24343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first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 =&gt;</a:t>
            </a:r>
            <a:endParaRPr lang="en-US" sz="950" dirty="0"/>
          </a:p>
        </p:txBody>
      </p:sp>
      <p:sp>
        <p:nvSpPr>
          <p:cNvPr id="25" name="cw_L03"/>
          <p:cNvSpPr txBox="1"/>
          <p:nvPr/>
        </p:nvSpPr>
        <p:spPr>
          <a:xfrm>
            <a:off x="771754" y="262737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6" name="cw_L04"/>
          <p:cNvSpPr txBox="1"/>
          <p:nvPr/>
        </p:nvSpPr>
        <p:spPr>
          <a:xfrm>
            <a:off x="771754" y="282041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a:t>
            </a:r>
            <a:endParaRPr lang="en-US" sz="950" dirty="0"/>
          </a:p>
        </p:txBody>
      </p:sp>
      <p:sp>
        <p:nvSpPr>
          <p:cNvPr id="27" name="cw_L05"/>
          <p:cNvSpPr txBox="1"/>
          <p:nvPr/>
        </p:nvSpPr>
        <p:spPr>
          <a:xfrm>
            <a:off x="771754" y="301345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8" name="cw_L06"/>
          <p:cNvSpPr txBox="1"/>
          <p:nvPr/>
        </p:nvSpPr>
        <p:spPr>
          <a:xfrm>
            <a:off x="771754" y="3206496"/>
            <a:ext cx="53766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29" name="cw_L07"/>
          <p:cNvSpPr txBox="1"/>
          <p:nvPr/>
        </p:nvSpPr>
        <p:spPr>
          <a:xfrm>
            <a:off x="771754" y="3399536"/>
            <a:ext cx="53766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 { Console.WriteLine(</a:t>
            </a:r>
            <a:r>
              <a:rPr lang="en-US" sz="950" b="0" dirty="0">
                <a:solidFill>
                  <a:srgbClr val="F0A98B"/>
                </a:solidFill>
                <a:latin typeface="Consolas"/>
                <a:ea typeface="Consolas"/>
                <a:cs typeface="Consolas"/>
              </a:rPr>
              <a:t>"First"</a:t>
            </a:r>
            <a:r>
              <a:rPr lang="en-US" sz="950" b="0" dirty="0">
                <a:solidFill>
                  <a:srgbClr val="E2E8F0"/>
                </a:solidFill>
                <a:latin typeface="Consolas"/>
                <a:ea typeface="Consolas"/>
                <a:cs typeface="Consolas"/>
              </a:rPr>
              <a:t>); }</a:t>
            </a:r>
            <a:endParaRPr lang="en-US" sz="950" dirty="0"/>
          </a:p>
        </p:txBody>
      </p:sp>
      <p:sp>
        <p:nvSpPr>
          <p:cNvPr id="30" name="cw_L08"/>
          <p:cNvSpPr txBox="1"/>
          <p:nvPr/>
        </p:nvSpPr>
        <p:spPr>
          <a:xfrm>
            <a:off x="771754" y="359257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1" name="cw_L09"/>
          <p:cNvSpPr txBox="1"/>
          <p:nvPr/>
        </p:nvSpPr>
        <p:spPr>
          <a:xfrm>
            <a:off x="771754" y="37856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0"/>
          <p:cNvSpPr txBox="1"/>
          <p:nvPr/>
        </p:nvSpPr>
        <p:spPr>
          <a:xfrm>
            <a:off x="771754" y="39786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 second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 =&gt;</a:t>
            </a:r>
            <a:endParaRPr lang="en-US" sz="950" dirty="0"/>
          </a:p>
        </p:txBody>
      </p:sp>
      <p:sp>
        <p:nvSpPr>
          <p:cNvPr id="33" name="cw_L11"/>
          <p:cNvSpPr txBox="1"/>
          <p:nvPr/>
        </p:nvSpPr>
        <p:spPr>
          <a:xfrm>
            <a:off x="771754" y="41716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4" name="cw_L12"/>
          <p:cNvSpPr txBox="1"/>
          <p:nvPr/>
        </p:nvSpPr>
        <p:spPr>
          <a:xfrm>
            <a:off x="771754" y="436473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a:t>
            </a:r>
            <a:endParaRPr lang="en-US" sz="950" dirty="0"/>
          </a:p>
        </p:txBody>
      </p:sp>
      <p:sp>
        <p:nvSpPr>
          <p:cNvPr id="35" name="cw_L13"/>
          <p:cNvSpPr txBox="1"/>
          <p:nvPr/>
        </p:nvSpPr>
        <p:spPr>
          <a:xfrm>
            <a:off x="771754" y="455777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cw_L14"/>
          <p:cNvSpPr txBox="1"/>
          <p:nvPr/>
        </p:nvSpPr>
        <p:spPr>
          <a:xfrm>
            <a:off x="771754" y="4750816"/>
            <a:ext cx="53766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37" name="cw_L15"/>
          <p:cNvSpPr txBox="1"/>
          <p:nvPr/>
        </p:nvSpPr>
        <p:spPr>
          <a:xfrm>
            <a:off x="771754" y="4943856"/>
            <a:ext cx="53766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 { Console.WriteLine(</a:t>
            </a:r>
            <a:r>
              <a:rPr lang="en-US" sz="950" b="0" dirty="0">
                <a:solidFill>
                  <a:srgbClr val="F0A98B"/>
                </a:solidFill>
                <a:latin typeface="Consolas"/>
                <a:ea typeface="Consolas"/>
                <a:cs typeface="Consolas"/>
              </a:rPr>
              <a:t>"Second"</a:t>
            </a:r>
            <a:r>
              <a:rPr lang="en-US" sz="950" b="0" dirty="0">
                <a:solidFill>
                  <a:srgbClr val="E2E8F0"/>
                </a:solidFill>
                <a:latin typeface="Consolas"/>
                <a:ea typeface="Consolas"/>
                <a:cs typeface="Consolas"/>
              </a:rPr>
              <a:t>); }</a:t>
            </a:r>
            <a:endParaRPr lang="en-US" sz="950" dirty="0"/>
          </a:p>
        </p:txBody>
      </p:sp>
      <p:sp>
        <p:nvSpPr>
          <p:cNvPr id="38" name="cw_L16"/>
          <p:cNvSpPr txBox="1"/>
          <p:nvPr/>
        </p:nvSpPr>
        <p:spPr>
          <a:xfrm>
            <a:off x="771754" y="5136896"/>
            <a:ext cx="53766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_L17"/>
          <p:cNvSpPr txBox="1"/>
          <p:nvPr/>
        </p:nvSpPr>
        <p:spPr>
          <a:xfrm>
            <a:off x="771754" y="53299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0" name="cw_L19"/>
          <p:cNvSpPr txBox="1"/>
          <p:nvPr/>
        </p:nvSpPr>
        <p:spPr>
          <a:xfrm>
            <a:off x="771754" y="57160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first.Start(); second.Start();</a:t>
            </a:r>
            <a:endParaRPr lang="en-US" sz="950" dirty="0"/>
          </a:p>
        </p:txBody>
      </p:sp>
      <p:sp>
        <p:nvSpPr>
          <p:cNvPr id="41" name="cmark"/>
          <p:cNvSpPr/>
          <p:nvPr/>
        </p:nvSpPr>
        <p:spPr>
          <a:xfrm>
            <a:off x="676656" y="2802128"/>
            <a:ext cx="5493715" cy="229616"/>
          </a:xfrm>
          <a:prstGeom prst="rect">
            <a:avLst/>
          </a:prstGeom>
          <a:solidFill>
            <a:srgbClr val="4D91F0">
              <a:alpha val="16000"/>
            </a:srgbClr>
          </a:solidFill>
          <a:ln w="15875">
            <a:solidFill>
              <a:srgbClr val="4D91F0"/>
            </a:solidFill>
            <a:prstDash val="solid"/>
          </a:ln>
        </p:spPr>
        <p:txBody>
          <a:bodyPr/>
          <a:lstStyle/>
          <a:p>
            <a:endParaRPr lang="en-US"/>
          </a:p>
        </p:txBody>
      </p:sp>
      <p:sp>
        <p:nvSpPr>
          <p:cNvPr id="42" name="cmark"/>
          <p:cNvSpPr/>
          <p:nvPr/>
        </p:nvSpPr>
        <p:spPr>
          <a:xfrm>
            <a:off x="676656" y="4346448"/>
            <a:ext cx="5493715" cy="229616"/>
          </a:xfrm>
          <a:prstGeom prst="rect">
            <a:avLst/>
          </a:prstGeom>
          <a:solidFill>
            <a:srgbClr val="34D399">
              <a:alpha val="16000"/>
            </a:srgbClr>
          </a:solidFill>
          <a:ln w="15875">
            <a:solidFill>
              <a:srgbClr val="34D399"/>
            </a:solidFill>
            <a:prstDash val="solid"/>
          </a:ln>
        </p:spPr>
        <p:txBody>
          <a:bodyPr/>
          <a:lstStyle/>
          <a:p>
            <a:endParaRPr lang="en-US"/>
          </a:p>
        </p:txBody>
      </p:sp>
      <p:sp>
        <p:nvSpPr>
          <p:cNvPr id="43" name="cmark"/>
          <p:cNvSpPr/>
          <p:nvPr/>
        </p:nvSpPr>
        <p:spPr>
          <a:xfrm>
            <a:off x="676656" y="3381248"/>
            <a:ext cx="5493715" cy="229616"/>
          </a:xfrm>
          <a:prstGeom prst="rect">
            <a:avLst/>
          </a:prstGeom>
          <a:solidFill>
            <a:srgbClr val="F87171">
              <a:alpha val="16000"/>
            </a:srgbClr>
          </a:solidFill>
          <a:ln w="15875">
            <a:solidFill>
              <a:srgbClr val="F87171"/>
            </a:solidFill>
            <a:prstDash val="solid"/>
          </a:ln>
        </p:spPr>
        <p:txBody>
          <a:bodyPr/>
          <a:lstStyle/>
          <a:p>
            <a:endParaRPr lang="en-US"/>
          </a:p>
        </p:txBody>
      </p:sp>
      <p:sp>
        <p:nvSpPr>
          <p:cNvPr id="44" name="cmark"/>
          <p:cNvSpPr/>
          <p:nvPr/>
        </p:nvSpPr>
        <p:spPr>
          <a:xfrm>
            <a:off x="676656" y="4925568"/>
            <a:ext cx="5493715" cy="229616"/>
          </a:xfrm>
          <a:prstGeom prst="rect">
            <a:avLst/>
          </a:prstGeom>
          <a:solidFill>
            <a:srgbClr val="F87171">
              <a:alpha val="16000"/>
            </a:srgbClr>
          </a:solidFill>
          <a:ln w="15875">
            <a:solidFill>
              <a:srgbClr val="F87171"/>
            </a:solidFill>
            <a:prstDash val="solid"/>
          </a:ln>
        </p:spPr>
        <p:txBody>
          <a:bodyPr/>
          <a:lstStyle/>
          <a:p>
            <a:endParaRPr lang="en-US"/>
          </a:p>
        </p:txBody>
      </p:sp>
      <p:sp>
        <p:nvSpPr>
          <p:cNvPr id="45" name="box"/>
          <p:cNvSpPr/>
          <p:nvPr/>
        </p:nvSpPr>
        <p:spPr>
          <a:xfrm>
            <a:off x="6852514" y="1847088"/>
            <a:ext cx="2011680" cy="73152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BBF24"/>
                </a:solidFill>
                <a:latin typeface="Consolas"/>
                <a:ea typeface="Consolas"/>
                <a:cs typeface="Consolas"/>
              </a:rPr>
              <a:t>menuLock</a:t>
            </a:r>
            <a:endParaRPr lang="en-US" sz="1300" dirty="0"/>
          </a:p>
        </p:txBody>
      </p:sp>
      <p:sp>
        <p:nvSpPr>
          <p:cNvPr id="46" name="box"/>
          <p:cNvSpPr/>
          <p:nvPr/>
        </p:nvSpPr>
        <p:spPr>
          <a:xfrm>
            <a:off x="9344254" y="1847088"/>
            <a:ext cx="2011680" cy="73152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BBF24"/>
                </a:solidFill>
                <a:latin typeface="Consolas"/>
                <a:ea typeface="Consolas"/>
                <a:cs typeface="Consolas"/>
              </a:rPr>
              <a:t>stockLock</a:t>
            </a:r>
            <a:endParaRPr lang="en-US" sz="1300" dirty="0"/>
          </a:p>
        </p:txBody>
      </p:sp>
      <p:sp>
        <p:nvSpPr>
          <p:cNvPr id="47" name="box"/>
          <p:cNvSpPr/>
          <p:nvPr/>
        </p:nvSpPr>
        <p:spPr>
          <a:xfrm>
            <a:off x="6852514" y="3950208"/>
            <a:ext cx="2011680" cy="73152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4D91F0"/>
                </a:solidFill>
                <a:latin typeface="Consolas"/>
                <a:ea typeface="Consolas"/>
                <a:cs typeface="Consolas"/>
              </a:rPr>
              <a:t>Thread 1</a:t>
            </a:r>
            <a:endParaRPr lang="en-US" sz="1300" dirty="0"/>
          </a:p>
        </p:txBody>
      </p:sp>
      <p:sp>
        <p:nvSpPr>
          <p:cNvPr id="48" name="box"/>
          <p:cNvSpPr/>
          <p:nvPr/>
        </p:nvSpPr>
        <p:spPr>
          <a:xfrm>
            <a:off x="9344254" y="3950208"/>
            <a:ext cx="2011680" cy="73152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34D399"/>
                </a:solidFill>
                <a:latin typeface="Consolas"/>
                <a:ea typeface="Consolas"/>
                <a:cs typeface="Consolas"/>
              </a:rPr>
              <a:t>Thread 2</a:t>
            </a:r>
            <a:endParaRPr lang="en-US" sz="1300" dirty="0"/>
          </a:p>
        </p:txBody>
      </p:sp>
      <p:cxnSp>
        <p:nvCxnSpPr>
          <p:cNvPr id="49" name="arrow"/>
          <p:cNvCxnSpPr/>
          <p:nvPr/>
        </p:nvCxnSpPr>
        <p:spPr>
          <a:xfrm flipV="1">
            <a:off x="7858354" y="2596896"/>
            <a:ext cx="0" cy="1335024"/>
          </a:xfrm>
          <a:prstGeom prst="line">
            <a:avLst/>
          </a:prstGeom>
          <a:ln w="28575">
            <a:solidFill>
              <a:srgbClr val="4D91F0"/>
            </a:solidFill>
            <a:tailEnd type="triangle" w="med" len="med"/>
          </a:ln>
        </p:spPr>
      </p:cxnSp>
      <p:sp>
        <p:nvSpPr>
          <p:cNvPr id="50" name="lab"/>
          <p:cNvSpPr txBox="1"/>
          <p:nvPr/>
        </p:nvSpPr>
        <p:spPr>
          <a:xfrm>
            <a:off x="6852514" y="3127248"/>
            <a:ext cx="960120" cy="237744"/>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4D91F0"/>
                </a:solidFill>
                <a:latin typeface="Segoe UI"/>
                <a:ea typeface="Segoe UI"/>
                <a:cs typeface="Segoe UI"/>
              </a:rPr>
              <a:t>holds</a:t>
            </a:r>
            <a:endParaRPr lang="en-US" sz="1050" dirty="0"/>
          </a:p>
        </p:txBody>
      </p:sp>
      <p:cxnSp>
        <p:nvCxnSpPr>
          <p:cNvPr id="51" name="arrow"/>
          <p:cNvCxnSpPr/>
          <p:nvPr/>
        </p:nvCxnSpPr>
        <p:spPr>
          <a:xfrm flipV="1">
            <a:off x="10350094" y="2596896"/>
            <a:ext cx="0" cy="1335024"/>
          </a:xfrm>
          <a:prstGeom prst="line">
            <a:avLst/>
          </a:prstGeom>
          <a:ln w="28575">
            <a:solidFill>
              <a:srgbClr val="34D399"/>
            </a:solidFill>
            <a:tailEnd type="triangle" w="med" len="med"/>
          </a:ln>
        </p:spPr>
      </p:cxnSp>
      <p:sp>
        <p:nvSpPr>
          <p:cNvPr id="52" name="lab"/>
          <p:cNvSpPr txBox="1"/>
          <p:nvPr/>
        </p:nvSpPr>
        <p:spPr>
          <a:xfrm>
            <a:off x="10441534" y="3127248"/>
            <a:ext cx="914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holds</a:t>
            </a:r>
            <a:endParaRPr lang="en-US" sz="1050" dirty="0"/>
          </a:p>
        </p:txBody>
      </p:sp>
      <p:cxnSp>
        <p:nvCxnSpPr>
          <p:cNvPr id="53" name="arrow"/>
          <p:cNvCxnSpPr/>
          <p:nvPr/>
        </p:nvCxnSpPr>
        <p:spPr>
          <a:xfrm flipV="1">
            <a:off x="8772754" y="2596896"/>
            <a:ext cx="617220" cy="1335024"/>
          </a:xfrm>
          <a:prstGeom prst="line">
            <a:avLst/>
          </a:prstGeom>
          <a:ln w="28575">
            <a:solidFill>
              <a:srgbClr val="F87171"/>
            </a:solidFill>
            <a:tailEnd type="triangle" w="med" len="med"/>
          </a:ln>
        </p:spPr>
      </p:cxnSp>
      <p:cxnSp>
        <p:nvCxnSpPr>
          <p:cNvPr id="54" name="arrow"/>
          <p:cNvCxnSpPr/>
          <p:nvPr/>
        </p:nvCxnSpPr>
        <p:spPr>
          <a:xfrm flipH="1" flipV="1">
            <a:off x="8818474" y="2596896"/>
            <a:ext cx="617220" cy="1335024"/>
          </a:xfrm>
          <a:prstGeom prst="line">
            <a:avLst/>
          </a:prstGeom>
          <a:ln w="28575">
            <a:solidFill>
              <a:srgbClr val="F87171"/>
            </a:solidFill>
            <a:tailEnd type="triangle" w="med" len="med"/>
          </a:ln>
        </p:spPr>
      </p:cxnSp>
      <p:sp>
        <p:nvSpPr>
          <p:cNvPr id="55" name="lab"/>
          <p:cNvSpPr txBox="1"/>
          <p:nvPr/>
        </p:nvSpPr>
        <p:spPr>
          <a:xfrm>
            <a:off x="7858354" y="2807208"/>
            <a:ext cx="24917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F87171"/>
                </a:solidFill>
                <a:latin typeface="Segoe UI"/>
                <a:ea typeface="Segoe UI"/>
                <a:cs typeface="Segoe UI"/>
              </a:rPr>
              <a:t>wants</a:t>
            </a:r>
            <a:endParaRPr lang="en-US" sz="1050" dirty="0"/>
          </a:p>
        </p:txBody>
      </p:sp>
      <p:sp>
        <p:nvSpPr>
          <p:cNvPr id="56" name="card"/>
          <p:cNvSpPr/>
          <p:nvPr/>
        </p:nvSpPr>
        <p:spPr>
          <a:xfrm>
            <a:off x="6578194" y="4910328"/>
            <a:ext cx="5052060" cy="1143000"/>
          </a:xfrm>
          <a:prstGeom prst="roundRect">
            <a:avLst>
              <a:gd name="adj" fmla="val 7199"/>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F87171"/>
                </a:solidFill>
                <a:latin typeface="Segoe UI"/>
                <a:ea typeface="Segoe UI"/>
                <a:cs typeface="Segoe UI"/>
              </a:rPr>
              <a:t>DEADLOCK</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A cycle of waiting: no thread can ever continue.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25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250"/>
                                        <p:tgtEl>
                                          <p:spTgt spid="4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250"/>
                                        <p:tgtEl>
                                          <p:spTgt spid="4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250"/>
                                        <p:tgtEl>
                                          <p:spTgt spid="4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fade">
                                      <p:cBhvr>
                                        <p:cTn id="73" dur="250"/>
                                        <p:tgtEl>
                                          <p:spTgt spid="4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25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fade">
                                      <p:cBhvr>
                                        <p:cTn id="81" dur="250"/>
                                        <p:tgtEl>
                                          <p:spTgt spid="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250"/>
                                        <p:tgtEl>
                                          <p:spTgt spid="5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250"/>
                                        <p:tgtEl>
                                          <p:spTgt spid="42"/>
                                        </p:tgtEl>
                                      </p:cBhvr>
                                    </p:animEffect>
                                  </p:childTnLst>
                                </p:cTn>
                              </p:par>
                              <p:par>
                                <p:cTn id="90" presetID="10" presetClass="entr" presetSubtype="0" fill="hold" nodeType="with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fade">
                                      <p:cBhvr>
                                        <p:cTn id="92" dur="250"/>
                                        <p:tgtEl>
                                          <p:spTgt spid="5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25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250"/>
                                        <p:tgtEl>
                                          <p:spTgt spid="43"/>
                                        </p:tgtEl>
                                      </p:cBhvr>
                                    </p:animEffect>
                                  </p:childTnLst>
                                </p:cTn>
                              </p:par>
                              <p:par>
                                <p:cTn id="101" presetID="10" presetClass="entr" presetSubtype="0" fill="hold"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250"/>
                                        <p:tgtEl>
                                          <p:spTgt spid="5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5"/>
                                        </p:tgtEl>
                                        <p:attrNameLst>
                                          <p:attrName>style.visibility</p:attrName>
                                        </p:attrNameLst>
                                      </p:cBhvr>
                                      <p:to>
                                        <p:strVal val="visible"/>
                                      </p:to>
                                    </p:set>
                                    <p:animEffect transition="in" filter="fade">
                                      <p:cBhvr>
                                        <p:cTn id="106" dur="250"/>
                                        <p:tgtEl>
                                          <p:spTgt spid="55"/>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250"/>
                                        <p:tgtEl>
                                          <p:spTgt spid="44"/>
                                        </p:tgtEl>
                                      </p:cBhvr>
                                    </p:animEffect>
                                  </p:childTnLst>
                                </p:cTn>
                              </p:par>
                              <p:par>
                                <p:cTn id="112" presetID="10" presetClass="entr" presetSubtype="0" fill="hold" nodeType="with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250"/>
                                        <p:tgtEl>
                                          <p:spTgt spid="54"/>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fade">
                                      <p:cBhvr>
                                        <p:cTn id="117" dur="2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animBg="1"/>
      <p:bldP spid="42" grpId="0" animBg="1"/>
      <p:bldP spid="43" grpId="0" animBg="1"/>
      <p:bldP spid="44" grpId="0" animBg="1"/>
      <p:bldP spid="45" grpId="0" animBg="1"/>
      <p:bldP spid="46" grpId="0" animBg="1"/>
      <p:bldP spid="47" grpId="0" animBg="1"/>
      <p:bldP spid="48" grpId="0" animBg="1"/>
      <p:bldP spid="50" grpId="0"/>
      <p:bldP spid="52" grpId="0"/>
      <p:bldP spid="55" grpId="0"/>
      <p:bldP spid="5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AVOID DEADLOCK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Avoiding Deadlock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47</a:t>
            </a:r>
            <a:endParaRPr lang="en-US" sz="850" dirty="0"/>
          </a:p>
        </p:txBody>
      </p:sp>
      <p:sp>
        <p:nvSpPr>
          <p:cNvPr id="15" name="cw_win"/>
          <p:cNvSpPr/>
          <p:nvPr/>
        </p:nvSpPr>
        <p:spPr>
          <a:xfrm>
            <a:off x="543154" y="1572768"/>
            <a:ext cx="63093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FAE7A"/>
                </a:solidFill>
                <a:latin typeface="Consolas"/>
                <a:ea typeface="Consolas"/>
                <a:cs typeface="Consolas"/>
              </a:rPr>
              <a:t>// Both threads take the locks in the SAME order</a:t>
            </a:r>
            <a:endParaRPr lang="en-US" sz="1100" dirty="0"/>
          </a:p>
        </p:txBody>
      </p:sp>
      <p:sp>
        <p:nvSpPr>
          <p:cNvPr id="23" name="cw_L01"/>
          <p:cNvSpPr txBox="1"/>
          <p:nvPr/>
        </p:nvSpPr>
        <p:spPr>
          <a:xfrm>
            <a:off x="771754" y="227177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Thread first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 Thread(() =&gt;</a:t>
            </a:r>
            <a:endParaRPr lang="en-US" sz="1100" dirty="0"/>
          </a:p>
        </p:txBody>
      </p:sp>
      <p:sp>
        <p:nvSpPr>
          <p:cNvPr id="24" name="cw_L02"/>
          <p:cNvSpPr txBox="1"/>
          <p:nvPr/>
        </p:nvSpPr>
        <p:spPr>
          <a:xfrm>
            <a:off x="771754" y="249529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5" name="cw_L03"/>
          <p:cNvSpPr txBox="1"/>
          <p:nvPr/>
        </p:nvSpPr>
        <p:spPr>
          <a:xfrm>
            <a:off x="771754" y="2718816"/>
            <a:ext cx="59253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lock</a:t>
            </a:r>
            <a:r>
              <a:rPr lang="en-US" sz="1100" b="0" dirty="0">
                <a:solidFill>
                  <a:srgbClr val="E2E8F0"/>
                </a:solidFill>
                <a:latin typeface="Consolas"/>
                <a:ea typeface="Consolas"/>
                <a:cs typeface="Consolas"/>
              </a:rPr>
              <a:t> (menuLock)</a:t>
            </a:r>
            <a:endParaRPr lang="en-US" sz="1100" dirty="0"/>
          </a:p>
        </p:txBody>
      </p:sp>
      <p:sp>
        <p:nvSpPr>
          <p:cNvPr id="26" name="cw_L04"/>
          <p:cNvSpPr txBox="1"/>
          <p:nvPr/>
        </p:nvSpPr>
        <p:spPr>
          <a:xfrm>
            <a:off x="771754" y="2942336"/>
            <a:ext cx="59253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lock</a:t>
            </a:r>
            <a:r>
              <a:rPr lang="en-US" sz="1100" b="0" dirty="0">
                <a:solidFill>
                  <a:srgbClr val="E2E8F0"/>
                </a:solidFill>
                <a:latin typeface="Consolas"/>
                <a:ea typeface="Consolas"/>
                <a:cs typeface="Consolas"/>
              </a:rPr>
              <a:t> (stockLock) { Console.WriteLine(</a:t>
            </a:r>
            <a:r>
              <a:rPr lang="en-US" sz="1100" b="0" dirty="0">
                <a:solidFill>
                  <a:srgbClr val="F0A98B"/>
                </a:solidFill>
                <a:latin typeface="Consolas"/>
                <a:ea typeface="Consolas"/>
                <a:cs typeface="Consolas"/>
              </a:rPr>
              <a:t>"First"</a:t>
            </a:r>
            <a:r>
              <a:rPr lang="en-US" sz="1100" b="0" dirty="0">
                <a:solidFill>
                  <a:srgbClr val="E2E8F0"/>
                </a:solidFill>
                <a:latin typeface="Consolas"/>
                <a:ea typeface="Consolas"/>
                <a:cs typeface="Consolas"/>
              </a:rPr>
              <a:t>); }</a:t>
            </a:r>
            <a:endParaRPr lang="en-US" sz="1100" dirty="0"/>
          </a:p>
        </p:txBody>
      </p:sp>
      <p:sp>
        <p:nvSpPr>
          <p:cNvPr id="27" name="cw_L05"/>
          <p:cNvSpPr txBox="1"/>
          <p:nvPr/>
        </p:nvSpPr>
        <p:spPr>
          <a:xfrm>
            <a:off x="771754" y="316585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8" name="cw_L07"/>
          <p:cNvSpPr txBox="1"/>
          <p:nvPr/>
        </p:nvSpPr>
        <p:spPr>
          <a:xfrm>
            <a:off x="771754" y="361289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Thread second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 Thread(() =&gt;</a:t>
            </a:r>
            <a:endParaRPr lang="en-US" sz="1100" dirty="0"/>
          </a:p>
        </p:txBody>
      </p:sp>
      <p:sp>
        <p:nvSpPr>
          <p:cNvPr id="29" name="cw_L08"/>
          <p:cNvSpPr txBox="1"/>
          <p:nvPr/>
        </p:nvSpPr>
        <p:spPr>
          <a:xfrm>
            <a:off x="771754" y="383641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0" name="cw_L09"/>
          <p:cNvSpPr txBox="1"/>
          <p:nvPr/>
        </p:nvSpPr>
        <p:spPr>
          <a:xfrm>
            <a:off x="771754" y="4059936"/>
            <a:ext cx="59253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lock</a:t>
            </a:r>
            <a:r>
              <a:rPr lang="en-US" sz="1100" b="0" dirty="0">
                <a:solidFill>
                  <a:srgbClr val="E2E8F0"/>
                </a:solidFill>
                <a:latin typeface="Consolas"/>
                <a:ea typeface="Consolas"/>
                <a:cs typeface="Consolas"/>
              </a:rPr>
              <a:t> (menuLock)</a:t>
            </a:r>
            <a:endParaRPr lang="en-US" sz="1100" dirty="0"/>
          </a:p>
        </p:txBody>
      </p:sp>
      <p:sp>
        <p:nvSpPr>
          <p:cNvPr id="31" name="cw_L10"/>
          <p:cNvSpPr txBox="1"/>
          <p:nvPr/>
        </p:nvSpPr>
        <p:spPr>
          <a:xfrm>
            <a:off x="771754" y="4283456"/>
            <a:ext cx="59253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lock</a:t>
            </a:r>
            <a:r>
              <a:rPr lang="en-US" sz="1100" b="0" dirty="0">
                <a:solidFill>
                  <a:srgbClr val="E2E8F0"/>
                </a:solidFill>
                <a:latin typeface="Consolas"/>
                <a:ea typeface="Consolas"/>
                <a:cs typeface="Consolas"/>
              </a:rPr>
              <a:t> (stockLock) { Console.WriteLine(</a:t>
            </a:r>
            <a:r>
              <a:rPr lang="en-US" sz="1100" b="0" dirty="0">
                <a:solidFill>
                  <a:srgbClr val="F0A98B"/>
                </a:solidFill>
                <a:latin typeface="Consolas"/>
                <a:ea typeface="Consolas"/>
                <a:cs typeface="Consolas"/>
              </a:rPr>
              <a:t>"Second"</a:t>
            </a:r>
            <a:r>
              <a:rPr lang="en-US" sz="1100" b="0" dirty="0">
                <a:solidFill>
                  <a:srgbClr val="E2E8F0"/>
                </a:solidFill>
                <a:latin typeface="Consolas"/>
                <a:ea typeface="Consolas"/>
                <a:cs typeface="Consolas"/>
              </a:rPr>
              <a:t>); }</a:t>
            </a:r>
            <a:endParaRPr lang="en-US" sz="1100" dirty="0"/>
          </a:p>
        </p:txBody>
      </p:sp>
      <p:sp>
        <p:nvSpPr>
          <p:cNvPr id="32" name="cw_L11"/>
          <p:cNvSpPr txBox="1"/>
          <p:nvPr/>
        </p:nvSpPr>
        <p:spPr>
          <a:xfrm>
            <a:off x="771754" y="4506976"/>
            <a:ext cx="59253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3" name="card"/>
          <p:cNvSpPr/>
          <p:nvPr/>
        </p:nvSpPr>
        <p:spPr>
          <a:xfrm>
            <a:off x="7081114" y="1572768"/>
            <a:ext cx="4549140" cy="724662"/>
          </a:xfrm>
          <a:prstGeom prst="roundRect">
            <a:avLst>
              <a:gd name="adj" fmla="val 11356"/>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CONSISTENT ORDER</a:t>
            </a:r>
            <a:endParaRPr lang="en-US" sz="1100" dirty="0"/>
          </a:p>
          <a:p>
            <a:r>
              <a:rPr lang="en-US" sz="1150" dirty="0">
                <a:solidFill>
                  <a:srgbClr val="CBD5E1"/>
                </a:solidFill>
                <a:latin typeface="Segoe UI"/>
                <a:ea typeface="Segoe UI"/>
                <a:cs typeface="Segoe UI"/>
              </a:rPr>
              <a:t>Always acquire multiple locks in the same order.</a:t>
            </a:r>
          </a:p>
        </p:txBody>
      </p:sp>
      <p:sp>
        <p:nvSpPr>
          <p:cNvPr id="34" name="card"/>
          <p:cNvSpPr/>
          <p:nvPr/>
        </p:nvSpPr>
        <p:spPr>
          <a:xfrm>
            <a:off x="7081114" y="2434590"/>
            <a:ext cx="4549140" cy="724662"/>
          </a:xfrm>
          <a:prstGeom prst="roundRect">
            <a:avLst>
              <a:gd name="adj" fmla="val 11356"/>
            </a:avLst>
          </a:prstGeom>
          <a:solidFill>
            <a:srgbClr val="111B2E"/>
          </a:solidFill>
          <a:ln w="12700">
            <a:solidFill>
              <a:srgbClr val="4D91F0"/>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4D91F0"/>
                </a:solidFill>
                <a:latin typeface="Segoe UI"/>
                <a:ea typeface="Segoe UI"/>
                <a:cs typeface="Segoe UI"/>
              </a:rPr>
              <a:t>FEWER LOCKS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Reduce shared state so fewer locks are needed.</a:t>
            </a:r>
            <a:endParaRPr lang="en-US" sz="1150" dirty="0"/>
          </a:p>
        </p:txBody>
      </p:sp>
      <p:sp>
        <p:nvSpPr>
          <p:cNvPr id="35" name="card"/>
          <p:cNvSpPr/>
          <p:nvPr/>
        </p:nvSpPr>
        <p:spPr>
          <a:xfrm>
            <a:off x="7081114" y="3296412"/>
            <a:ext cx="4549140" cy="724662"/>
          </a:xfrm>
          <a:prstGeom prst="roundRect">
            <a:avLst>
              <a:gd name="adj" fmla="val 11356"/>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NO NESTING</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Avoid holding one lock while taking another.</a:t>
            </a:r>
            <a:endParaRPr lang="en-US" sz="1150" dirty="0"/>
          </a:p>
        </p:txBody>
      </p:sp>
      <p:sp>
        <p:nvSpPr>
          <p:cNvPr id="36" name="card"/>
          <p:cNvSpPr/>
          <p:nvPr/>
        </p:nvSpPr>
        <p:spPr>
          <a:xfrm>
            <a:off x="7081114" y="4158234"/>
            <a:ext cx="4549140" cy="724662"/>
          </a:xfrm>
          <a:prstGeom prst="roundRect">
            <a:avLst>
              <a:gd name="adj" fmla="val 11356"/>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SMALL SECTIONS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Keep critical sections short; never wait inside them.</a:t>
            </a:r>
            <a:endParaRPr lang="en-US" sz="1150" dirty="0"/>
          </a:p>
        </p:txBody>
      </p:sp>
      <p:sp>
        <p:nvSpPr>
          <p:cNvPr id="37"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Same lock order everywhere breaks the cycle that causes deadlock.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2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5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25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P spid="3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Shared or Private?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48</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Two threads run Count() at the same time. What happens to mine and total?</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total = 0;</a:t>
            </a:r>
            <a:endParaRPr lang="en-US" sz="1000" dirty="0"/>
          </a:p>
        </p:txBody>
      </p:sp>
      <p:sp>
        <p:nvSpPr>
          <p:cNvPr id="24" name="cw_L02"/>
          <p:cNvSpPr txBox="1"/>
          <p:nvPr/>
        </p:nvSpPr>
        <p:spPr>
          <a:xfrm>
            <a:off x="771754" y="25918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void</a:t>
            </a:r>
            <a:r>
              <a:rPr lang="en-US" sz="1000" b="0" dirty="0">
                <a:solidFill>
                  <a:srgbClr val="E2E8F0"/>
                </a:solidFill>
                <a:latin typeface="Consolas"/>
                <a:ea typeface="Consolas"/>
                <a:cs typeface="Consolas"/>
              </a:rPr>
              <a:t> Count()</a:t>
            </a:r>
            <a:endParaRPr lang="en-US" sz="1000" dirty="0"/>
          </a:p>
        </p:txBody>
      </p:sp>
      <p:sp>
        <p:nvSpPr>
          <p:cNvPr id="25" name="cw_L03"/>
          <p:cNvSpPr txBox="1"/>
          <p:nvPr/>
        </p:nvSpPr>
        <p:spPr>
          <a:xfrm>
            <a:off x="771754" y="27950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9982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mine = 0;</a:t>
            </a:r>
            <a:endParaRPr lang="en-US" sz="1000" dirty="0"/>
          </a:p>
        </p:txBody>
      </p:sp>
      <p:sp>
        <p:nvSpPr>
          <p:cNvPr id="27" name="cw_L05"/>
          <p:cNvSpPr txBox="1"/>
          <p:nvPr/>
        </p:nvSpPr>
        <p:spPr>
          <a:xfrm>
            <a:off x="771754" y="32014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for</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 = 0; i &lt; 100_000; i++)</a:t>
            </a:r>
            <a:endParaRPr lang="en-US" sz="1000" dirty="0"/>
          </a:p>
        </p:txBody>
      </p:sp>
      <p:sp>
        <p:nvSpPr>
          <p:cNvPr id="28" name="cw_L06"/>
          <p:cNvSpPr txBox="1"/>
          <p:nvPr/>
        </p:nvSpPr>
        <p:spPr>
          <a:xfrm>
            <a:off x="771754" y="34046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9" name="cw_L07"/>
          <p:cNvSpPr txBox="1"/>
          <p:nvPr/>
        </p:nvSpPr>
        <p:spPr>
          <a:xfrm>
            <a:off x="771754" y="36078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mine++;</a:t>
            </a:r>
            <a:endParaRPr lang="en-US" sz="1000" dirty="0"/>
          </a:p>
        </p:txBody>
      </p:sp>
      <p:sp>
        <p:nvSpPr>
          <p:cNvPr id="30" name="cw_L08"/>
          <p:cNvSpPr txBox="1"/>
          <p:nvPr/>
        </p:nvSpPr>
        <p:spPr>
          <a:xfrm>
            <a:off x="771754" y="38110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total++;</a:t>
            </a:r>
            <a:endParaRPr lang="en-US" sz="1000" dirty="0"/>
          </a:p>
        </p:txBody>
      </p:sp>
      <p:sp>
        <p:nvSpPr>
          <p:cNvPr id="31" name="cw_L09"/>
          <p:cNvSpPr txBox="1"/>
          <p:nvPr/>
        </p:nvSpPr>
        <p:spPr>
          <a:xfrm>
            <a:off x="771754" y="40142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2" name="cw_L10"/>
          <p:cNvSpPr txBox="1"/>
          <p:nvPr/>
        </p:nvSpPr>
        <p:spPr>
          <a:xfrm>
            <a:off x="771754" y="42174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Console.WriteLine(mine);</a:t>
            </a:r>
            <a:endParaRPr lang="en-US" sz="1000" dirty="0"/>
          </a:p>
        </p:txBody>
      </p:sp>
      <p:sp>
        <p:nvSpPr>
          <p:cNvPr id="33" name="cw_L11"/>
          <p:cNvSpPr txBox="1"/>
          <p:nvPr/>
        </p:nvSpPr>
        <p:spPr>
          <a:xfrm>
            <a:off x="771754" y="4420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Both always correct</a:t>
            </a:r>
            <a:endParaRPr lang="en-US" sz="1400" dirty="0"/>
          </a:p>
        </p:txBody>
      </p:sp>
      <p:sp>
        <p:nvSpPr>
          <p:cNvPr id="35"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mine: always 100000 · total: often less</a:t>
            </a:r>
            <a:endParaRPr lang="en-US" sz="1400" dirty="0"/>
          </a:p>
        </p:txBody>
      </p:sp>
      <p:sp>
        <p:nvSpPr>
          <p:cNvPr id="36"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Both random</a:t>
            </a:r>
            <a:endParaRPr lang="en-US" sz="1400" dirty="0"/>
          </a:p>
        </p:txBody>
      </p:sp>
      <p:sp>
        <p:nvSpPr>
          <p:cNvPr id="37"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mine: 200000</a:t>
            </a:r>
            <a:endParaRPr lang="en-US" sz="1400" dirty="0"/>
          </a:p>
        </p:txBody>
      </p:sp>
      <p:sp>
        <p:nvSpPr>
          <p:cNvPr id="38"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mine: always 100000 · total: often less</a:t>
            </a:r>
            <a:endParaRPr lang="en-US" sz="1400" dirty="0"/>
          </a:p>
        </p:txBody>
      </p:sp>
      <p:sp>
        <p:nvSpPr>
          <p:cNvPr id="39"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mine is a local: each thread has its own copy on its own stack. total is captured and shared by both threads, so its updates race.</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5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25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25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25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25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25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animBg="1"/>
      <p:bldP spid="38" grpId="0" animBg="1"/>
      <p:bldP spid="3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Is This Flash Sale Safe?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SHARED STATE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49</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50 customers call Buy() for 10 items. Can the flash sale still oversell?</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50 customers call Buy() at once</a:t>
            </a:r>
            <a:endParaRPr lang="en-US" sz="1000" dirty="0"/>
          </a:p>
        </p:txBody>
      </p:sp>
      <p:sp>
        <p:nvSpPr>
          <p:cNvPr id="24" name="cw_L02"/>
          <p:cNvSpPr txBox="1"/>
          <p:nvPr/>
        </p:nvSpPr>
        <p:spPr>
          <a:xfrm>
            <a:off x="771754" y="25918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public void </a:t>
            </a:r>
            <a:r>
              <a:rPr lang="en-US" sz="1000" b="0" dirty="0">
                <a:solidFill>
                  <a:srgbClr val="E2E8F0"/>
                </a:solidFill>
                <a:latin typeface="Consolas"/>
                <a:ea typeface="Consolas"/>
                <a:cs typeface="Consolas"/>
              </a:rPr>
              <a:t>Buy()</a:t>
            </a:r>
            <a:endParaRPr lang="en-US" sz="1000" dirty="0"/>
          </a:p>
        </p:txBody>
      </p:sp>
      <p:sp>
        <p:nvSpPr>
          <p:cNvPr id="25" name="cw_L03"/>
          <p:cNvSpPr txBox="1"/>
          <p:nvPr/>
        </p:nvSpPr>
        <p:spPr>
          <a:xfrm>
            <a:off x="771754" y="27950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9982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lock </a:t>
            </a:r>
            <a:r>
              <a:rPr lang="en-US" sz="1000" b="0" dirty="0">
                <a:solidFill>
                  <a:srgbClr val="E2E8F0"/>
                </a:solidFill>
                <a:latin typeface="Consolas"/>
                <a:ea typeface="Consolas"/>
                <a:cs typeface="Consolas"/>
              </a:rPr>
              <a:t>(</a:t>
            </a:r>
            <a:r>
              <a:rPr lang="en-US" sz="1000" b="0" dirty="0">
                <a:solidFill>
                  <a:srgbClr val="60A5FA"/>
                </a:solidFill>
                <a:latin typeface="Consolas"/>
                <a:ea typeface="Consolas"/>
                <a:cs typeface="Consolas"/>
              </a:rPr>
              <a:t>new object</a:t>
            </a: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2014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6"/>
          <p:cNvSpPr txBox="1"/>
          <p:nvPr/>
        </p:nvSpPr>
        <p:spPr>
          <a:xfrm>
            <a:off x="771754" y="34046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if </a:t>
            </a:r>
            <a:r>
              <a:rPr lang="en-US" sz="1000" b="0" dirty="0">
                <a:solidFill>
                  <a:srgbClr val="E2E8F0"/>
                </a:solidFill>
                <a:latin typeface="Consolas"/>
                <a:ea typeface="Consolas"/>
                <a:cs typeface="Consolas"/>
              </a:rPr>
              <a:t>(Stock &lt;= 0) </a:t>
            </a: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a:t>
            </a:r>
            <a:endParaRPr lang="en-US" sz="1000" dirty="0"/>
          </a:p>
        </p:txBody>
      </p:sp>
      <p:sp>
        <p:nvSpPr>
          <p:cNvPr id="29" name="cw_L07"/>
          <p:cNvSpPr txBox="1"/>
          <p:nvPr/>
        </p:nvSpPr>
        <p:spPr>
          <a:xfrm>
            <a:off x="771754" y="36078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Stock--;</a:t>
            </a:r>
            <a:endParaRPr lang="en-US" sz="1000" dirty="0"/>
          </a:p>
        </p:txBody>
      </p:sp>
      <p:sp>
        <p:nvSpPr>
          <p:cNvPr id="30" name="cw_L08"/>
          <p:cNvSpPr txBox="1"/>
          <p:nvPr/>
        </p:nvSpPr>
        <p:spPr>
          <a:xfrm>
            <a:off x="771754" y="38110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Sold++;</a:t>
            </a:r>
            <a:endParaRPr lang="en-US" sz="1000" dirty="0"/>
          </a:p>
        </p:txBody>
      </p:sp>
      <p:sp>
        <p:nvSpPr>
          <p:cNvPr id="31" name="cw_L09"/>
          <p:cNvSpPr txBox="1"/>
          <p:nvPr/>
        </p:nvSpPr>
        <p:spPr>
          <a:xfrm>
            <a:off x="771754" y="40142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2" name="cw_L10"/>
          <p:cNvSpPr txBox="1"/>
          <p:nvPr/>
        </p:nvSpPr>
        <p:spPr>
          <a:xfrm>
            <a:off x="771754" y="4217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1"/>
          <p:cNvSpPr txBox="1"/>
          <p:nvPr/>
        </p:nvSpPr>
        <p:spPr>
          <a:xfrm>
            <a:off x="771754" y="4420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endParaRPr lang="en-US" sz="1000" dirty="0"/>
          </a:p>
        </p:txBody>
      </p:sp>
      <p:sp>
        <p:nvSpPr>
          <p:cNvPr id="34"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No: everything is inside a lock</a:t>
            </a:r>
            <a:endParaRPr lang="en-US" sz="1400" dirty="0"/>
          </a:p>
        </p:txBody>
      </p:sp>
      <p:sp>
        <p:nvSpPr>
          <p:cNvPr id="35"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Yes: every call locks a different object</a:t>
            </a:r>
            <a:endParaRPr lang="en-US" sz="1400" dirty="0"/>
          </a:p>
        </p:txBody>
      </p:sp>
      <p:sp>
        <p:nvSpPr>
          <p:cNvPr id="36"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No: lock blocks every thread</a:t>
            </a:r>
            <a:endParaRPr lang="en-US" sz="1400" dirty="0"/>
          </a:p>
        </p:txBody>
      </p:sp>
      <p:sp>
        <p:nvSpPr>
          <p:cNvPr id="37"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It deadlocks</a:t>
            </a:r>
            <a:endParaRPr lang="en-US" sz="1400" dirty="0"/>
          </a:p>
        </p:txBody>
      </p:sp>
      <p:sp>
        <p:nvSpPr>
          <p:cNvPr id="38"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Yes: every call locks a different object</a:t>
            </a:r>
            <a:endParaRPr lang="en-US" sz="1400" dirty="0"/>
          </a:p>
        </p:txBody>
      </p:sp>
      <p:sp>
        <p:nvSpPr>
          <p:cNvPr id="39"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Each call locks a brand-new object, so customers never wait for each other. The race is still there.</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5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25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25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25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25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25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animBg="1"/>
      <p:bldP spid="38" grpId="0" animBg="1"/>
      <p:bldP spid="3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PART 9</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50</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A78BFA"/>
                </a:solidFill>
                <a:latin typeface="Segoe UI"/>
                <a:ea typeface="Segoe UI"/>
                <a:cs typeface="Segoe UI"/>
              </a:rPr>
              <a:t>09</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Concurrency Toolbox</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Thread-safe data structures, real parallel CPU work, and the big picture.</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Without ConcurrentDictionary  ·  With ConcurrentDictionary  ·  Try methods  ·  Safe collection ≠ safe logic  ·  Background jobs: Queue vs ConcurrentQueue  ·  ConcurrentQueue  ·  Parallel.For  ·  Parallel.ForEach  ·  Parallel.ForEachAsync  ·  Parallel vs WhenAll  ·  Degree of parallelism  ·  Shared mutable state  ·  Thread-safe code  ·  The final comparison</a:t>
            </a:r>
            <a:endParaRPr lang="en-US" sz="1350" dirty="0"/>
          </a:p>
        </p:txBody>
      </p:sp>
    </p:spTree>
    <p:extLst>
      <p:ext uri="{BB962C8B-B14F-4D97-AF65-F5344CB8AC3E}">
        <p14:creationId xmlns:p14="http://schemas.microsoft.com/office/powerpoint/2010/main" val="25329962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DICTIONARY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Without ConcurrentDictionary: Lost Page Views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51</a:t>
            </a:r>
            <a:endParaRPr lang="en-US" sz="850" dirty="0"/>
          </a:p>
        </p:txBody>
      </p:sp>
      <p:sp>
        <p:nvSpPr>
          <p:cNvPr id="15" name="cw_win"/>
          <p:cNvSpPr/>
          <p:nvPr/>
        </p:nvSpPr>
        <p:spPr>
          <a:xfrm>
            <a:off x="543154" y="1572768"/>
            <a:ext cx="5550000" cy="229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5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5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30" name="cw_hl06"/>
          <p:cNvSpPr/>
          <p:nvPr/>
        </p:nvSpPr>
        <p:spPr>
          <a:xfrm>
            <a:off x="676656" y="3263088"/>
            <a:ext cx="5282996"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31" name="cw_hl04"/>
          <p:cNvSpPr/>
          <p:nvPr/>
        </p:nvSpPr>
        <p:spPr>
          <a:xfrm>
            <a:off x="676656" y="2836368"/>
            <a:ext cx="5282996" cy="46329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Dictionary&lt;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&gt; views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a:t>
            </a:r>
            <a:endParaRPr lang="en-US" sz="1050" dirty="0"/>
          </a:p>
        </p:txBody>
      </p:sp>
      <p:sp>
        <p:nvSpPr>
          <p:cNvPr id="23" name="cw_L01"/>
          <p:cNvSpPr txBox="1"/>
          <p:nvPr/>
        </p:nvSpPr>
        <p:spPr>
          <a:xfrm>
            <a:off x="771754" y="221457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Called by many request threads at once</a:t>
            </a:r>
            <a:endParaRPr lang="en-US" sz="1050" dirty="0"/>
          </a:p>
        </p:txBody>
      </p:sp>
      <p:sp>
        <p:nvSpPr>
          <p:cNvPr id="24" name="cw_L02"/>
          <p:cNvSpPr txBox="1"/>
          <p:nvPr/>
        </p:nvSpPr>
        <p:spPr>
          <a:xfrm>
            <a:off x="771754" y="242793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void </a:t>
            </a:r>
            <a:r>
              <a:rPr lang="en-US" sz="1050" b="0" dirty="0">
                <a:solidFill>
                  <a:srgbClr val="E2E8F0"/>
                </a:solidFill>
                <a:latin typeface="Consolas"/>
                <a:ea typeface="Consolas"/>
                <a:cs typeface="Consolas"/>
              </a:rPr>
              <a:t>RecordView(</a:t>
            </a: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product)</a:t>
            </a:r>
            <a:endParaRPr lang="en-US" sz="1050" dirty="0"/>
          </a:p>
        </p:txBody>
      </p:sp>
      <p:sp>
        <p:nvSpPr>
          <p:cNvPr id="25" name="cw_L03"/>
          <p:cNvSpPr txBox="1"/>
          <p:nvPr/>
        </p:nvSpPr>
        <p:spPr>
          <a:xfrm>
            <a:off x="771754" y="264129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6" name="cw_L04"/>
          <p:cNvSpPr txBox="1"/>
          <p:nvPr/>
        </p:nvSpPr>
        <p:spPr>
          <a:xfrm>
            <a:off x="771754" y="2854656"/>
            <a:ext cx="51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if </a:t>
            </a:r>
            <a:r>
              <a:rPr lang="en-US" sz="1050" b="0" dirty="0">
                <a:solidFill>
                  <a:srgbClr val="E2E8F0"/>
                </a:solidFill>
                <a:latin typeface="Consolas"/>
                <a:ea typeface="Consolas"/>
                <a:cs typeface="Consolas"/>
              </a:rPr>
              <a:t>(!views.ContainsKey(product))     </a:t>
            </a:r>
            <a:r>
              <a:rPr lang="en-US" sz="1050" b="0" dirty="0">
                <a:solidFill>
                  <a:srgbClr val="6FAE7A"/>
                </a:solidFill>
                <a:latin typeface="Consolas"/>
                <a:ea typeface="Consolas"/>
                <a:cs typeface="Consolas"/>
              </a:rPr>
              <a:t>// check</a:t>
            </a:r>
            <a:endParaRPr lang="en-US" sz="1050" dirty="0"/>
          </a:p>
        </p:txBody>
      </p:sp>
      <p:sp>
        <p:nvSpPr>
          <p:cNvPr id="27" name="cw_L05"/>
          <p:cNvSpPr txBox="1"/>
          <p:nvPr/>
        </p:nvSpPr>
        <p:spPr>
          <a:xfrm>
            <a:off x="771754" y="3068016"/>
            <a:ext cx="51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views.Add(product, 0);           </a:t>
            </a:r>
            <a:r>
              <a:rPr lang="en-US" sz="1050" b="0" dirty="0">
                <a:solidFill>
                  <a:srgbClr val="6FAE7A"/>
                </a:solidFill>
                <a:latin typeface="Consolas"/>
                <a:ea typeface="Consolas"/>
                <a:cs typeface="Consolas"/>
              </a:rPr>
              <a:t>// act: may throw</a:t>
            </a:r>
            <a:endParaRPr lang="en-US" sz="1050" dirty="0"/>
          </a:p>
        </p:txBody>
      </p:sp>
      <p:sp>
        <p:nvSpPr>
          <p:cNvPr id="28" name="cw_L06"/>
          <p:cNvSpPr txBox="1"/>
          <p:nvPr/>
        </p:nvSpPr>
        <p:spPr>
          <a:xfrm>
            <a:off x="771754" y="3281376"/>
            <a:ext cx="51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views[product] = views[product] + 1; </a:t>
            </a:r>
            <a:r>
              <a:rPr lang="en-US" sz="1050" b="0" dirty="0">
                <a:solidFill>
                  <a:srgbClr val="6FAE7A"/>
                </a:solidFill>
                <a:latin typeface="Consolas"/>
                <a:ea typeface="Consolas"/>
                <a:cs typeface="Consolas"/>
              </a:rPr>
              <a:t>// read + write</a:t>
            </a:r>
            <a:endParaRPr lang="en-US" sz="1050" dirty="0"/>
          </a:p>
        </p:txBody>
      </p:sp>
      <p:sp>
        <p:nvSpPr>
          <p:cNvPr id="29" name="cw_L07"/>
          <p:cNvSpPr txBox="1"/>
          <p:nvPr/>
        </p:nvSpPr>
        <p:spPr>
          <a:xfrm>
            <a:off x="771754" y="349473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2" name="out_win"/>
          <p:cNvSpPr/>
          <p:nvPr/>
        </p:nvSpPr>
        <p:spPr>
          <a:xfrm>
            <a:off x="543154" y="3988096"/>
            <a:ext cx="5550000" cy="961904"/>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out_bar"/>
          <p:cNvSpPr/>
          <p:nvPr/>
        </p:nvSpPr>
        <p:spPr>
          <a:xfrm>
            <a:off x="543154" y="3988096"/>
            <a:ext cx="55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out_barfill"/>
          <p:cNvSpPr/>
          <p:nvPr/>
        </p:nvSpPr>
        <p:spPr>
          <a:xfrm>
            <a:off x="543154" y="4159546"/>
            <a:ext cx="5550000" cy="171450"/>
          </a:xfrm>
          <a:prstGeom prst="rect">
            <a:avLst/>
          </a:prstGeom>
          <a:solidFill>
            <a:srgbClr val="0A1220"/>
          </a:solidFill>
          <a:ln w="12700">
            <a:solidFill>
              <a:srgbClr val="0A1220"/>
            </a:solidFill>
            <a:prstDash val="solid"/>
          </a:ln>
        </p:spPr>
        <p:txBody>
          <a:bodyPr/>
          <a:lstStyle/>
          <a:p>
            <a:endParaRPr lang="en-US"/>
          </a:p>
        </p:txBody>
      </p:sp>
      <p:sp>
        <p:nvSpPr>
          <p:cNvPr id="35" name="out_dot0"/>
          <p:cNvSpPr/>
          <p:nvPr/>
        </p:nvSpPr>
        <p:spPr>
          <a:xfrm>
            <a:off x="705002" y="4111906"/>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out_dot1"/>
          <p:cNvSpPr/>
          <p:nvPr/>
        </p:nvSpPr>
        <p:spPr>
          <a:xfrm>
            <a:off x="890626" y="4111906"/>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out_dot2"/>
          <p:cNvSpPr/>
          <p:nvPr/>
        </p:nvSpPr>
        <p:spPr>
          <a:xfrm>
            <a:off x="1076250" y="4111906"/>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out_tab"/>
          <p:cNvSpPr/>
          <p:nvPr/>
        </p:nvSpPr>
        <p:spPr>
          <a:xfrm>
            <a:off x="1324051" y="403564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9" name="out_L00"/>
          <p:cNvSpPr txBox="1"/>
          <p:nvPr/>
        </p:nvSpPr>
        <p:spPr>
          <a:xfrm>
            <a:off x="771754" y="4416544"/>
            <a:ext cx="51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34D399"/>
                </a:solidFill>
                <a:latin typeface="Consolas"/>
                <a:ea typeface="Consolas"/>
                <a:cs typeface="Consolas"/>
              </a:rPr>
              <a:t>Expected:  phone = 100000</a:t>
            </a:r>
            <a:endParaRPr lang="en-US" sz="950" dirty="0"/>
          </a:p>
        </p:txBody>
      </p:sp>
      <p:sp>
        <p:nvSpPr>
          <p:cNvPr id="40" name="out_L01"/>
          <p:cNvSpPr txBox="1"/>
          <p:nvPr/>
        </p:nvSpPr>
        <p:spPr>
          <a:xfrm>
            <a:off x="771754" y="4609584"/>
            <a:ext cx="51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F87171"/>
                </a:solidFill>
                <a:latin typeface="Consolas"/>
                <a:ea typeface="Consolas"/>
                <a:cs typeface="Consolas"/>
              </a:rPr>
              <a:t>Actual:    phone = 87412 (varies) or a crash</a:t>
            </a:r>
            <a:endParaRPr lang="en-US" sz="950" dirty="0"/>
          </a:p>
        </p:txBody>
      </p:sp>
      <p:sp>
        <p:nvSpPr>
          <p:cNvPr id="41" name="panel"/>
          <p:cNvSpPr/>
          <p:nvPr/>
        </p:nvSpPr>
        <p:spPr>
          <a:xfrm>
            <a:off x="8550000" y="1572768"/>
            <a:ext cx="3080254" cy="155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42" name="lab"/>
          <p:cNvSpPr txBox="1"/>
          <p:nvPr/>
        </p:nvSpPr>
        <p:spPr>
          <a:xfrm>
            <a:off x="8670000" y="1612768"/>
            <a:ext cx="2840254"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Consolas"/>
                <a:ea typeface="Consolas"/>
                <a:cs typeface="Consolas"/>
              </a:rPr>
              <a:t>views   (Dictionary)</a:t>
            </a:r>
            <a:endParaRPr lang="en-US" sz="1050" dirty="0"/>
          </a:p>
        </p:txBody>
      </p:sp>
      <p:sp>
        <p:nvSpPr>
          <p:cNvPr id="43" name="box"/>
          <p:cNvSpPr/>
          <p:nvPr/>
        </p:nvSpPr>
        <p:spPr>
          <a:xfrm>
            <a:off x="8670000" y="1972768"/>
            <a:ext cx="1250000" cy="450000"/>
          </a:xfrm>
          <a:prstGeom prst="roundRect">
            <a:avLst>
              <a:gd name="adj" fmla="val 12000"/>
            </a:avLst>
          </a:prstGeom>
          <a:solidFill>
            <a:srgbClr val="111B2E"/>
          </a:solidFill>
          <a:ln w="19050">
            <a:solidFill>
              <a:srgbClr val="1E3A5F"/>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CBD5E1"/>
                </a:solidFill>
                <a:latin typeface="Consolas"/>
                <a:ea typeface="Consolas"/>
                <a:cs typeface="Consolas"/>
              </a:rPr>
              <a:t>"phone"</a:t>
            </a:r>
            <a:endParaRPr lang="en-US" sz="1050" dirty="0"/>
          </a:p>
        </p:txBody>
      </p:sp>
      <p:sp>
        <p:nvSpPr>
          <p:cNvPr id="44" name="box"/>
          <p:cNvSpPr/>
          <p:nvPr/>
        </p:nvSpPr>
        <p:spPr>
          <a:xfrm>
            <a:off x="10000000" y="1972768"/>
            <a:ext cx="1510254" cy="45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5</a:t>
            </a:r>
            <a:endParaRPr lang="en-US" sz="1300" dirty="0"/>
          </a:p>
        </p:txBody>
      </p:sp>
      <p:sp>
        <p:nvSpPr>
          <p:cNvPr id="45" name="box"/>
          <p:cNvSpPr/>
          <p:nvPr/>
        </p:nvSpPr>
        <p:spPr>
          <a:xfrm>
            <a:off x="10000000" y="1972768"/>
            <a:ext cx="1510254" cy="45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6</a:t>
            </a:r>
            <a:endParaRPr lang="en-US" sz="1300" dirty="0"/>
          </a:p>
        </p:txBody>
      </p:sp>
      <p:sp>
        <p:nvSpPr>
          <p:cNvPr id="46" name="box"/>
          <p:cNvSpPr/>
          <p:nvPr/>
        </p:nvSpPr>
        <p:spPr>
          <a:xfrm>
            <a:off x="10000000" y="1972768"/>
            <a:ext cx="1510254" cy="45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87171"/>
                </a:solidFill>
                <a:latin typeface="Consolas"/>
                <a:ea typeface="Consolas"/>
                <a:cs typeface="Consolas"/>
              </a:rPr>
              <a:t>6</a:t>
            </a:r>
            <a:endParaRPr lang="en-US" sz="1300" dirty="0"/>
          </a:p>
        </p:txBody>
      </p:sp>
      <p:sp>
        <p:nvSpPr>
          <p:cNvPr id="47" name="box"/>
          <p:cNvSpPr/>
          <p:nvPr/>
        </p:nvSpPr>
        <p:spPr>
          <a:xfrm>
            <a:off x="8670000" y="2532768"/>
            <a:ext cx="1250000" cy="450000"/>
          </a:xfrm>
          <a:prstGeom prst="roundRect">
            <a:avLst>
              <a:gd name="adj" fmla="val 12000"/>
            </a:avLst>
          </a:prstGeom>
          <a:solidFill>
            <a:srgbClr val="111B2E"/>
          </a:solidFill>
          <a:ln w="19050">
            <a:solidFill>
              <a:srgbClr val="1E3A5F"/>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CBD5E1"/>
                </a:solidFill>
                <a:latin typeface="Consolas"/>
                <a:ea typeface="Consolas"/>
                <a:cs typeface="Consolas"/>
              </a:rPr>
              <a:t>"laptop"</a:t>
            </a:r>
            <a:endParaRPr lang="en-US" sz="1050" dirty="0"/>
          </a:p>
        </p:txBody>
      </p:sp>
      <p:sp>
        <p:nvSpPr>
          <p:cNvPr id="48" name="box"/>
          <p:cNvSpPr/>
          <p:nvPr/>
        </p:nvSpPr>
        <p:spPr>
          <a:xfrm>
            <a:off x="10000000" y="2532768"/>
            <a:ext cx="1510254" cy="450000"/>
          </a:xfrm>
          <a:prstGeom prst="roundRect">
            <a:avLst>
              <a:gd name="adj" fmla="val 12000"/>
            </a:avLst>
          </a:prstGeom>
          <a:solidFill>
            <a:srgbClr val="111B2E"/>
          </a:solidFill>
          <a:ln w="1905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94A3B8"/>
                </a:solidFill>
                <a:latin typeface="Consolas"/>
                <a:ea typeface="Consolas"/>
                <a:cs typeface="Consolas"/>
              </a:rPr>
              <a:t>missing</a:t>
            </a:r>
            <a:endParaRPr lang="en-US" sz="1050" dirty="0"/>
          </a:p>
        </p:txBody>
      </p:sp>
      <p:sp>
        <p:nvSpPr>
          <p:cNvPr id="49" name="box"/>
          <p:cNvSpPr/>
          <p:nvPr/>
        </p:nvSpPr>
        <p:spPr>
          <a:xfrm>
            <a:off x="10000000" y="2532768"/>
            <a:ext cx="1510254" cy="45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0</a:t>
            </a:r>
            <a:endParaRPr lang="en-US" sz="1300" dirty="0"/>
          </a:p>
        </p:txBody>
      </p:sp>
      <p:sp>
        <p:nvSpPr>
          <p:cNvPr id="50" name="chip"/>
          <p:cNvSpPr/>
          <p:nvPr/>
        </p:nvSpPr>
        <p:spPr>
          <a:xfrm>
            <a:off x="6250000" y="1972768"/>
            <a:ext cx="1300000" cy="42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4D91F0"/>
                </a:solidFill>
                <a:latin typeface="Segoe UI"/>
                <a:ea typeface="Segoe UI"/>
                <a:cs typeface="Segoe UI"/>
              </a:rPr>
              <a:t>Thread A</a:t>
            </a:r>
            <a:endParaRPr lang="en-US" sz="1050" dirty="0"/>
          </a:p>
        </p:txBody>
      </p:sp>
      <p:sp>
        <p:nvSpPr>
          <p:cNvPr id="51" name="chip"/>
          <p:cNvSpPr/>
          <p:nvPr/>
        </p:nvSpPr>
        <p:spPr>
          <a:xfrm>
            <a:off x="6250000" y="2562768"/>
            <a:ext cx="1300000" cy="42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Thread B</a:t>
            </a:r>
            <a:endParaRPr lang="en-US" sz="1050" dirty="0"/>
          </a:p>
        </p:txBody>
      </p:sp>
      <p:cxnSp>
        <p:nvCxnSpPr>
          <p:cNvPr id="52" name="arrow"/>
          <p:cNvCxnSpPr/>
          <p:nvPr/>
        </p:nvCxnSpPr>
        <p:spPr>
          <a:xfrm>
            <a:off x="7570000" y="2182768"/>
            <a:ext cx="1080000" cy="0"/>
          </a:xfrm>
          <a:prstGeom prst="line">
            <a:avLst/>
          </a:prstGeom>
          <a:ln w="28575">
            <a:solidFill>
              <a:srgbClr val="4D91F0"/>
            </a:solidFill>
            <a:tailEnd type="triangle" w="med" len="med"/>
          </a:ln>
        </p:spPr>
      </p:cxnSp>
      <p:cxnSp>
        <p:nvCxnSpPr>
          <p:cNvPr id="53" name="arrow"/>
          <p:cNvCxnSpPr/>
          <p:nvPr/>
        </p:nvCxnSpPr>
        <p:spPr>
          <a:xfrm flipV="1">
            <a:off x="7570000" y="2252768"/>
            <a:ext cx="1080000" cy="520000"/>
          </a:xfrm>
          <a:prstGeom prst="line">
            <a:avLst/>
          </a:prstGeom>
          <a:ln w="28575">
            <a:solidFill>
              <a:srgbClr val="FBBF24"/>
            </a:solidFill>
            <a:tailEnd type="triangle" w="med" len="med"/>
          </a:ln>
        </p:spPr>
      </p:cxnSp>
      <p:sp>
        <p:nvSpPr>
          <p:cNvPr id="54" name="caption"/>
          <p:cNvSpPr/>
          <p:nvPr/>
        </p:nvSpPr>
        <p:spPr>
          <a:xfrm>
            <a:off x="6250000" y="3222768"/>
            <a:ext cx="5380254" cy="56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Two requests for "phone" arrive together. A and B both read views["phone"] = 5.</a:t>
            </a:r>
            <a:endParaRPr lang="en-US" sz="1150" dirty="0"/>
          </a:p>
        </p:txBody>
      </p:sp>
      <p:sp>
        <p:nvSpPr>
          <p:cNvPr id="55" name="caption"/>
          <p:cNvSpPr/>
          <p:nvPr/>
        </p:nvSpPr>
        <p:spPr>
          <a:xfrm>
            <a:off x="6250000" y="3222768"/>
            <a:ext cx="5380254" cy="56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writes 5 + 1 = 6. B also writes 5 + 1 = 6. Two views happened, the count went up by one.</a:t>
            </a:r>
            <a:endParaRPr lang="en-US" sz="1150" dirty="0"/>
          </a:p>
        </p:txBody>
      </p:sp>
      <p:sp>
        <p:nvSpPr>
          <p:cNvPr id="56" name="caption"/>
          <p:cNvSpPr/>
          <p:nvPr/>
        </p:nvSpPr>
        <p:spPr>
          <a:xfrm>
            <a:off x="6250000" y="3222768"/>
            <a:ext cx="5380254" cy="56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new product: both check ContainsKey("laptop"): false for both. A adds it first...</a:t>
            </a:r>
            <a:endParaRPr lang="en-US" sz="1150" dirty="0"/>
          </a:p>
        </p:txBody>
      </p:sp>
      <p:sp>
        <p:nvSpPr>
          <p:cNvPr id="57" name="caption"/>
          <p:cNvSpPr/>
          <p:nvPr/>
        </p:nvSpPr>
        <p:spPr>
          <a:xfrm>
            <a:off x="6250000" y="3222768"/>
            <a:ext cx="5380254" cy="56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...then B calls Add("laptop") too, and the key already exists: exception!</a:t>
            </a:r>
            <a:endParaRPr lang="en-US" sz="1150" dirty="0"/>
          </a:p>
        </p:txBody>
      </p:sp>
      <p:sp>
        <p:nvSpPr>
          <p:cNvPr id="58" name="exc"/>
          <p:cNvSpPr/>
          <p:nvPr/>
        </p:nvSpPr>
        <p:spPr>
          <a:xfrm>
            <a:off x="6250000" y="3882768"/>
            <a:ext cx="5380254" cy="650000"/>
          </a:xfrm>
          <a:prstGeom prst="roundRect">
            <a:avLst>
              <a:gd name="adj" fmla="val 10000"/>
            </a:avLst>
          </a:prstGeom>
          <a:solidFill>
            <a:srgbClr val="2A1215"/>
          </a:solidFill>
          <a:ln w="19050">
            <a:solidFill>
              <a:srgbClr val="F87171"/>
            </a:solidFill>
            <a:prstDash val="solid"/>
          </a:ln>
        </p:spPr>
        <p:txBody>
          <a:bodyPr wrap="square" lIns="137160" tIns="45720" rIns="137160" bIns="4572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ArgumentException: An item with the same key has already been added. Key: laptop</a:t>
            </a:r>
            <a:endParaRPr lang="en-US" sz="1050" dirty="0"/>
          </a:p>
        </p:txBody>
      </p:sp>
      <p:sp>
        <p:nvSpPr>
          <p:cNvPr id="59" name="lab"/>
          <p:cNvSpPr txBox="1"/>
          <p:nvPr/>
        </p:nvSpPr>
        <p:spPr>
          <a:xfrm>
            <a:off x="6250000" y="4602768"/>
            <a:ext cx="5380254" cy="3472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Worse: if two writes hit while the Dictionary grows, its insides can be corrupted.</a:t>
            </a:r>
            <a:endParaRPr lang="en-US" sz="1050" dirty="0"/>
          </a:p>
        </p:txBody>
      </p:sp>
      <p:sp>
        <p:nvSpPr>
          <p:cNvPr id="60"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Dictionary is built for ONE thread at a time. Many threads: lost counts, exceptions, corrupted data.</a:t>
            </a:r>
            <a:endParaRPr lang="en-US" sz="1500" dirty="0"/>
          </a:p>
        </p:txBody>
      </p:sp>
    </p:spTree>
    <p:extLst>
      <p:ext uri="{BB962C8B-B14F-4D97-AF65-F5344CB8AC3E}">
        <p14:creationId xmlns:p14="http://schemas.microsoft.com/office/powerpoint/2010/main" val="33459490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3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3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300"/>
                                        <p:tgtEl>
                                          <p:spTgt spid="4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3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300"/>
                                        <p:tgtEl>
                                          <p:spTgt spid="4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fade">
                                      <p:cBhvr>
                                        <p:cTn id="69" dur="300"/>
                                        <p:tgtEl>
                                          <p:spTgt spid="4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300"/>
                                        <p:tgtEl>
                                          <p:spTgt spid="5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300"/>
                                        <p:tgtEl>
                                          <p:spTgt spid="5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00"/>
                                        <p:tgtEl>
                                          <p:spTgt spid="30"/>
                                        </p:tgtEl>
                                      </p:cBhvr>
                                    </p:animEffect>
                                  </p:childTnLst>
                                </p:cTn>
                              </p:par>
                              <p:par>
                                <p:cTn id="81" presetID="22" presetClass="entr" presetSubtype="8"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wipe(left)">
                                      <p:cBhvr>
                                        <p:cTn id="83" dur="600"/>
                                        <p:tgtEl>
                                          <p:spTgt spid="52"/>
                                        </p:tgtEl>
                                      </p:cBhvr>
                                    </p:animEffect>
                                  </p:childTnLst>
                                </p:cTn>
                              </p:par>
                              <p:par>
                                <p:cTn id="84" presetID="22" presetClass="entr" presetSubtype="8" fill="hold"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wipe(left)">
                                      <p:cBhvr>
                                        <p:cTn id="86" dur="600"/>
                                        <p:tgtEl>
                                          <p:spTgt spid="53"/>
                                        </p:tgtEl>
                                      </p:cBhvr>
                                    </p:animEffect>
                                  </p:childTnLst>
                                </p:cTn>
                              </p:par>
                              <p:par>
                                <p:cTn id="87" presetID="10" presetClass="entr" presetSubtype="0" fill="hold" grpId="0" nodeType="withEffect">
                                  <p:stCondLst>
                                    <p:cond delay="300"/>
                                  </p:stCondLst>
                                  <p:childTnLst>
                                    <p:set>
                                      <p:cBhvr>
                                        <p:cTn id="88" dur="1" fill="hold">
                                          <p:stCondLst>
                                            <p:cond delay="0"/>
                                          </p:stCondLst>
                                        </p:cTn>
                                        <p:tgtEl>
                                          <p:spTgt spid="54"/>
                                        </p:tgtEl>
                                        <p:attrNameLst>
                                          <p:attrName>style.visibility</p:attrName>
                                        </p:attrNameLst>
                                      </p:cBhvr>
                                      <p:to>
                                        <p:strVal val="visible"/>
                                      </p:to>
                                    </p:set>
                                    <p:animEffect transition="in" filter="fade">
                                      <p:cBhvr>
                                        <p:cTn id="89" dur="300"/>
                                        <p:tgtEl>
                                          <p:spTgt spid="5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300"/>
                                        <p:tgtEl>
                                          <p:spTgt spid="45"/>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300"/>
                                        <p:tgtEl>
                                          <p:spTgt spid="46"/>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5"/>
                                        </p:tgtEl>
                                        <p:attrNameLst>
                                          <p:attrName>style.visibility</p:attrName>
                                        </p:attrNameLst>
                                      </p:cBhvr>
                                      <p:to>
                                        <p:strVal val="visible"/>
                                      </p:to>
                                    </p:set>
                                    <p:animEffect transition="in" filter="fade">
                                      <p:cBhvr>
                                        <p:cTn id="100" dur="300"/>
                                        <p:tgtEl>
                                          <p:spTgt spid="55"/>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300"/>
                                        <p:tgtEl>
                                          <p:spTgt spid="3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6"/>
                                        </p:tgtEl>
                                        <p:attrNameLst>
                                          <p:attrName>style.visibility</p:attrName>
                                        </p:attrNameLst>
                                      </p:cBhvr>
                                      <p:to>
                                        <p:strVal val="visible"/>
                                      </p:to>
                                    </p:set>
                                    <p:animEffect transition="in" filter="fade">
                                      <p:cBhvr>
                                        <p:cTn id="108" dur="300"/>
                                        <p:tgtEl>
                                          <p:spTgt spid="56"/>
                                        </p:tgtEl>
                                      </p:cBhvr>
                                    </p:animEffect>
                                  </p:childTnLst>
                                </p:cTn>
                              </p:par>
                              <p:par>
                                <p:cTn id="109" presetID="10" presetClass="entr" presetSubtype="0" fill="hold" grpId="0" nodeType="withEffect">
                                  <p:stCondLst>
                                    <p:cond delay="600"/>
                                  </p:stCondLst>
                                  <p:childTnLst>
                                    <p:set>
                                      <p:cBhvr>
                                        <p:cTn id="110" dur="1" fill="hold">
                                          <p:stCondLst>
                                            <p:cond delay="0"/>
                                          </p:stCondLst>
                                        </p:cTn>
                                        <p:tgtEl>
                                          <p:spTgt spid="49"/>
                                        </p:tgtEl>
                                        <p:attrNameLst>
                                          <p:attrName>style.visibility</p:attrName>
                                        </p:attrNameLst>
                                      </p:cBhvr>
                                      <p:to>
                                        <p:strVal val="visible"/>
                                      </p:to>
                                    </p:set>
                                    <p:animEffect transition="in" filter="fade">
                                      <p:cBhvr>
                                        <p:cTn id="111" dur="300"/>
                                        <p:tgtEl>
                                          <p:spTgt spid="49"/>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7"/>
                                        </p:tgtEl>
                                        <p:attrNameLst>
                                          <p:attrName>style.visibility</p:attrName>
                                        </p:attrNameLst>
                                      </p:cBhvr>
                                      <p:to>
                                        <p:strVal val="visible"/>
                                      </p:to>
                                    </p:set>
                                    <p:animEffect transition="in" filter="fade">
                                      <p:cBhvr>
                                        <p:cTn id="116" dur="300"/>
                                        <p:tgtEl>
                                          <p:spTgt spid="57"/>
                                        </p:tgtEl>
                                      </p:cBhvr>
                                    </p:animEffect>
                                  </p:childTnLst>
                                </p:cTn>
                              </p:par>
                              <p:par>
                                <p:cTn id="117" presetID="22" presetClass="entr" presetSubtype="8" fill="hold" grpId="0" nodeType="withEffect">
                                  <p:stCondLst>
                                    <p:cond delay="300"/>
                                  </p:stCondLst>
                                  <p:childTnLst>
                                    <p:set>
                                      <p:cBhvr>
                                        <p:cTn id="118" dur="1" fill="hold">
                                          <p:stCondLst>
                                            <p:cond delay="0"/>
                                          </p:stCondLst>
                                        </p:cTn>
                                        <p:tgtEl>
                                          <p:spTgt spid="58"/>
                                        </p:tgtEl>
                                        <p:attrNameLst>
                                          <p:attrName>style.visibility</p:attrName>
                                        </p:attrNameLst>
                                      </p:cBhvr>
                                      <p:to>
                                        <p:strVal val="visible"/>
                                      </p:to>
                                    </p:set>
                                    <p:animEffect transition="in" filter="wipe(left)">
                                      <p:cBhvr>
                                        <p:cTn id="119" dur="600"/>
                                        <p:tgtEl>
                                          <p:spTgt spid="58"/>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59"/>
                                        </p:tgtEl>
                                        <p:attrNameLst>
                                          <p:attrName>style.visibility</p:attrName>
                                        </p:attrNameLst>
                                      </p:cBhvr>
                                      <p:to>
                                        <p:strVal val="visible"/>
                                      </p:to>
                                    </p:set>
                                    <p:animEffect transition="in" filter="fade">
                                      <p:cBhvr>
                                        <p:cTn id="124" dur="300"/>
                                        <p:tgtEl>
                                          <p:spTgt spid="5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300"/>
                                        <p:tgtEl>
                                          <p:spTgt spid="3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300"/>
                                        <p:tgtEl>
                                          <p:spTgt spid="3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4"/>
                                        </p:tgtEl>
                                        <p:attrNameLst>
                                          <p:attrName>style.visibility</p:attrName>
                                        </p:attrNameLst>
                                      </p:cBhvr>
                                      <p:to>
                                        <p:strVal val="visible"/>
                                      </p:to>
                                    </p:set>
                                    <p:animEffect transition="in" filter="fade">
                                      <p:cBhvr>
                                        <p:cTn id="133" dur="300"/>
                                        <p:tgtEl>
                                          <p:spTgt spid="3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300"/>
                                        <p:tgtEl>
                                          <p:spTgt spid="3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6"/>
                                        </p:tgtEl>
                                        <p:attrNameLst>
                                          <p:attrName>style.visibility</p:attrName>
                                        </p:attrNameLst>
                                      </p:cBhvr>
                                      <p:to>
                                        <p:strVal val="visible"/>
                                      </p:to>
                                    </p:set>
                                    <p:animEffect transition="in" filter="fade">
                                      <p:cBhvr>
                                        <p:cTn id="139" dur="300"/>
                                        <p:tgtEl>
                                          <p:spTgt spid="3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300"/>
                                        <p:tgtEl>
                                          <p:spTgt spid="3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Effect transition="in" filter="fade">
                                      <p:cBhvr>
                                        <p:cTn id="145" dur="300"/>
                                        <p:tgtEl>
                                          <p:spTgt spid="3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300"/>
                                        <p:tgtEl>
                                          <p:spTgt spid="39"/>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300"/>
                                        <p:tgtEl>
                                          <p:spTgt spid="40"/>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60"/>
                                        </p:tgtEl>
                                        <p:attrNameLst>
                                          <p:attrName>style.visibility</p:attrName>
                                        </p:attrNameLst>
                                      </p:cBhvr>
                                      <p:to>
                                        <p:strVal val="visible"/>
                                      </p:to>
                                    </p:set>
                                    <p:animEffect transition="in" filter="fade">
                                      <p:cBhvr>
                                        <p:cTn id="156" dur="3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4" grpId="0" animBg="1"/>
      <p:bldP spid="55" grpId="0" animBg="1"/>
      <p:bldP spid="56" grpId="0" animBg="1"/>
      <p:bldP spid="57" grpId="0" animBg="1"/>
      <p:bldP spid="58" grpId="0" animBg="1"/>
      <p:bldP spid="59" grpId="0" animBg="1"/>
      <p:bldP spid="6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DICTIONARY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With ConcurrentDictionary: Every View Counted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52</a:t>
            </a:r>
            <a:endParaRPr lang="en-US" sz="850" dirty="0"/>
          </a:p>
        </p:txBody>
      </p:sp>
      <p:sp>
        <p:nvSpPr>
          <p:cNvPr id="15" name="cw_win"/>
          <p:cNvSpPr/>
          <p:nvPr/>
        </p:nvSpPr>
        <p:spPr>
          <a:xfrm>
            <a:off x="543154" y="1572768"/>
            <a:ext cx="5550000" cy="250868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5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5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31" name="cw_hl01"/>
          <p:cNvSpPr/>
          <p:nvPr/>
        </p:nvSpPr>
        <p:spPr>
          <a:xfrm>
            <a:off x="676656" y="2196288"/>
            <a:ext cx="5282996"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32" name="cw_hl05"/>
          <p:cNvSpPr/>
          <p:nvPr/>
        </p:nvSpPr>
        <p:spPr>
          <a:xfrm>
            <a:off x="676656" y="3049728"/>
            <a:ext cx="5282996" cy="67665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using </a:t>
            </a:r>
            <a:r>
              <a:rPr lang="en-US" sz="1050" b="0" dirty="0">
                <a:solidFill>
                  <a:srgbClr val="E2E8F0"/>
                </a:solidFill>
                <a:latin typeface="Consolas"/>
                <a:ea typeface="Consolas"/>
                <a:cs typeface="Consolas"/>
              </a:rPr>
              <a:t>System.Collections.Concurrent;</a:t>
            </a:r>
            <a:endParaRPr lang="en-US" sz="1050" dirty="0"/>
          </a:p>
        </p:txBody>
      </p:sp>
      <p:sp>
        <p:nvSpPr>
          <p:cNvPr id="23" name="cw_L01"/>
          <p:cNvSpPr txBox="1"/>
          <p:nvPr/>
        </p:nvSpPr>
        <p:spPr>
          <a:xfrm>
            <a:off x="771754" y="221457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ConcurrentDictionary&lt;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&gt; views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2793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Called by many request threads at once</a:t>
            </a:r>
            <a:endParaRPr lang="en-US" sz="1050" dirty="0"/>
          </a:p>
        </p:txBody>
      </p:sp>
      <p:sp>
        <p:nvSpPr>
          <p:cNvPr id="25" name="cw_L03"/>
          <p:cNvSpPr txBox="1"/>
          <p:nvPr/>
        </p:nvSpPr>
        <p:spPr>
          <a:xfrm>
            <a:off x="771754" y="264129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void </a:t>
            </a:r>
            <a:r>
              <a:rPr lang="en-US" sz="1050" b="0" dirty="0">
                <a:solidFill>
                  <a:srgbClr val="E2E8F0"/>
                </a:solidFill>
                <a:latin typeface="Consolas"/>
                <a:ea typeface="Consolas"/>
                <a:cs typeface="Consolas"/>
              </a:rPr>
              <a:t>RecordView(</a:t>
            </a: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product)</a:t>
            </a:r>
            <a:endParaRPr lang="en-US" sz="1050" dirty="0"/>
          </a:p>
        </p:txBody>
      </p:sp>
      <p:sp>
        <p:nvSpPr>
          <p:cNvPr id="26" name="cw_L04"/>
          <p:cNvSpPr txBox="1"/>
          <p:nvPr/>
        </p:nvSpPr>
        <p:spPr>
          <a:xfrm>
            <a:off x="771754" y="285465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_L05"/>
          <p:cNvSpPr txBox="1"/>
          <p:nvPr/>
        </p:nvSpPr>
        <p:spPr>
          <a:xfrm>
            <a:off x="771754" y="3068016"/>
            <a:ext cx="51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views.AddOrUpdate(product,</a:t>
            </a:r>
            <a:endParaRPr lang="en-US" sz="1050" dirty="0"/>
          </a:p>
        </p:txBody>
      </p:sp>
      <p:sp>
        <p:nvSpPr>
          <p:cNvPr id="28" name="cw_L06"/>
          <p:cNvSpPr txBox="1"/>
          <p:nvPr/>
        </p:nvSpPr>
        <p:spPr>
          <a:xfrm>
            <a:off x="771754" y="3281376"/>
            <a:ext cx="51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addValue: 1,                      </a:t>
            </a:r>
            <a:r>
              <a:rPr lang="en-US" sz="1050" b="0" dirty="0">
                <a:solidFill>
                  <a:srgbClr val="6FAE7A"/>
                </a:solidFill>
                <a:latin typeface="Consolas"/>
                <a:ea typeface="Consolas"/>
                <a:cs typeface="Consolas"/>
              </a:rPr>
              <a:t>// key missing</a:t>
            </a:r>
            <a:endParaRPr lang="en-US" sz="1050" dirty="0"/>
          </a:p>
        </p:txBody>
      </p:sp>
      <p:sp>
        <p:nvSpPr>
          <p:cNvPr id="29" name="cw_L07"/>
          <p:cNvSpPr txBox="1"/>
          <p:nvPr/>
        </p:nvSpPr>
        <p:spPr>
          <a:xfrm>
            <a:off x="771754" y="3494736"/>
            <a:ext cx="51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updateValueFactory: (_, old) =&gt; old + 1); </a:t>
            </a:r>
            <a:r>
              <a:rPr lang="en-US" sz="1050" b="0" dirty="0">
                <a:solidFill>
                  <a:srgbClr val="6FAE7A"/>
                </a:solidFill>
                <a:latin typeface="Consolas"/>
                <a:ea typeface="Consolas"/>
                <a:cs typeface="Consolas"/>
              </a:rPr>
              <a:t>// exists</a:t>
            </a:r>
            <a:endParaRPr lang="en-US" sz="1050" dirty="0"/>
          </a:p>
        </p:txBody>
      </p:sp>
      <p:sp>
        <p:nvSpPr>
          <p:cNvPr id="30" name="cw_L08"/>
          <p:cNvSpPr txBox="1"/>
          <p:nvPr/>
        </p:nvSpPr>
        <p:spPr>
          <a:xfrm>
            <a:off x="771754" y="3708096"/>
            <a:ext cx="51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3" name="card"/>
          <p:cNvSpPr/>
          <p:nvPr/>
        </p:nvSpPr>
        <p:spPr>
          <a:xfrm>
            <a:off x="543154" y="4201456"/>
            <a:ext cx="5550000" cy="748544"/>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GOOD TO KNOW</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On a collision the update runs again, so keep updateValueFactory a simple calculation: no emails, no logging.</a:t>
            </a:r>
            <a:endParaRPr lang="en-US" sz="1050" dirty="0"/>
          </a:p>
        </p:txBody>
      </p:sp>
      <p:sp>
        <p:nvSpPr>
          <p:cNvPr id="34" name="panel"/>
          <p:cNvSpPr/>
          <p:nvPr/>
        </p:nvSpPr>
        <p:spPr>
          <a:xfrm>
            <a:off x="8550000" y="1572768"/>
            <a:ext cx="3080254" cy="155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35" name="lab"/>
          <p:cNvSpPr txBox="1"/>
          <p:nvPr/>
        </p:nvSpPr>
        <p:spPr>
          <a:xfrm>
            <a:off x="8670000" y="1612768"/>
            <a:ext cx="2840254"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views   (ConcurrentDictionary)</a:t>
            </a:r>
            <a:endParaRPr lang="en-US" sz="1050" dirty="0"/>
          </a:p>
        </p:txBody>
      </p:sp>
      <p:sp>
        <p:nvSpPr>
          <p:cNvPr id="36" name="box"/>
          <p:cNvSpPr/>
          <p:nvPr/>
        </p:nvSpPr>
        <p:spPr>
          <a:xfrm>
            <a:off x="8670000" y="1972768"/>
            <a:ext cx="1250000" cy="450000"/>
          </a:xfrm>
          <a:prstGeom prst="roundRect">
            <a:avLst>
              <a:gd name="adj" fmla="val 12000"/>
            </a:avLst>
          </a:prstGeom>
          <a:solidFill>
            <a:srgbClr val="111B2E"/>
          </a:solidFill>
          <a:ln w="19050">
            <a:solidFill>
              <a:srgbClr val="1E3A5F"/>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CBD5E1"/>
                </a:solidFill>
                <a:latin typeface="Consolas"/>
                <a:ea typeface="Consolas"/>
                <a:cs typeface="Consolas"/>
              </a:rPr>
              <a:t>"phone"</a:t>
            </a:r>
            <a:endParaRPr lang="en-US" sz="1050" dirty="0"/>
          </a:p>
        </p:txBody>
      </p:sp>
      <p:sp>
        <p:nvSpPr>
          <p:cNvPr id="37" name="box"/>
          <p:cNvSpPr/>
          <p:nvPr/>
        </p:nvSpPr>
        <p:spPr>
          <a:xfrm>
            <a:off x="10000000" y="1972768"/>
            <a:ext cx="1510254" cy="45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5</a:t>
            </a:r>
            <a:endParaRPr lang="en-US" sz="1300" dirty="0"/>
          </a:p>
        </p:txBody>
      </p:sp>
      <p:sp>
        <p:nvSpPr>
          <p:cNvPr id="38" name="box"/>
          <p:cNvSpPr/>
          <p:nvPr/>
        </p:nvSpPr>
        <p:spPr>
          <a:xfrm>
            <a:off x="10000000" y="1972768"/>
            <a:ext cx="1510254" cy="45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6</a:t>
            </a:r>
            <a:endParaRPr lang="en-US" sz="1300" dirty="0"/>
          </a:p>
        </p:txBody>
      </p:sp>
      <p:sp>
        <p:nvSpPr>
          <p:cNvPr id="39" name="box"/>
          <p:cNvSpPr/>
          <p:nvPr/>
        </p:nvSpPr>
        <p:spPr>
          <a:xfrm>
            <a:off x="10000000" y="1972768"/>
            <a:ext cx="1510254" cy="45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34D399"/>
                </a:solidFill>
                <a:latin typeface="Consolas"/>
                <a:ea typeface="Consolas"/>
                <a:cs typeface="Consolas"/>
              </a:rPr>
              <a:t>7</a:t>
            </a:r>
            <a:endParaRPr lang="en-US" sz="1300" dirty="0"/>
          </a:p>
        </p:txBody>
      </p:sp>
      <p:sp>
        <p:nvSpPr>
          <p:cNvPr id="40" name="box"/>
          <p:cNvSpPr/>
          <p:nvPr/>
        </p:nvSpPr>
        <p:spPr>
          <a:xfrm>
            <a:off x="8670000" y="2532768"/>
            <a:ext cx="1250000" cy="450000"/>
          </a:xfrm>
          <a:prstGeom prst="roundRect">
            <a:avLst>
              <a:gd name="adj" fmla="val 12000"/>
            </a:avLst>
          </a:prstGeom>
          <a:solidFill>
            <a:srgbClr val="111B2E"/>
          </a:solidFill>
          <a:ln w="19050">
            <a:solidFill>
              <a:srgbClr val="1E3A5F"/>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CBD5E1"/>
                </a:solidFill>
                <a:latin typeface="Consolas"/>
                <a:ea typeface="Consolas"/>
                <a:cs typeface="Consolas"/>
              </a:rPr>
              <a:t>"laptop"</a:t>
            </a:r>
            <a:endParaRPr lang="en-US" sz="1050" dirty="0"/>
          </a:p>
        </p:txBody>
      </p:sp>
      <p:sp>
        <p:nvSpPr>
          <p:cNvPr id="41" name="box"/>
          <p:cNvSpPr/>
          <p:nvPr/>
        </p:nvSpPr>
        <p:spPr>
          <a:xfrm>
            <a:off x="10000000" y="2532768"/>
            <a:ext cx="1510254" cy="450000"/>
          </a:xfrm>
          <a:prstGeom prst="roundRect">
            <a:avLst>
              <a:gd name="adj" fmla="val 12000"/>
            </a:avLst>
          </a:prstGeom>
          <a:solidFill>
            <a:srgbClr val="111B2E"/>
          </a:solidFill>
          <a:ln w="1905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94A3B8"/>
                </a:solidFill>
                <a:latin typeface="Consolas"/>
                <a:ea typeface="Consolas"/>
                <a:cs typeface="Consolas"/>
              </a:rPr>
              <a:t>missing</a:t>
            </a:r>
            <a:endParaRPr lang="en-US" sz="1050" dirty="0"/>
          </a:p>
        </p:txBody>
      </p:sp>
      <p:sp>
        <p:nvSpPr>
          <p:cNvPr id="42" name="box"/>
          <p:cNvSpPr/>
          <p:nvPr/>
        </p:nvSpPr>
        <p:spPr>
          <a:xfrm>
            <a:off x="10000000" y="2532768"/>
            <a:ext cx="1510254" cy="45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1</a:t>
            </a:r>
            <a:endParaRPr lang="en-US" sz="1300" dirty="0"/>
          </a:p>
        </p:txBody>
      </p:sp>
      <p:sp>
        <p:nvSpPr>
          <p:cNvPr id="43" name="box"/>
          <p:cNvSpPr/>
          <p:nvPr/>
        </p:nvSpPr>
        <p:spPr>
          <a:xfrm>
            <a:off x="10000000" y="2532768"/>
            <a:ext cx="1510254" cy="45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300" b="1" dirty="0">
                <a:solidFill>
                  <a:srgbClr val="34D399"/>
                </a:solidFill>
                <a:latin typeface="Consolas"/>
                <a:ea typeface="Consolas"/>
                <a:cs typeface="Consolas"/>
              </a:rPr>
              <a:t>2</a:t>
            </a:r>
            <a:endParaRPr lang="en-US" sz="1300" dirty="0"/>
          </a:p>
        </p:txBody>
      </p:sp>
      <p:sp>
        <p:nvSpPr>
          <p:cNvPr id="44" name="chip"/>
          <p:cNvSpPr/>
          <p:nvPr/>
        </p:nvSpPr>
        <p:spPr>
          <a:xfrm>
            <a:off x="6250000" y="1972768"/>
            <a:ext cx="1300000" cy="42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4D91F0"/>
                </a:solidFill>
                <a:latin typeface="Segoe UI"/>
                <a:ea typeface="Segoe UI"/>
                <a:cs typeface="Segoe UI"/>
              </a:rPr>
              <a:t>Thread A</a:t>
            </a:r>
            <a:endParaRPr lang="en-US" sz="1050" dirty="0"/>
          </a:p>
        </p:txBody>
      </p:sp>
      <p:sp>
        <p:nvSpPr>
          <p:cNvPr id="45" name="chip"/>
          <p:cNvSpPr/>
          <p:nvPr/>
        </p:nvSpPr>
        <p:spPr>
          <a:xfrm>
            <a:off x="6250000" y="2562768"/>
            <a:ext cx="1300000" cy="42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Thread B</a:t>
            </a:r>
            <a:endParaRPr lang="en-US" sz="1050" dirty="0"/>
          </a:p>
        </p:txBody>
      </p:sp>
      <p:cxnSp>
        <p:nvCxnSpPr>
          <p:cNvPr id="46" name="arrow"/>
          <p:cNvCxnSpPr/>
          <p:nvPr/>
        </p:nvCxnSpPr>
        <p:spPr>
          <a:xfrm>
            <a:off x="7570000" y="2182768"/>
            <a:ext cx="1080000" cy="0"/>
          </a:xfrm>
          <a:prstGeom prst="line">
            <a:avLst/>
          </a:prstGeom>
          <a:ln w="28575">
            <a:solidFill>
              <a:srgbClr val="4D91F0"/>
            </a:solidFill>
            <a:tailEnd type="triangle" w="med" len="med"/>
          </a:ln>
        </p:spPr>
      </p:cxnSp>
      <p:cxnSp>
        <p:nvCxnSpPr>
          <p:cNvPr id="47" name="arrow"/>
          <p:cNvCxnSpPr/>
          <p:nvPr/>
        </p:nvCxnSpPr>
        <p:spPr>
          <a:xfrm flipV="1">
            <a:off x="7570000" y="2252768"/>
            <a:ext cx="1080000" cy="520000"/>
          </a:xfrm>
          <a:prstGeom prst="line">
            <a:avLst/>
          </a:prstGeom>
          <a:ln w="28575">
            <a:solidFill>
              <a:srgbClr val="FBBF24"/>
            </a:solidFill>
            <a:tailEnd type="triangle" w="med" len="med"/>
          </a:ln>
        </p:spPr>
      </p:cxnSp>
      <p:sp>
        <p:nvSpPr>
          <p:cNvPr id="48" name="caption"/>
          <p:cNvSpPr/>
          <p:nvPr/>
        </p:nvSpPr>
        <p:spPr>
          <a:xfrm>
            <a:off x="6250000" y="3222768"/>
            <a:ext cx="5380254" cy="56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and B both call AddOrUpdate("phone") at the same moment. Both see old = 5.</a:t>
            </a:r>
            <a:endParaRPr lang="en-US" sz="1150" dirty="0"/>
          </a:p>
        </p:txBody>
      </p:sp>
      <p:sp>
        <p:nvSpPr>
          <p:cNvPr id="49" name="caption"/>
          <p:cNvSpPr/>
          <p:nvPr/>
        </p:nvSpPr>
        <p:spPr>
          <a:xfrm>
            <a:off x="6250000" y="3222768"/>
            <a:ext cx="5380254" cy="56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A stores 6. It checks the value is still 5 while storing, so it succeeds.</a:t>
            </a:r>
            <a:endParaRPr lang="en-US" sz="1150" dirty="0"/>
          </a:p>
        </p:txBody>
      </p:sp>
      <p:sp>
        <p:nvSpPr>
          <p:cNvPr id="50" name="caption"/>
          <p:cNvSpPr/>
          <p:nvPr/>
        </p:nvSpPr>
        <p:spPr>
          <a:xfrm>
            <a:off x="6250000" y="3222768"/>
            <a:ext cx="5380254" cy="56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B tries to store 6, but the value is now 6, not 5: refused. B retries with old = 6 and stores 7.</a:t>
            </a:r>
            <a:endParaRPr lang="en-US" sz="1150" dirty="0"/>
          </a:p>
        </p:txBody>
      </p:sp>
      <p:sp>
        <p:nvSpPr>
          <p:cNvPr id="51" name="caption"/>
          <p:cNvSpPr/>
          <p:nvPr/>
        </p:nvSpPr>
        <p:spPr>
          <a:xfrm>
            <a:off x="6250000" y="3222768"/>
            <a:ext cx="5380254" cy="56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"laptop" is missing: one thread adds 1, the other then updates it to 2. No exception.</a:t>
            </a:r>
            <a:endParaRPr lang="en-US" sz="1150" dirty="0"/>
          </a:p>
        </p:txBody>
      </p:sp>
      <p:sp>
        <p:nvSpPr>
          <p:cNvPr id="52" name="res"/>
          <p:cNvSpPr/>
          <p:nvPr/>
        </p:nvSpPr>
        <p:spPr>
          <a:xfrm>
            <a:off x="6250000" y="3882768"/>
            <a:ext cx="5380254" cy="650000"/>
          </a:xfrm>
          <a:prstGeom prst="roundRect">
            <a:avLst>
              <a:gd name="adj" fmla="val 10000"/>
            </a:avLst>
          </a:prstGeom>
          <a:solidFill>
            <a:srgbClr val="0E2A26"/>
          </a:solidFill>
          <a:ln w="19050">
            <a:solidFill>
              <a:srgbClr val="34D399"/>
            </a:solidFill>
            <a:prstDash val="solid"/>
          </a:ln>
        </p:spPr>
        <p:txBody>
          <a:bodyPr wrap="square" lIns="137160" tIns="45720" rIns="137160" bIns="4572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phone = 100000 every run · no exceptions · no corruption</a:t>
            </a:r>
            <a:endParaRPr lang="en-US" sz="1150" dirty="0"/>
          </a:p>
        </p:txBody>
      </p:sp>
      <p:sp>
        <p:nvSpPr>
          <p:cNvPr id="53" name="lab"/>
          <p:cNvSpPr txBox="1"/>
          <p:nvPr/>
        </p:nvSpPr>
        <p:spPr>
          <a:xfrm>
            <a:off x="6250000" y="4602768"/>
            <a:ext cx="5380254" cy="3472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Other one-call methods:  </a:t>
            </a:r>
            <a:r>
              <a:rPr lang="en-US" sz="1050" b="1" dirty="0">
                <a:solidFill>
                  <a:srgbClr val="CBD5E1"/>
                </a:solidFill>
                <a:latin typeface="Consolas"/>
                <a:ea typeface="Consolas"/>
                <a:cs typeface="Consolas"/>
              </a:rPr>
              <a:t>TryAdd · TryGetValue · TryRemove · GetOrAdd</a:t>
            </a:r>
            <a:endParaRPr lang="en-US" sz="1050" dirty="0"/>
          </a:p>
        </p:txBody>
      </p:sp>
      <p:sp>
        <p:nvSpPr>
          <p:cNvPr id="54"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ConcurrentDictionary makes each call atomic. Put the whole rule in ONE call: AddOrUpdate, GetOrAdd, TryAdd.</a:t>
            </a:r>
            <a:endParaRPr lang="en-US" sz="1450" dirty="0"/>
          </a:p>
        </p:txBody>
      </p:sp>
    </p:spTree>
    <p:extLst>
      <p:ext uri="{BB962C8B-B14F-4D97-AF65-F5344CB8AC3E}">
        <p14:creationId xmlns:p14="http://schemas.microsoft.com/office/powerpoint/2010/main" val="13172761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300"/>
                                        <p:tgtEl>
                                          <p:spTgt spid="3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300"/>
                                        <p:tgtEl>
                                          <p:spTgt spid="3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300"/>
                                        <p:tgtEl>
                                          <p:spTgt spid="3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300"/>
                                        <p:tgtEl>
                                          <p:spTgt spid="3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3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3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3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300"/>
                                        <p:tgtEl>
                                          <p:spTgt spid="4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300"/>
                                        <p:tgtEl>
                                          <p:spTgt spid="32"/>
                                        </p:tgtEl>
                                      </p:cBhvr>
                                    </p:animEffect>
                                  </p:childTnLst>
                                </p:cTn>
                              </p:par>
                              <p:par>
                                <p:cTn id="87" presetID="22" presetClass="entr" presetSubtype="8" fill="hold"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wipe(left)">
                                      <p:cBhvr>
                                        <p:cTn id="89" dur="600"/>
                                        <p:tgtEl>
                                          <p:spTgt spid="46"/>
                                        </p:tgtEl>
                                      </p:cBhvr>
                                    </p:animEffect>
                                  </p:childTnLst>
                                </p:cTn>
                              </p:par>
                              <p:par>
                                <p:cTn id="90" presetID="22" presetClass="entr" presetSubtype="8" fill="hold"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wipe(left)">
                                      <p:cBhvr>
                                        <p:cTn id="92" dur="600"/>
                                        <p:tgtEl>
                                          <p:spTgt spid="47"/>
                                        </p:tgtEl>
                                      </p:cBhvr>
                                    </p:animEffect>
                                  </p:childTnLst>
                                </p:cTn>
                              </p:par>
                              <p:par>
                                <p:cTn id="93" presetID="10" presetClass="entr" presetSubtype="0" fill="hold" grpId="0" nodeType="withEffect">
                                  <p:stCondLst>
                                    <p:cond delay="30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300"/>
                                        <p:tgtEl>
                                          <p:spTgt spid="4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300"/>
                                        <p:tgtEl>
                                          <p:spTgt spid="3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300"/>
                                        <p:tgtEl>
                                          <p:spTgt spid="4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300"/>
                                        <p:tgtEl>
                                          <p:spTgt spid="50"/>
                                        </p:tgtEl>
                                      </p:cBhvr>
                                    </p:animEffect>
                                  </p:childTnLst>
                                </p:cTn>
                              </p:par>
                              <p:par>
                                <p:cTn id="109" presetID="10" presetClass="entr" presetSubtype="0" fill="hold" grpId="0" nodeType="withEffect">
                                  <p:stCondLst>
                                    <p:cond delay="90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300"/>
                                        <p:tgtEl>
                                          <p:spTgt spid="39"/>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300"/>
                                        <p:tgtEl>
                                          <p:spTgt spid="51"/>
                                        </p:tgtEl>
                                      </p:cBhvr>
                                    </p:animEffect>
                                  </p:childTnLst>
                                </p:cTn>
                              </p:par>
                              <p:par>
                                <p:cTn id="117" presetID="10" presetClass="entr" presetSubtype="0" fill="hold" grpId="0" nodeType="withEffect">
                                  <p:stCondLst>
                                    <p:cond delay="30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300"/>
                                        <p:tgtEl>
                                          <p:spTgt spid="42"/>
                                        </p:tgtEl>
                                      </p:cBhvr>
                                    </p:animEffect>
                                  </p:childTnLst>
                                </p:cTn>
                              </p:par>
                              <p:par>
                                <p:cTn id="120" presetID="10" presetClass="entr" presetSubtype="0" fill="hold" grpId="0" nodeType="withEffect">
                                  <p:stCondLst>
                                    <p:cond delay="110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300"/>
                                        <p:tgtEl>
                                          <p:spTgt spid="43"/>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52"/>
                                        </p:tgtEl>
                                        <p:attrNameLst>
                                          <p:attrName>style.visibility</p:attrName>
                                        </p:attrNameLst>
                                      </p:cBhvr>
                                      <p:to>
                                        <p:strVal val="visible"/>
                                      </p:to>
                                    </p:set>
                                    <p:animEffect transition="in" filter="fade">
                                      <p:cBhvr>
                                        <p:cTn id="127" dur="300"/>
                                        <p:tgtEl>
                                          <p:spTgt spid="5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3"/>
                                        </p:tgtEl>
                                        <p:attrNameLst>
                                          <p:attrName>style.visibility</p:attrName>
                                        </p:attrNameLst>
                                      </p:cBhvr>
                                      <p:to>
                                        <p:strVal val="visible"/>
                                      </p:to>
                                    </p:set>
                                    <p:animEffect transition="in" filter="fade">
                                      <p:cBhvr>
                                        <p:cTn id="130" dur="300"/>
                                        <p:tgtEl>
                                          <p:spTgt spid="53"/>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00"/>
                                        <p:tgtEl>
                                          <p:spTgt spid="3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1" grpId="0" animBg="1"/>
      <p:bldP spid="32" grpId="0" animBg="1"/>
      <p:bldP spid="22" grpId="0" animBg="1"/>
      <p:bldP spid="23" grpId="0" animBg="1"/>
      <p:bldP spid="24" grpId="0" animBg="1"/>
      <p:bldP spid="25" grpId="0" animBg="1"/>
      <p:bldP spid="26" grpId="0" animBg="1"/>
      <p:bldP spid="27" grpId="0" animBg="1"/>
      <p:bldP spid="28" grpId="0" animBg="1"/>
      <p:bldP spid="29" grpId="0" animBg="1"/>
      <p:bldP spid="30"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8" grpId="0" animBg="1"/>
      <p:bldP spid="49" grpId="0" animBg="1"/>
      <p:bldP spid="50" grpId="0" animBg="1"/>
      <p:bldP spid="51" grpId="0" animBg="1"/>
      <p:bldP spid="52" grpId="0" animBg="1"/>
      <p:bldP spid="53" grpId="0" animBg="1"/>
      <p:bldP spid="5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DICTIONARY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ConcurrentDictionary: Try Methods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53</a:t>
            </a:r>
            <a:endParaRPr lang="en-US" sz="850" dirty="0"/>
          </a:p>
        </p:txBody>
      </p:sp>
      <p:sp>
        <p:nvSpPr>
          <p:cNvPr id="15" name="cw_win"/>
          <p:cNvSpPr/>
          <p:nvPr/>
        </p:nvSpPr>
        <p:spPr>
          <a:xfrm>
            <a:off x="543154" y="1572768"/>
            <a:ext cx="640080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System.Collections.Concurrent;</a:t>
            </a:r>
            <a:endParaRPr lang="en-US" sz="1000" dirty="0"/>
          </a:p>
        </p:txBody>
      </p:sp>
      <p:sp>
        <p:nvSpPr>
          <p:cNvPr id="23" name="cw_L02"/>
          <p:cNvSpPr txBox="1"/>
          <p:nvPr/>
        </p:nvSpPr>
        <p:spPr>
          <a:xfrm>
            <a:off x="771754" y="2454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ConcurrentDictionary&lt;</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orders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a:t>
            </a:r>
            <a:endParaRPr lang="en-US" sz="1000" dirty="0"/>
          </a:p>
        </p:txBody>
      </p:sp>
      <p:sp>
        <p:nvSpPr>
          <p:cNvPr id="24" name="cw_L04"/>
          <p:cNvSpPr txBox="1"/>
          <p:nvPr/>
        </p:nvSpPr>
        <p:spPr>
          <a:xfrm>
            <a:off x="771754" y="28610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orders.TryAdd(1, </a:t>
            </a:r>
            <a:r>
              <a:rPr lang="en-US" sz="1000" b="0" dirty="0">
                <a:solidFill>
                  <a:srgbClr val="F0A98B"/>
                </a:solidFill>
                <a:latin typeface="Consolas"/>
                <a:ea typeface="Consolas"/>
                <a:cs typeface="Consolas"/>
              </a:rPr>
              <a:t>"New"</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true: added</a:t>
            </a:r>
            <a:endParaRPr lang="en-US" sz="1000" dirty="0"/>
          </a:p>
        </p:txBody>
      </p:sp>
      <p:sp>
        <p:nvSpPr>
          <p:cNvPr id="25" name="cw_L05"/>
          <p:cNvSpPr txBox="1"/>
          <p:nvPr/>
        </p:nvSpPr>
        <p:spPr>
          <a:xfrm>
            <a:off x="771754" y="30642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orders.TryAdd(1, </a:t>
            </a:r>
            <a:r>
              <a:rPr lang="en-US" sz="1000" b="0" dirty="0">
                <a:solidFill>
                  <a:srgbClr val="F0A98B"/>
                </a:solidFill>
                <a:latin typeface="Consolas"/>
                <a:ea typeface="Consolas"/>
                <a:cs typeface="Consolas"/>
              </a:rPr>
              <a:t>"New"</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false: already there</a:t>
            </a:r>
            <a:endParaRPr lang="en-US" sz="1000" dirty="0"/>
          </a:p>
        </p:txBody>
      </p:sp>
      <p:sp>
        <p:nvSpPr>
          <p:cNvPr id="26" name="cw_L06"/>
          <p:cNvSpPr txBox="1"/>
          <p:nvPr/>
        </p:nvSpPr>
        <p:spPr>
          <a:xfrm>
            <a:off x="771754" y="32674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orders[1] = </a:t>
            </a:r>
            <a:r>
              <a:rPr lang="en-US" sz="1000" b="0" dirty="0">
                <a:solidFill>
                  <a:srgbClr val="F0A98B"/>
                </a:solidFill>
                <a:latin typeface="Consolas"/>
                <a:ea typeface="Consolas"/>
                <a:cs typeface="Consolas"/>
              </a:rPr>
              <a:t>"Cooking"</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set, like a Dictionary</a:t>
            </a:r>
            <a:endParaRPr lang="en-US" sz="1000" dirty="0"/>
          </a:p>
        </p:txBody>
      </p:sp>
      <p:sp>
        <p:nvSpPr>
          <p:cNvPr id="27" name="cw_L08"/>
          <p:cNvSpPr txBox="1"/>
          <p:nvPr/>
        </p:nvSpPr>
        <p:spPr>
          <a:xfrm>
            <a:off x="771754" y="36738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if</a:t>
            </a:r>
            <a:r>
              <a:rPr lang="en-US" sz="1000" b="0" dirty="0">
                <a:solidFill>
                  <a:srgbClr val="E2E8F0"/>
                </a:solidFill>
                <a:latin typeface="Consolas"/>
                <a:ea typeface="Consolas"/>
                <a:cs typeface="Consolas"/>
              </a:rPr>
              <a:t> (orders.TryGetValue(1, </a:t>
            </a:r>
            <a:r>
              <a:rPr lang="en-US" sz="1000" b="0" dirty="0">
                <a:solidFill>
                  <a:srgbClr val="60A5FA"/>
                </a:solidFill>
                <a:latin typeface="Consolas"/>
                <a:ea typeface="Consolas"/>
                <a:cs typeface="Consolas"/>
              </a:rPr>
              <a:t>out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status))</a:t>
            </a:r>
            <a:endParaRPr lang="en-US" sz="1000" dirty="0"/>
          </a:p>
        </p:txBody>
      </p:sp>
      <p:sp>
        <p:nvSpPr>
          <p:cNvPr id="28" name="cw_L09"/>
          <p:cNvSpPr txBox="1"/>
          <p:nvPr/>
        </p:nvSpPr>
        <p:spPr>
          <a:xfrm>
            <a:off x="771754" y="38770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Console.WriteLine(status);       </a:t>
            </a:r>
            <a:r>
              <a:rPr lang="en-US" sz="1000" b="0" dirty="0">
                <a:solidFill>
                  <a:srgbClr val="6FAE7A"/>
                </a:solidFill>
                <a:latin typeface="Consolas"/>
                <a:ea typeface="Consolas"/>
                <a:cs typeface="Consolas"/>
              </a:rPr>
              <a:t>// Cooking</a:t>
            </a:r>
            <a:endParaRPr lang="en-US" sz="1000" dirty="0"/>
          </a:p>
        </p:txBody>
      </p:sp>
      <p:sp>
        <p:nvSpPr>
          <p:cNvPr id="29" name="cw_L11"/>
          <p:cNvSpPr txBox="1"/>
          <p:nvPr/>
        </p:nvSpPr>
        <p:spPr>
          <a:xfrm>
            <a:off x="771754" y="42834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orders.TryRemove(1, </a:t>
            </a:r>
            <a:r>
              <a:rPr lang="en-US" sz="1000" b="0" dirty="0">
                <a:solidFill>
                  <a:srgbClr val="60A5FA"/>
                </a:solidFill>
                <a:latin typeface="Consolas"/>
                <a:ea typeface="Consolas"/>
                <a:cs typeface="Consolas"/>
              </a:rPr>
              <a:t>out</a:t>
            </a:r>
            <a:r>
              <a:rPr lang="en-US" sz="1000" b="0" dirty="0">
                <a:solidFill>
                  <a:srgbClr val="E2E8F0"/>
                </a:solidFill>
                <a:latin typeface="Consolas"/>
                <a:ea typeface="Consolas"/>
                <a:cs typeface="Consolas"/>
              </a:rPr>
              <a:t> _);          </a:t>
            </a:r>
            <a:r>
              <a:rPr lang="en-US" sz="1000" b="0" dirty="0">
                <a:solidFill>
                  <a:srgbClr val="6FAE7A"/>
                </a:solidFill>
                <a:latin typeface="Consolas"/>
                <a:ea typeface="Consolas"/>
                <a:cs typeface="Consolas"/>
              </a:rPr>
              <a:t>// delivered: remove it</a:t>
            </a:r>
            <a:endParaRPr lang="en-US" sz="1000" dirty="0"/>
          </a:p>
        </p:txBody>
      </p:sp>
      <p:sp>
        <p:nvSpPr>
          <p:cNvPr id="30" name="cw_L12"/>
          <p:cNvSpPr txBox="1"/>
          <p:nvPr/>
        </p:nvSpPr>
        <p:spPr>
          <a:xfrm>
            <a:off x="771754" y="4486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Console.WriteLine(orders.Count);     </a:t>
            </a:r>
            <a:r>
              <a:rPr lang="en-US" sz="1000" b="0" dirty="0">
                <a:solidFill>
                  <a:srgbClr val="6FAE7A"/>
                </a:solidFill>
                <a:latin typeface="Consolas"/>
                <a:ea typeface="Consolas"/>
                <a:cs typeface="Consolas"/>
              </a:rPr>
              <a:t>// 0</a:t>
            </a:r>
            <a:endParaRPr lang="en-US" sz="1000" dirty="0"/>
          </a:p>
        </p:txBody>
      </p:sp>
      <p:sp>
        <p:nvSpPr>
          <p:cNvPr id="31" name="card"/>
          <p:cNvSpPr/>
          <p:nvPr/>
        </p:nvSpPr>
        <p:spPr>
          <a:xfrm>
            <a:off x="7172554" y="1572768"/>
            <a:ext cx="4457700" cy="1011936"/>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FEELS LIKE A DICTIONARY</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Same idea: keys, values, an indexer.</a:t>
            </a:r>
            <a:endParaRPr lang="en-US" sz="1200" dirty="0"/>
          </a:p>
        </p:txBody>
      </p:sp>
      <p:sp>
        <p:nvSpPr>
          <p:cNvPr id="32" name="card"/>
          <p:cNvSpPr/>
          <p:nvPr/>
        </p:nvSpPr>
        <p:spPr>
          <a:xfrm>
            <a:off x="7172554" y="2721864"/>
            <a:ext cx="445770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Try... METHODS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Return true or false instead of throwing.</a:t>
            </a:r>
            <a:endParaRPr lang="en-US" sz="1200" dirty="0"/>
          </a:p>
        </p:txBody>
      </p:sp>
      <p:sp>
        <p:nvSpPr>
          <p:cNvPr id="33" name="card"/>
          <p:cNvSpPr/>
          <p:nvPr/>
        </p:nvSpPr>
        <p:spPr>
          <a:xfrm>
            <a:off x="7172554" y="3870960"/>
            <a:ext cx="445770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TryAdd</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Adds only if the key is missing, in one safe step.</a:t>
            </a:r>
            <a:endParaRPr lang="en-US" sz="1200" dirty="0"/>
          </a:p>
        </p:txBody>
      </p:sp>
      <p:sp>
        <p:nvSpPr>
          <p:cNvPr id="34"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Use the Try methods: check and change happen as one safe step.</a:t>
            </a:r>
            <a:endParaRPr lang="en-US" sz="1600" dirty="0"/>
          </a:p>
        </p:txBody>
      </p:sp>
    </p:spTree>
    <p:extLst>
      <p:ext uri="{BB962C8B-B14F-4D97-AF65-F5344CB8AC3E}">
        <p14:creationId xmlns:p14="http://schemas.microsoft.com/office/powerpoint/2010/main" val="18171664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250"/>
                                        <p:tgtEl>
                                          <p:spTgt spid="3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25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25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2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animBg="1"/>
      <p:bldP spid="32" grpId="0" animBg="1"/>
      <p:bldP spid="33" grpId="0" animBg="1"/>
      <p:bldP spid="3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LOGIC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Safe Collection Is Not Safe Logic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54</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ConcurrentDictionary&lt;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stock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23"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 = 1;</a:t>
            </a:r>
            <a:endParaRPr lang="en-US" sz="950" dirty="0"/>
          </a:p>
        </p:txBody>
      </p:sp>
      <p:sp>
        <p:nvSpPr>
          <p:cNvPr id="24"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Sell()</a:t>
            </a:r>
            <a:endParaRPr lang="en-US" sz="950" dirty="0"/>
          </a:p>
        </p:txBody>
      </p:sp>
      <p:sp>
        <p:nvSpPr>
          <p:cNvPr id="25"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6" name="cwb_hl05"/>
          <p:cNvSpPr/>
          <p:nvPr/>
        </p:nvSpPr>
        <p:spPr>
          <a:xfrm>
            <a:off x="676656" y="299516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27"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 &gt; 0)       </a:t>
            </a:r>
            <a:r>
              <a:rPr lang="en-US" sz="950" b="0" dirty="0">
                <a:solidFill>
                  <a:srgbClr val="6FAE7A"/>
                </a:solidFill>
                <a:latin typeface="Consolas"/>
                <a:ea typeface="Consolas"/>
                <a:cs typeface="Consolas"/>
              </a:rPr>
              <a:t>// check</a:t>
            </a:r>
            <a:endParaRPr lang="en-US" sz="950" dirty="0"/>
          </a:p>
        </p:txBody>
      </p:sp>
      <p:sp>
        <p:nvSpPr>
          <p:cNvPr id="28"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b_hl07"/>
          <p:cNvSpPr/>
          <p:nvPr/>
        </p:nvSpPr>
        <p:spPr>
          <a:xfrm>
            <a:off x="676656" y="33812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30"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act: read + write</a:t>
            </a:r>
            <a:endParaRPr lang="en-US" sz="950" dirty="0"/>
          </a:p>
        </p:txBody>
      </p:sp>
      <p:sp>
        <p:nvSpPr>
          <p:cNvPr id="31"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"Sold!"</a:t>
            </a:r>
            <a:r>
              <a:rPr lang="en-US" sz="950" b="0" dirty="0">
                <a:solidFill>
                  <a:srgbClr val="E2E8F0"/>
                </a:solidFill>
                <a:latin typeface="Consolas"/>
                <a:ea typeface="Consolas"/>
                <a:cs typeface="Consolas"/>
              </a:rPr>
              <a:t>);</a:t>
            </a:r>
            <a:endParaRPr lang="en-US" sz="950" dirty="0"/>
          </a:p>
        </p:txBody>
      </p:sp>
      <p:sp>
        <p:nvSpPr>
          <p:cNvPr id="32"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4" name="cwb_L12"/>
          <p:cNvSpPr txBox="1"/>
          <p:nvPr/>
        </p:nvSpPr>
        <p:spPr>
          <a:xfrm>
            <a:off x="77175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Thread(Sell).Start();</a:t>
            </a:r>
            <a:endParaRPr lang="en-US" sz="950" dirty="0"/>
          </a:p>
        </p:txBody>
      </p:sp>
      <p:sp>
        <p:nvSpPr>
          <p:cNvPr id="35" name="cwb_L13"/>
          <p:cNvSpPr txBox="1"/>
          <p:nvPr/>
        </p:nvSpPr>
        <p:spPr>
          <a:xfrm>
            <a:off x="77175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Thread(Sell).Start();           </a:t>
            </a:r>
            <a:r>
              <a:rPr lang="en-US" sz="950" b="0" dirty="0">
                <a:solidFill>
                  <a:srgbClr val="6FAE7A"/>
                </a:solidFill>
                <a:latin typeface="Consolas"/>
                <a:ea typeface="Consolas"/>
                <a:cs typeface="Consolas"/>
              </a:rPr>
              <a:t>// may sell twice</a:t>
            </a:r>
            <a:endParaRPr lang="en-US" sz="950" dirty="0"/>
          </a:p>
        </p:txBody>
      </p:sp>
      <p:sp>
        <p:nvSpPr>
          <p:cNvPr id="36"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7"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8"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9"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0"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1"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2"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43"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ConcurrentDictionary&lt;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stock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44"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 = 1;</a:t>
            </a:r>
            <a:endParaRPr lang="en-US" sz="950" dirty="0"/>
          </a:p>
        </p:txBody>
      </p:sp>
      <p:sp>
        <p:nvSpPr>
          <p:cNvPr id="45"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sync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46"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Sell()</a:t>
            </a:r>
            <a:endParaRPr lang="en-US" sz="950" dirty="0"/>
          </a:p>
        </p:txBody>
      </p:sp>
      <p:sp>
        <p:nvSpPr>
          <p:cNvPr id="47"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8"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(sync)                     </a:t>
            </a:r>
            <a:r>
              <a:rPr lang="en-US" sz="950" b="0" dirty="0">
                <a:solidFill>
                  <a:srgbClr val="6FAE7A"/>
                </a:solidFill>
                <a:latin typeface="Consolas"/>
                <a:ea typeface="Consolas"/>
                <a:cs typeface="Consolas"/>
              </a:rPr>
              <a:t>// the whole rule</a:t>
            </a:r>
            <a:endParaRPr lang="en-US" sz="950" dirty="0"/>
          </a:p>
        </p:txBody>
      </p:sp>
      <p:sp>
        <p:nvSpPr>
          <p:cNvPr id="49" name="cwa_hl06"/>
          <p:cNvSpPr/>
          <p:nvPr/>
        </p:nvSpPr>
        <p:spPr>
          <a:xfrm>
            <a:off x="6323076" y="318820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50"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1"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 &gt; 0)</a:t>
            </a:r>
            <a:endParaRPr lang="en-US" sz="950" dirty="0"/>
          </a:p>
        </p:txBody>
      </p:sp>
      <p:sp>
        <p:nvSpPr>
          <p:cNvPr id="52"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3"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stock[</a:t>
            </a:r>
            <a:r>
              <a:rPr lang="en-US" sz="950" b="0" dirty="0">
                <a:solidFill>
                  <a:srgbClr val="F0A98B"/>
                </a:solidFill>
                <a:latin typeface="Consolas"/>
                <a:ea typeface="Consolas"/>
                <a:cs typeface="Consolas"/>
              </a:rPr>
              <a:t>"Koshary"</a:t>
            </a:r>
            <a:r>
              <a:rPr lang="en-US" sz="950" b="0" dirty="0">
                <a:solidFill>
                  <a:srgbClr val="E2E8F0"/>
                </a:solidFill>
                <a:latin typeface="Consolas"/>
                <a:ea typeface="Consolas"/>
                <a:cs typeface="Consolas"/>
              </a:rPr>
              <a:t>]--;</a:t>
            </a:r>
            <a:endParaRPr lang="en-US" sz="950" dirty="0"/>
          </a:p>
        </p:txBody>
      </p:sp>
      <p:sp>
        <p:nvSpPr>
          <p:cNvPr id="54"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"Sold!"</a:t>
            </a:r>
            <a:r>
              <a:rPr lang="en-US" sz="950" b="0" dirty="0">
                <a:solidFill>
                  <a:srgbClr val="E2E8F0"/>
                </a:solidFill>
                <a:latin typeface="Consolas"/>
                <a:ea typeface="Consolas"/>
                <a:cs typeface="Consolas"/>
              </a:rPr>
              <a:t>);</a:t>
            </a:r>
            <a:endParaRPr lang="en-US" sz="950" dirty="0"/>
          </a:p>
        </p:txBody>
      </p:sp>
      <p:sp>
        <p:nvSpPr>
          <p:cNvPr id="55"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6"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7"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8"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BEFORE</a:t>
            </a:r>
            <a:endParaRPr lang="en-US" sz="900" dirty="0"/>
          </a:p>
        </p:txBody>
      </p:sp>
      <p:sp>
        <p:nvSpPr>
          <p:cNvPr id="59"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AFTER</a:t>
            </a:r>
            <a:endParaRPr lang="en-US" sz="900" dirty="0"/>
          </a:p>
        </p:txBody>
      </p:sp>
      <p:cxnSp>
        <p:nvCxnSpPr>
          <p:cNvPr id="60" name="arrow"/>
          <p:cNvCxnSpPr/>
          <p:nvPr/>
        </p:nvCxnSpPr>
        <p:spPr>
          <a:xfrm>
            <a:off x="6011266" y="3227832"/>
            <a:ext cx="150876" cy="0"/>
          </a:xfrm>
          <a:prstGeom prst="line">
            <a:avLst/>
          </a:prstGeom>
          <a:ln w="28575">
            <a:solidFill>
              <a:srgbClr val="13D0F7"/>
            </a:solidFill>
            <a:tailEnd type="triangle" w="med" len="med"/>
          </a:ln>
        </p:spPr>
      </p:cxnSp>
      <p:sp>
        <p:nvSpPr>
          <p:cNvPr id="61"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Every single dictionary call is safe, but our business rule is a sequence: check, then read, then write. Another thread can run in between: the last-meal race again.</a:t>
            </a:r>
            <a:endParaRPr lang="en-US" sz="1250" dirty="0"/>
          </a:p>
        </p:txBody>
      </p:sp>
      <p:sp>
        <p:nvSpPr>
          <p:cNvPr id="62"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When several steps must happen together, protect the whole sequence (here with a lock). Thread-safe parts do not make a thread-safe whole.</a:t>
            </a:r>
            <a:endParaRPr lang="en-US" sz="1250" dirty="0"/>
          </a:p>
        </p:txBody>
      </p:sp>
    </p:spTree>
    <p:extLst>
      <p:ext uri="{BB962C8B-B14F-4D97-AF65-F5344CB8AC3E}">
        <p14:creationId xmlns:p14="http://schemas.microsoft.com/office/powerpoint/2010/main" val="33615875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250"/>
                                        <p:tgtEl>
                                          <p:spTgt spid="5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1"/>
                                        </p:tgtEl>
                                        <p:attrNameLst>
                                          <p:attrName>style.visibility</p:attrName>
                                        </p:attrNameLst>
                                      </p:cBhvr>
                                      <p:to>
                                        <p:strVal val="visible"/>
                                      </p:to>
                                    </p:set>
                                    <p:animEffect transition="in" filter="fade">
                                      <p:cBhvr>
                                        <p:cTn id="54" dur="250"/>
                                        <p:tgtEl>
                                          <p:spTgt spid="6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250"/>
                                        <p:tgtEl>
                                          <p:spTgt spid="5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fade">
                                      <p:cBhvr>
                                        <p:cTn id="86" dur="250"/>
                                        <p:tgtEl>
                                          <p:spTgt spid="5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fade">
                                      <p:cBhvr>
                                        <p:cTn id="89" dur="250"/>
                                        <p:tgtEl>
                                          <p:spTgt spid="5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fade">
                                      <p:cBhvr>
                                        <p:cTn id="92" dur="250"/>
                                        <p:tgtEl>
                                          <p:spTgt spid="5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fade">
                                      <p:cBhvr>
                                        <p:cTn id="95" dur="250"/>
                                        <p:tgtEl>
                                          <p:spTgt spid="5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250"/>
                                        <p:tgtEl>
                                          <p:spTgt spid="5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7"/>
                                        </p:tgtEl>
                                        <p:attrNameLst>
                                          <p:attrName>style.visibility</p:attrName>
                                        </p:attrNameLst>
                                      </p:cBhvr>
                                      <p:to>
                                        <p:strVal val="visible"/>
                                      </p:to>
                                    </p:set>
                                    <p:animEffect transition="in" filter="fade">
                                      <p:cBhvr>
                                        <p:cTn id="101" dur="250"/>
                                        <p:tgtEl>
                                          <p:spTgt spid="5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animEffect transition="in" filter="fade">
                                      <p:cBhvr>
                                        <p:cTn id="104" dur="250"/>
                                        <p:tgtEl>
                                          <p:spTgt spid="59"/>
                                        </p:tgtEl>
                                      </p:cBhvr>
                                    </p:animEffect>
                                  </p:childTnLst>
                                </p:cTn>
                              </p:par>
                              <p:par>
                                <p:cTn id="105" presetID="10" presetClass="entr" presetSubtype="0" fill="hold" nodeType="withEffect">
                                  <p:stCondLst>
                                    <p:cond delay="0"/>
                                  </p:stCondLst>
                                  <p:childTnLst>
                                    <p:set>
                                      <p:cBhvr>
                                        <p:cTn id="106" dur="1" fill="hold">
                                          <p:stCondLst>
                                            <p:cond delay="0"/>
                                          </p:stCondLst>
                                        </p:cTn>
                                        <p:tgtEl>
                                          <p:spTgt spid="60"/>
                                        </p:tgtEl>
                                        <p:attrNameLst>
                                          <p:attrName>style.visibility</p:attrName>
                                        </p:attrNameLst>
                                      </p:cBhvr>
                                      <p:to>
                                        <p:strVal val="visible"/>
                                      </p:to>
                                    </p:set>
                                    <p:animEffect transition="in" filter="fade">
                                      <p:cBhvr>
                                        <p:cTn id="107" dur="250"/>
                                        <p:tgtEl>
                                          <p:spTgt spid="60"/>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2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animBg="1"/>
      <p:bldP spid="27" grpId="0"/>
      <p:bldP spid="28" grpId="0"/>
      <p:bldP spid="29" grpId="0" animBg="1"/>
      <p:bldP spid="30" grpId="0"/>
      <p:bldP spid="31" grpId="0"/>
      <p:bldP spid="32" grpId="0"/>
      <p:bldP spid="33" grpId="0"/>
      <p:bldP spid="34" grpId="0"/>
      <p:bldP spid="35" grpId="0"/>
      <p:bldP spid="43" grpId="0"/>
      <p:bldP spid="44" grpId="0"/>
      <p:bldP spid="45" grpId="0"/>
      <p:bldP spid="46" grpId="0"/>
      <p:bldP spid="47" grpId="0"/>
      <p:bldP spid="48" grpId="0"/>
      <p:bldP spid="49" grpId="0" animBg="1"/>
      <p:bldP spid="50" grpId="0"/>
      <p:bldP spid="51" grpId="0"/>
      <p:bldP spid="52" grpId="0"/>
      <p:bldP spid="53" grpId="0"/>
      <p:bldP spid="54" grpId="0"/>
      <p:bldP spid="55" grpId="0"/>
      <p:bldP spid="56" grpId="0"/>
      <p:bldP spid="57" grpId="0"/>
      <p:bldP spid="58" grpId="0" animBg="1"/>
      <p:bldP spid="59" grpId="0" animBg="1"/>
      <p:bldP spid="61" grpId="0" animBg="1"/>
      <p:bldP spid="6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72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QUEUE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Without ConcurrentQueue: Background Email Jobs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55</a:t>
            </a:r>
            <a:endParaRPr lang="en-US" sz="850" dirty="0"/>
          </a:p>
        </p:txBody>
      </p:sp>
      <p:sp>
        <p:nvSpPr>
          <p:cNvPr id="15" name="cw_win"/>
          <p:cNvSpPr/>
          <p:nvPr/>
        </p:nvSpPr>
        <p:spPr>
          <a:xfrm>
            <a:off x="543154" y="1572768"/>
            <a:ext cx="5250000" cy="293540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2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2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EmailJobs.cs</a:t>
            </a:r>
            <a:endParaRPr lang="en-US" sz="950" dirty="0"/>
          </a:p>
        </p:txBody>
      </p:sp>
      <p:sp>
        <p:nvSpPr>
          <p:cNvPr id="31" name="cw_hl03"/>
          <p:cNvSpPr/>
          <p:nvPr/>
        </p:nvSpPr>
        <p:spPr>
          <a:xfrm>
            <a:off x="676656" y="2623008"/>
            <a:ext cx="4982996" cy="249936"/>
          </a:xfrm>
          <a:prstGeom prst="rect">
            <a:avLst/>
          </a:prstGeom>
          <a:solidFill>
            <a:srgbClr val="4D91F0">
              <a:alpha val="15000"/>
            </a:srgbClr>
          </a:solidFill>
          <a:ln w="12700">
            <a:solidFill>
              <a:srgbClr val="4D91F0"/>
            </a:solidFill>
            <a:prstDash val="solid"/>
          </a:ln>
        </p:spPr>
        <p:txBody>
          <a:bodyPr/>
          <a:lstStyle/>
          <a:p>
            <a:endParaRPr lang="en-US"/>
          </a:p>
        </p:txBody>
      </p:sp>
      <p:sp>
        <p:nvSpPr>
          <p:cNvPr id="32" name="cw_hl08"/>
          <p:cNvSpPr/>
          <p:nvPr/>
        </p:nvSpPr>
        <p:spPr>
          <a:xfrm>
            <a:off x="676656" y="3689808"/>
            <a:ext cx="498299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33" name="cw_hl09"/>
          <p:cNvSpPr/>
          <p:nvPr/>
        </p:nvSpPr>
        <p:spPr>
          <a:xfrm>
            <a:off x="676656" y="3903168"/>
            <a:ext cx="4982996"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2" name="cw_L00"/>
          <p:cNvSpPr txBox="1"/>
          <p:nvPr/>
        </p:nvSpPr>
        <p:spPr>
          <a:xfrm>
            <a:off x="771754" y="2001216"/>
            <a:ext cx="48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Queue&lt;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jobs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shared</a:t>
            </a:r>
            <a:endParaRPr lang="en-US" sz="1050" dirty="0"/>
          </a:p>
        </p:txBody>
      </p:sp>
      <p:sp>
        <p:nvSpPr>
          <p:cNvPr id="23" name="cw_L02"/>
          <p:cNvSpPr txBox="1"/>
          <p:nvPr/>
        </p:nvSpPr>
        <p:spPr>
          <a:xfrm>
            <a:off x="771754" y="2427936"/>
            <a:ext cx="48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void </a:t>
            </a:r>
            <a:r>
              <a:rPr lang="en-US" sz="1050" b="0" dirty="0">
                <a:solidFill>
                  <a:srgbClr val="E2E8F0"/>
                </a:solidFill>
                <a:latin typeface="Consolas"/>
                <a:ea typeface="Consolas"/>
                <a:cs typeface="Consolas"/>
              </a:rPr>
              <a:t>PlaceOrder(</a:t>
            </a:r>
            <a:r>
              <a:rPr lang="en-US" sz="1050" b="0" dirty="0">
                <a:solidFill>
                  <a:srgbClr val="60A5FA"/>
                </a:solidFill>
                <a:latin typeface="Consolas"/>
                <a:ea typeface="Consolas"/>
                <a:cs typeface="Consolas"/>
              </a:rPr>
              <a:t>int </a:t>
            </a:r>
            <a:r>
              <a:rPr lang="en-US" sz="1050" b="0" dirty="0">
                <a:solidFill>
                  <a:srgbClr val="E2E8F0"/>
                </a:solidFill>
                <a:latin typeface="Consolas"/>
                <a:ea typeface="Consolas"/>
                <a:cs typeface="Consolas"/>
              </a:rPr>
              <a:t>id) =&gt;              </a:t>
            </a:r>
            <a:r>
              <a:rPr lang="en-US" sz="1050" b="0" dirty="0">
                <a:solidFill>
                  <a:srgbClr val="6FAE7A"/>
                </a:solidFill>
                <a:latin typeface="Consolas"/>
                <a:ea typeface="Consolas"/>
                <a:cs typeface="Consolas"/>
              </a:rPr>
              <a:t>// many request threads</a:t>
            </a:r>
            <a:endParaRPr lang="en-US" sz="1050" dirty="0"/>
          </a:p>
        </p:txBody>
      </p:sp>
      <p:sp>
        <p:nvSpPr>
          <p:cNvPr id="24" name="cw_L03"/>
          <p:cNvSpPr txBox="1"/>
          <p:nvPr/>
        </p:nvSpPr>
        <p:spPr>
          <a:xfrm>
            <a:off x="771754" y="2641296"/>
            <a:ext cx="48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jobs.Enqueue(</a:t>
            </a:r>
            <a:r>
              <a:rPr lang="en-US" sz="1050" b="0" dirty="0">
                <a:solidFill>
                  <a:srgbClr val="F0A98B"/>
                </a:solidFill>
                <a:latin typeface="Consolas"/>
                <a:ea typeface="Consolas"/>
                <a:cs typeface="Consolas"/>
              </a:rPr>
              <a:t>$"Email: order {id}"</a:t>
            </a:r>
            <a:r>
              <a:rPr lang="en-US" sz="1050" b="0" dirty="0">
                <a:solidFill>
                  <a:srgbClr val="E2E8F0"/>
                </a:solidFill>
                <a:latin typeface="Consolas"/>
                <a:ea typeface="Consolas"/>
                <a:cs typeface="Consolas"/>
              </a:rPr>
              <a:t>);</a:t>
            </a:r>
            <a:endParaRPr lang="en-US" sz="1050" dirty="0"/>
          </a:p>
        </p:txBody>
      </p:sp>
      <p:sp>
        <p:nvSpPr>
          <p:cNvPr id="25" name="cw_L05"/>
          <p:cNvSpPr txBox="1"/>
          <p:nvPr/>
        </p:nvSpPr>
        <p:spPr>
          <a:xfrm>
            <a:off x="771754" y="3068016"/>
            <a:ext cx="48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void </a:t>
            </a:r>
            <a:r>
              <a:rPr lang="en-US" sz="1050" b="0" dirty="0">
                <a:solidFill>
                  <a:srgbClr val="E2E8F0"/>
                </a:solidFill>
                <a:latin typeface="Consolas"/>
                <a:ea typeface="Consolas"/>
                <a:cs typeface="Consolas"/>
              </a:rPr>
              <a:t>Worker()                           </a:t>
            </a:r>
            <a:r>
              <a:rPr lang="en-US" sz="1050" b="0" dirty="0">
                <a:solidFill>
                  <a:srgbClr val="6FAE7A"/>
                </a:solidFill>
                <a:latin typeface="Consolas"/>
                <a:ea typeface="Consolas"/>
                <a:cs typeface="Consolas"/>
              </a:rPr>
              <a:t>// 2 background threads</a:t>
            </a:r>
            <a:endParaRPr lang="en-US" sz="1050" dirty="0"/>
          </a:p>
        </p:txBody>
      </p:sp>
      <p:sp>
        <p:nvSpPr>
          <p:cNvPr id="26" name="cw_L06"/>
          <p:cNvSpPr txBox="1"/>
          <p:nvPr/>
        </p:nvSpPr>
        <p:spPr>
          <a:xfrm>
            <a:off x="771754" y="3281376"/>
            <a:ext cx="48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_L07"/>
          <p:cNvSpPr txBox="1"/>
          <p:nvPr/>
        </p:nvSpPr>
        <p:spPr>
          <a:xfrm>
            <a:off x="771754" y="3494736"/>
            <a:ext cx="48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while </a:t>
            </a:r>
            <a:r>
              <a:rPr lang="en-US" sz="1050" b="0" dirty="0">
                <a:solidFill>
                  <a:srgbClr val="E2E8F0"/>
                </a:solidFill>
                <a:latin typeface="Consolas"/>
                <a:ea typeface="Consolas"/>
                <a:cs typeface="Consolas"/>
              </a:rPr>
              <a:t>(</a:t>
            </a:r>
            <a:r>
              <a:rPr lang="en-US" sz="1050" b="0" dirty="0">
                <a:solidFill>
                  <a:srgbClr val="60A5FA"/>
                </a:solidFill>
                <a:latin typeface="Consolas"/>
                <a:ea typeface="Consolas"/>
                <a:cs typeface="Consolas"/>
              </a:rPr>
              <a:t>true</a:t>
            </a:r>
            <a:r>
              <a:rPr lang="en-US" sz="1050" b="0" dirty="0">
                <a:solidFill>
                  <a:srgbClr val="E2E8F0"/>
                </a:solidFill>
                <a:latin typeface="Consolas"/>
                <a:ea typeface="Consolas"/>
                <a:cs typeface="Consolas"/>
              </a:rPr>
              <a:t>)</a:t>
            </a:r>
            <a:endParaRPr lang="en-US" sz="1050" dirty="0"/>
          </a:p>
        </p:txBody>
      </p:sp>
      <p:sp>
        <p:nvSpPr>
          <p:cNvPr id="28" name="cw_L08"/>
          <p:cNvSpPr txBox="1"/>
          <p:nvPr/>
        </p:nvSpPr>
        <p:spPr>
          <a:xfrm>
            <a:off x="771754" y="3708096"/>
            <a:ext cx="486595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60A5FA"/>
                </a:solidFill>
                <a:latin typeface="Consolas"/>
                <a:ea typeface="Consolas"/>
                <a:cs typeface="Consolas"/>
              </a:rPr>
              <a:t>if </a:t>
            </a:r>
            <a:r>
              <a:rPr lang="en-US" sz="1050" b="0" dirty="0">
                <a:solidFill>
                  <a:srgbClr val="E2E8F0"/>
                </a:solidFill>
                <a:latin typeface="Consolas"/>
                <a:ea typeface="Consolas"/>
                <a:cs typeface="Consolas"/>
              </a:rPr>
              <a:t>(jobs.Count &gt; 0)             </a:t>
            </a:r>
            <a:r>
              <a:rPr lang="en-US" sz="1050" b="0" dirty="0">
                <a:solidFill>
                  <a:srgbClr val="6FAE7A"/>
                </a:solidFill>
                <a:latin typeface="Consolas"/>
                <a:ea typeface="Consolas"/>
                <a:cs typeface="Consolas"/>
              </a:rPr>
              <a:t>// check</a:t>
            </a:r>
            <a:endParaRPr lang="en-US" sz="1050" dirty="0"/>
          </a:p>
        </p:txBody>
      </p:sp>
      <p:sp>
        <p:nvSpPr>
          <p:cNvPr id="29" name="cw_L09"/>
          <p:cNvSpPr txBox="1"/>
          <p:nvPr/>
        </p:nvSpPr>
        <p:spPr>
          <a:xfrm>
            <a:off x="771754" y="3921456"/>
            <a:ext cx="4865952" cy="213360"/>
          </a:xfrm>
          <a:prstGeom prst="rect">
            <a:avLst/>
          </a:prstGeom>
          <a:noFill/>
          <a:ln>
            <a:noFill/>
          </a:ln>
        </p:spPr>
        <p:txBody>
          <a:bodyPr wrap="none" lIns="0" tIns="0" rIns="0" bIns="0" rtlCol="0" anchor="ctr">
            <a:noAutofit/>
          </a:bodyPr>
          <a:lstStyle/>
          <a:p>
            <a:pPr marL="880110" indent="0" algn="l">
              <a:spcBef>
                <a:spcPts val="0"/>
              </a:spcBef>
              <a:spcAft>
                <a:spcPts val="0"/>
              </a:spcAft>
              <a:buNone/>
            </a:pPr>
            <a:r>
              <a:rPr lang="en-US" sz="1050" b="0" dirty="0">
                <a:solidFill>
                  <a:srgbClr val="E2E8F0"/>
                </a:solidFill>
                <a:latin typeface="Consolas"/>
                <a:ea typeface="Consolas"/>
                <a:cs typeface="Consolas"/>
              </a:rPr>
              <a:t>SendEmail(jobs.Dequeue());  </a:t>
            </a:r>
            <a:r>
              <a:rPr lang="en-US" sz="1050" b="0" dirty="0">
                <a:solidFill>
                  <a:srgbClr val="6FAE7A"/>
                </a:solidFill>
                <a:latin typeface="Consolas"/>
                <a:ea typeface="Consolas"/>
                <a:cs typeface="Consolas"/>
              </a:rPr>
              <a:t>// act</a:t>
            </a:r>
            <a:endParaRPr lang="en-US" sz="1050" dirty="0"/>
          </a:p>
        </p:txBody>
      </p:sp>
      <p:sp>
        <p:nvSpPr>
          <p:cNvPr id="30" name="cw_L10"/>
          <p:cNvSpPr txBox="1"/>
          <p:nvPr/>
        </p:nvSpPr>
        <p:spPr>
          <a:xfrm>
            <a:off x="771754" y="4134816"/>
            <a:ext cx="48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lab"/>
          <p:cNvSpPr txBox="1"/>
          <p:nvPr/>
        </p:nvSpPr>
        <p:spPr>
          <a:xfrm>
            <a:off x="6050000" y="1572768"/>
            <a:ext cx="9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4D91F0"/>
                </a:solidFill>
                <a:latin typeface="Segoe UI"/>
                <a:ea typeface="Segoe UI"/>
                <a:cs typeface="Segoe UI"/>
              </a:rPr>
              <a:t>requests</a:t>
            </a:r>
            <a:endParaRPr lang="en-US" sz="1000" dirty="0"/>
          </a:p>
        </p:txBody>
      </p:sp>
      <p:sp>
        <p:nvSpPr>
          <p:cNvPr id="35" name="lab"/>
          <p:cNvSpPr txBox="1"/>
          <p:nvPr/>
        </p:nvSpPr>
        <p:spPr>
          <a:xfrm>
            <a:off x="7000000" y="1572768"/>
            <a:ext cx="2620000" cy="28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jobs  (Queue&lt;string&gt;)</a:t>
            </a:r>
            <a:endParaRPr lang="en-US" sz="1000" dirty="0"/>
          </a:p>
        </p:txBody>
      </p:sp>
      <p:sp>
        <p:nvSpPr>
          <p:cNvPr id="36" name="lab"/>
          <p:cNvSpPr txBox="1"/>
          <p:nvPr/>
        </p:nvSpPr>
        <p:spPr>
          <a:xfrm>
            <a:off x="9850000" y="1572768"/>
            <a:ext cx="18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workers</a:t>
            </a:r>
            <a:endParaRPr lang="en-US" sz="1000" dirty="0"/>
          </a:p>
        </p:txBody>
      </p:sp>
      <p:sp>
        <p:nvSpPr>
          <p:cNvPr id="37" name="panel"/>
          <p:cNvSpPr/>
          <p:nvPr/>
        </p:nvSpPr>
        <p:spPr>
          <a:xfrm>
            <a:off x="7000000" y="1952768"/>
            <a:ext cx="2620000" cy="700000"/>
          </a:xfrm>
          <a:prstGeom prst="roundRect">
            <a:avLst>
              <a:gd name="adj" fmla="val 8000"/>
            </a:avLst>
          </a:prstGeom>
          <a:solidFill>
            <a:srgbClr val="0C1628"/>
          </a:solidFill>
          <a:ln w="12700">
            <a:solidFill>
              <a:srgbClr val="1E3A5F"/>
            </a:solidFill>
            <a:prstDash val="solid"/>
          </a:ln>
        </p:spPr>
        <p:txBody>
          <a:bodyPr/>
          <a:lstStyle/>
          <a:p>
            <a:endParaRPr lang="en-US"/>
          </a:p>
        </p:txBody>
      </p:sp>
      <p:sp>
        <p:nvSpPr>
          <p:cNvPr id="38" name="slot"/>
          <p:cNvSpPr/>
          <p:nvPr/>
        </p:nvSpPr>
        <p:spPr>
          <a:xfrm>
            <a:off x="710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39" name="slot"/>
          <p:cNvSpPr/>
          <p:nvPr/>
        </p:nvSpPr>
        <p:spPr>
          <a:xfrm>
            <a:off x="794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0" name="slot"/>
          <p:cNvSpPr/>
          <p:nvPr/>
        </p:nvSpPr>
        <p:spPr>
          <a:xfrm>
            <a:off x="878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1" name="lab"/>
          <p:cNvSpPr txBox="1"/>
          <p:nvPr/>
        </p:nvSpPr>
        <p:spPr>
          <a:xfrm>
            <a:off x="7100000" y="2672768"/>
            <a:ext cx="800000" cy="2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64748B"/>
                </a:solidFill>
                <a:latin typeface="Segoe UI"/>
                <a:ea typeface="Segoe UI"/>
                <a:cs typeface="Segoe UI"/>
              </a:rPr>
              <a:t>front</a:t>
            </a:r>
            <a:endParaRPr lang="en-US" sz="900" dirty="0"/>
          </a:p>
        </p:txBody>
      </p:sp>
      <p:sp>
        <p:nvSpPr>
          <p:cNvPr id="42" name="pill"/>
          <p:cNvSpPr/>
          <p:nvPr/>
        </p:nvSpPr>
        <p:spPr>
          <a:xfrm>
            <a:off x="9850000" y="1902768"/>
            <a:ext cx="820000" cy="42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W1</a:t>
            </a:r>
            <a:endParaRPr lang="en-US" sz="1050" dirty="0"/>
          </a:p>
        </p:txBody>
      </p:sp>
      <p:sp>
        <p:nvSpPr>
          <p:cNvPr id="43" name="pill"/>
          <p:cNvSpPr/>
          <p:nvPr/>
        </p:nvSpPr>
        <p:spPr>
          <a:xfrm>
            <a:off x="9850000" y="2432768"/>
            <a:ext cx="820000" cy="42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W2</a:t>
            </a:r>
            <a:endParaRPr lang="en-US" sz="1050" dirty="0"/>
          </a:p>
        </p:txBody>
      </p:sp>
      <p:sp>
        <p:nvSpPr>
          <p:cNvPr id="44" name="chip"/>
          <p:cNvSpPr/>
          <p:nvPr/>
        </p:nvSpPr>
        <p:spPr>
          <a:xfrm>
            <a:off x="7100000" y="2092768"/>
            <a:ext cx="80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A78BFA"/>
                </a:solidFill>
                <a:latin typeface="Segoe UI"/>
                <a:ea typeface="Segoe UI"/>
                <a:cs typeface="Segoe UI"/>
              </a:rPr>
              <a:t>order 5</a:t>
            </a:r>
            <a:endParaRPr lang="en-US" sz="950" dirty="0"/>
          </a:p>
        </p:txBody>
      </p:sp>
      <p:sp>
        <p:nvSpPr>
          <p:cNvPr id="45" name="chip"/>
          <p:cNvSpPr/>
          <p:nvPr/>
        </p:nvSpPr>
        <p:spPr>
          <a:xfrm>
            <a:off x="7100000" y="2092768"/>
            <a:ext cx="80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A78BFA"/>
                </a:solidFill>
                <a:latin typeface="Segoe UI"/>
                <a:ea typeface="Segoe UI"/>
                <a:cs typeface="Segoe UI"/>
              </a:rPr>
              <a:t>order 5</a:t>
            </a:r>
            <a:endParaRPr lang="en-US" sz="950" dirty="0"/>
          </a:p>
        </p:txBody>
      </p:sp>
      <p:sp>
        <p:nvSpPr>
          <p:cNvPr id="46" name="chip"/>
          <p:cNvSpPr/>
          <p:nvPr/>
        </p:nvSpPr>
        <p:spPr>
          <a:xfrm>
            <a:off x="6050000" y="1902768"/>
            <a:ext cx="800000" cy="42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4D91F0"/>
                </a:solidFill>
                <a:latin typeface="Segoe UI"/>
                <a:ea typeface="Segoe UI"/>
                <a:cs typeface="Segoe UI"/>
              </a:rPr>
              <a:t>order 7</a:t>
            </a:r>
            <a:endParaRPr lang="en-US" sz="950" dirty="0"/>
          </a:p>
        </p:txBody>
      </p:sp>
      <p:sp>
        <p:nvSpPr>
          <p:cNvPr id="47" name="chip"/>
          <p:cNvSpPr/>
          <p:nvPr/>
        </p:nvSpPr>
        <p:spPr>
          <a:xfrm>
            <a:off x="6050000" y="2432768"/>
            <a:ext cx="800000" cy="42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BBF24"/>
                </a:solidFill>
                <a:latin typeface="Segoe UI"/>
                <a:ea typeface="Segoe UI"/>
                <a:cs typeface="Segoe UI"/>
              </a:rPr>
              <a:t>order 8</a:t>
            </a:r>
            <a:endParaRPr lang="en-US" sz="950" dirty="0"/>
          </a:p>
        </p:txBody>
      </p:sp>
      <p:sp>
        <p:nvSpPr>
          <p:cNvPr id="48" name="caption"/>
          <p:cNvSpPr/>
          <p:nvPr/>
        </p:nvSpPr>
        <p:spPr>
          <a:xfrm>
            <a:off x="6050000" y="2972768"/>
            <a:ext cx="5580254" cy="560000"/>
          </a:xfrm>
          <a:prstGeom prst="roundRect">
            <a:avLst>
              <a:gd name="adj" fmla="val 12000"/>
            </a:avLst>
          </a:prstGeom>
          <a:solidFill>
            <a:srgbClr val="0C1628"/>
          </a:solidFill>
          <a:ln w="12700">
            <a:solidFill>
              <a:srgbClr val="A78BFA"/>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Orders arrive. Each request adds an email job; two background workers send them.</a:t>
            </a:r>
            <a:endParaRPr lang="en-US" sz="1150" dirty="0"/>
          </a:p>
        </p:txBody>
      </p:sp>
      <p:sp>
        <p:nvSpPr>
          <p:cNvPr id="49" name="caption"/>
          <p:cNvSpPr/>
          <p:nvPr/>
        </p:nvSpPr>
        <p:spPr>
          <a:xfrm>
            <a:off x="6050000" y="2972768"/>
            <a:ext cx="5580254" cy="56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Two requests Enqueue at the same moment and write into the SAME free slot: order 7 is lost.</a:t>
            </a:r>
            <a:endParaRPr lang="en-US" sz="1150" dirty="0"/>
          </a:p>
        </p:txBody>
      </p:sp>
      <p:sp>
        <p:nvSpPr>
          <p:cNvPr id="50" name="caption"/>
          <p:cNvSpPr/>
          <p:nvPr/>
        </p:nvSpPr>
        <p:spPr>
          <a:xfrm>
            <a:off x="6050000" y="2972768"/>
            <a:ext cx="5580254" cy="56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Both workers check jobs.Count &gt; 0 at the same moment: true for both.</a:t>
            </a:r>
            <a:endParaRPr lang="en-US" sz="1150" dirty="0"/>
          </a:p>
        </p:txBody>
      </p:sp>
      <p:sp>
        <p:nvSpPr>
          <p:cNvPr id="51" name="caption"/>
          <p:cNvSpPr/>
          <p:nvPr/>
        </p:nvSpPr>
        <p:spPr>
          <a:xfrm>
            <a:off x="6050000" y="2972768"/>
            <a:ext cx="5580254" cy="560000"/>
          </a:xfrm>
          <a:prstGeom prst="roundRect">
            <a:avLst>
              <a:gd name="adj" fmla="val 12000"/>
            </a:avLst>
          </a:prstGeom>
          <a:solidFill>
            <a:srgbClr val="0C1628"/>
          </a:solidFill>
          <a:ln w="12700">
            <a:solidFill>
              <a:srgbClr val="F87171"/>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Both Dequeue at once and read the same front item: the customer gets order 5 twice.</a:t>
            </a:r>
            <a:endParaRPr lang="en-US" sz="1150" dirty="0"/>
          </a:p>
        </p:txBody>
      </p:sp>
      <p:sp>
        <p:nvSpPr>
          <p:cNvPr id="52" name="lab"/>
          <p:cNvSpPr txBox="1"/>
          <p:nvPr/>
        </p:nvSpPr>
        <p:spPr>
          <a:xfrm>
            <a:off x="7790000" y="2672768"/>
            <a:ext cx="1150000" cy="23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order 7 lost</a:t>
            </a:r>
            <a:endParaRPr lang="en-US" sz="950" dirty="0"/>
          </a:p>
        </p:txBody>
      </p:sp>
      <p:sp>
        <p:nvSpPr>
          <p:cNvPr id="53" name="exc"/>
          <p:cNvSpPr/>
          <p:nvPr/>
        </p:nvSpPr>
        <p:spPr>
          <a:xfrm>
            <a:off x="6050000" y="3632768"/>
            <a:ext cx="5580254" cy="600000"/>
          </a:xfrm>
          <a:prstGeom prst="roundRect">
            <a:avLst>
              <a:gd name="adj" fmla="val 10000"/>
            </a:avLst>
          </a:prstGeom>
          <a:solidFill>
            <a:srgbClr val="2A1215"/>
          </a:solidFill>
          <a:ln w="19050">
            <a:solidFill>
              <a:srgbClr val="F87171"/>
            </a:solidFill>
            <a:prstDash val="solid"/>
          </a:ln>
        </p:spPr>
        <p:txBody>
          <a:bodyPr wrap="square" lIns="137160" tIns="45720" rIns="137160" bIns="45720" rtlCol="0" anchor="ctr">
            <a:noAutofit/>
          </a:bodyPr>
          <a:lstStyle/>
          <a:p>
            <a:pPr marL="0" indent="0" algn="l">
              <a:spcBef>
                <a:spcPts val="0"/>
              </a:spcBef>
              <a:spcAft>
                <a:spcPts val="0"/>
              </a:spcAft>
              <a:buNone/>
            </a:pPr>
            <a:r>
              <a:rPr lang="en-US" sz="1050" b="1" dirty="0">
                <a:solidFill>
                  <a:srgbClr val="F87171"/>
                </a:solidFill>
                <a:latin typeface="Segoe UI"/>
                <a:ea typeface="Segoe UI"/>
                <a:cs typeface="Segoe UI"/>
              </a:rPr>
              <a:t>One job left? The slower worker's Dequeue() throws InvalidOperationException: Queue empty.</a:t>
            </a:r>
            <a:endParaRPr lang="en-US" sz="1050" dirty="0"/>
          </a:p>
        </p:txBody>
      </p:sp>
      <p:sp>
        <p:nvSpPr>
          <p:cNvPr id="54" name="card"/>
          <p:cNvSpPr/>
          <p:nvPr/>
        </p:nvSpPr>
        <p:spPr>
          <a:xfrm>
            <a:off x="6050000" y="4332768"/>
            <a:ext cx="1799124" cy="617232"/>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87171"/>
                </a:solidFill>
                <a:latin typeface="Segoe UI"/>
                <a:ea typeface="Segoe UI"/>
                <a:cs typeface="Segoe UI"/>
              </a:rPr>
              <a:t>LOST JOBS</a:t>
            </a:r>
            <a:endParaRPr lang="en-US" sz="1050" dirty="0"/>
          </a:p>
        </p:txBody>
      </p:sp>
      <p:sp>
        <p:nvSpPr>
          <p:cNvPr id="55" name="card"/>
          <p:cNvSpPr/>
          <p:nvPr/>
        </p:nvSpPr>
        <p:spPr>
          <a:xfrm>
            <a:off x="7940564" y="4332768"/>
            <a:ext cx="1799124" cy="617232"/>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87171"/>
                </a:solidFill>
                <a:latin typeface="Segoe UI"/>
                <a:ea typeface="Segoe UI"/>
                <a:cs typeface="Segoe UI"/>
              </a:rPr>
              <a:t>DUPLICATES</a:t>
            </a:r>
            <a:endParaRPr lang="en-US" sz="1050" dirty="0"/>
          </a:p>
        </p:txBody>
      </p:sp>
      <p:sp>
        <p:nvSpPr>
          <p:cNvPr id="56" name="card"/>
          <p:cNvSpPr/>
          <p:nvPr/>
        </p:nvSpPr>
        <p:spPr>
          <a:xfrm>
            <a:off x="9831129" y="4332768"/>
            <a:ext cx="1799124" cy="617232"/>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87171"/>
                </a:solidFill>
                <a:latin typeface="Segoe UI"/>
                <a:ea typeface="Segoe UI"/>
                <a:cs typeface="Segoe UI"/>
              </a:rPr>
              <a:t>CRASHES</a:t>
            </a:r>
            <a:endParaRPr lang="en-US" sz="1050" dirty="0"/>
          </a:p>
        </p:txBody>
      </p:sp>
      <p:sp>
        <p:nvSpPr>
          <p:cNvPr id="57"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Queue&lt;T&gt; is for one thread at a time. Request threads + worker threads = lost, duplicated or crashing jobs.</a:t>
            </a:r>
            <a:endParaRPr lang="en-US" sz="1450" dirty="0"/>
          </a:p>
        </p:txBody>
      </p:sp>
    </p:spTree>
    <p:extLst>
      <p:ext uri="{BB962C8B-B14F-4D97-AF65-F5344CB8AC3E}">
        <p14:creationId xmlns:p14="http://schemas.microsoft.com/office/powerpoint/2010/main" val="25684833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3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300"/>
                                        <p:tgtEl>
                                          <p:spTgt spid="3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300"/>
                                        <p:tgtEl>
                                          <p:spTgt spid="3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3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3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3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3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300"/>
                                        <p:tgtEl>
                                          <p:spTgt spid="4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3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300"/>
                                        <p:tgtEl>
                                          <p:spTgt spid="4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3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3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300"/>
                                        <p:tgtEl>
                                          <p:spTgt spid="4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300"/>
                                        <p:tgtEl>
                                          <p:spTgt spid="4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300"/>
                                        <p:tgtEl>
                                          <p:spTgt spid="4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300"/>
                                        <p:tgtEl>
                                          <p:spTgt spid="3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300"/>
                                        <p:tgtEl>
                                          <p:spTgt spid="49"/>
                                        </p:tgtEl>
                                      </p:cBhvr>
                                    </p:animEffect>
                                  </p:childTnLst>
                                </p:cTn>
                              </p:par>
                              <p:par>
                                <p:cTn id="108" presetID="0" presetClass="path" presetSubtype="0" accel="50000" decel="50000" fill="hold" grpId="1" nodeType="withEffect">
                                  <p:stCondLst>
                                    <p:cond delay="200"/>
                                  </p:stCondLst>
                                  <p:childTnLst>
                                    <p:animMotion origin="layout" path="M 0.00000 0.00000 L 0.15502 0.02770 E" pathEditMode="relative" rAng="0" ptsTypes="AA">
                                      <p:cBhvr>
                                        <p:cTn id="109" dur="900" fill="hold"/>
                                        <p:tgtEl>
                                          <p:spTgt spid="46"/>
                                        </p:tgtEl>
                                        <p:attrNameLst>
                                          <p:attrName>ppt_x</p:attrName>
                                          <p:attrName>ppt_y</p:attrName>
                                        </p:attrNameLst>
                                      </p:cBhvr>
                                      <p:rCtr x="7751" y="1385"/>
                                    </p:animMotion>
                                  </p:childTnLst>
                                </p:cTn>
                              </p:par>
                              <p:par>
                                <p:cTn id="110" presetID="0" presetClass="path" presetSubtype="0" accel="50000" decel="50000" fill="hold" grpId="1" nodeType="withEffect">
                                  <p:stCondLst>
                                    <p:cond delay="200"/>
                                  </p:stCondLst>
                                  <p:childTnLst>
                                    <p:animMotion origin="layout" path="M 0.00000 0.00000 L 0.15502 -0.04958 E" pathEditMode="relative" rAng="0" ptsTypes="AA">
                                      <p:cBhvr>
                                        <p:cTn id="111" dur="900" fill="hold"/>
                                        <p:tgtEl>
                                          <p:spTgt spid="47"/>
                                        </p:tgtEl>
                                        <p:attrNameLst>
                                          <p:attrName>ppt_x</p:attrName>
                                          <p:attrName>ppt_y</p:attrName>
                                        </p:attrNameLst>
                                      </p:cBhvr>
                                      <p:rCtr x="7751" y="-2479"/>
                                    </p:animMotion>
                                  </p:childTnLst>
                                </p:cTn>
                              </p:par>
                              <p:par>
                                <p:cTn id="112" presetID="10" presetClass="entr" presetSubtype="0" fill="hold" grpId="0" nodeType="withEffect">
                                  <p:stCondLst>
                                    <p:cond delay="1200"/>
                                  </p:stCondLst>
                                  <p:childTnLst>
                                    <p:set>
                                      <p:cBhvr>
                                        <p:cTn id="113" dur="1" fill="hold">
                                          <p:stCondLst>
                                            <p:cond delay="0"/>
                                          </p:stCondLst>
                                        </p:cTn>
                                        <p:tgtEl>
                                          <p:spTgt spid="52"/>
                                        </p:tgtEl>
                                        <p:attrNameLst>
                                          <p:attrName>style.visibility</p:attrName>
                                        </p:attrNameLst>
                                      </p:cBhvr>
                                      <p:to>
                                        <p:strVal val="visible"/>
                                      </p:to>
                                    </p:set>
                                    <p:animEffect transition="in" filter="fade">
                                      <p:cBhvr>
                                        <p:cTn id="114" dur="300"/>
                                        <p:tgtEl>
                                          <p:spTgt spid="52"/>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300"/>
                                        <p:tgtEl>
                                          <p:spTgt spid="3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fade">
                                      <p:cBhvr>
                                        <p:cTn id="122" dur="300"/>
                                        <p:tgtEl>
                                          <p:spTgt spid="50"/>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fade">
                                      <p:cBhvr>
                                        <p:cTn id="127" dur="300"/>
                                        <p:tgtEl>
                                          <p:spTgt spid="3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300"/>
                                        <p:tgtEl>
                                          <p:spTgt spid="51"/>
                                        </p:tgtEl>
                                      </p:cBhvr>
                                    </p:animEffect>
                                  </p:childTnLst>
                                </p:cTn>
                              </p:par>
                              <p:par>
                                <p:cTn id="131" presetID="0" presetClass="path" presetSubtype="0" accel="50000" decel="50000" fill="hold" grpId="1" nodeType="withEffect">
                                  <p:stCondLst>
                                    <p:cond delay="200"/>
                                  </p:stCondLst>
                                  <p:childTnLst>
                                    <p:animMotion origin="layout" path="M 0.00000 0.00000 L 0.30184 -0.02770 E" pathEditMode="relative" rAng="0" ptsTypes="AA">
                                      <p:cBhvr>
                                        <p:cTn id="132" dur="900" fill="hold"/>
                                        <p:tgtEl>
                                          <p:spTgt spid="45"/>
                                        </p:tgtEl>
                                        <p:attrNameLst>
                                          <p:attrName>ppt_x</p:attrName>
                                          <p:attrName>ppt_y</p:attrName>
                                        </p:attrNameLst>
                                      </p:cBhvr>
                                      <p:rCtr x="15092" y="-1385"/>
                                    </p:animMotion>
                                  </p:childTnLst>
                                </p:cTn>
                              </p:par>
                              <p:par>
                                <p:cTn id="133" presetID="0" presetClass="path" presetSubtype="0" accel="50000" decel="50000" fill="hold" grpId="1" nodeType="withEffect">
                                  <p:stCondLst>
                                    <p:cond delay="200"/>
                                  </p:stCondLst>
                                  <p:childTnLst>
                                    <p:animMotion origin="layout" path="M 0.00000 0.00000 L 0.30184 0.04958 E" pathEditMode="relative" rAng="0" ptsTypes="AA">
                                      <p:cBhvr>
                                        <p:cTn id="134" dur="900" fill="hold"/>
                                        <p:tgtEl>
                                          <p:spTgt spid="44"/>
                                        </p:tgtEl>
                                        <p:attrNameLst>
                                          <p:attrName>ppt_x</p:attrName>
                                          <p:attrName>ppt_y</p:attrName>
                                        </p:attrNameLst>
                                      </p:cBhvr>
                                      <p:rCtr x="15092" y="2479"/>
                                    </p:animMotion>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wipe(left)">
                                      <p:cBhvr>
                                        <p:cTn id="139" dur="600"/>
                                        <p:tgtEl>
                                          <p:spTgt spid="53"/>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4" dur="300"/>
                                        <p:tgtEl>
                                          <p:spTgt spid="54"/>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7" dur="300"/>
                                        <p:tgtEl>
                                          <p:spTgt spid="55"/>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50" dur="300"/>
                                        <p:tgtEl>
                                          <p:spTgt spid="56"/>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5" dur="3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1" grpId="0" animBg="1"/>
      <p:bldP spid="32" grpId="0" animBg="1"/>
      <p:bldP spid="33" grpId="0" animBg="1"/>
      <p:bldP spid="22" grpId="0" animBg="1"/>
      <p:bldP spid="23" grpId="0" animBg="1"/>
      <p:bldP spid="24" grpId="0" animBg="1"/>
      <p:bldP spid="25" grpId="0" animBg="1"/>
      <p:bldP spid="26" grpId="0" animBg="1"/>
      <p:bldP spid="27" grpId="0" animBg="1"/>
      <p:bldP spid="28" grpId="0" animBg="1"/>
      <p:bldP spid="29" grpId="0" animBg="1"/>
      <p:bldP spid="30"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4" grpId="1" animBg="1"/>
      <p:bldP spid="45" grpId="0" animBg="1"/>
      <p:bldP spid="45" grpId="1" animBg="1"/>
      <p:bldP spid="46" grpId="0" animBg="1"/>
      <p:bldP spid="46" grpId="1" animBg="1"/>
      <p:bldP spid="47" grpId="0" animBg="1"/>
      <p:bldP spid="47" grpId="1"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72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QUEUE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With ConcurrentQueue: Each Job Runs Once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56</a:t>
            </a:r>
            <a:endParaRPr lang="en-US" sz="850" dirty="0"/>
          </a:p>
        </p:txBody>
      </p:sp>
      <p:sp>
        <p:nvSpPr>
          <p:cNvPr id="15" name="cw_win"/>
          <p:cNvSpPr/>
          <p:nvPr/>
        </p:nvSpPr>
        <p:spPr>
          <a:xfrm>
            <a:off x="543154" y="1572768"/>
            <a:ext cx="5250000" cy="34332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2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2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EmailJobs.cs</a:t>
            </a:r>
            <a:endParaRPr lang="en-US" sz="950" dirty="0"/>
          </a:p>
        </p:txBody>
      </p:sp>
      <p:sp>
        <p:nvSpPr>
          <p:cNvPr id="35" name="cw_hl00"/>
          <p:cNvSpPr/>
          <p:nvPr/>
        </p:nvSpPr>
        <p:spPr>
          <a:xfrm>
            <a:off x="676656" y="1982928"/>
            <a:ext cx="4982996"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36" name="cw_hl03"/>
          <p:cNvSpPr/>
          <p:nvPr/>
        </p:nvSpPr>
        <p:spPr>
          <a:xfrm>
            <a:off x="676656" y="2592528"/>
            <a:ext cx="4982996" cy="239776"/>
          </a:xfrm>
          <a:prstGeom prst="rect">
            <a:avLst/>
          </a:prstGeom>
          <a:solidFill>
            <a:srgbClr val="4D91F0">
              <a:alpha val="15000"/>
            </a:srgbClr>
          </a:solidFill>
          <a:ln w="12700">
            <a:solidFill>
              <a:srgbClr val="4D91F0"/>
            </a:solidFill>
            <a:prstDash val="solid"/>
          </a:ln>
        </p:spPr>
        <p:txBody>
          <a:bodyPr/>
          <a:lstStyle/>
          <a:p>
            <a:endParaRPr lang="en-US"/>
          </a:p>
        </p:txBody>
      </p:sp>
      <p:sp>
        <p:nvSpPr>
          <p:cNvPr id="37" name="cw_hl08"/>
          <p:cNvSpPr/>
          <p:nvPr/>
        </p:nvSpPr>
        <p:spPr>
          <a:xfrm>
            <a:off x="676656" y="3608528"/>
            <a:ext cx="4982996"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38" name="cw_hl11"/>
          <p:cNvSpPr/>
          <p:nvPr/>
        </p:nvSpPr>
        <p:spPr>
          <a:xfrm>
            <a:off x="676656" y="4218128"/>
            <a:ext cx="4982996" cy="23977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48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ConcurrentQueue&lt;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jobs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thread-safe</a:t>
            </a:r>
            <a:endParaRPr lang="en-US" sz="1000" dirty="0"/>
          </a:p>
        </p:txBody>
      </p:sp>
      <p:sp>
        <p:nvSpPr>
          <p:cNvPr id="23" name="cw_L02"/>
          <p:cNvSpPr txBox="1"/>
          <p:nvPr/>
        </p:nvSpPr>
        <p:spPr>
          <a:xfrm>
            <a:off x="771754" y="2407616"/>
            <a:ext cx="48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void </a:t>
            </a:r>
            <a:r>
              <a:rPr lang="en-US" sz="1000" b="0" dirty="0">
                <a:solidFill>
                  <a:srgbClr val="E2E8F0"/>
                </a:solidFill>
                <a:latin typeface="Consolas"/>
                <a:ea typeface="Consolas"/>
                <a:cs typeface="Consolas"/>
              </a:rPr>
              <a:t>PlaceOrder(</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id) =&gt;              </a:t>
            </a:r>
            <a:r>
              <a:rPr lang="en-US" sz="1000" b="0" dirty="0">
                <a:solidFill>
                  <a:srgbClr val="6FAE7A"/>
                </a:solidFill>
                <a:latin typeface="Consolas"/>
                <a:ea typeface="Consolas"/>
                <a:cs typeface="Consolas"/>
              </a:rPr>
              <a:t>// many request threads</a:t>
            </a:r>
            <a:endParaRPr lang="en-US" sz="1000" dirty="0"/>
          </a:p>
        </p:txBody>
      </p:sp>
      <p:sp>
        <p:nvSpPr>
          <p:cNvPr id="24" name="cw_L03"/>
          <p:cNvSpPr txBox="1"/>
          <p:nvPr/>
        </p:nvSpPr>
        <p:spPr>
          <a:xfrm>
            <a:off x="771754" y="2610816"/>
            <a:ext cx="48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jobs.Enqueue(</a:t>
            </a:r>
            <a:r>
              <a:rPr lang="en-US" sz="1000" b="0" dirty="0">
                <a:solidFill>
                  <a:srgbClr val="F0A98B"/>
                </a:solidFill>
                <a:latin typeface="Consolas"/>
                <a:ea typeface="Consolas"/>
                <a:cs typeface="Consolas"/>
              </a:rPr>
              <a:t>$"Email: order {id}"</a:t>
            </a:r>
            <a:r>
              <a:rPr lang="en-US" sz="1000" b="0" dirty="0">
                <a:solidFill>
                  <a:srgbClr val="E2E8F0"/>
                </a:solidFill>
                <a:latin typeface="Consolas"/>
                <a:ea typeface="Consolas"/>
                <a:cs typeface="Consolas"/>
              </a:rPr>
              <a:t>);</a:t>
            </a:r>
            <a:endParaRPr lang="en-US" sz="1000" dirty="0"/>
          </a:p>
        </p:txBody>
      </p:sp>
      <p:sp>
        <p:nvSpPr>
          <p:cNvPr id="25" name="cw_L04"/>
          <p:cNvSpPr txBox="1"/>
          <p:nvPr/>
        </p:nvSpPr>
        <p:spPr>
          <a:xfrm>
            <a:off x="771754" y="2814016"/>
            <a:ext cx="48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void </a:t>
            </a:r>
            <a:r>
              <a:rPr lang="en-US" sz="1000" b="0" dirty="0">
                <a:solidFill>
                  <a:srgbClr val="E2E8F0"/>
                </a:solidFill>
                <a:latin typeface="Consolas"/>
                <a:ea typeface="Consolas"/>
                <a:cs typeface="Consolas"/>
              </a:rPr>
              <a:t>Worker()                           </a:t>
            </a:r>
            <a:r>
              <a:rPr lang="en-US" sz="1000" b="0" dirty="0">
                <a:solidFill>
                  <a:srgbClr val="6FAE7A"/>
                </a:solidFill>
                <a:latin typeface="Consolas"/>
                <a:ea typeface="Consolas"/>
                <a:cs typeface="Consolas"/>
              </a:rPr>
              <a:t>// 2 background threads</a:t>
            </a:r>
            <a:endParaRPr lang="en-US" sz="1000" dirty="0"/>
          </a:p>
        </p:txBody>
      </p:sp>
      <p:sp>
        <p:nvSpPr>
          <p:cNvPr id="26" name="cw_L05"/>
          <p:cNvSpPr txBox="1"/>
          <p:nvPr/>
        </p:nvSpPr>
        <p:spPr>
          <a:xfrm>
            <a:off x="771754" y="3017216"/>
            <a:ext cx="48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6"/>
          <p:cNvSpPr txBox="1"/>
          <p:nvPr/>
        </p:nvSpPr>
        <p:spPr>
          <a:xfrm>
            <a:off x="771754" y="3220416"/>
            <a:ext cx="48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while </a:t>
            </a:r>
            <a:r>
              <a:rPr lang="en-US" sz="1000" b="0" dirty="0">
                <a:solidFill>
                  <a:srgbClr val="E2E8F0"/>
                </a:solidFill>
                <a:latin typeface="Consolas"/>
                <a:ea typeface="Consolas"/>
                <a:cs typeface="Consolas"/>
              </a:rPr>
              <a:t>(</a:t>
            </a:r>
            <a:r>
              <a:rPr lang="en-US" sz="1000" b="0" dirty="0">
                <a:solidFill>
                  <a:srgbClr val="60A5FA"/>
                </a:solidFill>
                <a:latin typeface="Consolas"/>
                <a:ea typeface="Consolas"/>
                <a:cs typeface="Consolas"/>
              </a:rPr>
              <a:t>true</a:t>
            </a:r>
            <a:r>
              <a:rPr lang="en-US" sz="1000" b="0" dirty="0">
                <a:solidFill>
                  <a:srgbClr val="E2E8F0"/>
                </a:solidFill>
                <a:latin typeface="Consolas"/>
                <a:ea typeface="Consolas"/>
                <a:cs typeface="Consolas"/>
              </a:rPr>
              <a:t>)</a:t>
            </a:r>
            <a:endParaRPr lang="en-US" sz="1000" dirty="0"/>
          </a:p>
        </p:txBody>
      </p:sp>
      <p:sp>
        <p:nvSpPr>
          <p:cNvPr id="28" name="cw_L07"/>
          <p:cNvSpPr txBox="1"/>
          <p:nvPr/>
        </p:nvSpPr>
        <p:spPr>
          <a:xfrm>
            <a:off x="771754" y="3423616"/>
            <a:ext cx="48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9" name="cw_L08"/>
          <p:cNvSpPr txBox="1"/>
          <p:nvPr/>
        </p:nvSpPr>
        <p:spPr>
          <a:xfrm>
            <a:off x="771754" y="3626816"/>
            <a:ext cx="48659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if </a:t>
            </a:r>
            <a:r>
              <a:rPr lang="en-US" sz="1000" b="0" dirty="0">
                <a:solidFill>
                  <a:srgbClr val="E2E8F0"/>
                </a:solidFill>
                <a:latin typeface="Consolas"/>
                <a:ea typeface="Consolas"/>
                <a:cs typeface="Consolas"/>
              </a:rPr>
              <a:t>(jobs.TryDequeue(out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job))   </a:t>
            </a:r>
            <a:r>
              <a:rPr lang="en-US" sz="1000" b="0" dirty="0">
                <a:solidFill>
                  <a:srgbClr val="6FAE7A"/>
                </a:solidFill>
                <a:latin typeface="Consolas"/>
                <a:ea typeface="Consolas"/>
                <a:cs typeface="Consolas"/>
              </a:rPr>
              <a:t>// check + take</a:t>
            </a:r>
            <a:endParaRPr lang="en-US" sz="1000" dirty="0"/>
          </a:p>
        </p:txBody>
      </p:sp>
      <p:sp>
        <p:nvSpPr>
          <p:cNvPr id="30" name="cw_L09"/>
          <p:cNvSpPr txBox="1"/>
          <p:nvPr/>
        </p:nvSpPr>
        <p:spPr>
          <a:xfrm>
            <a:off x="771754" y="3830016"/>
            <a:ext cx="4865952" cy="203200"/>
          </a:xfrm>
          <a:prstGeom prst="rect">
            <a:avLst/>
          </a:prstGeom>
          <a:noFill/>
          <a:ln>
            <a:noFill/>
          </a:ln>
        </p:spPr>
        <p:txBody>
          <a:bodyPr wrap="none" lIns="0" tIns="0" rIns="0" bIns="0" rtlCol="0" anchor="ctr">
            <a:noAutofit/>
          </a:bodyPr>
          <a:lstStyle/>
          <a:p>
            <a:pPr marL="838200" indent="0" algn="l">
              <a:spcBef>
                <a:spcPts val="0"/>
              </a:spcBef>
              <a:spcAft>
                <a:spcPts val="0"/>
              </a:spcAft>
              <a:buNone/>
            </a:pPr>
            <a:r>
              <a:rPr lang="en-US" sz="1000" b="0" dirty="0">
                <a:solidFill>
                  <a:srgbClr val="E2E8F0"/>
                </a:solidFill>
                <a:latin typeface="Consolas"/>
                <a:ea typeface="Consolas"/>
                <a:cs typeface="Consolas"/>
              </a:rPr>
              <a:t>SendEmail(job);</a:t>
            </a:r>
            <a:endParaRPr lang="en-US" sz="1000" dirty="0"/>
          </a:p>
        </p:txBody>
      </p:sp>
      <p:sp>
        <p:nvSpPr>
          <p:cNvPr id="31" name="cw_L10"/>
          <p:cNvSpPr txBox="1"/>
          <p:nvPr/>
        </p:nvSpPr>
        <p:spPr>
          <a:xfrm>
            <a:off x="771754" y="4033216"/>
            <a:ext cx="48659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else</a:t>
            </a:r>
            <a:endParaRPr lang="en-US" sz="1000" dirty="0"/>
          </a:p>
        </p:txBody>
      </p:sp>
      <p:sp>
        <p:nvSpPr>
          <p:cNvPr id="32" name="cw_L11"/>
          <p:cNvSpPr txBox="1"/>
          <p:nvPr/>
        </p:nvSpPr>
        <p:spPr>
          <a:xfrm>
            <a:off x="771754" y="4236416"/>
            <a:ext cx="4865952" cy="203200"/>
          </a:xfrm>
          <a:prstGeom prst="rect">
            <a:avLst/>
          </a:prstGeom>
          <a:noFill/>
          <a:ln>
            <a:noFill/>
          </a:ln>
        </p:spPr>
        <p:txBody>
          <a:bodyPr wrap="none" lIns="0" tIns="0" rIns="0" bIns="0" rtlCol="0" anchor="ctr">
            <a:noAutofit/>
          </a:bodyPr>
          <a:lstStyle/>
          <a:p>
            <a:pPr marL="838200" indent="0" algn="l">
              <a:spcBef>
                <a:spcPts val="0"/>
              </a:spcBef>
              <a:spcAft>
                <a:spcPts val="0"/>
              </a:spcAft>
              <a:buNone/>
            </a:pPr>
            <a:r>
              <a:rPr lang="en-US" sz="1000" b="0" dirty="0">
                <a:solidFill>
                  <a:srgbClr val="E2E8F0"/>
                </a:solidFill>
                <a:latin typeface="Consolas"/>
                <a:ea typeface="Consolas"/>
                <a:cs typeface="Consolas"/>
              </a:rPr>
              <a:t>Thread.Sleep(100);          </a:t>
            </a:r>
            <a:r>
              <a:rPr lang="en-US" sz="1000" b="0" dirty="0">
                <a:solidFill>
                  <a:srgbClr val="6FAE7A"/>
                </a:solidFill>
                <a:latin typeface="Consolas"/>
                <a:ea typeface="Consolas"/>
                <a:cs typeface="Consolas"/>
              </a:rPr>
              <a:t>// empty: wait a bit</a:t>
            </a:r>
            <a:endParaRPr lang="en-US" sz="1000" dirty="0"/>
          </a:p>
        </p:txBody>
      </p:sp>
      <p:sp>
        <p:nvSpPr>
          <p:cNvPr id="33" name="cw_L12"/>
          <p:cNvSpPr txBox="1"/>
          <p:nvPr/>
        </p:nvSpPr>
        <p:spPr>
          <a:xfrm>
            <a:off x="771754" y="4439616"/>
            <a:ext cx="48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w_L13"/>
          <p:cNvSpPr txBox="1"/>
          <p:nvPr/>
        </p:nvSpPr>
        <p:spPr>
          <a:xfrm>
            <a:off x="771754" y="4642816"/>
            <a:ext cx="48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9" name="lab"/>
          <p:cNvSpPr txBox="1"/>
          <p:nvPr/>
        </p:nvSpPr>
        <p:spPr>
          <a:xfrm>
            <a:off x="6050000" y="1572768"/>
            <a:ext cx="9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4D91F0"/>
                </a:solidFill>
                <a:latin typeface="Segoe UI"/>
                <a:ea typeface="Segoe UI"/>
                <a:cs typeface="Segoe UI"/>
              </a:rPr>
              <a:t>requests</a:t>
            </a:r>
            <a:endParaRPr lang="en-US" sz="1000" dirty="0"/>
          </a:p>
        </p:txBody>
      </p:sp>
      <p:sp>
        <p:nvSpPr>
          <p:cNvPr id="40" name="lab"/>
          <p:cNvSpPr txBox="1"/>
          <p:nvPr/>
        </p:nvSpPr>
        <p:spPr>
          <a:xfrm>
            <a:off x="7000000" y="1572768"/>
            <a:ext cx="2620000" cy="28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Consolas"/>
                <a:ea typeface="Consolas"/>
                <a:cs typeface="Consolas"/>
              </a:rPr>
              <a:t>jobs  (ConcurrentQueue)</a:t>
            </a:r>
            <a:endParaRPr lang="en-US" sz="1000" dirty="0"/>
          </a:p>
        </p:txBody>
      </p:sp>
      <p:sp>
        <p:nvSpPr>
          <p:cNvPr id="41" name="lab"/>
          <p:cNvSpPr txBox="1"/>
          <p:nvPr/>
        </p:nvSpPr>
        <p:spPr>
          <a:xfrm>
            <a:off x="9850000" y="1572768"/>
            <a:ext cx="18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workers</a:t>
            </a:r>
            <a:endParaRPr lang="en-US" sz="1000" dirty="0"/>
          </a:p>
        </p:txBody>
      </p:sp>
      <p:sp>
        <p:nvSpPr>
          <p:cNvPr id="42" name="panel"/>
          <p:cNvSpPr/>
          <p:nvPr/>
        </p:nvSpPr>
        <p:spPr>
          <a:xfrm>
            <a:off x="7000000" y="1952768"/>
            <a:ext cx="2620000" cy="700000"/>
          </a:xfrm>
          <a:prstGeom prst="roundRect">
            <a:avLst>
              <a:gd name="adj" fmla="val 8000"/>
            </a:avLst>
          </a:prstGeom>
          <a:solidFill>
            <a:srgbClr val="0C1628"/>
          </a:solidFill>
          <a:ln w="12700">
            <a:solidFill>
              <a:srgbClr val="1E3A5F"/>
            </a:solidFill>
            <a:prstDash val="solid"/>
          </a:ln>
        </p:spPr>
        <p:txBody>
          <a:bodyPr/>
          <a:lstStyle/>
          <a:p>
            <a:endParaRPr lang="en-US"/>
          </a:p>
        </p:txBody>
      </p:sp>
      <p:sp>
        <p:nvSpPr>
          <p:cNvPr id="43" name="slot"/>
          <p:cNvSpPr/>
          <p:nvPr/>
        </p:nvSpPr>
        <p:spPr>
          <a:xfrm>
            <a:off x="710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4" name="slot"/>
          <p:cNvSpPr/>
          <p:nvPr/>
        </p:nvSpPr>
        <p:spPr>
          <a:xfrm>
            <a:off x="794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5" name="slot"/>
          <p:cNvSpPr/>
          <p:nvPr/>
        </p:nvSpPr>
        <p:spPr>
          <a:xfrm>
            <a:off x="8780000" y="2092768"/>
            <a:ext cx="80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6" name="lab"/>
          <p:cNvSpPr txBox="1"/>
          <p:nvPr/>
        </p:nvSpPr>
        <p:spPr>
          <a:xfrm>
            <a:off x="7100000" y="2672768"/>
            <a:ext cx="800000" cy="2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64748B"/>
                </a:solidFill>
                <a:latin typeface="Segoe UI"/>
                <a:ea typeface="Segoe UI"/>
                <a:cs typeface="Segoe UI"/>
              </a:rPr>
              <a:t>front</a:t>
            </a:r>
            <a:endParaRPr lang="en-US" sz="900" dirty="0"/>
          </a:p>
        </p:txBody>
      </p:sp>
      <p:sp>
        <p:nvSpPr>
          <p:cNvPr id="47" name="pill"/>
          <p:cNvSpPr/>
          <p:nvPr/>
        </p:nvSpPr>
        <p:spPr>
          <a:xfrm>
            <a:off x="9850000" y="1902768"/>
            <a:ext cx="820000" cy="42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W1</a:t>
            </a:r>
            <a:endParaRPr lang="en-US" sz="1050" dirty="0"/>
          </a:p>
        </p:txBody>
      </p:sp>
      <p:sp>
        <p:nvSpPr>
          <p:cNvPr id="48" name="pill"/>
          <p:cNvSpPr/>
          <p:nvPr/>
        </p:nvSpPr>
        <p:spPr>
          <a:xfrm>
            <a:off x="9850000" y="2432768"/>
            <a:ext cx="820000" cy="42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W2</a:t>
            </a:r>
            <a:endParaRPr lang="en-US" sz="1050" dirty="0"/>
          </a:p>
        </p:txBody>
      </p:sp>
      <p:sp>
        <p:nvSpPr>
          <p:cNvPr id="49" name="chip"/>
          <p:cNvSpPr/>
          <p:nvPr/>
        </p:nvSpPr>
        <p:spPr>
          <a:xfrm>
            <a:off x="7100000" y="2092768"/>
            <a:ext cx="80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A78BFA"/>
                </a:solidFill>
                <a:latin typeface="Segoe UI"/>
                <a:ea typeface="Segoe UI"/>
                <a:cs typeface="Segoe UI"/>
              </a:rPr>
              <a:t>order 5</a:t>
            </a:r>
            <a:endParaRPr lang="en-US" sz="950" dirty="0"/>
          </a:p>
        </p:txBody>
      </p:sp>
      <p:sp>
        <p:nvSpPr>
          <p:cNvPr id="50" name="chip"/>
          <p:cNvSpPr/>
          <p:nvPr/>
        </p:nvSpPr>
        <p:spPr>
          <a:xfrm>
            <a:off x="7100000" y="2092768"/>
            <a:ext cx="80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A78BFA"/>
                </a:solidFill>
                <a:latin typeface="Segoe UI"/>
                <a:ea typeface="Segoe UI"/>
                <a:cs typeface="Segoe UI"/>
              </a:rPr>
              <a:t>order 5</a:t>
            </a:r>
            <a:endParaRPr lang="en-US" sz="950" dirty="0"/>
          </a:p>
        </p:txBody>
      </p:sp>
      <p:sp>
        <p:nvSpPr>
          <p:cNvPr id="51" name="chip"/>
          <p:cNvSpPr/>
          <p:nvPr/>
        </p:nvSpPr>
        <p:spPr>
          <a:xfrm>
            <a:off x="6050000" y="1902768"/>
            <a:ext cx="800000" cy="42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4D91F0"/>
                </a:solidFill>
                <a:latin typeface="Segoe UI"/>
                <a:ea typeface="Segoe UI"/>
                <a:cs typeface="Segoe UI"/>
              </a:rPr>
              <a:t>order 7</a:t>
            </a:r>
            <a:endParaRPr lang="en-US" sz="950" dirty="0"/>
          </a:p>
        </p:txBody>
      </p:sp>
      <p:sp>
        <p:nvSpPr>
          <p:cNvPr id="52" name="chip"/>
          <p:cNvSpPr/>
          <p:nvPr/>
        </p:nvSpPr>
        <p:spPr>
          <a:xfrm>
            <a:off x="6050000" y="2432768"/>
            <a:ext cx="800000" cy="42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BBF24"/>
                </a:solidFill>
                <a:latin typeface="Segoe UI"/>
                <a:ea typeface="Segoe UI"/>
                <a:cs typeface="Segoe UI"/>
              </a:rPr>
              <a:t>order 8</a:t>
            </a:r>
            <a:endParaRPr lang="en-US" sz="950" dirty="0"/>
          </a:p>
        </p:txBody>
      </p:sp>
      <p:sp>
        <p:nvSpPr>
          <p:cNvPr id="53" name="caption"/>
          <p:cNvSpPr/>
          <p:nvPr/>
        </p:nvSpPr>
        <p:spPr>
          <a:xfrm>
            <a:off x="6050000" y="2972768"/>
            <a:ext cx="5580254" cy="560000"/>
          </a:xfrm>
          <a:prstGeom prst="roundRect">
            <a:avLst>
              <a:gd name="adj" fmla="val 12000"/>
            </a:avLst>
          </a:prstGeom>
          <a:solidFill>
            <a:srgbClr val="0C1628"/>
          </a:solidFill>
          <a:ln w="12700">
            <a:solidFill>
              <a:srgbClr val="A78BFA"/>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Same setup: requests add email jobs, two background workers send them.</a:t>
            </a:r>
            <a:endParaRPr lang="en-US" sz="1150" dirty="0"/>
          </a:p>
        </p:txBody>
      </p:sp>
      <p:sp>
        <p:nvSpPr>
          <p:cNvPr id="54" name="caption"/>
          <p:cNvSpPr/>
          <p:nvPr/>
        </p:nvSpPr>
        <p:spPr>
          <a:xfrm>
            <a:off x="6050000" y="2972768"/>
            <a:ext cx="5580254" cy="56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Two requests Enqueue at the same moment: each job gets its own slot. Nothing is lost.</a:t>
            </a:r>
            <a:endParaRPr lang="en-US" sz="1150" dirty="0"/>
          </a:p>
        </p:txBody>
      </p:sp>
      <p:sp>
        <p:nvSpPr>
          <p:cNvPr id="55" name="caption"/>
          <p:cNvSpPr/>
          <p:nvPr/>
        </p:nvSpPr>
        <p:spPr>
          <a:xfrm>
            <a:off x="6050000" y="2972768"/>
            <a:ext cx="5580254" cy="56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TryDequeue checks AND takes in one atomic step: each job goes to exactly one worker.</a:t>
            </a:r>
            <a:endParaRPr lang="en-US" sz="1150" dirty="0"/>
          </a:p>
        </p:txBody>
      </p:sp>
      <p:sp>
        <p:nvSpPr>
          <p:cNvPr id="56" name="caption"/>
          <p:cNvSpPr/>
          <p:nvPr/>
        </p:nvSpPr>
        <p:spPr>
          <a:xfrm>
            <a:off x="6050000" y="2972768"/>
            <a:ext cx="5580254" cy="56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0" dirty="0">
                <a:solidFill>
                  <a:srgbClr val="FFFFFF"/>
                </a:solidFill>
                <a:latin typeface="Segoe UI"/>
                <a:ea typeface="Segoe UI"/>
                <a:cs typeface="Segoe UI"/>
              </a:rPr>
              <a:t>W1 sends order 5, then takes order 8. W2 asks again: queue empty, TryDequeue returns false. No exception.</a:t>
            </a:r>
            <a:endParaRPr lang="en-US" sz="1150" dirty="0"/>
          </a:p>
        </p:txBody>
      </p:sp>
      <p:sp>
        <p:nvSpPr>
          <p:cNvPr id="57" name="res"/>
          <p:cNvSpPr/>
          <p:nvPr/>
        </p:nvSpPr>
        <p:spPr>
          <a:xfrm>
            <a:off x="6050000" y="3632768"/>
            <a:ext cx="5580254" cy="600000"/>
          </a:xfrm>
          <a:prstGeom prst="roundRect">
            <a:avLst>
              <a:gd name="adj" fmla="val 10000"/>
            </a:avLst>
          </a:prstGeom>
          <a:solidFill>
            <a:srgbClr val="0E2A26"/>
          </a:solidFill>
          <a:ln w="19050">
            <a:solidFill>
              <a:srgbClr val="34D399"/>
            </a:solidFill>
            <a:prstDash val="solid"/>
          </a:ln>
        </p:spPr>
        <p:txBody>
          <a:bodyPr wrap="square" lIns="137160" tIns="45720" rIns="137160" bIns="4572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TryDequeue(out job):  </a:t>
            </a:r>
            <a:r>
              <a:rPr lang="en-US" sz="1050" b="0" dirty="0">
                <a:solidFill>
                  <a:srgbClr val="FFFFFF"/>
                </a:solidFill>
                <a:latin typeface="Segoe UI"/>
                <a:ea typeface="Segoe UI"/>
                <a:cs typeface="Segoe UI"/>
              </a:rPr>
              <a:t>true = yours alone  ·  false = empty</a:t>
            </a:r>
            <a:endParaRPr lang="en-US" sz="1050" dirty="0"/>
          </a:p>
        </p:txBody>
      </p:sp>
      <p:sp>
        <p:nvSpPr>
          <p:cNvPr id="58" name="card"/>
          <p:cNvSpPr/>
          <p:nvPr/>
        </p:nvSpPr>
        <p:spPr>
          <a:xfrm>
            <a:off x="6050000" y="4332768"/>
            <a:ext cx="1799124" cy="6172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NOTHING LOST</a:t>
            </a:r>
            <a:endParaRPr lang="en-US" sz="1050" dirty="0"/>
          </a:p>
        </p:txBody>
      </p:sp>
      <p:sp>
        <p:nvSpPr>
          <p:cNvPr id="59" name="card"/>
          <p:cNvSpPr/>
          <p:nvPr/>
        </p:nvSpPr>
        <p:spPr>
          <a:xfrm>
            <a:off x="7940564" y="4332768"/>
            <a:ext cx="1799124" cy="6172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NO DUPLICATES</a:t>
            </a:r>
            <a:endParaRPr lang="en-US" sz="1050" dirty="0"/>
          </a:p>
        </p:txBody>
      </p:sp>
      <p:sp>
        <p:nvSpPr>
          <p:cNvPr id="60" name="card"/>
          <p:cNvSpPr/>
          <p:nvPr/>
        </p:nvSpPr>
        <p:spPr>
          <a:xfrm>
            <a:off x="9831129" y="4332768"/>
            <a:ext cx="1799124" cy="6172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NO CRASHES</a:t>
            </a:r>
            <a:endParaRPr lang="en-US" sz="1050" dirty="0"/>
          </a:p>
        </p:txBody>
      </p:sp>
      <p:sp>
        <p:nvSpPr>
          <p:cNvPr id="61"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ConcurrentQueue: many producers, many workers, no lock needed. TryDequeue = check + take in one step.</a:t>
            </a:r>
            <a:endParaRPr lang="en-US" sz="1450" dirty="0"/>
          </a:p>
        </p:txBody>
      </p:sp>
    </p:spTree>
    <p:extLst>
      <p:ext uri="{BB962C8B-B14F-4D97-AF65-F5344CB8AC3E}">
        <p14:creationId xmlns:p14="http://schemas.microsoft.com/office/powerpoint/2010/main" val="13415150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30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300"/>
                                        <p:tgtEl>
                                          <p:spTgt spid="3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3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3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300"/>
                                        <p:tgtEl>
                                          <p:spTgt spid="4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3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300"/>
                                        <p:tgtEl>
                                          <p:spTgt spid="4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3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3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300"/>
                                        <p:tgtEl>
                                          <p:spTgt spid="4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300"/>
                                        <p:tgtEl>
                                          <p:spTgt spid="4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300"/>
                                        <p:tgtEl>
                                          <p:spTgt spid="4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300"/>
                                        <p:tgtEl>
                                          <p:spTgt spid="5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300"/>
                                        <p:tgtEl>
                                          <p:spTgt spid="5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300"/>
                                        <p:tgtEl>
                                          <p:spTgt spid="5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3"/>
                                        </p:tgtEl>
                                        <p:attrNameLst>
                                          <p:attrName>style.visibility</p:attrName>
                                        </p:attrNameLst>
                                      </p:cBhvr>
                                      <p:to>
                                        <p:strVal val="visible"/>
                                      </p:to>
                                    </p:set>
                                    <p:animEffect transition="in" filter="fade">
                                      <p:cBhvr>
                                        <p:cTn id="111" dur="300"/>
                                        <p:tgtEl>
                                          <p:spTgt spid="53"/>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300"/>
                                        <p:tgtEl>
                                          <p:spTgt spid="3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fade">
                                      <p:cBhvr>
                                        <p:cTn id="119" dur="300"/>
                                        <p:tgtEl>
                                          <p:spTgt spid="54"/>
                                        </p:tgtEl>
                                      </p:cBhvr>
                                    </p:animEffect>
                                  </p:childTnLst>
                                </p:cTn>
                              </p:par>
                              <p:par>
                                <p:cTn id="120" presetID="0" presetClass="path" presetSubtype="0" accel="50000" decel="50000" fill="hold" grpId="1" nodeType="withEffect">
                                  <p:stCondLst>
                                    <p:cond delay="200"/>
                                  </p:stCondLst>
                                  <p:childTnLst>
                                    <p:animMotion origin="layout" path="M 0.00000 0.00000 L 0.15502 0.02770 E" pathEditMode="relative" rAng="0" ptsTypes="AA">
                                      <p:cBhvr>
                                        <p:cTn id="121" dur="900" fill="hold"/>
                                        <p:tgtEl>
                                          <p:spTgt spid="51"/>
                                        </p:tgtEl>
                                        <p:attrNameLst>
                                          <p:attrName>ppt_x</p:attrName>
                                          <p:attrName>ppt_y</p:attrName>
                                        </p:attrNameLst>
                                      </p:cBhvr>
                                      <p:rCtr x="7751" y="1385"/>
                                    </p:animMotion>
                                  </p:childTnLst>
                                </p:cTn>
                              </p:par>
                              <p:par>
                                <p:cTn id="122" presetID="0" presetClass="path" presetSubtype="0" accel="50000" decel="50000" fill="hold" grpId="1" nodeType="withEffect">
                                  <p:stCondLst>
                                    <p:cond delay="200"/>
                                  </p:stCondLst>
                                  <p:childTnLst>
                                    <p:animMotion origin="layout" path="M 0.00000 0.00000 L 0.22392 -0.04958 E" pathEditMode="relative" rAng="0" ptsTypes="AA">
                                      <p:cBhvr>
                                        <p:cTn id="123" dur="900" fill="hold"/>
                                        <p:tgtEl>
                                          <p:spTgt spid="52"/>
                                        </p:tgtEl>
                                        <p:attrNameLst>
                                          <p:attrName>ppt_x</p:attrName>
                                          <p:attrName>ppt_y</p:attrName>
                                        </p:attrNameLst>
                                      </p:cBhvr>
                                      <p:rCtr x="11196" y="-2479"/>
                                    </p:animMotion>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37"/>
                                        </p:tgtEl>
                                        <p:attrNameLst>
                                          <p:attrName>style.visibility</p:attrName>
                                        </p:attrNameLst>
                                      </p:cBhvr>
                                      <p:to>
                                        <p:strVal val="visible"/>
                                      </p:to>
                                    </p:set>
                                    <p:animEffect transition="in" filter="fade">
                                      <p:cBhvr>
                                        <p:cTn id="128" dur="300"/>
                                        <p:tgtEl>
                                          <p:spTgt spid="37"/>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300"/>
                                        <p:tgtEl>
                                          <p:spTgt spid="55"/>
                                        </p:tgtEl>
                                      </p:cBhvr>
                                    </p:animEffect>
                                  </p:childTnLst>
                                </p:cTn>
                              </p:par>
                              <p:par>
                                <p:cTn id="132" presetID="0" presetClass="path" presetSubtype="0" accel="50000" decel="50000" fill="hold" grpId="1" nodeType="withEffect">
                                  <p:stCondLst>
                                    <p:cond delay="200"/>
                                  </p:stCondLst>
                                  <p:childTnLst>
                                    <p:animMotion origin="layout" path="M 0.00000 0.00000 L 0.30184 -0.02770 E" pathEditMode="relative" rAng="0" ptsTypes="AA">
                                      <p:cBhvr>
                                        <p:cTn id="133" dur="900" fill="hold"/>
                                        <p:tgtEl>
                                          <p:spTgt spid="50"/>
                                        </p:tgtEl>
                                        <p:attrNameLst>
                                          <p:attrName>ppt_x</p:attrName>
                                          <p:attrName>ppt_y</p:attrName>
                                        </p:attrNameLst>
                                      </p:cBhvr>
                                      <p:rCtr x="15092" y="-1385"/>
                                    </p:animMotion>
                                  </p:childTnLst>
                                </p:cTn>
                              </p:par>
                              <p:par>
                                <p:cTn id="134" presetID="0" presetClass="path" presetSubtype="0" accel="50000" decel="50000" fill="hold" grpId="2" nodeType="withEffect">
                                  <p:stCondLst>
                                    <p:cond delay="600"/>
                                  </p:stCondLst>
                                  <p:childTnLst>
                                    <p:animMotion origin="layout" path="M 0.15502 0.02770 L 0.38796 0.07728 E" pathEditMode="relative" rAng="0" ptsTypes="AA">
                                      <p:cBhvr>
                                        <p:cTn id="135" dur="900" fill="hold"/>
                                        <p:tgtEl>
                                          <p:spTgt spid="51"/>
                                        </p:tgtEl>
                                        <p:attrNameLst>
                                          <p:attrName>ppt_x</p:attrName>
                                          <p:attrName>ppt_y</p:attrName>
                                        </p:attrNameLst>
                                      </p:cBhvr>
                                      <p:rCtr x="19398" y="3864"/>
                                    </p:animMotion>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8"/>
                                        </p:tgtEl>
                                        <p:attrNameLst>
                                          <p:attrName>style.visibility</p:attrName>
                                        </p:attrNameLst>
                                      </p:cBhvr>
                                      <p:to>
                                        <p:strVal val="visible"/>
                                      </p:to>
                                    </p:set>
                                    <p:animEffect transition="in" filter="fade">
                                      <p:cBhvr>
                                        <p:cTn id="140" dur="300"/>
                                        <p:tgtEl>
                                          <p:spTgt spid="38"/>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6"/>
                                        </p:tgtEl>
                                        <p:attrNameLst>
                                          <p:attrName>style.visibility</p:attrName>
                                        </p:attrNameLst>
                                      </p:cBhvr>
                                      <p:to>
                                        <p:strVal val="visible"/>
                                      </p:to>
                                    </p:set>
                                    <p:animEffect transition="in" filter="fade">
                                      <p:cBhvr>
                                        <p:cTn id="143" dur="300"/>
                                        <p:tgtEl>
                                          <p:spTgt spid="56"/>
                                        </p:tgtEl>
                                      </p:cBhvr>
                                    </p:animEffect>
                                  </p:childTnLst>
                                </p:cTn>
                              </p:par>
                              <p:par>
                                <p:cTn id="144" presetID="10" presetClass="exit" presetSubtype="0" fill="hold" grpId="2" nodeType="withEffect">
                                  <p:stCondLst>
                                    <p:cond delay="0"/>
                                  </p:stCondLst>
                                  <p:childTnLst>
                                    <p:animEffect transition="out" filter="fade">
                                      <p:cBhvr>
                                        <p:cTn id="145" dur="300"/>
                                        <p:tgtEl>
                                          <p:spTgt spid="50"/>
                                        </p:tgtEl>
                                      </p:cBhvr>
                                    </p:animEffect>
                                    <p:set>
                                      <p:cBhvr>
                                        <p:cTn id="146" dur="1" fill="hold">
                                          <p:stCondLst>
                                            <p:cond delay="299"/>
                                          </p:stCondLst>
                                        </p:cTn>
                                        <p:tgtEl>
                                          <p:spTgt spid="50"/>
                                        </p:tgtEl>
                                        <p:attrNameLst>
                                          <p:attrName>style.visibility</p:attrName>
                                        </p:attrNameLst>
                                      </p:cBhvr>
                                      <p:to>
                                        <p:strVal val="hidden"/>
                                      </p:to>
                                    </p:set>
                                  </p:childTnLst>
                                </p:cTn>
                              </p:par>
                              <p:par>
                                <p:cTn id="147" presetID="0" presetClass="path" presetSubtype="0" accel="50000" decel="50000" fill="hold" grpId="2" nodeType="withEffect">
                                  <p:stCondLst>
                                    <p:cond delay="300"/>
                                  </p:stCondLst>
                                  <p:childTnLst>
                                    <p:animMotion origin="layout" path="M 0.22392 -0.04958 L 0.38796 -0.07728 E" pathEditMode="relative" rAng="0" ptsTypes="AA">
                                      <p:cBhvr>
                                        <p:cTn id="148" dur="900" fill="hold"/>
                                        <p:tgtEl>
                                          <p:spTgt spid="52"/>
                                        </p:tgtEl>
                                        <p:attrNameLst>
                                          <p:attrName>ppt_x</p:attrName>
                                          <p:attrName>ppt_y</p:attrName>
                                        </p:attrNameLst>
                                      </p:cBhvr>
                                      <p:rCtr x="19398" y="-3864"/>
                                    </p:animMotion>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3" dur="300"/>
                                        <p:tgtEl>
                                          <p:spTgt spid="57"/>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8" dur="300"/>
                                        <p:tgtEl>
                                          <p:spTgt spid="58"/>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9"/>
                                        </p:tgtEl>
                                        <p:attrNameLst>
                                          <p:attrName>style.visibility</p:attrName>
                                        </p:attrNameLst>
                                      </p:cBhvr>
                                      <p:to>
                                        <p:strVal val="visible"/>
                                      </p:to>
                                    </p:set>
                                    <p:animEffect transition="in" filter="fade">
                                      <p:cBhvr>
                                        <p:cTn id="161" dur="300"/>
                                        <p:tgtEl>
                                          <p:spTgt spid="59"/>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4" dur="300"/>
                                        <p:tgtEl>
                                          <p:spTgt spid="60"/>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61"/>
                                        </p:tgtEl>
                                        <p:attrNameLst>
                                          <p:attrName>style.visibility</p:attrName>
                                        </p:attrNameLst>
                                      </p:cBhvr>
                                      <p:to>
                                        <p:strVal val="visible"/>
                                      </p:to>
                                    </p:set>
                                    <p:animEffect transition="in" filter="fade">
                                      <p:cBhvr>
                                        <p:cTn id="169" dur="3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5" grpId="0" animBg="1"/>
      <p:bldP spid="36" grpId="0" animBg="1"/>
      <p:bldP spid="37" grpId="0" animBg="1"/>
      <p:bldP spid="38"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PART 4</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57</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BBF24"/>
                </a:solidFill>
                <a:latin typeface="Segoe UI"/>
                <a:ea typeface="Segoe UI"/>
                <a:cs typeface="Segoe UI"/>
              </a:rPr>
              <a:t>04</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The Thread Pool</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Reuse threads instead of creating one per job.</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Threads are expensive  ·  How the pool works  ·  Pool size: min and max  ·  ThreadPool  ·  Thread pool starvation  ·  Starvation vs deadlock  ·  Quiz</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COST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One Thread per Order? Too Expensive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58</a:t>
            </a:r>
            <a:endParaRPr lang="en-US" sz="850" dirty="0"/>
          </a:p>
        </p:txBody>
      </p:sp>
      <p:sp>
        <p:nvSpPr>
          <p:cNvPr id="15" name="card"/>
          <p:cNvSpPr/>
          <p:nvPr/>
        </p:nvSpPr>
        <p:spPr>
          <a:xfrm>
            <a:off x="543154" y="1572768"/>
            <a:ext cx="3291840" cy="1097280"/>
          </a:xfrm>
          <a:prstGeom prst="roundRect">
            <a:avLst>
              <a:gd name="adj" fmla="val 7500"/>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ctr">
              <a:spcBef>
                <a:spcPts val="0"/>
              </a:spcBef>
              <a:spcAft>
                <a:spcPts val="100"/>
              </a:spcAft>
              <a:buNone/>
            </a:pPr>
            <a:r>
              <a:rPr lang="en-US" sz="1800" b="1" dirty="0">
                <a:solidFill>
                  <a:srgbClr val="FFFFFF"/>
                </a:solidFill>
                <a:latin typeface="Segoe UI"/>
                <a:ea typeface="Segoe UI"/>
                <a:cs typeface="Segoe UI"/>
              </a:rPr>
              <a:t>10,000 orders</a:t>
            </a:r>
            <a:endParaRPr lang="en-US" sz="1800" dirty="0"/>
          </a:p>
          <a:p>
            <a:pPr marL="0" indent="0" algn="ctr">
              <a:spcBef>
                <a:spcPts val="0"/>
              </a:spcBef>
              <a:spcAft>
                <a:spcPts val="0"/>
              </a:spcAft>
              <a:buNone/>
            </a:pPr>
            <a:r>
              <a:rPr lang="en-US" sz="1150" b="0" dirty="0">
                <a:solidFill>
                  <a:srgbClr val="94A3B8"/>
                </a:solidFill>
                <a:latin typeface="Segoe UI"/>
                <a:ea typeface="Segoe UI"/>
                <a:cs typeface="Segoe UI"/>
              </a:rPr>
              <a:t>arrive in one minute</a:t>
            </a:r>
            <a:endParaRPr lang="en-US" sz="1150" dirty="0"/>
          </a:p>
        </p:txBody>
      </p:sp>
      <p:cxnSp>
        <p:nvCxnSpPr>
          <p:cNvPr id="16" name="arrow"/>
          <p:cNvCxnSpPr/>
          <p:nvPr/>
        </p:nvCxnSpPr>
        <p:spPr>
          <a:xfrm>
            <a:off x="3926434" y="2121408"/>
            <a:ext cx="640080" cy="0"/>
          </a:xfrm>
          <a:prstGeom prst="line">
            <a:avLst/>
          </a:prstGeom>
          <a:ln w="28575">
            <a:solidFill>
              <a:srgbClr val="F87171"/>
            </a:solidFill>
            <a:tailEnd type="triangle" w="med" len="med"/>
          </a:ln>
        </p:spPr>
      </p:cxnSp>
      <p:sp>
        <p:nvSpPr>
          <p:cNvPr id="17" name="card"/>
          <p:cNvSpPr/>
          <p:nvPr/>
        </p:nvSpPr>
        <p:spPr>
          <a:xfrm>
            <a:off x="4657954" y="1572768"/>
            <a:ext cx="6972300" cy="1097280"/>
          </a:xfrm>
          <a:prstGeom prst="roundRect">
            <a:avLst>
              <a:gd name="adj" fmla="val 7500"/>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ctr">
              <a:spcBef>
                <a:spcPts val="0"/>
              </a:spcBef>
              <a:spcAft>
                <a:spcPts val="100"/>
              </a:spcAft>
              <a:buNone/>
            </a:pPr>
            <a:r>
              <a:rPr lang="en-US" sz="1600" b="1" dirty="0">
                <a:solidFill>
                  <a:srgbClr val="F87171"/>
                </a:solidFill>
                <a:latin typeface="Consolas"/>
                <a:ea typeface="Consolas"/>
                <a:cs typeface="Consolas"/>
              </a:rPr>
              <a:t>new Thread(...)  × 10,000</a:t>
            </a:r>
            <a:endParaRPr lang="en-US" sz="1600" dirty="0"/>
          </a:p>
          <a:p>
            <a:pPr marL="0" indent="0" algn="ctr">
              <a:spcBef>
                <a:spcPts val="0"/>
              </a:spcBef>
              <a:spcAft>
                <a:spcPts val="0"/>
              </a:spcAft>
              <a:buNone/>
            </a:pPr>
            <a:r>
              <a:rPr lang="en-US" sz="1150" b="0" dirty="0">
                <a:solidFill>
                  <a:srgbClr val="94A3B8"/>
                </a:solidFill>
                <a:latin typeface="Segoe UI"/>
                <a:ea typeface="Segoe UI"/>
                <a:cs typeface="Segoe UI"/>
              </a:rPr>
              <a:t>one brand-new thread per order</a:t>
            </a:r>
            <a:endParaRPr lang="en-US" sz="1150" dirty="0"/>
          </a:p>
        </p:txBody>
      </p:sp>
      <p:sp>
        <p:nvSpPr>
          <p:cNvPr id="18" name="card"/>
          <p:cNvSpPr/>
          <p:nvPr/>
        </p:nvSpPr>
        <p:spPr>
          <a:xfrm>
            <a:off x="543154" y="2898648"/>
            <a:ext cx="2107692" cy="1984248"/>
          </a:xfrm>
          <a:prstGeom prst="roundRect">
            <a:avLst>
              <a:gd name="adj" fmla="val 4147"/>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00"/>
              </a:spcAft>
              <a:buNone/>
            </a:pPr>
            <a:r>
              <a:rPr lang="en-US" sz="1050" b="1" dirty="0">
                <a:solidFill>
                  <a:srgbClr val="FBBF24"/>
                </a:solidFill>
                <a:latin typeface="Segoe UI"/>
                <a:ea typeface="Segoe UI"/>
                <a:cs typeface="Segoe UI"/>
              </a:rPr>
              <a:t>STACK MEMORY</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10,000 × ~1 MB ≈ 10 GB reserved</a:t>
            </a:r>
            <a:endParaRPr lang="en-US" sz="1250" dirty="0"/>
          </a:p>
        </p:txBody>
      </p:sp>
      <p:sp>
        <p:nvSpPr>
          <p:cNvPr id="19" name="card"/>
          <p:cNvSpPr/>
          <p:nvPr/>
        </p:nvSpPr>
        <p:spPr>
          <a:xfrm>
            <a:off x="2788006" y="2898648"/>
            <a:ext cx="2107692" cy="1984248"/>
          </a:xfrm>
          <a:prstGeom prst="roundRect">
            <a:avLst>
              <a:gd name="adj" fmla="val 4147"/>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00"/>
              </a:spcAft>
              <a:buNone/>
            </a:pPr>
            <a:r>
              <a:rPr lang="en-US" sz="1050" b="1" dirty="0">
                <a:solidFill>
                  <a:srgbClr val="FBBF24"/>
                </a:solidFill>
                <a:latin typeface="Segoe UI"/>
                <a:ea typeface="Segoe UI"/>
                <a:cs typeface="Segoe UI"/>
              </a:rPr>
              <a:t>OS RESOURCES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kernel objects and bookkeeping</a:t>
            </a:r>
            <a:endParaRPr lang="en-US" sz="1250" dirty="0"/>
          </a:p>
        </p:txBody>
      </p:sp>
      <p:sp>
        <p:nvSpPr>
          <p:cNvPr id="20" name="card"/>
          <p:cNvSpPr/>
          <p:nvPr/>
        </p:nvSpPr>
        <p:spPr>
          <a:xfrm>
            <a:off x="5032858" y="2898648"/>
            <a:ext cx="2107692" cy="1984248"/>
          </a:xfrm>
          <a:prstGeom prst="roundRect">
            <a:avLst>
              <a:gd name="adj" fmla="val 4147"/>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00"/>
              </a:spcAft>
              <a:buNone/>
            </a:pPr>
            <a:r>
              <a:rPr lang="en-US" sz="1050" b="1" dirty="0">
                <a:solidFill>
                  <a:srgbClr val="FBBF24"/>
                </a:solidFill>
                <a:latin typeface="Segoe UI"/>
                <a:ea typeface="Segoe UI"/>
                <a:cs typeface="Segoe UI"/>
              </a:rPr>
              <a:t>SCHEDULING</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OS must manage every thread</a:t>
            </a:r>
            <a:endParaRPr lang="en-US" sz="1250" dirty="0"/>
          </a:p>
        </p:txBody>
      </p:sp>
      <p:sp>
        <p:nvSpPr>
          <p:cNvPr id="21" name="card"/>
          <p:cNvSpPr/>
          <p:nvPr/>
        </p:nvSpPr>
        <p:spPr>
          <a:xfrm>
            <a:off x="7277710" y="2898648"/>
            <a:ext cx="2107692" cy="1984248"/>
          </a:xfrm>
          <a:prstGeom prst="roundRect">
            <a:avLst>
              <a:gd name="adj" fmla="val 4147"/>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00"/>
              </a:spcAft>
              <a:buNone/>
            </a:pPr>
            <a:r>
              <a:rPr lang="en-US" sz="1050" b="1" dirty="0">
                <a:solidFill>
                  <a:srgbClr val="FBBF24"/>
                </a:solidFill>
                <a:latin typeface="Segoe UI"/>
                <a:ea typeface="Segoe UI"/>
                <a:cs typeface="Segoe UI"/>
              </a:rPr>
              <a:t>CONTEXT SWITCHING</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more threads, more switches, less work</a:t>
            </a:r>
            <a:endParaRPr lang="en-US" sz="1250" dirty="0"/>
          </a:p>
        </p:txBody>
      </p:sp>
      <p:sp>
        <p:nvSpPr>
          <p:cNvPr id="22" name="card"/>
          <p:cNvSpPr/>
          <p:nvPr/>
        </p:nvSpPr>
        <p:spPr>
          <a:xfrm>
            <a:off x="9522562" y="2898648"/>
            <a:ext cx="2107692" cy="1984248"/>
          </a:xfrm>
          <a:prstGeom prst="roundRect">
            <a:avLst>
              <a:gd name="adj" fmla="val 4147"/>
            </a:avLst>
          </a:prstGeom>
          <a:solidFill>
            <a:srgbClr val="111B2E"/>
          </a:solidFill>
          <a:ln w="12700">
            <a:solidFill>
              <a:srgbClr val="FBBF24"/>
            </a:solidFill>
            <a:prstDash val="solid"/>
          </a:ln>
        </p:spPr>
        <p:txBody>
          <a:bodyPr wrap="square" lIns="146304" tIns="164592" rIns="109728" bIns="91440" rtlCol="0" anchor="t">
            <a:noAutofit/>
          </a:bodyPr>
          <a:lstStyle/>
          <a:p>
            <a:pPr marL="0" indent="0" algn="l">
              <a:spcBef>
                <a:spcPts val="0"/>
              </a:spcBef>
              <a:spcAft>
                <a:spcPts val="200"/>
              </a:spcAft>
              <a:buNone/>
            </a:pPr>
            <a:r>
              <a:rPr lang="en-US" sz="1050" b="1" dirty="0">
                <a:solidFill>
                  <a:srgbClr val="FBBF24"/>
                </a:solidFill>
                <a:latin typeface="Segoe UI"/>
                <a:ea typeface="Segoe UI"/>
                <a:cs typeface="Segoe UI"/>
              </a:rPr>
              <a:t>CREATE &amp; DESTROY</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paid again for every short job</a:t>
            </a:r>
            <a:endParaRPr lang="en-US" sz="1250" dirty="0"/>
          </a:p>
        </p:txBody>
      </p:sp>
      <p:sp>
        <p:nvSpPr>
          <p:cNvPr id="23"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Threads are expensive to create; creating one per job does not scale.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25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25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5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25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animBg="1"/>
      <p:bldP spid="22" grpId="0" animBg="1"/>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THREADPOOL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How the ThreadPool Works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59</a:t>
            </a:r>
            <a:endParaRPr lang="en-US" sz="850" dirty="0"/>
          </a:p>
        </p:txBody>
      </p:sp>
      <p:sp>
        <p:nvSpPr>
          <p:cNvPr id="15" name="cw_win"/>
          <p:cNvSpPr/>
          <p:nvPr/>
        </p:nvSpPr>
        <p:spPr>
          <a:xfrm>
            <a:off x="543154" y="1572768"/>
            <a:ext cx="5300000" cy="1706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7" name="cw_hl01"/>
          <p:cNvSpPr/>
          <p:nvPr/>
        </p:nvSpPr>
        <p:spPr>
          <a:xfrm>
            <a:off x="676656" y="2206448"/>
            <a:ext cx="5032996" cy="483616"/>
          </a:xfrm>
          <a:prstGeom prst="rect">
            <a:avLst/>
          </a:prstGeom>
          <a:solidFill>
            <a:srgbClr val="4D91F0">
              <a:alpha val="15000"/>
            </a:srgbClr>
          </a:solidFill>
          <a:ln w="12700">
            <a:solidFill>
              <a:srgbClr val="4D91F0"/>
            </a:solidFill>
            <a:prstDash val="solid"/>
          </a:ln>
        </p:spPr>
        <p:txBody>
          <a:bodyPr/>
          <a:lstStyle/>
          <a:p>
            <a:endParaRPr lang="en-US"/>
          </a:p>
        </p:txBody>
      </p:sp>
      <p:sp>
        <p:nvSpPr>
          <p:cNvPr id="28" name="cw_hl03"/>
          <p:cNvSpPr/>
          <p:nvPr/>
        </p:nvSpPr>
        <p:spPr>
          <a:xfrm>
            <a:off x="676656" y="2653488"/>
            <a:ext cx="5032996" cy="260096"/>
          </a:xfrm>
          <a:prstGeom prst="rect">
            <a:avLst/>
          </a:prstGeom>
          <a:solidFill>
            <a:srgbClr val="A78BFA">
              <a:alpha val="15000"/>
            </a:srgbClr>
          </a:solidFill>
          <a:ln w="12700">
            <a:solidFill>
              <a:srgbClr val="A78BFA"/>
            </a:solidFill>
            <a:prstDash val="solid"/>
          </a:ln>
        </p:spPr>
        <p:txBody>
          <a:bodyPr/>
          <a:lstStyle/>
          <a:p>
            <a:endParaRPr lang="en-US"/>
          </a:p>
        </p:txBody>
      </p:sp>
      <p:sp>
        <p:nvSpPr>
          <p:cNvPr id="22" name="cw_L00"/>
          <p:cNvSpPr txBox="1"/>
          <p:nvPr/>
        </p:nvSpPr>
        <p:spPr>
          <a:xfrm>
            <a:off x="771754" y="200121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"1. Queue the job"</a:t>
            </a:r>
            <a:r>
              <a:rPr lang="en-US" sz="1100" b="0" dirty="0">
                <a:solidFill>
                  <a:srgbClr val="E2E8F0"/>
                </a:solidFill>
                <a:latin typeface="Consolas"/>
                <a:ea typeface="Consolas"/>
                <a:cs typeface="Consolas"/>
              </a:rPr>
              <a:t>);</a:t>
            </a:r>
            <a:endParaRPr lang="en-US" sz="1100" dirty="0"/>
          </a:p>
        </p:txBody>
      </p:sp>
      <p:sp>
        <p:nvSpPr>
          <p:cNvPr id="23" name="cw_L01"/>
          <p:cNvSpPr txBox="1"/>
          <p:nvPr/>
        </p:nvSpPr>
        <p:spPr>
          <a:xfrm>
            <a:off x="771754" y="222473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ThreadPool.QueueUserWorkItem(_ =&gt;</a:t>
            </a:r>
            <a:endParaRPr lang="en-US" sz="1100" dirty="0"/>
          </a:p>
        </p:txBody>
      </p:sp>
      <p:sp>
        <p:nvSpPr>
          <p:cNvPr id="24" name="cw_L02"/>
          <p:cNvSpPr txBox="1"/>
          <p:nvPr/>
        </p:nvSpPr>
        <p:spPr>
          <a:xfrm>
            <a:off x="771754" y="2448256"/>
            <a:ext cx="49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"3. A pool worker runs it"</a:t>
            </a:r>
            <a:r>
              <a:rPr lang="en-US" sz="1100" b="0" dirty="0">
                <a:solidFill>
                  <a:srgbClr val="E2E8F0"/>
                </a:solidFill>
                <a:latin typeface="Consolas"/>
                <a:ea typeface="Consolas"/>
                <a:cs typeface="Consolas"/>
              </a:rPr>
              <a:t>));</a:t>
            </a:r>
            <a:endParaRPr lang="en-US" sz="1100" dirty="0"/>
          </a:p>
        </p:txBody>
      </p:sp>
      <p:sp>
        <p:nvSpPr>
          <p:cNvPr id="25" name="cw_L03"/>
          <p:cNvSpPr txBox="1"/>
          <p:nvPr/>
        </p:nvSpPr>
        <p:spPr>
          <a:xfrm>
            <a:off x="771754" y="267177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"2. Main continues right away"</a:t>
            </a:r>
            <a:r>
              <a:rPr lang="en-US" sz="1100" b="0" dirty="0">
                <a:solidFill>
                  <a:srgbClr val="E2E8F0"/>
                </a:solidFill>
                <a:latin typeface="Consolas"/>
                <a:ea typeface="Consolas"/>
                <a:cs typeface="Consolas"/>
              </a:rPr>
              <a:t>);</a:t>
            </a:r>
            <a:endParaRPr lang="en-US" sz="1100" dirty="0"/>
          </a:p>
        </p:txBody>
      </p:sp>
      <p:sp>
        <p:nvSpPr>
          <p:cNvPr id="26" name="cw_L04"/>
          <p:cNvSpPr txBox="1"/>
          <p:nvPr/>
        </p:nvSpPr>
        <p:spPr>
          <a:xfrm>
            <a:off x="771754" y="289529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Console.ReadLine();   </a:t>
            </a:r>
            <a:r>
              <a:rPr lang="en-US" sz="1100" b="0" dirty="0">
                <a:solidFill>
                  <a:srgbClr val="6FAE7A"/>
                </a:solidFill>
                <a:latin typeface="Consolas"/>
                <a:ea typeface="Consolas"/>
                <a:cs typeface="Consolas"/>
              </a:rPr>
              <a:t>// keep the app alive</a:t>
            </a:r>
            <a:endParaRPr lang="en-US" sz="1100" dirty="0"/>
          </a:p>
        </p:txBody>
      </p:sp>
      <p:sp>
        <p:nvSpPr>
          <p:cNvPr id="29" name="out_win"/>
          <p:cNvSpPr/>
          <p:nvPr/>
        </p:nvSpPr>
        <p:spPr>
          <a:xfrm>
            <a:off x="543154" y="3415976"/>
            <a:ext cx="5300000" cy="1534024"/>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0" name="out_bar"/>
          <p:cNvSpPr/>
          <p:nvPr/>
        </p:nvSpPr>
        <p:spPr>
          <a:xfrm>
            <a:off x="543154" y="3415976"/>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1" name="out_barfill"/>
          <p:cNvSpPr/>
          <p:nvPr/>
        </p:nvSpPr>
        <p:spPr>
          <a:xfrm>
            <a:off x="543154" y="3587426"/>
            <a:ext cx="5300000" cy="171450"/>
          </a:xfrm>
          <a:prstGeom prst="rect">
            <a:avLst/>
          </a:prstGeom>
          <a:solidFill>
            <a:srgbClr val="0A1220"/>
          </a:solidFill>
          <a:ln w="12700">
            <a:solidFill>
              <a:srgbClr val="0A1220"/>
            </a:solidFill>
            <a:prstDash val="solid"/>
          </a:ln>
        </p:spPr>
        <p:txBody>
          <a:bodyPr/>
          <a:lstStyle/>
          <a:p>
            <a:endParaRPr lang="en-US"/>
          </a:p>
        </p:txBody>
      </p:sp>
      <p:sp>
        <p:nvSpPr>
          <p:cNvPr id="32" name="out_dot0"/>
          <p:cNvSpPr/>
          <p:nvPr/>
        </p:nvSpPr>
        <p:spPr>
          <a:xfrm>
            <a:off x="705002" y="3539786"/>
            <a:ext cx="95098" cy="95098"/>
          </a:xfrm>
          <a:prstGeom prst="ellipse">
            <a:avLst/>
          </a:prstGeom>
          <a:solidFill>
            <a:srgbClr val="F87171"/>
          </a:solidFill>
          <a:ln w="12700">
            <a:solidFill>
              <a:srgbClr val="F87171"/>
            </a:solidFill>
            <a:prstDash val="solid"/>
          </a:ln>
        </p:spPr>
        <p:txBody>
          <a:bodyPr/>
          <a:lstStyle/>
          <a:p>
            <a:endParaRPr lang="en-US"/>
          </a:p>
        </p:txBody>
      </p:sp>
      <p:sp>
        <p:nvSpPr>
          <p:cNvPr id="33" name="out_dot1"/>
          <p:cNvSpPr/>
          <p:nvPr/>
        </p:nvSpPr>
        <p:spPr>
          <a:xfrm>
            <a:off x="890626" y="3539786"/>
            <a:ext cx="95098" cy="95098"/>
          </a:xfrm>
          <a:prstGeom prst="ellipse">
            <a:avLst/>
          </a:prstGeom>
          <a:solidFill>
            <a:srgbClr val="FBBF24"/>
          </a:solidFill>
          <a:ln w="12700">
            <a:solidFill>
              <a:srgbClr val="FBBF24"/>
            </a:solidFill>
            <a:prstDash val="solid"/>
          </a:ln>
        </p:spPr>
        <p:txBody>
          <a:bodyPr/>
          <a:lstStyle/>
          <a:p>
            <a:endParaRPr lang="en-US"/>
          </a:p>
        </p:txBody>
      </p:sp>
      <p:sp>
        <p:nvSpPr>
          <p:cNvPr id="34" name="out_dot2"/>
          <p:cNvSpPr/>
          <p:nvPr/>
        </p:nvSpPr>
        <p:spPr>
          <a:xfrm>
            <a:off x="1076250" y="3539786"/>
            <a:ext cx="95098" cy="95098"/>
          </a:xfrm>
          <a:prstGeom prst="ellipse">
            <a:avLst/>
          </a:prstGeom>
          <a:solidFill>
            <a:srgbClr val="34D399"/>
          </a:solidFill>
          <a:ln w="12700">
            <a:solidFill>
              <a:srgbClr val="34D399"/>
            </a:solidFill>
            <a:prstDash val="solid"/>
          </a:ln>
        </p:spPr>
        <p:txBody>
          <a:bodyPr/>
          <a:lstStyle/>
          <a:p>
            <a:endParaRPr lang="en-US"/>
          </a:p>
        </p:txBody>
      </p:sp>
      <p:sp>
        <p:nvSpPr>
          <p:cNvPr id="35" name="out_tab"/>
          <p:cNvSpPr/>
          <p:nvPr/>
        </p:nvSpPr>
        <p:spPr>
          <a:xfrm>
            <a:off x="1324051" y="3463525"/>
            <a:ext cx="15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Typical output</a:t>
            </a:r>
            <a:endParaRPr lang="en-US" sz="950" dirty="0"/>
          </a:p>
        </p:txBody>
      </p:sp>
      <p:sp>
        <p:nvSpPr>
          <p:cNvPr id="36" name="out_L00"/>
          <p:cNvSpPr txBox="1"/>
          <p:nvPr/>
        </p:nvSpPr>
        <p:spPr>
          <a:xfrm>
            <a:off x="771754" y="3844424"/>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1. Queue the job</a:t>
            </a:r>
            <a:endParaRPr lang="en-US" sz="1000" dirty="0"/>
          </a:p>
        </p:txBody>
      </p:sp>
      <p:sp>
        <p:nvSpPr>
          <p:cNvPr id="37" name="out_L01"/>
          <p:cNvSpPr txBox="1"/>
          <p:nvPr/>
        </p:nvSpPr>
        <p:spPr>
          <a:xfrm>
            <a:off x="771754" y="4047624"/>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A78BFA"/>
                </a:solidFill>
                <a:latin typeface="Consolas"/>
                <a:ea typeface="Consolas"/>
                <a:cs typeface="Consolas"/>
              </a:rPr>
              <a:t>2. Main continues right away</a:t>
            </a:r>
            <a:endParaRPr lang="en-US" sz="1000" dirty="0"/>
          </a:p>
        </p:txBody>
      </p:sp>
      <p:sp>
        <p:nvSpPr>
          <p:cNvPr id="38" name="out_L02"/>
          <p:cNvSpPr txBox="1"/>
          <p:nvPr/>
        </p:nvSpPr>
        <p:spPr>
          <a:xfrm>
            <a:off x="771754" y="4250824"/>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3. A pool worker runs it</a:t>
            </a:r>
            <a:endParaRPr lang="en-US" sz="1000" dirty="0"/>
          </a:p>
        </p:txBody>
      </p:sp>
      <p:sp>
        <p:nvSpPr>
          <p:cNvPr id="39" name="chip"/>
          <p:cNvSpPr/>
          <p:nvPr/>
        </p:nvSpPr>
        <p:spPr>
          <a:xfrm>
            <a:off x="6100000" y="1952768"/>
            <a:ext cx="135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A78BFA"/>
                </a:solidFill>
                <a:latin typeface="Segoe UI"/>
                <a:ea typeface="Segoe UI"/>
                <a:cs typeface="Segoe UI"/>
              </a:rPr>
              <a:t>Main thread</a:t>
            </a:r>
            <a:endParaRPr lang="en-US" sz="1050" dirty="0"/>
          </a:p>
        </p:txBody>
      </p:sp>
      <p:sp>
        <p:nvSpPr>
          <p:cNvPr id="40" name="lab"/>
          <p:cNvSpPr txBox="1"/>
          <p:nvPr/>
        </p:nvSpPr>
        <p:spPr>
          <a:xfrm>
            <a:off x="7750000" y="1572768"/>
            <a:ext cx="38800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4D91F0"/>
                </a:solidFill>
                <a:latin typeface="Segoe UI"/>
                <a:ea typeface="Segoe UI"/>
                <a:cs typeface="Segoe UI"/>
              </a:rPr>
              <a:t>work queue</a:t>
            </a:r>
            <a:endParaRPr lang="en-US" sz="1000" dirty="0"/>
          </a:p>
        </p:txBody>
      </p:sp>
      <p:sp>
        <p:nvSpPr>
          <p:cNvPr id="41" name="panel"/>
          <p:cNvSpPr/>
          <p:nvPr/>
        </p:nvSpPr>
        <p:spPr>
          <a:xfrm>
            <a:off x="7750000" y="1852768"/>
            <a:ext cx="3880254" cy="620000"/>
          </a:xfrm>
          <a:prstGeom prst="roundRect">
            <a:avLst>
              <a:gd name="adj" fmla="val 10000"/>
            </a:avLst>
          </a:prstGeom>
          <a:solidFill>
            <a:srgbClr val="0C1628"/>
          </a:solidFill>
          <a:ln w="12700">
            <a:solidFill>
              <a:srgbClr val="1E3A5F"/>
            </a:solidFill>
            <a:prstDash val="solid"/>
          </a:ln>
        </p:spPr>
        <p:txBody>
          <a:bodyPr/>
          <a:lstStyle/>
          <a:p>
            <a:endParaRPr lang="en-US"/>
          </a:p>
        </p:txBody>
      </p:sp>
      <p:sp>
        <p:nvSpPr>
          <p:cNvPr id="42" name="slot"/>
          <p:cNvSpPr/>
          <p:nvPr/>
        </p:nvSpPr>
        <p:spPr>
          <a:xfrm>
            <a:off x="7850000" y="195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3" name="slot"/>
          <p:cNvSpPr/>
          <p:nvPr/>
        </p:nvSpPr>
        <p:spPr>
          <a:xfrm>
            <a:off x="9130000" y="195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4" name="slot"/>
          <p:cNvSpPr/>
          <p:nvPr/>
        </p:nvSpPr>
        <p:spPr>
          <a:xfrm>
            <a:off x="10410000" y="195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45" name="panel"/>
          <p:cNvSpPr/>
          <p:nvPr/>
        </p:nvSpPr>
        <p:spPr>
          <a:xfrm>
            <a:off x="6100000" y="2672768"/>
            <a:ext cx="5530254" cy="145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46" name="lab"/>
          <p:cNvSpPr txBox="1"/>
          <p:nvPr/>
        </p:nvSpPr>
        <p:spPr>
          <a:xfrm>
            <a:off x="6220000" y="2712768"/>
            <a:ext cx="5290254"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ThreadPool: worker threads, created and reused by the runtime</a:t>
            </a:r>
            <a:endParaRPr lang="en-US" sz="1000" dirty="0"/>
          </a:p>
        </p:txBody>
      </p:sp>
      <p:sp>
        <p:nvSpPr>
          <p:cNvPr id="47" name="pill"/>
          <p:cNvSpPr/>
          <p:nvPr/>
        </p:nvSpPr>
        <p:spPr>
          <a:xfrm>
            <a:off x="6250000" y="3052768"/>
            <a:ext cx="1700000" cy="36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Worker 1</a:t>
            </a:r>
            <a:endParaRPr lang="en-US" sz="1050" dirty="0"/>
          </a:p>
        </p:txBody>
      </p:sp>
      <p:sp>
        <p:nvSpPr>
          <p:cNvPr id="48" name="pill"/>
          <p:cNvSpPr/>
          <p:nvPr/>
        </p:nvSpPr>
        <p:spPr>
          <a:xfrm>
            <a:off x="8060000" y="3052768"/>
            <a:ext cx="1700000" cy="36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Worker 2</a:t>
            </a:r>
            <a:endParaRPr lang="en-US" sz="1050" dirty="0"/>
          </a:p>
        </p:txBody>
      </p:sp>
      <p:sp>
        <p:nvSpPr>
          <p:cNvPr id="49" name="pill"/>
          <p:cNvSpPr/>
          <p:nvPr/>
        </p:nvSpPr>
        <p:spPr>
          <a:xfrm>
            <a:off x="9870000" y="3052768"/>
            <a:ext cx="1700000" cy="36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Worker 3</a:t>
            </a:r>
            <a:endParaRPr lang="en-US" sz="1050" dirty="0"/>
          </a:p>
        </p:txBody>
      </p:sp>
      <p:sp>
        <p:nvSpPr>
          <p:cNvPr id="50" name="slot"/>
          <p:cNvSpPr/>
          <p:nvPr/>
        </p:nvSpPr>
        <p:spPr>
          <a:xfrm>
            <a:off x="6510000" y="353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51" name="slot"/>
          <p:cNvSpPr/>
          <p:nvPr/>
        </p:nvSpPr>
        <p:spPr>
          <a:xfrm>
            <a:off x="8320000" y="353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52" name="slot"/>
          <p:cNvSpPr/>
          <p:nvPr/>
        </p:nvSpPr>
        <p:spPr>
          <a:xfrm>
            <a:off x="10130000" y="3532768"/>
            <a:ext cx="1180000" cy="420000"/>
          </a:xfrm>
          <a:prstGeom prst="roundRect">
            <a:avLst>
              <a:gd name="adj" fmla="val 20000"/>
            </a:avLst>
          </a:prstGeom>
          <a:solidFill>
            <a:srgbClr val="060D18"/>
          </a:solidFill>
          <a:ln w="12700">
            <a:solidFill>
              <a:srgbClr val="1E3A5F"/>
            </a:solidFill>
            <a:prstDash val="solid"/>
          </a:ln>
        </p:spPr>
        <p:txBody>
          <a:bodyPr/>
          <a:lstStyle/>
          <a:p>
            <a:endParaRPr lang="en-US"/>
          </a:p>
        </p:txBody>
      </p:sp>
      <p:sp>
        <p:nvSpPr>
          <p:cNvPr id="53" name="lab"/>
          <p:cNvSpPr txBox="1"/>
          <p:nvPr/>
        </p:nvSpPr>
        <p:spPr>
          <a:xfrm>
            <a:off x="6510000" y="3532768"/>
            <a:ext cx="1180000" cy="4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64748B"/>
                </a:solidFill>
                <a:latin typeface="Segoe UI"/>
                <a:ea typeface="Segoe UI"/>
                <a:cs typeface="Segoe UI"/>
              </a:rPr>
              <a:t>idle</a:t>
            </a:r>
            <a:endParaRPr lang="en-US" sz="950" dirty="0"/>
          </a:p>
        </p:txBody>
      </p:sp>
      <p:sp>
        <p:nvSpPr>
          <p:cNvPr id="54" name="lab"/>
          <p:cNvSpPr txBox="1"/>
          <p:nvPr/>
        </p:nvSpPr>
        <p:spPr>
          <a:xfrm>
            <a:off x="8320000" y="3532768"/>
            <a:ext cx="1180000" cy="4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64748B"/>
                </a:solidFill>
                <a:latin typeface="Segoe UI"/>
                <a:ea typeface="Segoe UI"/>
                <a:cs typeface="Segoe UI"/>
              </a:rPr>
              <a:t>idle</a:t>
            </a:r>
            <a:endParaRPr lang="en-US" sz="950" dirty="0"/>
          </a:p>
        </p:txBody>
      </p:sp>
      <p:sp>
        <p:nvSpPr>
          <p:cNvPr id="55" name="lab"/>
          <p:cNvSpPr txBox="1"/>
          <p:nvPr/>
        </p:nvSpPr>
        <p:spPr>
          <a:xfrm>
            <a:off x="10130000" y="3532768"/>
            <a:ext cx="1180000" cy="4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64748B"/>
                </a:solidFill>
                <a:latin typeface="Segoe UI"/>
                <a:ea typeface="Segoe UI"/>
                <a:cs typeface="Segoe UI"/>
              </a:rPr>
              <a:t>idle</a:t>
            </a:r>
            <a:endParaRPr lang="en-US" sz="950" dirty="0"/>
          </a:p>
        </p:txBody>
      </p:sp>
      <p:sp>
        <p:nvSpPr>
          <p:cNvPr id="56" name="chip"/>
          <p:cNvSpPr/>
          <p:nvPr/>
        </p:nvSpPr>
        <p:spPr>
          <a:xfrm>
            <a:off x="7850000" y="1952768"/>
            <a:ext cx="1180000" cy="42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Job A</a:t>
            </a:r>
            <a:endParaRPr lang="en-US" sz="1000" dirty="0"/>
          </a:p>
        </p:txBody>
      </p:sp>
      <p:sp>
        <p:nvSpPr>
          <p:cNvPr id="57" name="chip"/>
          <p:cNvSpPr/>
          <p:nvPr/>
        </p:nvSpPr>
        <p:spPr>
          <a:xfrm>
            <a:off x="9130000" y="1952768"/>
            <a:ext cx="1180000" cy="42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Job B</a:t>
            </a:r>
            <a:endParaRPr lang="en-US" sz="1000" dirty="0"/>
          </a:p>
        </p:txBody>
      </p:sp>
      <p:sp>
        <p:nvSpPr>
          <p:cNvPr id="58" name="chip"/>
          <p:cNvSpPr/>
          <p:nvPr/>
        </p:nvSpPr>
        <p:spPr>
          <a:xfrm>
            <a:off x="10410000" y="1952768"/>
            <a:ext cx="1180000" cy="420000"/>
          </a:xfrm>
          <a:prstGeom prst="roundRect">
            <a:avLst>
              <a:gd name="adj" fmla="val 25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Job C</a:t>
            </a:r>
            <a:endParaRPr lang="en-US" sz="1000" dirty="0"/>
          </a:p>
        </p:txBody>
      </p:sp>
      <p:sp>
        <p:nvSpPr>
          <p:cNvPr id="59" name="caption"/>
          <p:cNvSpPr/>
          <p:nvPr/>
        </p:nvSpPr>
        <p:spPr>
          <a:xfrm>
            <a:off x="6100000" y="4242768"/>
            <a:ext cx="5530254" cy="707232"/>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100" b="0" dirty="0">
                <a:solidFill>
                  <a:srgbClr val="FFFFFF"/>
                </a:solidFill>
                <a:latin typeface="Segoe UI"/>
                <a:ea typeface="Segoe UI"/>
                <a:cs typeface="Segoe UI"/>
              </a:rPr>
              <a:t>QueueUserWorkItem puts the job in the queue and returns at once. Nothing has run yet.</a:t>
            </a:r>
            <a:endParaRPr lang="en-US" sz="1100" dirty="0"/>
          </a:p>
        </p:txBody>
      </p:sp>
      <p:sp>
        <p:nvSpPr>
          <p:cNvPr id="60" name="caption"/>
          <p:cNvSpPr/>
          <p:nvPr/>
        </p:nvSpPr>
        <p:spPr>
          <a:xfrm>
            <a:off x="6100000" y="4242768"/>
            <a:ext cx="5530254" cy="707232"/>
          </a:xfrm>
          <a:prstGeom prst="roundRect">
            <a:avLst>
              <a:gd name="adj" fmla="val 12000"/>
            </a:avLst>
          </a:prstGeom>
          <a:solidFill>
            <a:srgbClr val="0C1628"/>
          </a:solidFill>
          <a:ln w="12700">
            <a:solidFill>
              <a:srgbClr val="A78BFA"/>
            </a:solidFill>
            <a:prstDash val="solid"/>
          </a:ln>
        </p:spPr>
        <p:txBody>
          <a:bodyPr wrap="square" lIns="137160" tIns="27432" rIns="137160" bIns="27432" rtlCol="0" anchor="ctr">
            <a:noAutofit/>
          </a:bodyPr>
          <a:lstStyle/>
          <a:p>
            <a:pPr marL="0" indent="0" algn="l">
              <a:spcBef>
                <a:spcPts val="0"/>
              </a:spcBef>
              <a:spcAft>
                <a:spcPts val="0"/>
              </a:spcAft>
              <a:buNone/>
            </a:pPr>
            <a:r>
              <a:rPr lang="en-US" sz="1100" b="0" dirty="0">
                <a:solidFill>
                  <a:srgbClr val="FFFFFF"/>
                </a:solidFill>
                <a:latin typeface="Segoe UI"/>
                <a:ea typeface="Segoe UI"/>
                <a:cs typeface="Segoe UI"/>
              </a:rPr>
              <a:t>Main keeps going. More jobs can be queued: they wait in line.</a:t>
            </a:r>
            <a:endParaRPr lang="en-US" sz="1100" dirty="0"/>
          </a:p>
        </p:txBody>
      </p:sp>
      <p:sp>
        <p:nvSpPr>
          <p:cNvPr id="61" name="caption"/>
          <p:cNvSpPr/>
          <p:nvPr/>
        </p:nvSpPr>
        <p:spPr>
          <a:xfrm>
            <a:off x="6100000" y="4242768"/>
            <a:ext cx="5530254" cy="707232"/>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00" b="0" dirty="0">
                <a:solidFill>
                  <a:srgbClr val="FFFFFF"/>
                </a:solidFill>
                <a:latin typeface="Segoe UI"/>
                <a:ea typeface="Segoe UI"/>
                <a:cs typeface="Segoe UI"/>
              </a:rPr>
              <a:t>LATER, a free worker takes the next job from the queue and runs it.</a:t>
            </a:r>
            <a:endParaRPr lang="en-US" sz="1100" dirty="0"/>
          </a:p>
        </p:txBody>
      </p:sp>
      <p:sp>
        <p:nvSpPr>
          <p:cNvPr id="62" name="caption"/>
          <p:cNvSpPr/>
          <p:nvPr/>
        </p:nvSpPr>
        <p:spPr>
          <a:xfrm>
            <a:off x="6100000" y="4242768"/>
            <a:ext cx="5530254" cy="707232"/>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100" b="0" dirty="0">
                <a:solidFill>
                  <a:srgbClr val="FFFFFF"/>
                </a:solidFill>
                <a:latin typeface="Segoe UI"/>
                <a:ea typeface="Segoe UI"/>
                <a:cs typeface="Segoe UI"/>
              </a:rPr>
              <a:t>A finished worker is not destroyed: it goes back and takes the next job.</a:t>
            </a:r>
            <a:endParaRPr lang="en-US" sz="1100" dirty="0"/>
          </a:p>
        </p:txBody>
      </p:sp>
      <p:sp>
        <p:nvSpPr>
          <p:cNvPr id="63"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You hand work to the pool; a worker runs it later, when one is free. Workers are reused, not created per job.</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300"/>
                                        <p:tgtEl>
                                          <p:spTgt spid="3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300"/>
                                        <p:tgtEl>
                                          <p:spTgt spid="4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300"/>
                                        <p:tgtEl>
                                          <p:spTgt spid="4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3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300"/>
                                        <p:tgtEl>
                                          <p:spTgt spid="4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3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300"/>
                                        <p:tgtEl>
                                          <p:spTgt spid="4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fade">
                                      <p:cBhvr>
                                        <p:cTn id="66" dur="300"/>
                                        <p:tgtEl>
                                          <p:spTgt spid="4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animEffect transition="in" filter="fade">
                                      <p:cBhvr>
                                        <p:cTn id="69" dur="300"/>
                                        <p:tgtEl>
                                          <p:spTgt spid="4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300"/>
                                        <p:tgtEl>
                                          <p:spTgt spid="4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300"/>
                                        <p:tgtEl>
                                          <p:spTgt spid="4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00"/>
                                        <p:tgtEl>
                                          <p:spTgt spid="5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300"/>
                                        <p:tgtEl>
                                          <p:spTgt spid="5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300"/>
                                        <p:tgtEl>
                                          <p:spTgt spid="5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fade">
                                      <p:cBhvr>
                                        <p:cTn id="87" dur="300"/>
                                        <p:tgtEl>
                                          <p:spTgt spid="5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4"/>
                                        </p:tgtEl>
                                        <p:attrNameLst>
                                          <p:attrName>style.visibility</p:attrName>
                                        </p:attrNameLst>
                                      </p:cBhvr>
                                      <p:to>
                                        <p:strVal val="visible"/>
                                      </p:to>
                                    </p:set>
                                    <p:animEffect transition="in" filter="fade">
                                      <p:cBhvr>
                                        <p:cTn id="90" dur="300"/>
                                        <p:tgtEl>
                                          <p:spTgt spid="5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300"/>
                                        <p:tgtEl>
                                          <p:spTgt spid="55"/>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300"/>
                                        <p:tgtEl>
                                          <p:spTgt spid="2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300"/>
                                        <p:tgtEl>
                                          <p:spTgt spid="5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300"/>
                                        <p:tgtEl>
                                          <p:spTgt spid="56"/>
                                        </p:tgtEl>
                                      </p:cBhvr>
                                    </p:animEffect>
                                  </p:childTnLst>
                                </p:cTn>
                              </p:par>
                              <p:par>
                                <p:cTn id="105" presetID="0" presetClass="path" presetSubtype="0" accel="50000" decel="50000" fill="hold" grpId="1" nodeType="withEffect">
                                  <p:stCondLst>
                                    <p:cond delay="0"/>
                                  </p:stCondLst>
                                  <p:childTnLst>
                                    <p:animMotion origin="layout" path="M -0.14354 0.00000 L 0.00000 0.00000 E" pathEditMode="relative" rAng="0" ptsTypes="AA">
                                      <p:cBhvr>
                                        <p:cTn id="106" dur="800" fill="hold"/>
                                        <p:tgtEl>
                                          <p:spTgt spid="56"/>
                                        </p:tgtEl>
                                        <p:attrNameLst>
                                          <p:attrName>ppt_x</p:attrName>
                                          <p:attrName>ppt_y</p:attrName>
                                        </p:attrNameLst>
                                      </p:cBhvr>
                                      <p:rCtr x="0" y="0"/>
                                    </p:animMotion>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300"/>
                                        <p:tgtEl>
                                          <p:spTgt spid="2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3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300"/>
                                        <p:tgtEl>
                                          <p:spTgt spid="57"/>
                                        </p:tgtEl>
                                      </p:cBhvr>
                                    </p:animEffect>
                                  </p:childTnLst>
                                </p:cTn>
                              </p:par>
                              <p:par>
                                <p:cTn id="118" presetID="0" presetClass="path" presetSubtype="0" accel="50000" decel="50000" fill="hold" grpId="1" nodeType="withEffect">
                                  <p:stCondLst>
                                    <p:cond delay="0"/>
                                  </p:stCondLst>
                                  <p:childTnLst>
                                    <p:animMotion origin="layout" path="M -0.24852 0.00000 L 0.00000 0.00000 E" pathEditMode="relative" rAng="0" ptsTypes="AA">
                                      <p:cBhvr>
                                        <p:cTn id="119" dur="900" fill="hold"/>
                                        <p:tgtEl>
                                          <p:spTgt spid="57"/>
                                        </p:tgtEl>
                                        <p:attrNameLst>
                                          <p:attrName>ppt_x</p:attrName>
                                          <p:attrName>ppt_y</p:attrName>
                                        </p:attrNameLst>
                                      </p:cBhvr>
                                      <p:rCtr x="0" y="0"/>
                                    </p:animMotion>
                                  </p:childTnLst>
                                </p:cTn>
                              </p:par>
                              <p:par>
                                <p:cTn id="120" presetID="10" presetClass="entr" presetSubtype="0" fill="hold" grpId="0" nodeType="withEffect">
                                  <p:stCondLst>
                                    <p:cond delay="40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300"/>
                                        <p:tgtEl>
                                          <p:spTgt spid="58"/>
                                        </p:tgtEl>
                                      </p:cBhvr>
                                    </p:animEffect>
                                  </p:childTnLst>
                                </p:cTn>
                              </p:par>
                              <p:par>
                                <p:cTn id="123" presetID="0" presetClass="path" presetSubtype="0" accel="50000" decel="50000" fill="hold" grpId="1" nodeType="withEffect">
                                  <p:stCondLst>
                                    <p:cond delay="400"/>
                                  </p:stCondLst>
                                  <p:childTnLst>
                                    <p:animMotion origin="layout" path="M -0.35351 0.00000 L 0.00000 0.00000 E" pathEditMode="relative" rAng="0" ptsTypes="AA">
                                      <p:cBhvr>
                                        <p:cTn id="124" dur="1000" fill="hold"/>
                                        <p:tgtEl>
                                          <p:spTgt spid="58"/>
                                        </p:tgtEl>
                                        <p:attrNameLst>
                                          <p:attrName>ppt_x</p:attrName>
                                          <p:attrName>ppt_y</p:attrName>
                                        </p:attrNameLst>
                                      </p:cBhvr>
                                      <p:rCtr x="0" y="0"/>
                                    </p:animMotion>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300"/>
                                        <p:tgtEl>
                                          <p:spTgt spid="61"/>
                                        </p:tgtEl>
                                      </p:cBhvr>
                                    </p:animEffect>
                                  </p:childTnLst>
                                </p:cTn>
                              </p:par>
                              <p:par>
                                <p:cTn id="130" presetID="0" presetClass="path" presetSubtype="0" accel="50000" decel="50000" fill="hold" grpId="2" nodeType="withEffect">
                                  <p:stCondLst>
                                    <p:cond delay="0"/>
                                  </p:stCondLst>
                                  <p:childTnLst>
                                    <p:animMotion origin="layout" path="M 0.00000 0.00000 L -0.10991 0.23039 E" pathEditMode="relative" rAng="0" ptsTypes="AA">
                                      <p:cBhvr>
                                        <p:cTn id="131" dur="900" fill="hold"/>
                                        <p:tgtEl>
                                          <p:spTgt spid="56"/>
                                        </p:tgtEl>
                                        <p:attrNameLst>
                                          <p:attrName>ppt_x</p:attrName>
                                          <p:attrName>ppt_y</p:attrName>
                                        </p:attrNameLst>
                                      </p:cBhvr>
                                      <p:rCtr x="-5495" y="11519"/>
                                    </p:animMotion>
                                  </p:childTnLst>
                                </p:cTn>
                              </p:par>
                              <p:par>
                                <p:cTn id="132" presetID="0" presetClass="path" presetSubtype="0" accel="50000" decel="50000" fill="hold" grpId="2" nodeType="withEffect">
                                  <p:stCondLst>
                                    <p:cond delay="500"/>
                                  </p:stCondLst>
                                  <p:childTnLst>
                                    <p:animMotion origin="layout" path="M 0.00000 0.00000 L -0.06644 0.23039 E" pathEditMode="relative" rAng="0" ptsTypes="AA">
                                      <p:cBhvr>
                                        <p:cTn id="133" dur="900" fill="hold"/>
                                        <p:tgtEl>
                                          <p:spTgt spid="57"/>
                                        </p:tgtEl>
                                        <p:attrNameLst>
                                          <p:attrName>ppt_x</p:attrName>
                                          <p:attrName>ppt_y</p:attrName>
                                        </p:attrNameLst>
                                      </p:cBhvr>
                                      <p:rCtr x="-3322" y="11519"/>
                                    </p:animMotion>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62"/>
                                        </p:tgtEl>
                                        <p:attrNameLst>
                                          <p:attrName>style.visibility</p:attrName>
                                        </p:attrNameLst>
                                      </p:cBhvr>
                                      <p:to>
                                        <p:strVal val="visible"/>
                                      </p:to>
                                    </p:set>
                                    <p:animEffect transition="in" filter="fade">
                                      <p:cBhvr>
                                        <p:cTn id="138" dur="300"/>
                                        <p:tgtEl>
                                          <p:spTgt spid="62"/>
                                        </p:tgtEl>
                                      </p:cBhvr>
                                    </p:animEffect>
                                  </p:childTnLst>
                                </p:cTn>
                              </p:par>
                              <p:par>
                                <p:cTn id="139" presetID="10" presetClass="exit" presetSubtype="0" fill="hold" grpId="3" nodeType="withEffect">
                                  <p:stCondLst>
                                    <p:cond delay="0"/>
                                  </p:stCondLst>
                                  <p:childTnLst>
                                    <p:animEffect transition="out" filter="fade">
                                      <p:cBhvr>
                                        <p:cTn id="140" dur="300"/>
                                        <p:tgtEl>
                                          <p:spTgt spid="56"/>
                                        </p:tgtEl>
                                      </p:cBhvr>
                                    </p:animEffect>
                                    <p:set>
                                      <p:cBhvr>
                                        <p:cTn id="141" dur="1" fill="hold">
                                          <p:stCondLst>
                                            <p:cond delay="299"/>
                                          </p:stCondLst>
                                        </p:cTn>
                                        <p:tgtEl>
                                          <p:spTgt spid="56"/>
                                        </p:tgtEl>
                                        <p:attrNameLst>
                                          <p:attrName>style.visibility</p:attrName>
                                        </p:attrNameLst>
                                      </p:cBhvr>
                                      <p:to>
                                        <p:strVal val="hidden"/>
                                      </p:to>
                                    </p:set>
                                  </p:childTnLst>
                                </p:cTn>
                              </p:par>
                              <p:par>
                                <p:cTn id="142" presetID="0" presetClass="path" presetSubtype="0" accel="50000" decel="50000" fill="hold" grpId="2" nodeType="withEffect">
                                  <p:stCondLst>
                                    <p:cond delay="400"/>
                                  </p:stCondLst>
                                  <p:childTnLst>
                                    <p:animMotion origin="layout" path="M 0.00000 0.00000 L -0.31988 0.23039 E" pathEditMode="relative" rAng="0" ptsTypes="AA">
                                      <p:cBhvr>
                                        <p:cTn id="143" dur="1000" fill="hold"/>
                                        <p:tgtEl>
                                          <p:spTgt spid="58"/>
                                        </p:tgtEl>
                                        <p:attrNameLst>
                                          <p:attrName>ppt_x</p:attrName>
                                          <p:attrName>ppt_y</p:attrName>
                                        </p:attrNameLst>
                                      </p:cBhvr>
                                      <p:rCtr x="-15994" y="11519"/>
                                    </p:animMotion>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29"/>
                                        </p:tgtEl>
                                        <p:attrNameLst>
                                          <p:attrName>style.visibility</p:attrName>
                                        </p:attrNameLst>
                                      </p:cBhvr>
                                      <p:to>
                                        <p:strVal val="visible"/>
                                      </p:to>
                                    </p:set>
                                    <p:animEffect transition="in" filter="fade">
                                      <p:cBhvr>
                                        <p:cTn id="148" dur="300"/>
                                        <p:tgtEl>
                                          <p:spTgt spid="29"/>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30"/>
                                        </p:tgtEl>
                                        <p:attrNameLst>
                                          <p:attrName>style.visibility</p:attrName>
                                        </p:attrNameLst>
                                      </p:cBhvr>
                                      <p:to>
                                        <p:strVal val="visible"/>
                                      </p:to>
                                    </p:set>
                                    <p:animEffect transition="in" filter="fade">
                                      <p:cBhvr>
                                        <p:cTn id="151" dur="300"/>
                                        <p:tgtEl>
                                          <p:spTgt spid="3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31"/>
                                        </p:tgtEl>
                                        <p:attrNameLst>
                                          <p:attrName>style.visibility</p:attrName>
                                        </p:attrNameLst>
                                      </p:cBhvr>
                                      <p:to>
                                        <p:strVal val="visible"/>
                                      </p:to>
                                    </p:set>
                                    <p:animEffect transition="in" filter="fade">
                                      <p:cBhvr>
                                        <p:cTn id="154" dur="300"/>
                                        <p:tgtEl>
                                          <p:spTgt spid="3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300"/>
                                        <p:tgtEl>
                                          <p:spTgt spid="32"/>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33"/>
                                        </p:tgtEl>
                                        <p:attrNameLst>
                                          <p:attrName>style.visibility</p:attrName>
                                        </p:attrNameLst>
                                      </p:cBhvr>
                                      <p:to>
                                        <p:strVal val="visible"/>
                                      </p:to>
                                    </p:set>
                                    <p:animEffect transition="in" filter="fade">
                                      <p:cBhvr>
                                        <p:cTn id="160" dur="300"/>
                                        <p:tgtEl>
                                          <p:spTgt spid="33"/>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300"/>
                                        <p:tgtEl>
                                          <p:spTgt spid="34"/>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35"/>
                                        </p:tgtEl>
                                        <p:attrNameLst>
                                          <p:attrName>style.visibility</p:attrName>
                                        </p:attrNameLst>
                                      </p:cBhvr>
                                      <p:to>
                                        <p:strVal val="visible"/>
                                      </p:to>
                                    </p:set>
                                    <p:animEffect transition="in" filter="fade">
                                      <p:cBhvr>
                                        <p:cTn id="166" dur="300"/>
                                        <p:tgtEl>
                                          <p:spTgt spid="35"/>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36"/>
                                        </p:tgtEl>
                                        <p:attrNameLst>
                                          <p:attrName>style.visibility</p:attrName>
                                        </p:attrNameLst>
                                      </p:cBhvr>
                                      <p:to>
                                        <p:strVal val="visible"/>
                                      </p:to>
                                    </p:set>
                                    <p:animEffect transition="in" filter="fade">
                                      <p:cBhvr>
                                        <p:cTn id="169" dur="300"/>
                                        <p:tgtEl>
                                          <p:spTgt spid="36"/>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300"/>
                                        <p:tgtEl>
                                          <p:spTgt spid="37"/>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38"/>
                                        </p:tgtEl>
                                        <p:attrNameLst>
                                          <p:attrName>style.visibility</p:attrName>
                                        </p:attrNameLst>
                                      </p:cBhvr>
                                      <p:to>
                                        <p:strVal val="visible"/>
                                      </p:to>
                                    </p:set>
                                    <p:animEffect transition="in" filter="fade">
                                      <p:cBhvr>
                                        <p:cTn id="175" dur="300"/>
                                        <p:tgtEl>
                                          <p:spTgt spid="38"/>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3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7" grpId="0" animBg="1"/>
      <p:bldP spid="28" grpId="0" animBg="1"/>
      <p:bldP spid="22" grpId="0" animBg="1"/>
      <p:bldP spid="23" grpId="0" animBg="1"/>
      <p:bldP spid="24" grpId="0" animBg="1"/>
      <p:bldP spid="25" grpId="0" animBg="1"/>
      <p:bldP spid="26"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6" grpId="1" animBg="1"/>
      <p:bldP spid="56" grpId="2" animBg="1"/>
      <p:bldP spid="56" grpId="3" animBg="1"/>
      <p:bldP spid="57" grpId="0" animBg="1"/>
      <p:bldP spid="57" grpId="1" animBg="1"/>
      <p:bldP spid="57" grpId="2" animBg="1"/>
      <p:bldP spid="58" grpId="0" animBg="1"/>
      <p:bldP spid="58" grpId="1" animBg="1"/>
      <p:bldP spid="58" grpId="2" animBg="1"/>
      <p:bldP spid="59" grpId="0" animBg="1"/>
      <p:bldP spid="60" grpId="0" animBg="1"/>
      <p:bldP spid="61" grpId="0" animBg="1"/>
      <p:bldP spid="62" grpId="0" animBg="1"/>
      <p:bldP spid="6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32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POOL SIZE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ThreadPool Has No Fixed Size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60</a:t>
            </a:r>
            <a:endParaRPr lang="en-US" sz="850" dirty="0"/>
          </a:p>
        </p:txBody>
      </p:sp>
      <p:sp>
        <p:nvSpPr>
          <p:cNvPr id="15" name="cw_win"/>
          <p:cNvSpPr/>
          <p:nvPr/>
        </p:nvSpPr>
        <p:spPr>
          <a:xfrm>
            <a:off x="543154" y="1572768"/>
            <a:ext cx="5050000" cy="18076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0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0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PoolSize.cs</a:t>
            </a:r>
            <a:endParaRPr lang="en-US" sz="950" dirty="0"/>
          </a:p>
        </p:txBody>
      </p:sp>
      <p:sp>
        <p:nvSpPr>
          <p:cNvPr id="28" name="cw_hl00"/>
          <p:cNvSpPr/>
          <p:nvPr/>
        </p:nvSpPr>
        <p:spPr>
          <a:xfrm>
            <a:off x="676656" y="1982928"/>
            <a:ext cx="4782996"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29" name="cw_hl01"/>
          <p:cNvSpPr/>
          <p:nvPr/>
        </p:nvSpPr>
        <p:spPr>
          <a:xfrm>
            <a:off x="676656" y="2186128"/>
            <a:ext cx="4782996" cy="23977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ThreadPool.GetMinThreads(out </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minWorkers, out _);</a:t>
            </a:r>
            <a:endParaRPr lang="en-US" sz="1000" dirty="0"/>
          </a:p>
        </p:txBody>
      </p:sp>
      <p:sp>
        <p:nvSpPr>
          <p:cNvPr id="23" name="cw_L01"/>
          <p:cNvSpPr txBox="1"/>
          <p:nvPr/>
        </p:nvSpPr>
        <p:spPr>
          <a:xfrm>
            <a:off x="771754" y="22044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ThreadPool.GetMaxThreads(out </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maxWorkers, out _);</a:t>
            </a:r>
            <a:endParaRPr lang="en-US" sz="1000" dirty="0"/>
          </a:p>
        </p:txBody>
      </p:sp>
      <p:sp>
        <p:nvSpPr>
          <p:cNvPr id="24" name="cw_L02"/>
          <p:cNvSpPr txBox="1"/>
          <p:nvPr/>
        </p:nvSpPr>
        <p:spPr>
          <a:xfrm>
            <a:off x="771754" y="24076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$"CPUs: {Environment.ProcessorCount}"</a:t>
            </a:r>
            <a:r>
              <a:rPr lang="en-US" sz="1000" b="0" dirty="0">
                <a:solidFill>
                  <a:srgbClr val="E2E8F0"/>
                </a:solidFill>
                <a:latin typeface="Consolas"/>
                <a:ea typeface="Consolas"/>
                <a:cs typeface="Consolas"/>
              </a:rPr>
              <a:t>);</a:t>
            </a:r>
            <a:endParaRPr lang="en-US" sz="1000" dirty="0"/>
          </a:p>
        </p:txBody>
      </p:sp>
      <p:sp>
        <p:nvSpPr>
          <p:cNvPr id="25" name="cw_L03"/>
          <p:cNvSpPr txBox="1"/>
          <p:nvPr/>
        </p:nvSpPr>
        <p:spPr>
          <a:xfrm>
            <a:off x="771754" y="26108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$"Min workers:  {minWorkers}"</a:t>
            </a: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8140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$"Max workers:  {maxWorkers}"</a:t>
            </a: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017216"/>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$"Threads now:  {ThreadPool.ThreadCount}"</a:t>
            </a:r>
            <a:r>
              <a:rPr lang="en-US" sz="1000" b="0" dirty="0">
                <a:solidFill>
                  <a:srgbClr val="E2E8F0"/>
                </a:solidFill>
                <a:latin typeface="Consolas"/>
                <a:ea typeface="Consolas"/>
                <a:cs typeface="Consolas"/>
              </a:rPr>
              <a:t>);</a:t>
            </a:r>
            <a:endParaRPr lang="en-US" sz="1000" dirty="0"/>
          </a:p>
        </p:txBody>
      </p:sp>
      <p:sp>
        <p:nvSpPr>
          <p:cNvPr id="30" name="out_win"/>
          <p:cNvSpPr/>
          <p:nvPr/>
        </p:nvSpPr>
        <p:spPr>
          <a:xfrm>
            <a:off x="543154" y="3517576"/>
            <a:ext cx="5050000" cy="1432424"/>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1" name="out_bar"/>
          <p:cNvSpPr/>
          <p:nvPr/>
        </p:nvSpPr>
        <p:spPr>
          <a:xfrm>
            <a:off x="543154" y="3517576"/>
            <a:ext cx="50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out_barfill"/>
          <p:cNvSpPr/>
          <p:nvPr/>
        </p:nvSpPr>
        <p:spPr>
          <a:xfrm>
            <a:off x="543154" y="3689026"/>
            <a:ext cx="5050000" cy="171450"/>
          </a:xfrm>
          <a:prstGeom prst="rect">
            <a:avLst/>
          </a:prstGeom>
          <a:solidFill>
            <a:srgbClr val="0A1220"/>
          </a:solidFill>
          <a:ln w="12700">
            <a:solidFill>
              <a:srgbClr val="0A1220"/>
            </a:solidFill>
            <a:prstDash val="solid"/>
          </a:ln>
        </p:spPr>
        <p:txBody>
          <a:bodyPr/>
          <a:lstStyle/>
          <a:p>
            <a:endParaRPr lang="en-US"/>
          </a:p>
        </p:txBody>
      </p:sp>
      <p:sp>
        <p:nvSpPr>
          <p:cNvPr id="33" name="out_dot0"/>
          <p:cNvSpPr/>
          <p:nvPr/>
        </p:nvSpPr>
        <p:spPr>
          <a:xfrm>
            <a:off x="705002" y="3641386"/>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out_dot1"/>
          <p:cNvSpPr/>
          <p:nvPr/>
        </p:nvSpPr>
        <p:spPr>
          <a:xfrm>
            <a:off x="890626" y="3641386"/>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out_dot2"/>
          <p:cNvSpPr/>
          <p:nvPr/>
        </p:nvSpPr>
        <p:spPr>
          <a:xfrm>
            <a:off x="1076250" y="3641386"/>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out_tab"/>
          <p:cNvSpPr/>
          <p:nvPr/>
        </p:nvSpPr>
        <p:spPr>
          <a:xfrm>
            <a:off x="1324051" y="3565125"/>
            <a:ext cx="21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 (8-core, 64-bit)</a:t>
            </a:r>
            <a:endParaRPr lang="en-US" sz="950" dirty="0"/>
          </a:p>
        </p:txBody>
      </p:sp>
      <p:sp>
        <p:nvSpPr>
          <p:cNvPr id="37" name="out_L00"/>
          <p:cNvSpPr txBox="1"/>
          <p:nvPr/>
        </p:nvSpPr>
        <p:spPr>
          <a:xfrm>
            <a:off x="771754" y="3946024"/>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CPUs: 8</a:t>
            </a:r>
            <a:endParaRPr lang="en-US" sz="1000" dirty="0"/>
          </a:p>
        </p:txBody>
      </p:sp>
      <p:sp>
        <p:nvSpPr>
          <p:cNvPr id="38" name="out_L01"/>
          <p:cNvSpPr txBox="1"/>
          <p:nvPr/>
        </p:nvSpPr>
        <p:spPr>
          <a:xfrm>
            <a:off x="771754" y="4149224"/>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Min workers:  8</a:t>
            </a:r>
            <a:endParaRPr lang="en-US" sz="1000" dirty="0"/>
          </a:p>
        </p:txBody>
      </p:sp>
      <p:sp>
        <p:nvSpPr>
          <p:cNvPr id="39" name="out_L02"/>
          <p:cNvSpPr txBox="1"/>
          <p:nvPr/>
        </p:nvSpPr>
        <p:spPr>
          <a:xfrm>
            <a:off x="771754" y="4352424"/>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FBBF24"/>
                </a:solidFill>
                <a:latin typeface="Consolas"/>
                <a:ea typeface="Consolas"/>
                <a:cs typeface="Consolas"/>
              </a:rPr>
              <a:t>Max workers:  32767</a:t>
            </a:r>
            <a:endParaRPr lang="en-US" sz="1000" dirty="0"/>
          </a:p>
        </p:txBody>
      </p:sp>
      <p:sp>
        <p:nvSpPr>
          <p:cNvPr id="40" name="out_L03"/>
          <p:cNvSpPr txBox="1"/>
          <p:nvPr/>
        </p:nvSpPr>
        <p:spPr>
          <a:xfrm>
            <a:off x="771754" y="4555624"/>
            <a:ext cx="46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4D91F0"/>
                </a:solidFill>
                <a:latin typeface="Consolas"/>
                <a:ea typeface="Consolas"/>
                <a:cs typeface="Consolas"/>
              </a:rPr>
              <a:t>Threads now:  2   (varies)</a:t>
            </a:r>
            <a:endParaRPr lang="en-US" sz="1000" dirty="0"/>
          </a:p>
        </p:txBody>
      </p:sp>
      <p:sp>
        <p:nvSpPr>
          <p:cNvPr id="41" name="card"/>
          <p:cNvSpPr/>
          <p:nvPr/>
        </p:nvSpPr>
        <p:spPr>
          <a:xfrm>
            <a:off x="5843154" y="1572768"/>
            <a:ext cx="5787100" cy="1150000"/>
          </a:xfrm>
          <a:prstGeom prst="roundRect">
            <a:avLst>
              <a:gd name="adj" fmla="val 6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MINIMUM THREADS</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How many workers the pool adds quickly before it switches to a slower, careful way. Default: about the number of logical CPUs (8 CPUs, Min = 8). It does NOT mean 8 threads exist at startup.</a:t>
            </a:r>
            <a:endParaRPr lang="en-US" sz="1050" dirty="0"/>
          </a:p>
        </p:txBody>
      </p:sp>
      <p:sp>
        <p:nvSpPr>
          <p:cNvPr id="42" name="card"/>
          <p:cNvSpPr/>
          <p:nvPr/>
        </p:nvSpPr>
        <p:spPr>
          <a:xfrm>
            <a:off x="5843154" y="2822768"/>
            <a:ext cx="5787100" cy="900000"/>
          </a:xfrm>
          <a:prstGeom prst="roundRect">
            <a:avLst>
              <a:gd name="adj" fmla="val 7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MAXIMUM THREADS</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The upper limit. Modern 64-bit .NET: often 32,767 workers. A limit, not a target: the pool will not create that many.</a:t>
            </a:r>
            <a:endParaRPr lang="en-US" sz="1050" dirty="0"/>
          </a:p>
        </p:txBody>
      </p:sp>
      <p:sp>
        <p:nvSpPr>
          <p:cNvPr id="43" name="lab"/>
          <p:cNvSpPr txBox="1"/>
          <p:nvPr/>
        </p:nvSpPr>
        <p:spPr>
          <a:xfrm>
            <a:off x="5843154" y="3822768"/>
            <a:ext cx="11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4D91F0"/>
                </a:solidFill>
                <a:latin typeface="Segoe UI"/>
                <a:ea typeface="Segoe UI"/>
                <a:cs typeface="Segoe UI"/>
              </a:rPr>
              <a:t>Threads now</a:t>
            </a:r>
            <a:endParaRPr lang="en-US" sz="1000" dirty="0"/>
          </a:p>
        </p:txBody>
      </p:sp>
      <p:sp>
        <p:nvSpPr>
          <p:cNvPr id="44" name="minline"/>
          <p:cNvSpPr/>
          <p:nvPr/>
        </p:nvSpPr>
        <p:spPr>
          <a:xfrm>
            <a:off x="8902560" y="4072768"/>
            <a:ext cx="18288" cy="820000"/>
          </a:xfrm>
          <a:prstGeom prst="rect">
            <a:avLst/>
          </a:prstGeom>
          <a:solidFill>
            <a:srgbClr val="34D399"/>
          </a:solidFill>
          <a:ln w="12700">
            <a:solidFill>
              <a:srgbClr val="34D399"/>
            </a:solidFill>
            <a:prstDash val="solid"/>
          </a:ln>
        </p:spPr>
        <p:txBody>
          <a:bodyPr/>
          <a:lstStyle/>
          <a:p>
            <a:endParaRPr lang="en-US"/>
          </a:p>
        </p:txBody>
      </p:sp>
      <p:sp>
        <p:nvSpPr>
          <p:cNvPr id="45" name="lab"/>
          <p:cNvSpPr txBox="1"/>
          <p:nvPr/>
        </p:nvSpPr>
        <p:spPr>
          <a:xfrm>
            <a:off x="8311704" y="3822768"/>
            <a:ext cx="1200000" cy="24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Min = 8</a:t>
            </a:r>
            <a:endParaRPr lang="en-US" sz="1000" dirty="0"/>
          </a:p>
        </p:txBody>
      </p:sp>
      <p:sp>
        <p:nvSpPr>
          <p:cNvPr id="46" name="lab"/>
          <p:cNvSpPr txBox="1"/>
          <p:nvPr/>
        </p:nvSpPr>
        <p:spPr>
          <a:xfrm>
            <a:off x="10850254" y="4072768"/>
            <a:ext cx="780000" cy="82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BBF24"/>
                </a:solidFill>
                <a:latin typeface="Segoe UI"/>
                <a:ea typeface="Segoe UI"/>
                <a:cs typeface="Segoe UI"/>
              </a:rPr>
              <a:t>... Max 32,767</a:t>
            </a:r>
            <a:endParaRPr lang="en-US" sz="950" dirty="0"/>
          </a:p>
        </p:txBody>
      </p:sp>
      <p:sp>
        <p:nvSpPr>
          <p:cNvPr id="47" name="lab"/>
          <p:cNvSpPr txBox="1"/>
          <p:nvPr/>
        </p:nvSpPr>
        <p:spPr>
          <a:xfrm>
            <a:off x="5843154" y="4082768"/>
            <a:ext cx="11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quiet</a:t>
            </a:r>
            <a:endParaRPr lang="en-US" sz="1000" dirty="0"/>
          </a:p>
        </p:txBody>
      </p:sp>
      <p:sp>
        <p:nvSpPr>
          <p:cNvPr id="48" name="bar"/>
          <p:cNvSpPr/>
          <p:nvPr/>
        </p:nvSpPr>
        <p:spPr>
          <a:xfrm>
            <a:off x="6993154" y="4082768"/>
            <a:ext cx="479637" cy="24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2</a:t>
            </a:r>
            <a:endParaRPr lang="en-US" sz="950" dirty="0"/>
          </a:p>
        </p:txBody>
      </p:sp>
      <p:sp>
        <p:nvSpPr>
          <p:cNvPr id="49" name="lab"/>
          <p:cNvSpPr txBox="1"/>
          <p:nvPr/>
        </p:nvSpPr>
        <p:spPr>
          <a:xfrm>
            <a:off x="5843154" y="4362768"/>
            <a:ext cx="11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busy</a:t>
            </a:r>
            <a:endParaRPr lang="en-US" sz="1000" dirty="0"/>
          </a:p>
        </p:txBody>
      </p:sp>
      <p:sp>
        <p:nvSpPr>
          <p:cNvPr id="50" name="bar"/>
          <p:cNvSpPr/>
          <p:nvPr/>
        </p:nvSpPr>
        <p:spPr>
          <a:xfrm>
            <a:off x="6993154" y="4362768"/>
            <a:ext cx="2638006" cy="24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11</a:t>
            </a:r>
            <a:endParaRPr lang="en-US" sz="950" dirty="0"/>
          </a:p>
        </p:txBody>
      </p:sp>
      <p:sp>
        <p:nvSpPr>
          <p:cNvPr id="51" name="lab"/>
          <p:cNvSpPr txBox="1"/>
          <p:nvPr/>
        </p:nvSpPr>
        <p:spPr>
          <a:xfrm>
            <a:off x="5843154" y="4642768"/>
            <a:ext cx="11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quiet again</a:t>
            </a:r>
            <a:endParaRPr lang="en-US" sz="1000" dirty="0"/>
          </a:p>
        </p:txBody>
      </p:sp>
      <p:sp>
        <p:nvSpPr>
          <p:cNvPr id="52" name="bar"/>
          <p:cNvSpPr/>
          <p:nvPr/>
        </p:nvSpPr>
        <p:spPr>
          <a:xfrm>
            <a:off x="6993154" y="4642768"/>
            <a:ext cx="959275" cy="24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4</a:t>
            </a:r>
            <a:endParaRPr lang="en-US" sz="950" dirty="0"/>
          </a:p>
        </p:txBody>
      </p:sp>
      <p:sp>
        <p:nvSpPr>
          <p:cNvPr id="53"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No fixed size: the runtime adds workers when work piles up and retires idle ones. Min and Max are limits, not counts.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3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3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3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3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300"/>
                                        <p:tgtEl>
                                          <p:spTgt spid="3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300"/>
                                        <p:tgtEl>
                                          <p:spTgt spid="3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300"/>
                                        <p:tgtEl>
                                          <p:spTgt spid="3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300"/>
                                        <p:tgtEl>
                                          <p:spTgt spid="3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300"/>
                                        <p:tgtEl>
                                          <p:spTgt spid="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300"/>
                                        <p:tgtEl>
                                          <p:spTgt spid="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300"/>
                                        <p:tgtEl>
                                          <p:spTgt spid="4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3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300"/>
                                        <p:tgtEl>
                                          <p:spTgt spid="2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3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300"/>
                                        <p:tgtEl>
                                          <p:spTgt spid="4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3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300"/>
                                        <p:tgtEl>
                                          <p:spTgt spid="46"/>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300"/>
                                        <p:tgtEl>
                                          <p:spTgt spid="47"/>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wipe(left)">
                                      <p:cBhvr>
                                        <p:cTn id="116" dur="600"/>
                                        <p:tgtEl>
                                          <p:spTgt spid="48"/>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300"/>
                                        <p:tgtEl>
                                          <p:spTgt spid="49"/>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wipe(left)">
                                      <p:cBhvr>
                                        <p:cTn id="124" dur="6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51"/>
                                        </p:tgtEl>
                                        <p:attrNameLst>
                                          <p:attrName>style.visibility</p:attrName>
                                        </p:attrNameLst>
                                      </p:cBhvr>
                                      <p:to>
                                        <p:strVal val="visible"/>
                                      </p:to>
                                    </p:set>
                                    <p:animEffect transition="in" filter="fade">
                                      <p:cBhvr>
                                        <p:cTn id="129" dur="300"/>
                                        <p:tgtEl>
                                          <p:spTgt spid="51"/>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wipe(left)">
                                      <p:cBhvr>
                                        <p:cTn id="132" dur="600"/>
                                        <p:tgtEl>
                                          <p:spTgt spid="52"/>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3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8" grpId="0" animBg="1"/>
      <p:bldP spid="29" grpId="0" animBg="1"/>
      <p:bldP spid="22" grpId="0" animBg="1"/>
      <p:bldP spid="23" grpId="0" animBg="1"/>
      <p:bldP spid="24" grpId="0" animBg="1"/>
      <p:bldP spid="25" grpId="0" animBg="1"/>
      <p:bldP spid="26" grpId="0" animBg="1"/>
      <p:bldP spid="27"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THREADPOOL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ThreadPool Reuses Workers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61</a:t>
            </a:r>
            <a:endParaRPr lang="en-US" sz="850" dirty="0"/>
          </a:p>
        </p:txBody>
      </p:sp>
      <p:sp>
        <p:nvSpPr>
          <p:cNvPr id="15" name="cw_win"/>
          <p:cNvSpPr/>
          <p:nvPr/>
        </p:nvSpPr>
        <p:spPr>
          <a:xfrm>
            <a:off x="543154" y="1572768"/>
            <a:ext cx="603504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for</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 i = 1; i &lt;= 4; i++)</a:t>
            </a:r>
            <a:endParaRPr lang="en-US" sz="1100" dirty="0"/>
          </a:p>
        </p:txBody>
      </p:sp>
      <p:sp>
        <p:nvSpPr>
          <p:cNvPr id="23" name="cw_L01"/>
          <p:cNvSpPr txBox="1"/>
          <p:nvPr/>
        </p:nvSpPr>
        <p:spPr>
          <a:xfrm>
            <a:off x="771754" y="2271776"/>
            <a:ext cx="56509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4" name="cw_L02"/>
          <p:cNvSpPr txBox="1"/>
          <p:nvPr/>
        </p:nvSpPr>
        <p:spPr>
          <a:xfrm>
            <a:off x="771754" y="2495296"/>
            <a:ext cx="565099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 order = i;</a:t>
            </a:r>
            <a:endParaRPr lang="en-US" sz="1100" dirty="0"/>
          </a:p>
        </p:txBody>
      </p:sp>
      <p:sp>
        <p:nvSpPr>
          <p:cNvPr id="25" name="cw_L03"/>
          <p:cNvSpPr txBox="1"/>
          <p:nvPr/>
        </p:nvSpPr>
        <p:spPr>
          <a:xfrm>
            <a:off x="771754" y="2718816"/>
            <a:ext cx="565099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ThreadPool.QueueUserWorkItem(_ =&gt;</a:t>
            </a:r>
            <a:endParaRPr lang="en-US" sz="1100" dirty="0"/>
          </a:p>
        </p:txBody>
      </p:sp>
      <p:sp>
        <p:nvSpPr>
          <p:cNvPr id="26" name="cw_L04"/>
          <p:cNvSpPr txBox="1"/>
          <p:nvPr/>
        </p:nvSpPr>
        <p:spPr>
          <a:xfrm>
            <a:off x="771754" y="2942336"/>
            <a:ext cx="565099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7" name="cw_L05"/>
          <p:cNvSpPr txBox="1"/>
          <p:nvPr/>
        </p:nvSpPr>
        <p:spPr>
          <a:xfrm>
            <a:off x="771754" y="3165856"/>
            <a:ext cx="5650992" cy="223520"/>
          </a:xfrm>
          <a:prstGeom prst="rect">
            <a:avLst/>
          </a:prstGeom>
          <a:noFill/>
          <a:ln>
            <a:noFill/>
          </a:ln>
        </p:spPr>
        <p:txBody>
          <a:bodyPr wrap="none" lIns="0" tIns="0" rIns="0" bIns="0" rtlCol="0" anchor="ctr">
            <a:noAutofit/>
          </a:bodyPr>
          <a:lstStyle/>
          <a:p>
            <a:pPr marL="614680" indent="0" algn="l">
              <a:spcBef>
                <a:spcPts val="0"/>
              </a:spcBef>
              <a:spcAft>
                <a:spcPts val="0"/>
              </a:spcAft>
              <a:buNone/>
            </a:pP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 id = Thread.CurrentThread.ManagedThreadId;</a:t>
            </a:r>
            <a:endParaRPr lang="en-US" sz="1100" dirty="0"/>
          </a:p>
        </p:txBody>
      </p:sp>
      <p:sp>
        <p:nvSpPr>
          <p:cNvPr id="28" name="cw_L06"/>
          <p:cNvSpPr txBox="1"/>
          <p:nvPr/>
        </p:nvSpPr>
        <p:spPr>
          <a:xfrm>
            <a:off x="771754" y="3389376"/>
            <a:ext cx="5650992" cy="223520"/>
          </a:xfrm>
          <a:prstGeom prst="rect">
            <a:avLst/>
          </a:prstGeom>
          <a:noFill/>
          <a:ln>
            <a:noFill/>
          </a:ln>
        </p:spPr>
        <p:txBody>
          <a:bodyPr wrap="none" lIns="0" tIns="0" rIns="0" bIns="0" rtlCol="0" anchor="ctr">
            <a:noAutofit/>
          </a:bodyPr>
          <a:lstStyle/>
          <a:p>
            <a:pPr marL="61468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$"Order {order} on thread {id}"</a:t>
            </a:r>
            <a:r>
              <a:rPr lang="en-US" sz="1100" b="0" dirty="0">
                <a:solidFill>
                  <a:srgbClr val="E2E8F0"/>
                </a:solidFill>
                <a:latin typeface="Consolas"/>
                <a:ea typeface="Consolas"/>
                <a:cs typeface="Consolas"/>
              </a:rPr>
              <a:t>);</a:t>
            </a:r>
            <a:endParaRPr lang="en-US" sz="1100" dirty="0"/>
          </a:p>
        </p:txBody>
      </p:sp>
      <p:sp>
        <p:nvSpPr>
          <p:cNvPr id="29" name="cw_L07"/>
          <p:cNvSpPr txBox="1"/>
          <p:nvPr/>
        </p:nvSpPr>
        <p:spPr>
          <a:xfrm>
            <a:off x="771754" y="3612896"/>
            <a:ext cx="565099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0" name="cw_L08"/>
          <p:cNvSpPr txBox="1"/>
          <p:nvPr/>
        </p:nvSpPr>
        <p:spPr>
          <a:xfrm>
            <a:off x="771754" y="3836416"/>
            <a:ext cx="56509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31" name="cw_L10"/>
          <p:cNvSpPr txBox="1"/>
          <p:nvPr/>
        </p:nvSpPr>
        <p:spPr>
          <a:xfrm>
            <a:off x="771754" y="4283456"/>
            <a:ext cx="565099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Console.ReadLine();   </a:t>
            </a:r>
            <a:r>
              <a:rPr lang="en-US" sz="1100" b="0" dirty="0">
                <a:solidFill>
                  <a:srgbClr val="6FAE7A"/>
                </a:solidFill>
                <a:latin typeface="Consolas"/>
                <a:ea typeface="Consolas"/>
                <a:cs typeface="Consolas"/>
              </a:rPr>
              <a:t>// pool threads are background threads</a:t>
            </a:r>
            <a:endParaRPr lang="en-US" sz="1100" dirty="0"/>
          </a:p>
        </p:txBody>
      </p:sp>
      <p:sp>
        <p:nvSpPr>
          <p:cNvPr id="32" name="lab"/>
          <p:cNvSpPr txBox="1"/>
          <p:nvPr/>
        </p:nvSpPr>
        <p:spPr>
          <a:xfrm>
            <a:off x="6852514" y="1572768"/>
            <a:ext cx="22860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QUEUE</a:t>
            </a:r>
            <a:endParaRPr lang="en-US" sz="1050" dirty="0"/>
          </a:p>
        </p:txBody>
      </p:sp>
      <p:sp>
        <p:nvSpPr>
          <p:cNvPr id="33" name="pill"/>
          <p:cNvSpPr/>
          <p:nvPr/>
        </p:nvSpPr>
        <p:spPr>
          <a:xfrm>
            <a:off x="6852514" y="1847088"/>
            <a:ext cx="1097280" cy="365760"/>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order 1</a:t>
            </a:r>
            <a:endParaRPr lang="en-US" sz="1000" dirty="0"/>
          </a:p>
        </p:txBody>
      </p:sp>
      <p:sp>
        <p:nvSpPr>
          <p:cNvPr id="34" name="pill"/>
          <p:cNvSpPr/>
          <p:nvPr/>
        </p:nvSpPr>
        <p:spPr>
          <a:xfrm>
            <a:off x="8041234" y="1847088"/>
            <a:ext cx="1097280" cy="365760"/>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order 2</a:t>
            </a:r>
            <a:endParaRPr lang="en-US" sz="1000" dirty="0"/>
          </a:p>
        </p:txBody>
      </p:sp>
      <p:sp>
        <p:nvSpPr>
          <p:cNvPr id="35" name="pill"/>
          <p:cNvSpPr/>
          <p:nvPr/>
        </p:nvSpPr>
        <p:spPr>
          <a:xfrm>
            <a:off x="9229954" y="1847088"/>
            <a:ext cx="1097280" cy="365760"/>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order 3</a:t>
            </a:r>
            <a:endParaRPr lang="en-US" sz="1000" dirty="0"/>
          </a:p>
        </p:txBody>
      </p:sp>
      <p:sp>
        <p:nvSpPr>
          <p:cNvPr id="36" name="pill"/>
          <p:cNvSpPr/>
          <p:nvPr/>
        </p:nvSpPr>
        <p:spPr>
          <a:xfrm>
            <a:off x="10418674" y="1847088"/>
            <a:ext cx="1097280" cy="365760"/>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order 4</a:t>
            </a:r>
            <a:endParaRPr lang="en-US" sz="1000" dirty="0"/>
          </a:p>
        </p:txBody>
      </p:sp>
      <p:cxnSp>
        <p:nvCxnSpPr>
          <p:cNvPr id="37" name="arrow"/>
          <p:cNvCxnSpPr/>
          <p:nvPr/>
        </p:nvCxnSpPr>
        <p:spPr>
          <a:xfrm>
            <a:off x="9229954" y="2258568"/>
            <a:ext cx="0" cy="274320"/>
          </a:xfrm>
          <a:prstGeom prst="line">
            <a:avLst/>
          </a:prstGeom>
          <a:ln w="28575">
            <a:solidFill>
              <a:srgbClr val="13D0F7"/>
            </a:solidFill>
            <a:tailEnd type="triangle" w="med" len="med"/>
          </a:ln>
        </p:spPr>
      </p:cxnSp>
      <p:sp>
        <p:nvSpPr>
          <p:cNvPr id="38" name="pool"/>
          <p:cNvSpPr/>
          <p:nvPr/>
        </p:nvSpPr>
        <p:spPr>
          <a:xfrm>
            <a:off x="6852514" y="2578608"/>
            <a:ext cx="4777740" cy="731520"/>
          </a:xfrm>
          <a:prstGeom prst="roundRect">
            <a:avLst>
              <a:gd name="adj" fmla="val 8000"/>
            </a:avLst>
          </a:prstGeom>
          <a:solidFill>
            <a:srgbClr val="0E2A26"/>
          </a:solidFill>
          <a:ln w="15875">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POOL:  worker 6 · worker 7 · worker 8</a:t>
            </a:r>
            <a:endParaRPr lang="en-US" sz="1150" dirty="0"/>
          </a:p>
        </p:txBody>
      </p:sp>
      <p:sp>
        <p:nvSpPr>
          <p:cNvPr id="39" name="out_win"/>
          <p:cNvSpPr/>
          <p:nvPr/>
        </p:nvSpPr>
        <p:spPr>
          <a:xfrm>
            <a:off x="6852514" y="3447288"/>
            <a:ext cx="4777740" cy="1435608"/>
          </a:xfrm>
          <a:prstGeom prst="roundRect">
            <a:avLst>
              <a:gd name="adj" fmla="val 4777"/>
            </a:avLst>
          </a:prstGeom>
          <a:solidFill>
            <a:srgbClr val="060D18"/>
          </a:solidFill>
          <a:ln w="12700">
            <a:solidFill>
              <a:srgbClr val="1E3A5F"/>
            </a:solidFill>
            <a:prstDash val="solid"/>
          </a:ln>
        </p:spPr>
        <p:txBody>
          <a:bodyPr/>
          <a:lstStyle/>
          <a:p>
            <a:endParaRPr lang="en-US"/>
          </a:p>
        </p:txBody>
      </p:sp>
      <p:sp>
        <p:nvSpPr>
          <p:cNvPr id="40" name="out_bar"/>
          <p:cNvSpPr/>
          <p:nvPr/>
        </p:nvSpPr>
        <p:spPr>
          <a:xfrm>
            <a:off x="6852514" y="344728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1" name="out_barfill"/>
          <p:cNvSpPr/>
          <p:nvPr/>
        </p:nvSpPr>
        <p:spPr>
          <a:xfrm>
            <a:off x="6852514" y="3618738"/>
            <a:ext cx="4777740" cy="171450"/>
          </a:xfrm>
          <a:prstGeom prst="rect">
            <a:avLst/>
          </a:prstGeom>
          <a:solidFill>
            <a:srgbClr val="0A1220"/>
          </a:solidFill>
          <a:ln w="12700">
            <a:solidFill>
              <a:srgbClr val="0A1220"/>
            </a:solidFill>
            <a:prstDash val="solid"/>
          </a:ln>
        </p:spPr>
        <p:txBody>
          <a:bodyPr/>
          <a:lstStyle/>
          <a:p>
            <a:endParaRPr lang="en-US"/>
          </a:p>
        </p:txBody>
      </p:sp>
      <p:sp>
        <p:nvSpPr>
          <p:cNvPr id="42" name="out_dot0"/>
          <p:cNvSpPr/>
          <p:nvPr/>
        </p:nvSpPr>
        <p:spPr>
          <a:xfrm>
            <a:off x="7014362" y="3571098"/>
            <a:ext cx="95098" cy="95098"/>
          </a:xfrm>
          <a:prstGeom prst="ellipse">
            <a:avLst/>
          </a:prstGeom>
          <a:solidFill>
            <a:srgbClr val="F87171"/>
          </a:solidFill>
          <a:ln w="12700">
            <a:solidFill>
              <a:srgbClr val="F87171"/>
            </a:solidFill>
            <a:prstDash val="solid"/>
          </a:ln>
        </p:spPr>
        <p:txBody>
          <a:bodyPr/>
          <a:lstStyle/>
          <a:p>
            <a:endParaRPr lang="en-US"/>
          </a:p>
        </p:txBody>
      </p:sp>
      <p:sp>
        <p:nvSpPr>
          <p:cNvPr id="43" name="out_dot1"/>
          <p:cNvSpPr/>
          <p:nvPr/>
        </p:nvSpPr>
        <p:spPr>
          <a:xfrm>
            <a:off x="7199986" y="3571098"/>
            <a:ext cx="95098" cy="95098"/>
          </a:xfrm>
          <a:prstGeom prst="ellipse">
            <a:avLst/>
          </a:prstGeom>
          <a:solidFill>
            <a:srgbClr val="FBBF24"/>
          </a:solidFill>
          <a:ln w="12700">
            <a:solidFill>
              <a:srgbClr val="FBBF24"/>
            </a:solidFill>
            <a:prstDash val="solid"/>
          </a:ln>
        </p:spPr>
        <p:txBody>
          <a:bodyPr/>
          <a:lstStyle/>
          <a:p>
            <a:endParaRPr lang="en-US"/>
          </a:p>
        </p:txBody>
      </p:sp>
      <p:sp>
        <p:nvSpPr>
          <p:cNvPr id="44" name="out_dot2"/>
          <p:cNvSpPr/>
          <p:nvPr/>
        </p:nvSpPr>
        <p:spPr>
          <a:xfrm>
            <a:off x="7385609" y="3571098"/>
            <a:ext cx="95098" cy="95098"/>
          </a:xfrm>
          <a:prstGeom prst="ellipse">
            <a:avLst/>
          </a:prstGeom>
          <a:solidFill>
            <a:srgbClr val="34D399"/>
          </a:solidFill>
          <a:ln w="12700">
            <a:solidFill>
              <a:srgbClr val="34D399"/>
            </a:solidFill>
            <a:prstDash val="solid"/>
          </a:ln>
        </p:spPr>
        <p:txBody>
          <a:bodyPr/>
          <a:lstStyle/>
          <a:p>
            <a:endParaRPr lang="en-US"/>
          </a:p>
        </p:txBody>
      </p:sp>
      <p:sp>
        <p:nvSpPr>
          <p:cNvPr id="45" name="out_tab"/>
          <p:cNvSpPr/>
          <p:nvPr/>
        </p:nvSpPr>
        <p:spPr>
          <a:xfrm>
            <a:off x="7633411" y="3494837"/>
            <a:ext cx="17830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Sample output (varies)</a:t>
            </a:r>
            <a:endParaRPr lang="en-US" sz="950" dirty="0"/>
          </a:p>
        </p:txBody>
      </p:sp>
      <p:sp>
        <p:nvSpPr>
          <p:cNvPr id="46" name="out_L00"/>
          <p:cNvSpPr txBox="1"/>
          <p:nvPr/>
        </p:nvSpPr>
        <p:spPr>
          <a:xfrm>
            <a:off x="7081114" y="3922776"/>
            <a:ext cx="43936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 1 on thread 6</a:t>
            </a:r>
            <a:endParaRPr lang="en-US" sz="1000" dirty="0"/>
          </a:p>
        </p:txBody>
      </p:sp>
      <p:sp>
        <p:nvSpPr>
          <p:cNvPr id="47" name="out_L01"/>
          <p:cNvSpPr txBox="1"/>
          <p:nvPr/>
        </p:nvSpPr>
        <p:spPr>
          <a:xfrm>
            <a:off x="7081114" y="4125976"/>
            <a:ext cx="43936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 3 on thread 7</a:t>
            </a:r>
            <a:endParaRPr lang="en-US" sz="1000" dirty="0"/>
          </a:p>
        </p:txBody>
      </p:sp>
      <p:sp>
        <p:nvSpPr>
          <p:cNvPr id="48" name="out_L02"/>
          <p:cNvSpPr txBox="1"/>
          <p:nvPr/>
        </p:nvSpPr>
        <p:spPr>
          <a:xfrm>
            <a:off x="7081114" y="4329176"/>
            <a:ext cx="43936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 2 on thread 8</a:t>
            </a:r>
            <a:endParaRPr lang="en-US" sz="1000" dirty="0"/>
          </a:p>
        </p:txBody>
      </p:sp>
      <p:sp>
        <p:nvSpPr>
          <p:cNvPr id="49" name="out_L03"/>
          <p:cNvSpPr txBox="1"/>
          <p:nvPr/>
        </p:nvSpPr>
        <p:spPr>
          <a:xfrm>
            <a:off x="7081114" y="4532376"/>
            <a:ext cx="43936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Order 4 on thread 6</a:t>
            </a:r>
            <a:endParaRPr lang="en-US" sz="1000" dirty="0"/>
          </a:p>
        </p:txBody>
      </p:sp>
      <p:sp>
        <p:nvSpPr>
          <p:cNvPr id="50"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The pool reuses a few </a:t>
            </a:r>
            <a:r>
              <a:rPr lang="en-US" sz="1600" b="0" dirty="0">
                <a:solidFill>
                  <a:srgbClr val="FF0000"/>
                </a:solidFill>
                <a:latin typeface="Segoe UI"/>
                <a:ea typeface="Segoe UI"/>
                <a:cs typeface="Segoe UI"/>
              </a:rPr>
              <a:t>background</a:t>
            </a:r>
            <a:r>
              <a:rPr lang="en-US" sz="1600" b="0" dirty="0">
                <a:solidFill>
                  <a:srgbClr val="FFFFFF"/>
                </a:solidFill>
                <a:latin typeface="Segoe UI"/>
                <a:ea typeface="Segoe UI"/>
                <a:cs typeface="Segoe UI"/>
              </a:rPr>
              <a:t> threads for many jobs. In app code, Task does this for you.</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25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2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2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250"/>
                                        <p:tgtEl>
                                          <p:spTgt spid="4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250"/>
                                        <p:tgtEl>
                                          <p:spTgt spid="4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fade">
                                      <p:cBhvr>
                                        <p:cTn id="73" dur="250"/>
                                        <p:tgtEl>
                                          <p:spTgt spid="4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2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P spid="38" grpId="0" animBg="1"/>
      <p:bldP spid="46" grpId="0"/>
      <p:bldP spid="47" grpId="0"/>
      <p:bldP spid="48" grpId="0"/>
      <p:bldP spid="49" grpId="0"/>
      <p:bldP spid="5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STARVATION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Thread Pool Starvation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62</a:t>
            </a:r>
            <a:endParaRPr lang="en-US" sz="850" dirty="0"/>
          </a:p>
        </p:txBody>
      </p:sp>
      <p:sp>
        <p:nvSpPr>
          <p:cNvPr id="15" name="cw_win"/>
          <p:cNvSpPr/>
          <p:nvPr/>
        </p:nvSpPr>
        <p:spPr>
          <a:xfrm>
            <a:off x="543154" y="1572768"/>
            <a:ext cx="603504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for</a:t>
            </a:r>
            <a:r>
              <a:rPr lang="en-US" sz="1150" b="0" dirty="0">
                <a:solidFill>
                  <a:srgbClr val="E2E8F0"/>
                </a:solidFill>
                <a:latin typeface="Consolas"/>
                <a:ea typeface="Consolas"/>
                <a:cs typeface="Consolas"/>
              </a:rPr>
              <a:t> (</a:t>
            </a:r>
            <a:r>
              <a:rPr lang="en-US" sz="1150" b="0" dirty="0">
                <a:solidFill>
                  <a:srgbClr val="60A5FA"/>
                </a:solidFill>
                <a:latin typeface="Consolas"/>
                <a:ea typeface="Consolas"/>
                <a:cs typeface="Consolas"/>
              </a:rPr>
              <a:t>int</a:t>
            </a:r>
            <a:r>
              <a:rPr lang="en-US" sz="1150" b="0" dirty="0">
                <a:solidFill>
                  <a:srgbClr val="E2E8F0"/>
                </a:solidFill>
                <a:latin typeface="Consolas"/>
                <a:ea typeface="Consolas"/>
                <a:cs typeface="Consolas"/>
              </a:rPr>
              <a:t> i = 0; i &lt; 100; i++)</a:t>
            </a:r>
            <a:endParaRPr lang="en-US" sz="1150" dirty="0"/>
          </a:p>
        </p:txBody>
      </p:sp>
      <p:sp>
        <p:nvSpPr>
          <p:cNvPr id="23" name="cw_L01"/>
          <p:cNvSpPr txBox="1"/>
          <p:nvPr/>
        </p:nvSpPr>
        <p:spPr>
          <a:xfrm>
            <a:off x="771754" y="228193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ThreadPool.QueueUserWorkItem(_ =&gt;</a:t>
            </a:r>
            <a:endParaRPr lang="en-US" sz="1150" dirty="0"/>
          </a:p>
        </p:txBody>
      </p:sp>
      <p:sp>
        <p:nvSpPr>
          <p:cNvPr id="25" name="cw_L03"/>
          <p:cNvSpPr txBox="1"/>
          <p:nvPr/>
        </p:nvSpPr>
        <p:spPr>
          <a:xfrm>
            <a:off x="771754" y="274929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6" name="cw_L04"/>
          <p:cNvSpPr txBox="1"/>
          <p:nvPr/>
        </p:nvSpPr>
        <p:spPr>
          <a:xfrm>
            <a:off x="771754" y="2982976"/>
            <a:ext cx="5650992" cy="233680"/>
          </a:xfrm>
          <a:prstGeom prst="rect">
            <a:avLst/>
          </a:prstGeom>
          <a:noFill/>
          <a:ln>
            <a:noFill/>
          </a:ln>
        </p:spPr>
        <p:txBody>
          <a:bodyPr wrap="none" lIns="0" tIns="0" rIns="0" bIns="0" rtlCol="0" anchor="ctr">
            <a:noAutofit/>
          </a:bodyPr>
          <a:lstStyle/>
          <a:p>
            <a:pPr marL="642620" indent="0" algn="l">
              <a:spcBef>
                <a:spcPts val="0"/>
              </a:spcBef>
              <a:spcAft>
                <a:spcPts val="0"/>
              </a:spcAft>
              <a:buNone/>
            </a:pPr>
            <a:r>
              <a:rPr lang="en-US" sz="1150" b="0" dirty="0">
                <a:solidFill>
                  <a:srgbClr val="E2E8F0"/>
                </a:solidFill>
                <a:latin typeface="Consolas"/>
                <a:ea typeface="Consolas"/>
                <a:cs typeface="Consolas"/>
              </a:rPr>
              <a:t>Thread.Sleep(10_000);   </a:t>
            </a:r>
            <a:r>
              <a:rPr lang="en-US" sz="1150" b="0" dirty="0">
                <a:solidFill>
                  <a:srgbClr val="6FAE7A"/>
                </a:solidFill>
                <a:latin typeface="Consolas"/>
                <a:ea typeface="Consolas"/>
                <a:cs typeface="Consolas"/>
              </a:rPr>
              <a:t>// blocks a worker for 10 s</a:t>
            </a:r>
            <a:endParaRPr lang="en-US" sz="1150" dirty="0"/>
          </a:p>
        </p:txBody>
      </p:sp>
      <p:sp>
        <p:nvSpPr>
          <p:cNvPr id="27" name="cw_L05"/>
          <p:cNvSpPr txBox="1"/>
          <p:nvPr/>
        </p:nvSpPr>
        <p:spPr>
          <a:xfrm>
            <a:off x="771754" y="321665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8" name="cw_L06"/>
          <p:cNvSpPr txBox="1"/>
          <p:nvPr/>
        </p:nvSpPr>
        <p:spPr>
          <a:xfrm>
            <a:off x="771754" y="345033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9" name="cw_L08"/>
          <p:cNvSpPr txBox="1"/>
          <p:nvPr/>
        </p:nvSpPr>
        <p:spPr>
          <a:xfrm>
            <a:off x="771754" y="3917696"/>
            <a:ext cx="56509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ThreadPool.QueueUserWorkItem(_ =&gt;</a:t>
            </a:r>
            <a:endParaRPr lang="en-US" sz="1150" dirty="0"/>
          </a:p>
        </p:txBody>
      </p:sp>
      <p:sp>
        <p:nvSpPr>
          <p:cNvPr id="30" name="cw_L09"/>
          <p:cNvSpPr txBox="1"/>
          <p:nvPr/>
        </p:nvSpPr>
        <p:spPr>
          <a:xfrm>
            <a:off x="771754" y="4151376"/>
            <a:ext cx="56509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"Urgent: payment confirmed"</a:t>
            </a:r>
            <a:r>
              <a:rPr lang="en-US" sz="1150" b="0" dirty="0">
                <a:solidFill>
                  <a:srgbClr val="E2E8F0"/>
                </a:solidFill>
                <a:latin typeface="Consolas"/>
                <a:ea typeface="Consolas"/>
                <a:cs typeface="Consolas"/>
              </a:rPr>
              <a:t>));</a:t>
            </a:r>
            <a:endParaRPr lang="en-US" sz="1150" dirty="0"/>
          </a:p>
        </p:txBody>
      </p:sp>
      <p:sp>
        <p:nvSpPr>
          <p:cNvPr id="31" name="cmark"/>
          <p:cNvSpPr/>
          <p:nvPr/>
        </p:nvSpPr>
        <p:spPr>
          <a:xfrm>
            <a:off x="676656" y="2964688"/>
            <a:ext cx="5768035" cy="270256"/>
          </a:xfrm>
          <a:prstGeom prst="rect">
            <a:avLst/>
          </a:prstGeom>
          <a:solidFill>
            <a:srgbClr val="F87171">
              <a:alpha val="16000"/>
            </a:srgbClr>
          </a:solidFill>
          <a:ln w="15875">
            <a:solidFill>
              <a:srgbClr val="F87171"/>
            </a:solidFill>
            <a:prstDash val="solid"/>
          </a:ln>
        </p:spPr>
        <p:txBody>
          <a:bodyPr/>
          <a:lstStyle/>
          <a:p>
            <a:endParaRPr lang="en-US"/>
          </a:p>
        </p:txBody>
      </p:sp>
      <p:sp>
        <p:nvSpPr>
          <p:cNvPr id="32" name="pool"/>
          <p:cNvSpPr/>
          <p:nvPr/>
        </p:nvSpPr>
        <p:spPr>
          <a:xfrm>
            <a:off x="6852514" y="1572768"/>
            <a:ext cx="4777740" cy="1463040"/>
          </a:xfrm>
          <a:prstGeom prst="roundRect">
            <a:avLst>
              <a:gd name="adj" fmla="val 6000"/>
            </a:avLst>
          </a:prstGeom>
          <a:solidFill>
            <a:srgbClr val="0A1322"/>
          </a:solidFill>
          <a:ln w="15875">
            <a:solidFill>
              <a:srgbClr val="F87171"/>
            </a:solidFill>
            <a:prstDash val="solid"/>
          </a:ln>
        </p:spPr>
        <p:txBody>
          <a:bodyPr wrap="square" lIns="137160" tIns="73152" rIns="91440" bIns="45720" rtlCol="0" anchor="t">
            <a:noAutofit/>
          </a:bodyPr>
          <a:lstStyle/>
          <a:p>
            <a:pPr marL="0" indent="0" algn="l">
              <a:spcBef>
                <a:spcPts val="0"/>
              </a:spcBef>
              <a:spcAft>
                <a:spcPts val="0"/>
              </a:spcAft>
              <a:buNone/>
            </a:pPr>
            <a:r>
              <a:rPr lang="en-US" sz="1050" b="1" dirty="0">
                <a:solidFill>
                  <a:srgbClr val="F87171"/>
                </a:solidFill>
                <a:latin typeface="Segoe UI"/>
                <a:ea typeface="Segoe UI"/>
                <a:cs typeface="Segoe UI"/>
              </a:rPr>
              <a:t>POOL</a:t>
            </a:r>
            <a:endParaRPr lang="en-US" sz="1050" dirty="0"/>
          </a:p>
        </p:txBody>
      </p:sp>
      <p:sp>
        <p:nvSpPr>
          <p:cNvPr id="33" name="pill"/>
          <p:cNvSpPr/>
          <p:nvPr/>
        </p:nvSpPr>
        <p:spPr>
          <a:xfrm>
            <a:off x="6989674" y="2075688"/>
            <a:ext cx="1034415" cy="365760"/>
          </a:xfrm>
          <a:prstGeom prst="roundRect">
            <a:avLst>
              <a:gd name="adj" fmla="val 30000"/>
            </a:avLst>
          </a:prstGeom>
          <a:solidFill>
            <a:srgbClr val="F87171">
              <a:alpha val="20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worker 1</a:t>
            </a:r>
            <a:endParaRPr lang="en-US" sz="950" dirty="0"/>
          </a:p>
        </p:txBody>
      </p:sp>
      <p:sp>
        <p:nvSpPr>
          <p:cNvPr id="34" name="pill"/>
          <p:cNvSpPr/>
          <p:nvPr/>
        </p:nvSpPr>
        <p:spPr>
          <a:xfrm>
            <a:off x="8115529" y="2075688"/>
            <a:ext cx="1034415" cy="365760"/>
          </a:xfrm>
          <a:prstGeom prst="roundRect">
            <a:avLst>
              <a:gd name="adj" fmla="val 30000"/>
            </a:avLst>
          </a:prstGeom>
          <a:solidFill>
            <a:srgbClr val="F87171">
              <a:alpha val="20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worker 2</a:t>
            </a:r>
            <a:endParaRPr lang="en-US" sz="950" dirty="0"/>
          </a:p>
        </p:txBody>
      </p:sp>
      <p:sp>
        <p:nvSpPr>
          <p:cNvPr id="35" name="pill"/>
          <p:cNvSpPr/>
          <p:nvPr/>
        </p:nvSpPr>
        <p:spPr>
          <a:xfrm>
            <a:off x="9241384" y="2075688"/>
            <a:ext cx="1034415" cy="365760"/>
          </a:xfrm>
          <a:prstGeom prst="roundRect">
            <a:avLst>
              <a:gd name="adj" fmla="val 30000"/>
            </a:avLst>
          </a:prstGeom>
          <a:solidFill>
            <a:srgbClr val="F87171">
              <a:alpha val="20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worker 3</a:t>
            </a:r>
            <a:endParaRPr lang="en-US" sz="950" dirty="0"/>
          </a:p>
        </p:txBody>
      </p:sp>
      <p:sp>
        <p:nvSpPr>
          <p:cNvPr id="36" name="pill"/>
          <p:cNvSpPr/>
          <p:nvPr/>
        </p:nvSpPr>
        <p:spPr>
          <a:xfrm>
            <a:off x="10367239" y="2075688"/>
            <a:ext cx="1034415" cy="365760"/>
          </a:xfrm>
          <a:prstGeom prst="roundRect">
            <a:avLst>
              <a:gd name="adj" fmla="val 30000"/>
            </a:avLst>
          </a:prstGeom>
          <a:solidFill>
            <a:srgbClr val="F87171">
              <a:alpha val="20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worker 4</a:t>
            </a:r>
            <a:endParaRPr lang="en-US" sz="950" dirty="0"/>
          </a:p>
        </p:txBody>
      </p:sp>
      <p:sp>
        <p:nvSpPr>
          <p:cNvPr id="37" name="lab"/>
          <p:cNvSpPr txBox="1"/>
          <p:nvPr/>
        </p:nvSpPr>
        <p:spPr>
          <a:xfrm>
            <a:off x="6989674" y="2532888"/>
            <a:ext cx="450342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F87171"/>
                </a:solidFill>
                <a:latin typeface="Segoe UI"/>
                <a:ea typeface="Segoe UI"/>
                <a:cs typeface="Segoe UI"/>
              </a:rPr>
              <a:t>all blocked in Thread.Sleep</a:t>
            </a:r>
            <a:endParaRPr lang="en-US" sz="1050" dirty="0"/>
          </a:p>
        </p:txBody>
      </p:sp>
      <p:sp>
        <p:nvSpPr>
          <p:cNvPr id="38" name="lab"/>
          <p:cNvSpPr txBox="1"/>
          <p:nvPr/>
        </p:nvSpPr>
        <p:spPr>
          <a:xfrm>
            <a:off x="6852514" y="3172968"/>
            <a:ext cx="27432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QUEUE</a:t>
            </a:r>
            <a:endParaRPr lang="en-US" sz="1050" dirty="0"/>
          </a:p>
        </p:txBody>
      </p:sp>
      <p:sp>
        <p:nvSpPr>
          <p:cNvPr id="39" name="pill"/>
          <p:cNvSpPr/>
          <p:nvPr/>
        </p:nvSpPr>
        <p:spPr>
          <a:xfrm>
            <a:off x="6852514" y="3447288"/>
            <a:ext cx="150114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sleep job</a:t>
            </a:r>
            <a:endParaRPr lang="en-US" sz="1000" dirty="0"/>
          </a:p>
        </p:txBody>
      </p:sp>
      <p:sp>
        <p:nvSpPr>
          <p:cNvPr id="40" name="pill"/>
          <p:cNvSpPr/>
          <p:nvPr/>
        </p:nvSpPr>
        <p:spPr>
          <a:xfrm>
            <a:off x="8445094" y="3447288"/>
            <a:ext cx="1501140" cy="384048"/>
          </a:xfrm>
          <a:prstGeom prst="roundRect">
            <a:avLst>
              <a:gd name="adj" fmla="val 30000"/>
            </a:avLst>
          </a:prstGeom>
          <a:solidFill>
            <a:srgbClr val="FBBF24">
              <a:alpha val="20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sleep job</a:t>
            </a:r>
            <a:endParaRPr lang="en-US" sz="1000" dirty="0"/>
          </a:p>
        </p:txBody>
      </p:sp>
      <p:sp>
        <p:nvSpPr>
          <p:cNvPr id="41" name="pill"/>
          <p:cNvSpPr/>
          <p:nvPr/>
        </p:nvSpPr>
        <p:spPr>
          <a:xfrm>
            <a:off x="10037674" y="3447288"/>
            <a:ext cx="1501140" cy="384048"/>
          </a:xfrm>
          <a:prstGeom prst="roundRect">
            <a:avLst>
              <a:gd name="adj" fmla="val 30000"/>
            </a:avLst>
          </a:prstGeom>
          <a:solidFill>
            <a:srgbClr val="13D0F7">
              <a:alpha val="20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Urgent: payment</a:t>
            </a:r>
            <a:endParaRPr lang="en-US" sz="1000" dirty="0"/>
          </a:p>
        </p:txBody>
      </p:sp>
      <p:sp>
        <p:nvSpPr>
          <p:cNvPr id="42" name="card"/>
          <p:cNvSpPr/>
          <p:nvPr/>
        </p:nvSpPr>
        <p:spPr>
          <a:xfrm>
            <a:off x="6852514" y="3995928"/>
            <a:ext cx="4777740" cy="886968"/>
          </a:xfrm>
          <a:prstGeom prst="roundRect">
            <a:avLst>
              <a:gd name="adj" fmla="val 9278"/>
            </a:avLst>
          </a:prstGeom>
          <a:solidFill>
            <a:srgbClr val="111B2E"/>
          </a:solidFill>
          <a:ln w="12700">
            <a:solidFill>
              <a:srgbClr val="F87171"/>
            </a:solidFill>
            <a:prstDash val="solid"/>
          </a:ln>
        </p:spPr>
        <p:txBody>
          <a:bodyPr wrap="square" lIns="182880" tIns="27432" rIns="137160" bIns="27432"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LATENCY ↑   </a:t>
            </a:r>
            <a:r>
              <a:rPr lang="en-US" sz="1200" b="0" dirty="0">
                <a:solidFill>
                  <a:srgbClr val="CBD5E1"/>
                </a:solidFill>
                <a:latin typeface="Segoe UI"/>
                <a:ea typeface="Segoe UI"/>
                <a:cs typeface="Segoe UI"/>
              </a:rPr>
              <a:t>the urgent job waits for a free worker</a:t>
            </a:r>
            <a:endParaRPr lang="en-US" sz="1200" dirty="0"/>
          </a:p>
        </p:txBody>
      </p:sp>
      <p:sp>
        <p:nvSpPr>
          <p:cNvPr id="43"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Starvation: work could run, but every worker is busy blocking. Don't block pool threads.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25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25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2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250"/>
                                        <p:tgtEl>
                                          <p:spTgt spid="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25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animBg="1"/>
      <p:bldP spid="32" grpId="0" animBg="1"/>
      <p:bldP spid="33" grpId="0" animBg="1"/>
      <p:bldP spid="34" grpId="0" animBg="1"/>
      <p:bldP spid="35" grpId="0" animBg="1"/>
      <p:bldP spid="36" grpId="0" animBg="1"/>
      <p:bldP spid="37" grpId="0"/>
      <p:bldP spid="38" grpId="0"/>
      <p:bldP spid="39" grpId="0" animBg="1"/>
      <p:bldP spid="40" grpId="0" animBg="1"/>
      <p:bldP spid="41" grpId="0" animBg="1"/>
      <p:bldP spid="42" grpId="0" animBg="1"/>
      <p:bldP spid="4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COMPARE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Starvation Is Not Deadlock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THREAD POOL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63</a:t>
            </a:r>
            <a:endParaRPr lang="en-US" sz="850" dirty="0"/>
          </a:p>
        </p:txBody>
      </p:sp>
      <p:sp>
        <p:nvSpPr>
          <p:cNvPr id="15" name="card"/>
          <p:cNvSpPr/>
          <p:nvPr/>
        </p:nvSpPr>
        <p:spPr>
          <a:xfrm>
            <a:off x="543154" y="1572768"/>
            <a:ext cx="5440680" cy="3310128"/>
          </a:xfrm>
          <a:prstGeom prst="roundRect">
            <a:avLst>
              <a:gd name="adj" fmla="val 2486"/>
            </a:avLst>
          </a:prstGeom>
          <a:solidFill>
            <a:srgbClr val="111B2E"/>
          </a:solidFill>
          <a:ln w="12700">
            <a:solidFill>
              <a:srgbClr val="F87171"/>
            </a:solidFill>
            <a:prstDash val="solid"/>
          </a:ln>
        </p:spPr>
        <p:txBody>
          <a:bodyPr wrap="square" lIns="274320" tIns="228600" rIns="228600" bIns="137160" rtlCol="0" anchor="t">
            <a:noAutofit/>
          </a:bodyPr>
          <a:lstStyle/>
          <a:p>
            <a:pPr marL="0" indent="0" algn="l">
              <a:spcBef>
                <a:spcPts val="0"/>
              </a:spcBef>
              <a:spcAft>
                <a:spcPts val="300"/>
              </a:spcAft>
              <a:buNone/>
            </a:pPr>
            <a:r>
              <a:rPr lang="en-US" sz="1150" b="1" dirty="0">
                <a:solidFill>
                  <a:srgbClr val="F87171"/>
                </a:solidFill>
                <a:latin typeface="Segoe UI"/>
                <a:ea typeface="Segoe UI"/>
                <a:cs typeface="Segoe UI"/>
              </a:rPr>
              <a:t>DEADLOCK</a:t>
            </a:r>
            <a:endParaRPr lang="en-US" sz="1150" dirty="0"/>
          </a:p>
          <a:p>
            <a:pPr marL="0" indent="0" algn="l">
              <a:spcBef>
                <a:spcPts val="0"/>
              </a:spcBef>
              <a:spcAft>
                <a:spcPts val="300"/>
              </a:spcAft>
              <a:buNone/>
            </a:pPr>
            <a:r>
              <a:rPr lang="en-US" sz="1700" b="1" dirty="0">
                <a:solidFill>
                  <a:srgbClr val="FFFFFF"/>
                </a:solidFill>
                <a:latin typeface="Segoe UI"/>
                <a:ea typeface="Segoe UI"/>
                <a:cs typeface="Segoe UI"/>
              </a:rPr>
              <a:t>No progress, ever</a:t>
            </a:r>
            <a:endParaRPr lang="en-US" sz="1700" dirty="0"/>
          </a:p>
          <a:p>
            <a:pPr marL="0" indent="0" algn="l">
              <a:spcBef>
                <a:spcPts val="0"/>
              </a:spcBef>
              <a:spcAft>
                <a:spcPts val="300"/>
              </a:spcAft>
              <a:buNone/>
            </a:pPr>
            <a:r>
              <a:rPr lang="en-US" sz="1450" b="0" dirty="0">
                <a:solidFill>
                  <a:srgbClr val="CBD5E1"/>
                </a:solidFill>
                <a:latin typeface="Segoe UI"/>
                <a:ea typeface="Segoe UI"/>
                <a:cs typeface="Segoe UI"/>
              </a:rPr>
              <a:t>Threads wait for each other in a cycle.</a:t>
            </a:r>
            <a:endParaRPr lang="en-US" sz="1450" dirty="0"/>
          </a:p>
          <a:p>
            <a:pPr marL="0" indent="0" algn="l">
              <a:spcBef>
                <a:spcPts val="0"/>
              </a:spcBef>
              <a:spcAft>
                <a:spcPts val="300"/>
              </a:spcAft>
              <a:buNone/>
            </a:pPr>
            <a:r>
              <a:rPr lang="en-US" sz="1300" b="0" dirty="0">
                <a:solidFill>
                  <a:srgbClr val="CBD5E1"/>
                </a:solidFill>
                <a:latin typeface="Segoe UI"/>
                <a:ea typeface="Segoe UI"/>
                <a:cs typeface="Segoe UI"/>
              </a:rPr>
              <a:t>Waiting longer never helps.</a:t>
            </a:r>
            <a:endParaRPr lang="en-US" sz="1300" dirty="0"/>
          </a:p>
          <a:p>
            <a:pPr marL="0" indent="0" algn="l">
              <a:spcBef>
                <a:spcPts val="0"/>
              </a:spcBef>
              <a:spcAft>
                <a:spcPts val="0"/>
              </a:spcAft>
              <a:buNone/>
            </a:pPr>
            <a:r>
              <a:rPr lang="en-US" sz="1300" b="0" dirty="0">
                <a:solidFill>
                  <a:srgbClr val="CBD5E1"/>
                </a:solidFill>
                <a:latin typeface="Segoe UI"/>
                <a:ea typeface="Segoe UI"/>
                <a:cs typeface="Segoe UI"/>
              </a:rPr>
              <a:t>Fix: lock ordering, fewer locks.</a:t>
            </a:r>
            <a:endParaRPr lang="en-US" sz="1300" dirty="0"/>
          </a:p>
        </p:txBody>
      </p:sp>
      <p:sp>
        <p:nvSpPr>
          <p:cNvPr id="16" name="card"/>
          <p:cNvSpPr/>
          <p:nvPr/>
        </p:nvSpPr>
        <p:spPr>
          <a:xfrm>
            <a:off x="6189574" y="1572768"/>
            <a:ext cx="5440680" cy="3310128"/>
          </a:xfrm>
          <a:prstGeom prst="roundRect">
            <a:avLst>
              <a:gd name="adj" fmla="val 2486"/>
            </a:avLst>
          </a:prstGeom>
          <a:solidFill>
            <a:srgbClr val="111B2E"/>
          </a:solidFill>
          <a:ln w="12700">
            <a:solidFill>
              <a:srgbClr val="FBBF24"/>
            </a:solidFill>
            <a:prstDash val="solid"/>
          </a:ln>
        </p:spPr>
        <p:txBody>
          <a:bodyPr wrap="square" lIns="274320" tIns="228600" rIns="228600" bIns="137160" rtlCol="0" anchor="t">
            <a:noAutofit/>
          </a:bodyPr>
          <a:lstStyle/>
          <a:p>
            <a:pPr marL="0" indent="0" algn="l">
              <a:spcBef>
                <a:spcPts val="0"/>
              </a:spcBef>
              <a:spcAft>
                <a:spcPts val="300"/>
              </a:spcAft>
              <a:buNone/>
            </a:pPr>
            <a:r>
              <a:rPr lang="en-US" sz="1150" b="1" dirty="0">
                <a:solidFill>
                  <a:srgbClr val="FBBF24"/>
                </a:solidFill>
                <a:latin typeface="Segoe UI"/>
                <a:ea typeface="Segoe UI"/>
                <a:cs typeface="Segoe UI"/>
              </a:rPr>
              <a:t>STARVATION</a:t>
            </a:r>
            <a:endParaRPr lang="en-US" sz="1150" dirty="0"/>
          </a:p>
          <a:p>
            <a:pPr marL="0" indent="0" algn="l">
              <a:spcBef>
                <a:spcPts val="0"/>
              </a:spcBef>
              <a:spcAft>
                <a:spcPts val="300"/>
              </a:spcAft>
              <a:buNone/>
            </a:pPr>
            <a:r>
              <a:rPr lang="en-US" sz="1700" b="1" dirty="0">
                <a:solidFill>
                  <a:srgbClr val="FFFFFF"/>
                </a:solidFill>
                <a:latin typeface="Segoe UI"/>
                <a:ea typeface="Segoe UI"/>
                <a:cs typeface="Segoe UI"/>
              </a:rPr>
              <a:t>Progress, but late</a:t>
            </a:r>
            <a:endParaRPr lang="en-US" sz="1700" dirty="0"/>
          </a:p>
          <a:p>
            <a:pPr marL="0" indent="0" algn="l">
              <a:spcBef>
                <a:spcPts val="0"/>
              </a:spcBef>
              <a:spcAft>
                <a:spcPts val="300"/>
              </a:spcAft>
              <a:buNone/>
            </a:pPr>
            <a:r>
              <a:rPr lang="en-US" sz="1450" b="0" dirty="0">
                <a:solidFill>
                  <a:srgbClr val="CBD5E1"/>
                </a:solidFill>
                <a:latin typeface="Segoe UI"/>
                <a:ea typeface="Segoe UI"/>
                <a:cs typeface="Segoe UI"/>
              </a:rPr>
              <a:t>Work waits because no worker is free.</a:t>
            </a:r>
            <a:endParaRPr lang="en-US" sz="1450" dirty="0"/>
          </a:p>
          <a:p>
            <a:pPr marL="0" indent="0" algn="l">
              <a:spcBef>
                <a:spcPts val="0"/>
              </a:spcBef>
              <a:spcAft>
                <a:spcPts val="300"/>
              </a:spcAft>
              <a:buNone/>
            </a:pPr>
            <a:r>
              <a:rPr lang="en-US" sz="1450" b="0" dirty="0">
                <a:solidFill>
                  <a:srgbClr val="CBD5E1"/>
                </a:solidFill>
                <a:latin typeface="Segoe UI"/>
                <a:ea typeface="Segoe UI"/>
                <a:cs typeface="Segoe UI"/>
              </a:rPr>
              <a:t>It recovers when workers free up.</a:t>
            </a:r>
            <a:endParaRPr lang="en-US" sz="1450" dirty="0"/>
          </a:p>
          <a:p>
            <a:pPr marL="0" indent="0" algn="l">
              <a:spcBef>
                <a:spcPts val="0"/>
              </a:spcBef>
              <a:spcAft>
                <a:spcPts val="0"/>
              </a:spcAft>
              <a:buNone/>
            </a:pPr>
            <a:r>
              <a:rPr lang="en-US" sz="1450" b="0" dirty="0">
                <a:solidFill>
                  <a:srgbClr val="CBD5E1"/>
                </a:solidFill>
                <a:latin typeface="Segoe UI"/>
                <a:ea typeface="Segoe UI"/>
                <a:cs typeface="Segoe UI"/>
              </a:rPr>
              <a:t>Fix: don't block threads; use async.</a:t>
            </a:r>
            <a:endParaRPr lang="en-US" sz="1450" dirty="0"/>
          </a:p>
        </p:txBody>
      </p:sp>
      <p:sp>
        <p:nvSpPr>
          <p:cNvPr id="17"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Deadlock: impossible to continue. Starvation: possible, but not enough resources right now.</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PART 5</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65</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34D399"/>
                </a:solidFill>
                <a:latin typeface="Segoe UI"/>
                <a:ea typeface="Segoe UI"/>
                <a:cs typeface="Segoe UI"/>
              </a:rPr>
              <a:t>05</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Tasks</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A higher-level abstraction: an operation that will finish in the future.</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Why not QueueUserWorkItem  ·  Task.Run  ·  Task is not a Thread  ·  3 exercises  ·  Task&lt;T&gt;  ·  .Result  ·  Wait()  ·  GetAwaiter().GetResult()  ·  Exceptions  ·  Task lifecycle  ·  CPU-bound vs I/O-bound  ·  Why async / await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88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THE PROBLEM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QueueUserWorkItem: Fire and Hope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66</a:t>
            </a:r>
            <a:endParaRPr lang="en-US" sz="850" dirty="0"/>
          </a:p>
        </p:txBody>
      </p:sp>
      <p:sp>
        <p:nvSpPr>
          <p:cNvPr id="15" name="cw_win"/>
          <p:cNvSpPr/>
          <p:nvPr/>
        </p:nvSpPr>
        <p:spPr>
          <a:xfrm>
            <a:off x="543154" y="1572768"/>
            <a:ext cx="5300000" cy="203756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49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ThreadPool.QueueUserWorkItem(_ =&gt;</a:t>
            </a:r>
            <a:endParaRPr lang="en-US" sz="1150" dirty="0"/>
          </a:p>
        </p:txBody>
      </p:sp>
      <p:sp>
        <p:nvSpPr>
          <p:cNvPr id="23" name="cw_L01"/>
          <p:cNvSpPr txBox="1"/>
          <p:nvPr/>
        </p:nvSpPr>
        <p:spPr>
          <a:xfrm>
            <a:off x="771754" y="2281936"/>
            <a:ext cx="49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491595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"Processing order"</a:t>
            </a:r>
            <a:r>
              <a:rPr lang="en-US" sz="1150" b="0" dirty="0">
                <a:solidFill>
                  <a:srgbClr val="E2E8F0"/>
                </a:solidFill>
                <a:latin typeface="Consolas"/>
                <a:ea typeface="Consolas"/>
                <a:cs typeface="Consolas"/>
              </a:rPr>
              <a:t>);</a:t>
            </a:r>
            <a:endParaRPr lang="en-US" sz="1150" dirty="0"/>
          </a:p>
        </p:txBody>
      </p:sp>
      <p:sp>
        <p:nvSpPr>
          <p:cNvPr id="25" name="cw_L03"/>
          <p:cNvSpPr txBox="1"/>
          <p:nvPr/>
        </p:nvSpPr>
        <p:spPr>
          <a:xfrm>
            <a:off x="771754" y="2749296"/>
            <a:ext cx="49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6" name="cw_L05"/>
          <p:cNvSpPr txBox="1"/>
          <p:nvPr/>
        </p:nvSpPr>
        <p:spPr>
          <a:xfrm>
            <a:off x="771754" y="3216656"/>
            <a:ext cx="49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FAE7A"/>
                </a:solidFill>
                <a:latin typeface="Consolas"/>
                <a:ea typeface="Consolas"/>
                <a:cs typeface="Consolas"/>
              </a:rPr>
              <a:t>// ...and now?</a:t>
            </a:r>
            <a:endParaRPr lang="en-US" sz="1150" dirty="0"/>
          </a:p>
        </p:txBody>
      </p:sp>
      <p:sp>
        <p:nvSpPr>
          <p:cNvPr id="27" name="card"/>
          <p:cNvSpPr/>
          <p:nvPr/>
        </p:nvSpPr>
        <p:spPr>
          <a:xfrm>
            <a:off x="6093154" y="1572768"/>
            <a:ext cx="5537100" cy="560000"/>
          </a:xfrm>
          <a:prstGeom prst="roundRect">
            <a:avLst>
              <a:gd name="adj" fmla="val 12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4D91F0"/>
                </a:solidFill>
                <a:latin typeface="Segoe UI"/>
                <a:ea typeface="Segoe UI"/>
                <a:cs typeface="Segoe UI"/>
              </a:rPr>
              <a:t>WHEN?  </a:t>
            </a:r>
            <a:r>
              <a:rPr lang="en-US" sz="1150" b="0" dirty="0">
                <a:solidFill>
                  <a:srgbClr val="CBD5E1"/>
                </a:solidFill>
                <a:latin typeface="Segoe UI"/>
                <a:ea typeface="Segoe UI"/>
                <a:cs typeface="Segoe UI"/>
              </a:rPr>
              <a:t>How can I know when the work finishes?</a:t>
            </a:r>
            <a:endParaRPr lang="en-US" sz="1150" dirty="0"/>
          </a:p>
        </p:txBody>
      </p:sp>
      <p:sp>
        <p:nvSpPr>
          <p:cNvPr id="28" name="card"/>
          <p:cNvSpPr/>
          <p:nvPr/>
        </p:nvSpPr>
        <p:spPr>
          <a:xfrm>
            <a:off x="6093154" y="2212768"/>
            <a:ext cx="5537100" cy="560000"/>
          </a:xfrm>
          <a:prstGeom prst="roundRect">
            <a:avLst>
              <a:gd name="adj" fmla="val 12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BBF24"/>
                </a:solidFill>
                <a:latin typeface="Segoe UI"/>
                <a:ea typeface="Segoe UI"/>
                <a:cs typeface="Segoe UI"/>
              </a:rPr>
              <a:t>RESULT?  </a:t>
            </a:r>
            <a:r>
              <a:rPr lang="en-US" sz="1150" b="0" dirty="0">
                <a:solidFill>
                  <a:srgbClr val="CBD5E1"/>
                </a:solidFill>
                <a:latin typeface="Segoe UI"/>
                <a:ea typeface="Segoe UI"/>
                <a:cs typeface="Segoe UI"/>
              </a:rPr>
              <a:t>How can I get a value back from it?</a:t>
            </a:r>
            <a:endParaRPr lang="en-US" sz="1150" dirty="0"/>
          </a:p>
        </p:txBody>
      </p:sp>
      <p:sp>
        <p:nvSpPr>
          <p:cNvPr id="29" name="card"/>
          <p:cNvSpPr/>
          <p:nvPr/>
        </p:nvSpPr>
        <p:spPr>
          <a:xfrm>
            <a:off x="6093154" y="2852768"/>
            <a:ext cx="5537100" cy="560000"/>
          </a:xfrm>
          <a:prstGeom prst="roundRect">
            <a:avLst>
              <a:gd name="adj" fmla="val 12000"/>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87171"/>
                </a:solidFill>
                <a:latin typeface="Segoe UI"/>
                <a:ea typeface="Segoe UI"/>
                <a:cs typeface="Segoe UI"/>
              </a:rPr>
              <a:t>ERRORS?  </a:t>
            </a:r>
            <a:r>
              <a:rPr lang="en-US" sz="1150" b="0" dirty="0">
                <a:solidFill>
                  <a:srgbClr val="CBD5E1"/>
                </a:solidFill>
                <a:latin typeface="Segoe UI"/>
                <a:ea typeface="Segoe UI"/>
                <a:cs typeface="Segoe UI"/>
              </a:rPr>
              <a:t>How can I handle an exception thrown inside?</a:t>
            </a:r>
            <a:endParaRPr lang="en-US" sz="1150" dirty="0"/>
          </a:p>
        </p:txBody>
      </p:sp>
      <p:sp>
        <p:nvSpPr>
          <p:cNvPr id="30" name="lab"/>
          <p:cNvSpPr txBox="1"/>
          <p:nvPr/>
        </p:nvSpPr>
        <p:spPr>
          <a:xfrm>
            <a:off x="6093154" y="3532768"/>
            <a:ext cx="5537100"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QueueUserWorkItem has no answer for any of these.</a:t>
            </a:r>
            <a:endParaRPr lang="en-US" sz="1100" dirty="0"/>
          </a:p>
        </p:txBody>
      </p:sp>
      <p:sp>
        <p:nvSpPr>
          <p:cNvPr id="31" name="card"/>
          <p:cNvSpPr/>
          <p:nvPr/>
        </p:nvSpPr>
        <p:spPr>
          <a:xfrm>
            <a:off x="543154" y="3810336"/>
            <a:ext cx="11087100" cy="1139664"/>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Task.Run ANSWERS ALL THREE</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It queues the work to the same ThreadPool, but it returns a Task: an object that tracks when the work completes, its result, and any exception.</a:t>
            </a:r>
            <a:endParaRPr lang="en-US" sz="1200" dirty="0"/>
          </a:p>
        </p:txBody>
      </p:sp>
      <p:sp>
        <p:nvSpPr>
          <p:cNvPr id="32"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QueueUserWorkItem is fire-and-forget. Task.Run gives you a handle to the work.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3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3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300"/>
                                        <p:tgtEl>
                                          <p:spTgt spid="3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300"/>
                                        <p:tgtEl>
                                          <p:spTgt spid="3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54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TASK.RUN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Task.Run: Queue Work, Get a Task Back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67</a:t>
            </a:r>
            <a:endParaRPr lang="en-US" sz="850" dirty="0"/>
          </a:p>
        </p:txBody>
      </p:sp>
      <p:sp>
        <p:nvSpPr>
          <p:cNvPr id="15" name="cw_win"/>
          <p:cNvSpPr/>
          <p:nvPr/>
        </p:nvSpPr>
        <p:spPr>
          <a:xfrm>
            <a:off x="543154" y="1572768"/>
            <a:ext cx="53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30" name="cw_hl02"/>
          <p:cNvSpPr/>
          <p:nvPr/>
        </p:nvSpPr>
        <p:spPr>
          <a:xfrm>
            <a:off x="676656" y="2409648"/>
            <a:ext cx="5032996" cy="1103376"/>
          </a:xfrm>
          <a:prstGeom prst="rect">
            <a:avLst/>
          </a:prstGeom>
          <a:solidFill>
            <a:srgbClr val="4D91F0">
              <a:alpha val="15000"/>
            </a:srgbClr>
          </a:solidFill>
          <a:ln w="12700">
            <a:solidFill>
              <a:srgbClr val="4D91F0"/>
            </a:solidFill>
            <a:prstDash val="solid"/>
          </a:ln>
        </p:spPr>
        <p:txBody>
          <a:bodyPr/>
          <a:lstStyle/>
          <a:p>
            <a:endParaRPr lang="en-US"/>
          </a:p>
        </p:txBody>
      </p:sp>
      <p:sp>
        <p:nvSpPr>
          <p:cNvPr id="31" name="cw_hl08"/>
          <p:cNvSpPr/>
          <p:nvPr/>
        </p:nvSpPr>
        <p:spPr>
          <a:xfrm>
            <a:off x="676656" y="3689808"/>
            <a:ext cx="5032996" cy="249936"/>
          </a:xfrm>
          <a:prstGeom prst="rect">
            <a:avLst/>
          </a:prstGeom>
          <a:solidFill>
            <a:srgbClr val="A78BFA">
              <a:alpha val="15000"/>
            </a:srgbClr>
          </a:solidFill>
          <a:ln w="12700">
            <a:solidFill>
              <a:srgbClr val="A78BFA"/>
            </a:solidFill>
            <a:prstDash val="solid"/>
          </a:ln>
        </p:spPr>
        <p:txBody>
          <a:bodyPr/>
          <a:lstStyle/>
          <a:p>
            <a:endParaRPr lang="en-US"/>
          </a:p>
        </p:txBody>
      </p:sp>
      <p:sp>
        <p:nvSpPr>
          <p:cNvPr id="22" name="cw_L00"/>
          <p:cNvSpPr txBox="1"/>
          <p:nvPr/>
        </p:nvSpPr>
        <p:spPr>
          <a:xfrm>
            <a:off x="771754" y="200121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"Main Started"</a:t>
            </a:r>
            <a:r>
              <a:rPr lang="en-US" sz="1050" b="0" dirty="0">
                <a:solidFill>
                  <a:srgbClr val="E2E8F0"/>
                </a:solidFill>
                <a:latin typeface="Consolas"/>
                <a:ea typeface="Consolas"/>
                <a:cs typeface="Consolas"/>
              </a:rPr>
              <a:t>);</a:t>
            </a:r>
            <a:endParaRPr lang="en-US" sz="1050" dirty="0"/>
          </a:p>
        </p:txBody>
      </p:sp>
      <p:sp>
        <p:nvSpPr>
          <p:cNvPr id="23" name="cw_L02"/>
          <p:cNvSpPr txBox="1"/>
          <p:nvPr/>
        </p:nvSpPr>
        <p:spPr>
          <a:xfrm>
            <a:off x="771754" y="242793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 task = Task.Run(() =&gt;</a:t>
            </a:r>
            <a:endParaRPr lang="en-US" sz="1050" dirty="0"/>
          </a:p>
        </p:txBody>
      </p:sp>
      <p:sp>
        <p:nvSpPr>
          <p:cNvPr id="24" name="cw_L03"/>
          <p:cNvSpPr txBox="1"/>
          <p:nvPr/>
        </p:nvSpPr>
        <p:spPr>
          <a:xfrm>
            <a:off x="771754" y="264129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5" name="cw_L04"/>
          <p:cNvSpPr txBox="1"/>
          <p:nvPr/>
        </p:nvSpPr>
        <p:spPr>
          <a:xfrm>
            <a:off x="771754" y="2854656"/>
            <a:ext cx="491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26" name="cw_L05"/>
          <p:cNvSpPr txBox="1"/>
          <p:nvPr/>
        </p:nvSpPr>
        <p:spPr>
          <a:xfrm>
            <a:off x="771754" y="3068016"/>
            <a:ext cx="491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"Task Finished"</a:t>
            </a: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28137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8"/>
          <p:cNvSpPr txBox="1"/>
          <p:nvPr/>
        </p:nvSpPr>
        <p:spPr>
          <a:xfrm>
            <a:off x="771754" y="370809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"Main Finished"</a:t>
            </a:r>
            <a:r>
              <a:rPr lang="en-US" sz="1050" b="0" dirty="0">
                <a:solidFill>
                  <a:srgbClr val="E2E8F0"/>
                </a:solidFill>
                <a:latin typeface="Consolas"/>
                <a:ea typeface="Consolas"/>
                <a:cs typeface="Consolas"/>
              </a:rPr>
              <a:t>);</a:t>
            </a:r>
            <a:endParaRPr lang="en-US" sz="1050" dirty="0"/>
          </a:p>
        </p:txBody>
      </p:sp>
      <p:sp>
        <p:nvSpPr>
          <p:cNvPr id="29" name="cw_L09"/>
          <p:cNvSpPr txBox="1"/>
          <p:nvPr/>
        </p:nvSpPr>
        <p:spPr>
          <a:xfrm>
            <a:off x="771754" y="392145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Console.ReadLine();</a:t>
            </a:r>
            <a:endParaRPr lang="en-US" sz="1050" dirty="0"/>
          </a:p>
        </p:txBody>
      </p:sp>
      <p:sp>
        <p:nvSpPr>
          <p:cNvPr id="32" name="card"/>
          <p:cNvSpPr/>
          <p:nvPr/>
        </p:nvSpPr>
        <p:spPr>
          <a:xfrm>
            <a:off x="6093154" y="1572768"/>
            <a:ext cx="5537100" cy="420000"/>
          </a:xfrm>
          <a:prstGeom prst="roundRect">
            <a:avLst>
              <a:gd name="adj" fmla="val 15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4D91F0"/>
                </a:solidFill>
                <a:latin typeface="Segoe UI"/>
                <a:ea typeface="Segoe UI"/>
                <a:cs typeface="Segoe UI"/>
              </a:rPr>
              <a:t>1  </a:t>
            </a:r>
            <a:r>
              <a:rPr lang="en-US" sz="1100" b="0" dirty="0">
                <a:solidFill>
                  <a:srgbClr val="CBD5E1"/>
                </a:solidFill>
                <a:latin typeface="Segoe UI"/>
                <a:ea typeface="Segoe UI"/>
                <a:cs typeface="Segoe UI"/>
              </a:rPr>
              <a:t>Task.Run() queues the work to the ThreadPool.</a:t>
            </a:r>
            <a:endParaRPr lang="en-US" sz="1100" dirty="0"/>
          </a:p>
        </p:txBody>
      </p:sp>
      <p:sp>
        <p:nvSpPr>
          <p:cNvPr id="33" name="card"/>
          <p:cNvSpPr/>
          <p:nvPr/>
        </p:nvSpPr>
        <p:spPr>
          <a:xfrm>
            <a:off x="6093154" y="2052768"/>
            <a:ext cx="5537100" cy="420000"/>
          </a:xfrm>
          <a:prstGeom prst="roundRect">
            <a:avLst>
              <a:gd name="adj" fmla="val 15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2  </a:t>
            </a:r>
            <a:r>
              <a:rPr lang="en-US" sz="1100" b="0" dirty="0">
                <a:solidFill>
                  <a:srgbClr val="CBD5E1"/>
                </a:solidFill>
                <a:latin typeface="Segoe UI"/>
                <a:ea typeface="Segoe UI"/>
                <a:cs typeface="Segoe UI"/>
              </a:rPr>
              <a:t>A worker thread executes the lambda.</a:t>
            </a:r>
            <a:endParaRPr lang="en-US" sz="1100" dirty="0"/>
          </a:p>
        </p:txBody>
      </p:sp>
      <p:sp>
        <p:nvSpPr>
          <p:cNvPr id="34" name="card"/>
          <p:cNvSpPr/>
          <p:nvPr/>
        </p:nvSpPr>
        <p:spPr>
          <a:xfrm>
            <a:off x="6093154" y="2532768"/>
            <a:ext cx="5537100" cy="420000"/>
          </a:xfrm>
          <a:prstGeom prst="roundRect">
            <a:avLst>
              <a:gd name="adj" fmla="val 15000"/>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3  </a:t>
            </a:r>
            <a:r>
              <a:rPr lang="en-US" sz="1100" b="0" dirty="0">
                <a:solidFill>
                  <a:srgbClr val="CBD5E1"/>
                </a:solidFill>
                <a:latin typeface="Segoe UI"/>
                <a:ea typeface="Segoe UI"/>
                <a:cs typeface="Segoe UI"/>
              </a:rPr>
              <a:t>Main continues immediately after scheduling.</a:t>
            </a:r>
            <a:endParaRPr lang="en-US" sz="1100" dirty="0"/>
          </a:p>
        </p:txBody>
      </p:sp>
      <p:sp>
        <p:nvSpPr>
          <p:cNvPr id="35" name="card"/>
          <p:cNvSpPr/>
          <p:nvPr/>
        </p:nvSpPr>
        <p:spPr>
          <a:xfrm>
            <a:off x="6093154" y="3012768"/>
            <a:ext cx="5537100" cy="4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4  </a:t>
            </a:r>
            <a:r>
              <a:rPr lang="en-US" sz="1100" b="0" dirty="0">
                <a:solidFill>
                  <a:srgbClr val="CBD5E1"/>
                </a:solidFill>
                <a:latin typeface="Segoe UI"/>
                <a:ea typeface="Segoe UI"/>
                <a:cs typeface="Segoe UI"/>
              </a:rPr>
              <a:t>The Task object represents the operation and its completion.</a:t>
            </a:r>
            <a:endParaRPr lang="en-US" sz="1100" dirty="0"/>
          </a:p>
        </p:txBody>
      </p:sp>
      <p:sp>
        <p:nvSpPr>
          <p:cNvPr id="36" name="out_win"/>
          <p:cNvSpPr/>
          <p:nvPr/>
        </p:nvSpPr>
        <p:spPr>
          <a:xfrm>
            <a:off x="6093154" y="3552768"/>
            <a:ext cx="5537100" cy="139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7" name="out_bar"/>
          <p:cNvSpPr/>
          <p:nvPr/>
        </p:nvSpPr>
        <p:spPr>
          <a:xfrm>
            <a:off x="6093154" y="3552768"/>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8" name="out_barfill"/>
          <p:cNvSpPr/>
          <p:nvPr/>
        </p:nvSpPr>
        <p:spPr>
          <a:xfrm>
            <a:off x="6093154" y="3724218"/>
            <a:ext cx="5537100" cy="171450"/>
          </a:xfrm>
          <a:prstGeom prst="rect">
            <a:avLst/>
          </a:prstGeom>
          <a:solidFill>
            <a:srgbClr val="0A1220"/>
          </a:solidFill>
          <a:ln w="12700">
            <a:solidFill>
              <a:srgbClr val="0A1220"/>
            </a:solidFill>
            <a:prstDash val="solid"/>
          </a:ln>
        </p:spPr>
        <p:txBody>
          <a:bodyPr/>
          <a:lstStyle/>
          <a:p>
            <a:endParaRPr lang="en-US"/>
          </a:p>
        </p:txBody>
      </p:sp>
      <p:sp>
        <p:nvSpPr>
          <p:cNvPr id="39" name="out_dot0"/>
          <p:cNvSpPr/>
          <p:nvPr/>
        </p:nvSpPr>
        <p:spPr>
          <a:xfrm>
            <a:off x="6255002" y="367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0" name="out_dot1"/>
          <p:cNvSpPr/>
          <p:nvPr/>
        </p:nvSpPr>
        <p:spPr>
          <a:xfrm>
            <a:off x="6440626" y="367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1" name="out_dot2"/>
          <p:cNvSpPr/>
          <p:nvPr/>
        </p:nvSpPr>
        <p:spPr>
          <a:xfrm>
            <a:off x="6626250" y="367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2" name="out_tab"/>
          <p:cNvSpPr/>
          <p:nvPr/>
        </p:nvSpPr>
        <p:spPr>
          <a:xfrm>
            <a:off x="6874051" y="360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43" name="out_L00"/>
          <p:cNvSpPr txBox="1"/>
          <p:nvPr/>
        </p:nvSpPr>
        <p:spPr>
          <a:xfrm>
            <a:off x="6321754" y="39812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Main Started</a:t>
            </a:r>
            <a:endParaRPr lang="en-US" sz="1000" dirty="0"/>
          </a:p>
        </p:txBody>
      </p:sp>
      <p:sp>
        <p:nvSpPr>
          <p:cNvPr id="44" name="out_L01"/>
          <p:cNvSpPr txBox="1"/>
          <p:nvPr/>
        </p:nvSpPr>
        <p:spPr>
          <a:xfrm>
            <a:off x="6321754" y="41844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A78BFA"/>
                </a:solidFill>
                <a:latin typeface="Consolas"/>
                <a:ea typeface="Consolas"/>
                <a:cs typeface="Consolas"/>
              </a:rPr>
              <a:t>Main Finished</a:t>
            </a:r>
            <a:endParaRPr lang="en-US" sz="1000" dirty="0"/>
          </a:p>
        </p:txBody>
      </p:sp>
      <p:sp>
        <p:nvSpPr>
          <p:cNvPr id="45" name="out_L02"/>
          <p:cNvSpPr txBox="1"/>
          <p:nvPr/>
        </p:nvSpPr>
        <p:spPr>
          <a:xfrm>
            <a:off x="6321754" y="43876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Task Finished    (about 2 s later)</a:t>
            </a:r>
            <a:endParaRPr lang="en-US" sz="1000" dirty="0"/>
          </a:p>
        </p:txBody>
      </p:sp>
      <p:sp>
        <p:nvSpPr>
          <p:cNvPr id="46"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Does Task.Run() block the calling thread? No: scheduling the work does not wait for it to finish.</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3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3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3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3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300"/>
                                        <p:tgtEl>
                                          <p:spTgt spid="3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3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300"/>
                                        <p:tgtEl>
                                          <p:spTgt spid="3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3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300"/>
                                        <p:tgtEl>
                                          <p:spTgt spid="4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300"/>
                                        <p:tgtEl>
                                          <p:spTgt spid="4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300"/>
                                        <p:tgtEl>
                                          <p:spTgt spid="4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300"/>
                                        <p:tgtEl>
                                          <p:spTgt spid="4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3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3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THREAD IDS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Prove It: Main and the Task Use Different Threads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68</a:t>
            </a:r>
            <a:endParaRPr lang="en-US" sz="850" dirty="0"/>
          </a:p>
        </p:txBody>
      </p:sp>
      <p:sp>
        <p:nvSpPr>
          <p:cNvPr id="15" name="cw_win"/>
          <p:cNvSpPr/>
          <p:nvPr/>
        </p:nvSpPr>
        <p:spPr>
          <a:xfrm>
            <a:off x="543154" y="1572768"/>
            <a:ext cx="5700000" cy="2214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7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7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01216"/>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$"Main: {Environment.CurrentManagedThreadId}"</a:t>
            </a:r>
            <a:r>
              <a:rPr lang="en-US" sz="1000" b="0" dirty="0">
                <a:solidFill>
                  <a:srgbClr val="E2E8F0"/>
                </a:solidFill>
                <a:latin typeface="Consolas"/>
                <a:ea typeface="Consolas"/>
                <a:cs typeface="Consolas"/>
              </a:rPr>
              <a:t>);</a:t>
            </a:r>
            <a:endParaRPr lang="en-US" sz="1000" dirty="0"/>
          </a:p>
        </p:txBody>
      </p:sp>
      <p:sp>
        <p:nvSpPr>
          <p:cNvPr id="23" name="cw_L02"/>
          <p:cNvSpPr txBox="1"/>
          <p:nvPr/>
        </p:nvSpPr>
        <p:spPr>
          <a:xfrm>
            <a:off x="771754" y="2407616"/>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Task.Run(() =&gt;</a:t>
            </a:r>
            <a:endParaRPr lang="en-US" sz="1000" dirty="0"/>
          </a:p>
        </p:txBody>
      </p:sp>
      <p:sp>
        <p:nvSpPr>
          <p:cNvPr id="24" name="cw_L03"/>
          <p:cNvSpPr txBox="1"/>
          <p:nvPr/>
        </p:nvSpPr>
        <p:spPr>
          <a:xfrm>
            <a:off x="771754" y="2610816"/>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5" name="cw_L04"/>
          <p:cNvSpPr txBox="1"/>
          <p:nvPr/>
        </p:nvSpPr>
        <p:spPr>
          <a:xfrm>
            <a:off x="771754" y="2814016"/>
            <a:ext cx="53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$"Task: {Environment.CurrentManagedThreadId}"</a:t>
            </a:r>
            <a:r>
              <a:rPr lang="en-US" sz="1000" b="0" dirty="0">
                <a:solidFill>
                  <a:srgbClr val="E2E8F0"/>
                </a:solidFill>
                <a:latin typeface="Consolas"/>
                <a:ea typeface="Consolas"/>
                <a:cs typeface="Consolas"/>
              </a:rPr>
              <a:t>);</a:t>
            </a:r>
            <a:endParaRPr lang="en-US" sz="1000" dirty="0"/>
          </a:p>
        </p:txBody>
      </p:sp>
      <p:sp>
        <p:nvSpPr>
          <p:cNvPr id="26" name="cw_L05"/>
          <p:cNvSpPr txBox="1"/>
          <p:nvPr/>
        </p:nvSpPr>
        <p:spPr>
          <a:xfrm>
            <a:off x="771754" y="3017216"/>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7"/>
          <p:cNvSpPr txBox="1"/>
          <p:nvPr/>
        </p:nvSpPr>
        <p:spPr>
          <a:xfrm>
            <a:off x="771754" y="3423616"/>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Console.ReadLine();</a:t>
            </a:r>
            <a:endParaRPr lang="en-US" sz="1000" dirty="0"/>
          </a:p>
        </p:txBody>
      </p:sp>
      <p:sp>
        <p:nvSpPr>
          <p:cNvPr id="28" name="out_win"/>
          <p:cNvSpPr/>
          <p:nvPr/>
        </p:nvSpPr>
        <p:spPr>
          <a:xfrm>
            <a:off x="543154" y="3923976"/>
            <a:ext cx="5700000" cy="1026024"/>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9" name="out_bar"/>
          <p:cNvSpPr/>
          <p:nvPr/>
        </p:nvSpPr>
        <p:spPr>
          <a:xfrm>
            <a:off x="543154" y="3923976"/>
            <a:ext cx="57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0" name="out_barfill"/>
          <p:cNvSpPr/>
          <p:nvPr/>
        </p:nvSpPr>
        <p:spPr>
          <a:xfrm>
            <a:off x="543154" y="4095426"/>
            <a:ext cx="5700000" cy="171450"/>
          </a:xfrm>
          <a:prstGeom prst="rect">
            <a:avLst/>
          </a:prstGeom>
          <a:solidFill>
            <a:srgbClr val="0A1220"/>
          </a:solidFill>
          <a:ln w="12700">
            <a:solidFill>
              <a:srgbClr val="0A1220"/>
            </a:solidFill>
            <a:prstDash val="solid"/>
          </a:ln>
        </p:spPr>
        <p:txBody>
          <a:bodyPr/>
          <a:lstStyle/>
          <a:p>
            <a:endParaRPr lang="en-US"/>
          </a:p>
        </p:txBody>
      </p:sp>
      <p:sp>
        <p:nvSpPr>
          <p:cNvPr id="31" name="out_dot0"/>
          <p:cNvSpPr/>
          <p:nvPr/>
        </p:nvSpPr>
        <p:spPr>
          <a:xfrm>
            <a:off x="705002" y="4047786"/>
            <a:ext cx="95098" cy="95098"/>
          </a:xfrm>
          <a:prstGeom prst="ellipse">
            <a:avLst/>
          </a:prstGeom>
          <a:solidFill>
            <a:srgbClr val="F87171"/>
          </a:solidFill>
          <a:ln w="12700">
            <a:solidFill>
              <a:srgbClr val="F87171"/>
            </a:solidFill>
            <a:prstDash val="solid"/>
          </a:ln>
        </p:spPr>
        <p:txBody>
          <a:bodyPr/>
          <a:lstStyle/>
          <a:p>
            <a:endParaRPr lang="en-US"/>
          </a:p>
        </p:txBody>
      </p:sp>
      <p:sp>
        <p:nvSpPr>
          <p:cNvPr id="32" name="out_dot1"/>
          <p:cNvSpPr/>
          <p:nvPr/>
        </p:nvSpPr>
        <p:spPr>
          <a:xfrm>
            <a:off x="890626" y="4047786"/>
            <a:ext cx="95098" cy="95098"/>
          </a:xfrm>
          <a:prstGeom prst="ellipse">
            <a:avLst/>
          </a:prstGeom>
          <a:solidFill>
            <a:srgbClr val="FBBF24"/>
          </a:solidFill>
          <a:ln w="12700">
            <a:solidFill>
              <a:srgbClr val="FBBF24"/>
            </a:solidFill>
            <a:prstDash val="solid"/>
          </a:ln>
        </p:spPr>
        <p:txBody>
          <a:bodyPr/>
          <a:lstStyle/>
          <a:p>
            <a:endParaRPr lang="en-US"/>
          </a:p>
        </p:txBody>
      </p:sp>
      <p:sp>
        <p:nvSpPr>
          <p:cNvPr id="33" name="out_dot2"/>
          <p:cNvSpPr/>
          <p:nvPr/>
        </p:nvSpPr>
        <p:spPr>
          <a:xfrm>
            <a:off x="1076250" y="4047786"/>
            <a:ext cx="95098" cy="95098"/>
          </a:xfrm>
          <a:prstGeom prst="ellipse">
            <a:avLst/>
          </a:prstGeom>
          <a:solidFill>
            <a:srgbClr val="34D399"/>
          </a:solidFill>
          <a:ln w="12700">
            <a:solidFill>
              <a:srgbClr val="34D399"/>
            </a:solidFill>
            <a:prstDash val="solid"/>
          </a:ln>
        </p:spPr>
        <p:txBody>
          <a:bodyPr/>
          <a:lstStyle/>
          <a:p>
            <a:endParaRPr lang="en-US"/>
          </a:p>
        </p:txBody>
      </p:sp>
      <p:sp>
        <p:nvSpPr>
          <p:cNvPr id="34" name="out_tab"/>
          <p:cNvSpPr/>
          <p:nvPr/>
        </p:nvSpPr>
        <p:spPr>
          <a:xfrm>
            <a:off x="1324051" y="397152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5" name="out_L00"/>
          <p:cNvSpPr txBox="1"/>
          <p:nvPr/>
        </p:nvSpPr>
        <p:spPr>
          <a:xfrm>
            <a:off x="771754" y="4352424"/>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A78BFA"/>
                </a:solidFill>
                <a:latin typeface="Consolas"/>
                <a:ea typeface="Consolas"/>
                <a:cs typeface="Consolas"/>
              </a:rPr>
              <a:t>Main: 1</a:t>
            </a:r>
            <a:endParaRPr lang="en-US" sz="1000" dirty="0"/>
          </a:p>
        </p:txBody>
      </p:sp>
      <p:sp>
        <p:nvSpPr>
          <p:cNvPr id="36" name="out_L01"/>
          <p:cNvSpPr txBox="1"/>
          <p:nvPr/>
        </p:nvSpPr>
        <p:spPr>
          <a:xfrm>
            <a:off x="771754" y="4555624"/>
            <a:ext cx="53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Task: 6     (a pool worker; the number varies)</a:t>
            </a:r>
            <a:endParaRPr lang="en-US" sz="1000" dirty="0"/>
          </a:p>
        </p:txBody>
      </p:sp>
      <p:sp>
        <p:nvSpPr>
          <p:cNvPr id="37" name="chip"/>
          <p:cNvSpPr/>
          <p:nvPr/>
        </p:nvSpPr>
        <p:spPr>
          <a:xfrm>
            <a:off x="6493154" y="1632768"/>
            <a:ext cx="1900000" cy="420000"/>
          </a:xfrm>
          <a:prstGeom prst="roundRect">
            <a:avLst>
              <a:gd name="adj" fmla="val 25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A78BFA"/>
                </a:solidFill>
                <a:latin typeface="Segoe UI"/>
                <a:ea typeface="Segoe UI"/>
                <a:cs typeface="Segoe UI"/>
              </a:rPr>
              <a:t>Thread 1 (Main)</a:t>
            </a:r>
            <a:endParaRPr lang="en-US" sz="1050" dirty="0"/>
          </a:p>
        </p:txBody>
      </p:sp>
      <p:sp>
        <p:nvSpPr>
          <p:cNvPr id="38" name="panel"/>
          <p:cNvSpPr/>
          <p:nvPr/>
        </p:nvSpPr>
        <p:spPr>
          <a:xfrm>
            <a:off x="6493154" y="2212768"/>
            <a:ext cx="5137100" cy="1150000"/>
          </a:xfrm>
          <a:prstGeom prst="roundRect">
            <a:avLst>
              <a:gd name="adj" fmla="val 8000"/>
            </a:avLst>
          </a:prstGeom>
          <a:solidFill>
            <a:srgbClr val="0C1628"/>
          </a:solidFill>
          <a:ln w="12700">
            <a:solidFill>
              <a:srgbClr val="1E3A5F"/>
            </a:solidFill>
            <a:prstDash val="solid"/>
          </a:ln>
        </p:spPr>
        <p:txBody>
          <a:bodyPr/>
          <a:lstStyle/>
          <a:p>
            <a:endParaRPr lang="en-US"/>
          </a:p>
        </p:txBody>
      </p:sp>
      <p:sp>
        <p:nvSpPr>
          <p:cNvPr id="39" name="lab"/>
          <p:cNvSpPr txBox="1"/>
          <p:nvPr/>
        </p:nvSpPr>
        <p:spPr>
          <a:xfrm>
            <a:off x="6613154" y="2252768"/>
            <a:ext cx="489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ThreadPool workers</a:t>
            </a:r>
            <a:endParaRPr lang="en-US" sz="1000" dirty="0"/>
          </a:p>
        </p:txBody>
      </p:sp>
      <p:sp>
        <p:nvSpPr>
          <p:cNvPr id="40" name="pill"/>
          <p:cNvSpPr/>
          <p:nvPr/>
        </p:nvSpPr>
        <p:spPr>
          <a:xfrm>
            <a:off x="6613154" y="2562768"/>
            <a:ext cx="2388550" cy="36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Thread 6</a:t>
            </a:r>
            <a:endParaRPr lang="en-US" sz="1050" dirty="0"/>
          </a:p>
        </p:txBody>
      </p:sp>
      <p:sp>
        <p:nvSpPr>
          <p:cNvPr id="41" name="pill"/>
          <p:cNvSpPr/>
          <p:nvPr/>
        </p:nvSpPr>
        <p:spPr>
          <a:xfrm>
            <a:off x="9121704" y="2562768"/>
            <a:ext cx="2388550" cy="360000"/>
          </a:xfrm>
          <a:prstGeom prst="roundRect">
            <a:avLst>
              <a:gd name="adj" fmla="val 30000"/>
            </a:avLst>
          </a:prstGeom>
          <a:solidFill>
            <a:srgbClr val="34D399">
              <a:alpha val="20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Thread 7</a:t>
            </a:r>
            <a:endParaRPr lang="en-US" sz="1050" dirty="0"/>
          </a:p>
        </p:txBody>
      </p:sp>
      <p:sp>
        <p:nvSpPr>
          <p:cNvPr id="42" name="chip"/>
          <p:cNvSpPr/>
          <p:nvPr/>
        </p:nvSpPr>
        <p:spPr>
          <a:xfrm>
            <a:off x="7307429" y="2972768"/>
            <a:ext cx="1000000" cy="34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Task</a:t>
            </a:r>
            <a:endParaRPr lang="en-US" sz="1000" dirty="0"/>
          </a:p>
        </p:txBody>
      </p:sp>
      <p:sp>
        <p:nvSpPr>
          <p:cNvPr id="43" name="card"/>
          <p:cNvSpPr/>
          <p:nvPr/>
        </p:nvSpPr>
        <p:spPr>
          <a:xfrm>
            <a:off x="6493154" y="3492768"/>
            <a:ext cx="5137100" cy="56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This Task ran on a ThreadPool worker, not on Main.</a:t>
            </a:r>
            <a:endParaRPr lang="en-US" sz="1100" dirty="0"/>
          </a:p>
        </p:txBody>
      </p:sp>
      <p:sp>
        <p:nvSpPr>
          <p:cNvPr id="44" name="card"/>
          <p:cNvSpPr/>
          <p:nvPr/>
        </p:nvSpPr>
        <p:spPr>
          <a:xfrm>
            <a:off x="6493154" y="4152768"/>
            <a:ext cx="5137100" cy="797232"/>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BUT A TASK IS NOT A THREAD</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Not every Task needs a dedicated thread, or even a running worker while it is pending.</a:t>
            </a:r>
            <a:endParaRPr lang="en-US" sz="1100" dirty="0"/>
          </a:p>
        </p:txBody>
      </p:sp>
      <p:sp>
        <p:nvSpPr>
          <p:cNvPr id="45"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Task.Run work runs on a pool worker, a different thread from Main.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3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3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3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3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300"/>
                                        <p:tgtEl>
                                          <p:spTgt spid="41"/>
                                        </p:tgtEl>
                                      </p:cBhvr>
                                    </p:animEffect>
                                  </p:childTnLst>
                                </p:cTn>
                              </p:par>
                              <p:par>
                                <p:cTn id="61" presetID="10" presetClass="entr" presetSubtype="0" fill="hold" grpId="0" nodeType="withEffect">
                                  <p:stCondLst>
                                    <p:cond delay="30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300"/>
                                        <p:tgtEl>
                                          <p:spTgt spid="42"/>
                                        </p:tgtEl>
                                      </p:cBhvr>
                                    </p:animEffect>
                                  </p:childTnLst>
                                </p:cTn>
                              </p:par>
                              <p:par>
                                <p:cTn id="64" presetID="0" presetClass="path" presetSubtype="0" accel="50000" decel="50000" fill="hold" grpId="1" nodeType="withEffect">
                                  <p:stCondLst>
                                    <p:cond delay="300"/>
                                  </p:stCondLst>
                                  <p:childTnLst>
                                    <p:animMotion origin="layout" path="M 0.09725 -0.19539 L 0.00000 0.00000 E" pathEditMode="relative" rAng="0" ptsTypes="AA">
                                      <p:cBhvr>
                                        <p:cTn id="65" dur="900" fill="hold"/>
                                        <p:tgtEl>
                                          <p:spTgt spid="42"/>
                                        </p:tgtEl>
                                        <p:attrNameLst>
                                          <p:attrName>ppt_x</p:attrName>
                                          <p:attrName>ppt_y</p:attrName>
                                        </p:attrNameLst>
                                      </p:cBhvr>
                                      <p:rCtr x="0" y="0"/>
                                    </p:animMotion>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3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30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30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3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30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30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300"/>
                                        <p:tgtEl>
                                          <p:spTgt spid="3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300"/>
                                        <p:tgtEl>
                                          <p:spTgt spid="3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300"/>
                                        <p:tgtEl>
                                          <p:spTgt spid="3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300"/>
                                        <p:tgtEl>
                                          <p:spTgt spid="43"/>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300"/>
                                        <p:tgtEl>
                                          <p:spTgt spid="4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3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2" grpId="1" animBg="1"/>
      <p:bldP spid="43" grpId="0" animBg="1"/>
      <p:bldP spid="44" grpId="0" animBg="1"/>
      <p:bldP spid="4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NOT A THREAD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Task Is Not a Thread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69</a:t>
            </a:r>
            <a:endParaRPr lang="en-US" sz="850" dirty="0"/>
          </a:p>
        </p:txBody>
      </p:sp>
      <p:sp>
        <p:nvSpPr>
          <p:cNvPr id="15" name="root"/>
          <p:cNvSpPr/>
          <p:nvPr/>
        </p:nvSpPr>
        <p:spPr>
          <a:xfrm>
            <a:off x="4255618" y="1572768"/>
            <a:ext cx="3657600" cy="640080"/>
          </a:xfrm>
          <a:prstGeom prst="roundRect">
            <a:avLst>
              <a:gd name="adj" fmla="val 12500"/>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700" b="1" dirty="0">
                <a:solidFill>
                  <a:srgbClr val="FFFFFF"/>
                </a:solidFill>
                <a:latin typeface="Segoe UI"/>
                <a:ea typeface="Segoe UI"/>
                <a:cs typeface="Segoe UI"/>
              </a:rPr>
              <a:t>Task</a:t>
            </a:r>
            <a:endParaRPr lang="en-US" sz="1700" dirty="0"/>
          </a:p>
        </p:txBody>
      </p:sp>
      <p:cxnSp>
        <p:nvCxnSpPr>
          <p:cNvPr id="16" name="arrow"/>
          <p:cNvCxnSpPr/>
          <p:nvPr/>
        </p:nvCxnSpPr>
        <p:spPr>
          <a:xfrm flipH="1">
            <a:off x="1597000" y="2231136"/>
            <a:ext cx="4487418" cy="420624"/>
          </a:xfrm>
          <a:prstGeom prst="line">
            <a:avLst/>
          </a:prstGeom>
          <a:ln w="28575">
            <a:solidFill>
              <a:srgbClr val="4D91F0"/>
            </a:solidFill>
            <a:tailEnd type="triangle" w="med" len="med"/>
          </a:ln>
        </p:spPr>
      </p:cxnSp>
      <p:sp>
        <p:nvSpPr>
          <p:cNvPr id="17" name="card"/>
          <p:cNvSpPr/>
          <p:nvPr/>
        </p:nvSpPr>
        <p:spPr>
          <a:xfrm>
            <a:off x="543154" y="2670048"/>
            <a:ext cx="2107692" cy="2212848"/>
          </a:xfrm>
          <a:prstGeom prst="roundRect">
            <a:avLst>
              <a:gd name="adj" fmla="val 3904"/>
            </a:avLst>
          </a:prstGeom>
          <a:solidFill>
            <a:srgbClr val="111B2E"/>
          </a:solidFill>
          <a:ln w="12700">
            <a:solidFill>
              <a:srgbClr val="4D91F0"/>
            </a:solidFill>
            <a:prstDash val="solid"/>
          </a:ln>
        </p:spPr>
        <p:txBody>
          <a:bodyPr wrap="square" lIns="128016" tIns="164592" rIns="91440" bIns="91440" rtlCol="0" anchor="t">
            <a:noAutofit/>
          </a:bodyPr>
          <a:lstStyle/>
          <a:p>
            <a:pPr marL="0" indent="0" algn="l">
              <a:spcBef>
                <a:spcPts val="0"/>
              </a:spcBef>
              <a:spcAft>
                <a:spcPts val="250"/>
              </a:spcAft>
              <a:buNone/>
            </a:pPr>
            <a:r>
              <a:rPr lang="en-US" sz="1100" b="1" dirty="0">
                <a:solidFill>
                  <a:srgbClr val="4D91F0"/>
                </a:solidFill>
                <a:latin typeface="Segoe UI"/>
                <a:ea typeface="Segoe UI"/>
                <a:cs typeface="Segoe UI"/>
              </a:rPr>
              <a:t>CPU WORK</a:t>
            </a:r>
            <a:endParaRPr lang="en-US" sz="1100" dirty="0"/>
          </a:p>
          <a:p>
            <a:pPr marL="0" indent="0" algn="l">
              <a:spcBef>
                <a:spcPts val="0"/>
              </a:spcBef>
              <a:spcAft>
                <a:spcPts val="250"/>
              </a:spcAft>
              <a:buNone/>
            </a:pPr>
            <a:r>
              <a:rPr lang="en-US" sz="950" b="1" dirty="0">
                <a:solidFill>
                  <a:srgbClr val="E2E8F0"/>
                </a:solidFill>
                <a:latin typeface="Consolas"/>
                <a:ea typeface="Consolas"/>
                <a:cs typeface="Consolas"/>
              </a:rPr>
              <a:t>Task.Run(() =&gt; Calculate())</a:t>
            </a:r>
            <a:endParaRPr lang="en-US" sz="950" dirty="0"/>
          </a:p>
          <a:p>
            <a:pPr marL="0" indent="0" algn="l">
              <a:spcBef>
                <a:spcPts val="0"/>
              </a:spcBef>
              <a:spcAft>
                <a:spcPts val="0"/>
              </a:spcAft>
              <a:buNone/>
            </a:pPr>
            <a:r>
              <a:rPr lang="en-US" sz="1200" b="0" dirty="0">
                <a:solidFill>
                  <a:srgbClr val="CBD5E1"/>
                </a:solidFill>
                <a:latin typeface="Segoe UI"/>
                <a:ea typeface="Segoe UI"/>
                <a:cs typeface="Segoe UI"/>
              </a:rPr>
              <a:t>runs on a pool thread</a:t>
            </a:r>
            <a:endParaRPr lang="en-US" sz="1200" dirty="0"/>
          </a:p>
        </p:txBody>
      </p:sp>
      <p:cxnSp>
        <p:nvCxnSpPr>
          <p:cNvPr id="18" name="arrow"/>
          <p:cNvCxnSpPr/>
          <p:nvPr/>
        </p:nvCxnSpPr>
        <p:spPr>
          <a:xfrm flipH="1">
            <a:off x="3841852" y="2231136"/>
            <a:ext cx="2242566" cy="420624"/>
          </a:xfrm>
          <a:prstGeom prst="line">
            <a:avLst/>
          </a:prstGeom>
          <a:ln w="28575">
            <a:solidFill>
              <a:srgbClr val="13D0F7"/>
            </a:solidFill>
            <a:tailEnd type="triangle" w="med" len="med"/>
          </a:ln>
        </p:spPr>
      </p:cxnSp>
      <p:sp>
        <p:nvSpPr>
          <p:cNvPr id="19" name="card"/>
          <p:cNvSpPr/>
          <p:nvPr/>
        </p:nvSpPr>
        <p:spPr>
          <a:xfrm>
            <a:off x="2788006" y="2670048"/>
            <a:ext cx="2107692" cy="2212848"/>
          </a:xfrm>
          <a:prstGeom prst="roundRect">
            <a:avLst>
              <a:gd name="adj" fmla="val 3904"/>
            </a:avLst>
          </a:prstGeom>
          <a:solidFill>
            <a:srgbClr val="111B2E"/>
          </a:solidFill>
          <a:ln w="12700">
            <a:solidFill>
              <a:srgbClr val="13D0F7"/>
            </a:solidFill>
            <a:prstDash val="solid"/>
          </a:ln>
        </p:spPr>
        <p:txBody>
          <a:bodyPr wrap="square" lIns="128016" tIns="164592" rIns="91440" bIns="91440" rtlCol="0" anchor="t">
            <a:noAutofit/>
          </a:bodyPr>
          <a:lstStyle/>
          <a:p>
            <a:pPr marL="0" indent="0" algn="l">
              <a:spcBef>
                <a:spcPts val="0"/>
              </a:spcBef>
              <a:spcAft>
                <a:spcPts val="250"/>
              </a:spcAft>
              <a:buNone/>
            </a:pPr>
            <a:r>
              <a:rPr lang="en-US" sz="1100" b="1" dirty="0">
                <a:solidFill>
                  <a:srgbClr val="13D0F7"/>
                </a:solidFill>
                <a:latin typeface="Segoe UI"/>
                <a:ea typeface="Segoe UI"/>
                <a:cs typeface="Segoe UI"/>
              </a:rPr>
              <a:t>I/O</a:t>
            </a:r>
            <a:endParaRPr lang="en-US" sz="1100" dirty="0"/>
          </a:p>
          <a:p>
            <a:pPr marL="0" indent="0" algn="l">
              <a:spcBef>
                <a:spcPts val="0"/>
              </a:spcBef>
              <a:spcAft>
                <a:spcPts val="250"/>
              </a:spcAft>
              <a:buNone/>
            </a:pPr>
            <a:r>
              <a:rPr lang="en-US" sz="950" b="1" dirty="0">
                <a:solidFill>
                  <a:srgbClr val="E2E8F0"/>
                </a:solidFill>
                <a:latin typeface="Consolas"/>
                <a:ea typeface="Consolas"/>
                <a:cs typeface="Consolas"/>
              </a:rPr>
              <a:t>File.ReadAllTextAsync(path)</a:t>
            </a:r>
            <a:endParaRPr lang="en-US" sz="950" dirty="0"/>
          </a:p>
          <a:p>
            <a:pPr marL="0" indent="0" algn="l">
              <a:spcBef>
                <a:spcPts val="0"/>
              </a:spcBef>
              <a:spcAft>
                <a:spcPts val="0"/>
              </a:spcAft>
              <a:buNone/>
            </a:pPr>
            <a:r>
              <a:rPr lang="en-US" sz="1200" b="0" dirty="0">
                <a:solidFill>
                  <a:srgbClr val="CBD5E1"/>
                </a:solidFill>
                <a:latin typeface="Segoe UI"/>
                <a:ea typeface="Segoe UI"/>
                <a:cs typeface="Segoe UI"/>
              </a:rPr>
              <a:t>no thread while waiting</a:t>
            </a:r>
            <a:endParaRPr lang="en-US" sz="1200" dirty="0"/>
          </a:p>
        </p:txBody>
      </p:sp>
      <p:cxnSp>
        <p:nvCxnSpPr>
          <p:cNvPr id="20" name="arrow"/>
          <p:cNvCxnSpPr/>
          <p:nvPr/>
        </p:nvCxnSpPr>
        <p:spPr>
          <a:xfrm>
            <a:off x="6084418" y="2231136"/>
            <a:ext cx="2286" cy="420624"/>
          </a:xfrm>
          <a:prstGeom prst="line">
            <a:avLst/>
          </a:prstGeom>
          <a:ln w="28575">
            <a:solidFill>
              <a:srgbClr val="A78BFA"/>
            </a:solidFill>
            <a:tailEnd type="triangle" w="med" len="med"/>
          </a:ln>
        </p:spPr>
      </p:cxnSp>
      <p:sp>
        <p:nvSpPr>
          <p:cNvPr id="21" name="card"/>
          <p:cNvSpPr/>
          <p:nvPr/>
        </p:nvSpPr>
        <p:spPr>
          <a:xfrm>
            <a:off x="5032858" y="2670048"/>
            <a:ext cx="2107692" cy="2212848"/>
          </a:xfrm>
          <a:prstGeom prst="roundRect">
            <a:avLst>
              <a:gd name="adj" fmla="val 3904"/>
            </a:avLst>
          </a:prstGeom>
          <a:solidFill>
            <a:srgbClr val="111B2E"/>
          </a:solidFill>
          <a:ln w="12700">
            <a:solidFill>
              <a:srgbClr val="A78BFA"/>
            </a:solidFill>
            <a:prstDash val="solid"/>
          </a:ln>
        </p:spPr>
        <p:txBody>
          <a:bodyPr wrap="square" lIns="128016" tIns="164592" rIns="91440" bIns="91440" rtlCol="0" anchor="t">
            <a:noAutofit/>
          </a:bodyPr>
          <a:lstStyle/>
          <a:p>
            <a:pPr marL="0" indent="0" algn="l">
              <a:spcBef>
                <a:spcPts val="0"/>
              </a:spcBef>
              <a:spcAft>
                <a:spcPts val="250"/>
              </a:spcAft>
              <a:buNone/>
            </a:pPr>
            <a:r>
              <a:rPr lang="en-US" sz="1100" b="1" dirty="0">
                <a:solidFill>
                  <a:srgbClr val="A78BFA"/>
                </a:solidFill>
                <a:latin typeface="Segoe UI"/>
                <a:ea typeface="Segoe UI"/>
                <a:cs typeface="Segoe UI"/>
              </a:rPr>
              <a:t>TIMER</a:t>
            </a:r>
            <a:endParaRPr lang="en-US" sz="1100" dirty="0"/>
          </a:p>
          <a:p>
            <a:pPr marL="0" indent="0" algn="l">
              <a:spcBef>
                <a:spcPts val="0"/>
              </a:spcBef>
              <a:spcAft>
                <a:spcPts val="250"/>
              </a:spcAft>
              <a:buNone/>
            </a:pPr>
            <a:r>
              <a:rPr lang="en-US" sz="950" b="1" dirty="0">
                <a:solidFill>
                  <a:srgbClr val="E2E8F0"/>
                </a:solidFill>
                <a:latin typeface="Consolas"/>
                <a:ea typeface="Consolas"/>
                <a:cs typeface="Consolas"/>
              </a:rPr>
              <a:t>Task.Delay(5000)</a:t>
            </a:r>
            <a:endParaRPr lang="en-US" sz="950" dirty="0"/>
          </a:p>
          <a:p>
            <a:pPr marL="0" indent="0" algn="l">
              <a:spcBef>
                <a:spcPts val="0"/>
              </a:spcBef>
              <a:spcAft>
                <a:spcPts val="0"/>
              </a:spcAft>
              <a:buNone/>
            </a:pPr>
            <a:r>
              <a:rPr lang="en-US" sz="1200" b="0" dirty="0">
                <a:solidFill>
                  <a:srgbClr val="CBD5E1"/>
                </a:solidFill>
                <a:latin typeface="Segoe UI"/>
                <a:ea typeface="Segoe UI"/>
                <a:cs typeface="Segoe UI"/>
              </a:rPr>
              <a:t>no thread while waiting</a:t>
            </a:r>
            <a:endParaRPr lang="en-US" sz="1200" dirty="0"/>
          </a:p>
        </p:txBody>
      </p:sp>
      <p:cxnSp>
        <p:nvCxnSpPr>
          <p:cNvPr id="22" name="arrow"/>
          <p:cNvCxnSpPr/>
          <p:nvPr/>
        </p:nvCxnSpPr>
        <p:spPr>
          <a:xfrm>
            <a:off x="6084418" y="2231136"/>
            <a:ext cx="2247138" cy="420624"/>
          </a:xfrm>
          <a:prstGeom prst="line">
            <a:avLst/>
          </a:prstGeom>
          <a:ln w="28575">
            <a:solidFill>
              <a:srgbClr val="FBBF24"/>
            </a:solidFill>
            <a:tailEnd type="triangle" w="med" len="med"/>
          </a:ln>
        </p:spPr>
      </p:cxnSp>
      <p:sp>
        <p:nvSpPr>
          <p:cNvPr id="23" name="card"/>
          <p:cNvSpPr/>
          <p:nvPr/>
        </p:nvSpPr>
        <p:spPr>
          <a:xfrm>
            <a:off x="7277710" y="2670048"/>
            <a:ext cx="2107692" cy="2212848"/>
          </a:xfrm>
          <a:prstGeom prst="roundRect">
            <a:avLst>
              <a:gd name="adj" fmla="val 3904"/>
            </a:avLst>
          </a:prstGeom>
          <a:solidFill>
            <a:srgbClr val="111B2E"/>
          </a:solidFill>
          <a:ln w="12700">
            <a:solidFill>
              <a:srgbClr val="FBBF24"/>
            </a:solidFill>
            <a:prstDash val="solid"/>
          </a:ln>
        </p:spPr>
        <p:txBody>
          <a:bodyPr wrap="square" lIns="128016" tIns="164592" rIns="91440" bIns="91440" rtlCol="0" anchor="t">
            <a:noAutofit/>
          </a:bodyPr>
          <a:lstStyle/>
          <a:p>
            <a:pPr marL="0" indent="0" algn="l">
              <a:spcBef>
                <a:spcPts val="0"/>
              </a:spcBef>
              <a:spcAft>
                <a:spcPts val="250"/>
              </a:spcAft>
              <a:buNone/>
            </a:pPr>
            <a:r>
              <a:rPr lang="en-US" sz="1100" b="1" dirty="0">
                <a:solidFill>
                  <a:srgbClr val="FBBF24"/>
                </a:solidFill>
                <a:latin typeface="Segoe UI"/>
                <a:ea typeface="Segoe UI"/>
                <a:cs typeface="Segoe UI"/>
              </a:rPr>
              <a:t>AN EVENT</a:t>
            </a:r>
            <a:endParaRPr lang="en-US" sz="1100" dirty="0"/>
          </a:p>
          <a:p>
            <a:pPr marL="0" indent="0" algn="l">
              <a:spcBef>
                <a:spcPts val="0"/>
              </a:spcBef>
              <a:spcAft>
                <a:spcPts val="250"/>
              </a:spcAft>
              <a:buNone/>
            </a:pPr>
            <a:r>
              <a:rPr lang="en-US" sz="950" b="1" dirty="0">
                <a:solidFill>
                  <a:srgbClr val="E2E8F0"/>
                </a:solidFill>
                <a:latin typeface="Consolas"/>
                <a:ea typeface="Consolas"/>
                <a:cs typeface="Consolas"/>
              </a:rPr>
              <a:t>a callback that completes it</a:t>
            </a:r>
            <a:endParaRPr lang="en-US" sz="950" dirty="0"/>
          </a:p>
          <a:p>
            <a:pPr marL="0" indent="0" algn="l">
              <a:spcBef>
                <a:spcPts val="0"/>
              </a:spcBef>
              <a:spcAft>
                <a:spcPts val="0"/>
              </a:spcAft>
              <a:buNone/>
            </a:pPr>
            <a:r>
              <a:rPr lang="en-US" sz="1200" b="0" dirty="0">
                <a:solidFill>
                  <a:srgbClr val="CBD5E1"/>
                </a:solidFill>
                <a:latin typeface="Segoe UI"/>
                <a:ea typeface="Segoe UI"/>
                <a:cs typeface="Segoe UI"/>
              </a:rPr>
              <a:t>e.g., a button click</a:t>
            </a:r>
            <a:endParaRPr lang="en-US" sz="1200" dirty="0"/>
          </a:p>
        </p:txBody>
      </p:sp>
      <p:cxnSp>
        <p:nvCxnSpPr>
          <p:cNvPr id="24" name="arrow"/>
          <p:cNvCxnSpPr/>
          <p:nvPr/>
        </p:nvCxnSpPr>
        <p:spPr>
          <a:xfrm>
            <a:off x="6084418" y="2231136"/>
            <a:ext cx="4491990" cy="420624"/>
          </a:xfrm>
          <a:prstGeom prst="line">
            <a:avLst/>
          </a:prstGeom>
          <a:ln w="28575">
            <a:solidFill>
              <a:srgbClr val="34D399"/>
            </a:solidFill>
            <a:tailEnd type="triangle" w="med" len="med"/>
          </a:ln>
        </p:spPr>
      </p:cxnSp>
      <p:sp>
        <p:nvSpPr>
          <p:cNvPr id="25" name="card"/>
          <p:cNvSpPr/>
          <p:nvPr/>
        </p:nvSpPr>
        <p:spPr>
          <a:xfrm>
            <a:off x="9522562" y="2670048"/>
            <a:ext cx="2107692" cy="2212848"/>
          </a:xfrm>
          <a:prstGeom prst="roundRect">
            <a:avLst>
              <a:gd name="adj" fmla="val 3904"/>
            </a:avLst>
          </a:prstGeom>
          <a:solidFill>
            <a:srgbClr val="111B2E"/>
          </a:solidFill>
          <a:ln w="12700">
            <a:solidFill>
              <a:srgbClr val="34D399"/>
            </a:solidFill>
            <a:prstDash val="solid"/>
          </a:ln>
        </p:spPr>
        <p:txBody>
          <a:bodyPr wrap="square" lIns="128016" tIns="164592" rIns="91440" bIns="91440" rtlCol="0" anchor="t">
            <a:noAutofit/>
          </a:bodyPr>
          <a:lstStyle/>
          <a:p>
            <a:pPr marL="0" indent="0" algn="l">
              <a:spcBef>
                <a:spcPts val="0"/>
              </a:spcBef>
              <a:spcAft>
                <a:spcPts val="250"/>
              </a:spcAft>
              <a:buNone/>
            </a:pPr>
            <a:r>
              <a:rPr lang="en-US" sz="1100" b="1" dirty="0">
                <a:solidFill>
                  <a:srgbClr val="34D399"/>
                </a:solidFill>
                <a:latin typeface="Segoe UI"/>
                <a:ea typeface="Segoe UI"/>
                <a:cs typeface="Segoe UI"/>
              </a:rPr>
              <a:t>A RESULT</a:t>
            </a:r>
            <a:endParaRPr lang="en-US" sz="1100" dirty="0"/>
          </a:p>
          <a:p>
            <a:pPr marL="0" indent="0" algn="l">
              <a:spcBef>
                <a:spcPts val="0"/>
              </a:spcBef>
              <a:spcAft>
                <a:spcPts val="250"/>
              </a:spcAft>
              <a:buNone/>
            </a:pPr>
            <a:r>
              <a:rPr lang="en-US" sz="950" b="1" dirty="0">
                <a:solidFill>
                  <a:srgbClr val="E2E8F0"/>
                </a:solidFill>
                <a:latin typeface="Consolas"/>
                <a:ea typeface="Consolas"/>
                <a:cs typeface="Consolas"/>
              </a:rPr>
              <a:t>Task.FromResult(42)</a:t>
            </a:r>
            <a:endParaRPr lang="en-US" sz="950" dirty="0"/>
          </a:p>
          <a:p>
            <a:pPr marL="0" indent="0" algn="l">
              <a:spcBef>
                <a:spcPts val="0"/>
              </a:spcBef>
              <a:spcAft>
                <a:spcPts val="0"/>
              </a:spcAft>
              <a:buNone/>
            </a:pPr>
            <a:r>
              <a:rPr lang="en-US" sz="1200" b="0" dirty="0">
                <a:solidFill>
                  <a:srgbClr val="CBD5E1"/>
                </a:solidFill>
                <a:latin typeface="Segoe UI"/>
                <a:ea typeface="Segoe UI"/>
                <a:cs typeface="Segoe UI"/>
              </a:rPr>
              <a:t>already completed</a:t>
            </a:r>
            <a:endParaRPr lang="en-US" sz="1200" dirty="0"/>
          </a:p>
        </p:txBody>
      </p:sp>
      <p:sp>
        <p:nvSpPr>
          <p:cNvPr id="26"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 Task is a promise of a result, not a thread. Many Tasks use no thread while they wait.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5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25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2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25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EXERCISE 1</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Exercise: Predict the Output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70</a:t>
            </a:r>
            <a:endParaRPr lang="en-US" sz="850" dirty="0"/>
          </a:p>
        </p:txBody>
      </p:sp>
      <p:sp>
        <p:nvSpPr>
          <p:cNvPr id="15" name="cw_win"/>
          <p:cNvSpPr/>
          <p:nvPr/>
        </p:nvSpPr>
        <p:spPr>
          <a:xfrm>
            <a:off x="543154" y="1572768"/>
            <a:ext cx="5600000" cy="27220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6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6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0121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"A"</a:t>
            </a:r>
            <a:r>
              <a:rPr lang="en-US" sz="1050" b="0" dirty="0">
                <a:solidFill>
                  <a:srgbClr val="E2E8F0"/>
                </a:solidFill>
                <a:latin typeface="Consolas"/>
                <a:ea typeface="Consolas"/>
                <a:cs typeface="Consolas"/>
              </a:rPr>
              <a:t>);</a:t>
            </a:r>
            <a:endParaRPr lang="en-US" sz="1050" dirty="0"/>
          </a:p>
        </p:txBody>
      </p:sp>
      <p:sp>
        <p:nvSpPr>
          <p:cNvPr id="23" name="cw_L02"/>
          <p:cNvSpPr txBox="1"/>
          <p:nvPr/>
        </p:nvSpPr>
        <p:spPr>
          <a:xfrm>
            <a:off x="771754" y="242793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Task.Run(() =&gt;</a:t>
            </a:r>
            <a:endParaRPr lang="en-US" sz="1050" dirty="0"/>
          </a:p>
        </p:txBody>
      </p:sp>
      <p:sp>
        <p:nvSpPr>
          <p:cNvPr id="24" name="cw_L03"/>
          <p:cNvSpPr txBox="1"/>
          <p:nvPr/>
        </p:nvSpPr>
        <p:spPr>
          <a:xfrm>
            <a:off x="771754" y="264129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5" name="cw_L04"/>
          <p:cNvSpPr txBox="1"/>
          <p:nvPr/>
        </p:nvSpPr>
        <p:spPr>
          <a:xfrm>
            <a:off x="771754" y="2854656"/>
            <a:ext cx="521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Thread.Sleep(1000);</a:t>
            </a:r>
            <a:endParaRPr lang="en-US" sz="1050" dirty="0"/>
          </a:p>
        </p:txBody>
      </p:sp>
      <p:sp>
        <p:nvSpPr>
          <p:cNvPr id="26" name="cw_L05"/>
          <p:cNvSpPr txBox="1"/>
          <p:nvPr/>
        </p:nvSpPr>
        <p:spPr>
          <a:xfrm>
            <a:off x="771754" y="3068016"/>
            <a:ext cx="521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"B"</a:t>
            </a: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28137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8"/>
          <p:cNvSpPr txBox="1"/>
          <p:nvPr/>
        </p:nvSpPr>
        <p:spPr>
          <a:xfrm>
            <a:off x="771754" y="370809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"C"</a:t>
            </a:r>
            <a:r>
              <a:rPr lang="en-US" sz="1050" b="0" dirty="0">
                <a:solidFill>
                  <a:srgbClr val="E2E8F0"/>
                </a:solidFill>
                <a:latin typeface="Consolas"/>
                <a:ea typeface="Consolas"/>
                <a:cs typeface="Consolas"/>
              </a:rPr>
              <a:t>);</a:t>
            </a:r>
            <a:endParaRPr lang="en-US" sz="1050" dirty="0"/>
          </a:p>
        </p:txBody>
      </p:sp>
      <p:sp>
        <p:nvSpPr>
          <p:cNvPr id="29" name="cw_L09"/>
          <p:cNvSpPr txBox="1"/>
          <p:nvPr/>
        </p:nvSpPr>
        <p:spPr>
          <a:xfrm>
            <a:off x="771754" y="3921456"/>
            <a:ext cx="52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Console.ReadLine();</a:t>
            </a:r>
            <a:endParaRPr lang="en-US" sz="1050" dirty="0"/>
          </a:p>
        </p:txBody>
      </p:sp>
      <p:sp>
        <p:nvSpPr>
          <p:cNvPr id="30" name="caption"/>
          <p:cNvSpPr/>
          <p:nvPr/>
        </p:nvSpPr>
        <p:spPr>
          <a:xfrm>
            <a:off x="6393154" y="1572768"/>
            <a:ext cx="5237100" cy="56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200" b="1" dirty="0">
                <a:solidFill>
                  <a:srgbClr val="FFFFFF"/>
                </a:solidFill>
                <a:latin typeface="Segoe UI"/>
                <a:ea typeface="Segoe UI"/>
                <a:cs typeface="Segoe UI"/>
              </a:rPr>
              <a:t>Is the output always A B C?</a:t>
            </a:r>
            <a:endParaRPr lang="en-US" sz="1150" dirty="0"/>
          </a:p>
        </p:txBody>
      </p:sp>
      <p:sp>
        <p:nvSpPr>
          <p:cNvPr id="31" name="card"/>
          <p:cNvSpPr/>
          <p:nvPr/>
        </p:nvSpPr>
        <p:spPr>
          <a:xfrm>
            <a:off x="6393154" y="225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BBF24"/>
                </a:solidFill>
                <a:latin typeface="Segoe UI"/>
                <a:ea typeface="Segoe UI"/>
                <a:cs typeface="Segoe UI"/>
              </a:rPr>
              <a:t>A  </a:t>
            </a:r>
            <a:r>
              <a:rPr lang="en-US" sz="1150" b="0" dirty="0">
                <a:solidFill>
                  <a:srgbClr val="CBD5E1"/>
                </a:solidFill>
                <a:latin typeface="Segoe UI"/>
                <a:ea typeface="Segoe UI"/>
                <a:cs typeface="Segoe UI"/>
              </a:rPr>
              <a:t>Yes: always A B C</a:t>
            </a:r>
            <a:endParaRPr lang="en-US" sz="1150" dirty="0"/>
          </a:p>
        </p:txBody>
      </p:sp>
      <p:sp>
        <p:nvSpPr>
          <p:cNvPr id="32" name="card"/>
          <p:cNvSpPr/>
          <p:nvPr/>
        </p:nvSpPr>
        <p:spPr>
          <a:xfrm>
            <a:off x="6393154" y="286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BBF24"/>
                </a:solidFill>
                <a:latin typeface="Segoe UI"/>
                <a:ea typeface="Segoe UI"/>
                <a:cs typeface="Segoe UI"/>
              </a:rPr>
              <a:t>B  </a:t>
            </a:r>
            <a:r>
              <a:rPr lang="en-US" sz="1150" b="0" dirty="0">
                <a:solidFill>
                  <a:srgbClr val="CBD5E1"/>
                </a:solidFill>
                <a:latin typeface="Segoe UI"/>
                <a:ea typeface="Segoe UI"/>
                <a:cs typeface="Segoe UI"/>
              </a:rPr>
              <a:t>Always A C B, guaranteed</a:t>
            </a:r>
            <a:endParaRPr lang="en-US" sz="1150" dirty="0"/>
          </a:p>
        </p:txBody>
      </p:sp>
      <p:sp>
        <p:nvSpPr>
          <p:cNvPr id="33" name="card"/>
          <p:cNvSpPr/>
          <p:nvPr/>
        </p:nvSpPr>
        <p:spPr>
          <a:xfrm>
            <a:off x="6393154" y="347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BBF24"/>
                </a:solidFill>
                <a:latin typeface="Segoe UI"/>
                <a:ea typeface="Segoe UI"/>
                <a:cs typeface="Segoe UI"/>
              </a:rPr>
              <a:t>C  </a:t>
            </a:r>
            <a:r>
              <a:rPr lang="en-US" sz="1150" b="0" dirty="0">
                <a:solidFill>
                  <a:srgbClr val="CBD5E1"/>
                </a:solidFill>
                <a:latin typeface="Segoe UI"/>
                <a:ea typeface="Segoe UI"/>
                <a:cs typeface="Segoe UI"/>
              </a:rPr>
              <a:t>A first; the order of B and C is not guaranteed</a:t>
            </a:r>
            <a:endParaRPr lang="en-US" sz="1150" dirty="0"/>
          </a:p>
        </p:txBody>
      </p:sp>
      <p:sp>
        <p:nvSpPr>
          <p:cNvPr id="34" name="card"/>
          <p:cNvSpPr/>
          <p:nvPr/>
        </p:nvSpPr>
        <p:spPr>
          <a:xfrm>
            <a:off x="6393154" y="408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50" b="1" dirty="0">
                <a:solidFill>
                  <a:srgbClr val="FBBF24"/>
                </a:solidFill>
                <a:latin typeface="Segoe UI"/>
                <a:ea typeface="Segoe UI"/>
                <a:cs typeface="Segoe UI"/>
              </a:rPr>
              <a:t>D  </a:t>
            </a:r>
            <a:r>
              <a:rPr lang="en-US" sz="1150" b="0" dirty="0">
                <a:solidFill>
                  <a:srgbClr val="CBD5E1"/>
                </a:solidFill>
                <a:latin typeface="Segoe UI"/>
                <a:ea typeface="Segoe UI"/>
                <a:cs typeface="Segoe UI"/>
              </a:rPr>
              <a:t>Any order, even B first</a:t>
            </a:r>
            <a:endParaRPr lang="en-US" sz="1150" dirty="0"/>
          </a:p>
        </p:txBody>
      </p:sp>
      <p:sp>
        <p:nvSpPr>
          <p:cNvPr id="35" name="answer_mark"/>
          <p:cNvSpPr/>
          <p:nvPr/>
        </p:nvSpPr>
        <p:spPr>
          <a:xfrm>
            <a:off x="6393154" y="3472768"/>
            <a:ext cx="5237100" cy="520000"/>
          </a:xfrm>
          <a:prstGeom prst="roundRect">
            <a:avLst>
              <a:gd name="adj" fmla="val 15000"/>
            </a:avLst>
          </a:prstGeom>
          <a:solidFill>
            <a:srgbClr val="0E2A26"/>
          </a:solidFill>
          <a:ln w="25400">
            <a:solidFill>
              <a:srgbClr val="34D399"/>
            </a:solidFill>
            <a:prstDash val="solid"/>
          </a:ln>
        </p:spPr>
        <p:txBody>
          <a:bodyPr wrap="square" lIns="182880" tIns="64008" rIns="137160" bIns="64008"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C  A first; the order of B and C is not guaranteed</a:t>
            </a:r>
            <a:endParaRPr lang="en-US" sz="1150" dirty="0"/>
          </a:p>
        </p:txBody>
      </p:sp>
      <p:sp>
        <p:nvSpPr>
          <p:cNvPr id="36" name="banner"/>
          <p:cNvSpPr/>
          <p:nvPr/>
        </p:nvSpPr>
        <p:spPr>
          <a:xfrm>
            <a:off x="543154" y="5074920"/>
            <a:ext cx="11087100" cy="749808"/>
          </a:xfrm>
          <a:prstGeom prst="roundRect">
            <a:avLst>
              <a:gd name="adj" fmla="val 10975"/>
            </a:avLst>
          </a:prstGeom>
          <a:solidFill>
            <a:srgbClr val="0E2A26"/>
          </a:solidFill>
          <a:ln w="12700">
            <a:solidFill>
              <a:srgbClr val="34D399"/>
            </a:solidFill>
            <a:prstDash val="solid"/>
          </a:ln>
        </p:spPr>
        <p:txBody>
          <a:bodyPr wrap="square" lIns="209398" tIns="75895" rIns="209398" bIns="75895" rtlCol="0" anchor="ctr">
            <a:noAutofit/>
          </a:bodyPr>
          <a:lstStyle/>
          <a:p>
            <a:pPr marL="0" indent="0" algn="l">
              <a:spcBef>
                <a:spcPts val="0"/>
              </a:spcBef>
              <a:spcAft>
                <a:spcPts val="0"/>
              </a:spcAft>
              <a:buNone/>
            </a:pPr>
            <a:r>
              <a:rPr lang="en-US" sz="1300" b="1" dirty="0">
                <a:solidFill>
                  <a:srgbClr val="34D399"/>
                </a:solidFill>
                <a:latin typeface="Segoe UI"/>
                <a:ea typeface="Segoe UI"/>
                <a:cs typeface="Segoe UI"/>
              </a:rPr>
              <a:t>ANSWER C   </a:t>
            </a:r>
            <a:r>
              <a:rPr lang="en-US" sz="1300" b="0" dirty="0">
                <a:solidFill>
                  <a:srgbClr val="FFFFFF"/>
                </a:solidFill>
                <a:latin typeface="Segoe UI"/>
                <a:ea typeface="Segoe UI"/>
                <a:cs typeface="Segoe UI"/>
              </a:rPr>
              <a:t>A prints before the Task is even scheduled. B and C race; C usually wins (B sleeps), but nothing guarantees it.</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3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3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3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EXERCISE 2</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Exercise: Five Tasks, How Many Threads?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71</a:t>
            </a:r>
            <a:endParaRPr lang="en-US" sz="850" dirty="0"/>
          </a:p>
        </p:txBody>
      </p:sp>
      <p:sp>
        <p:nvSpPr>
          <p:cNvPr id="15" name="cw_win"/>
          <p:cNvSpPr/>
          <p:nvPr/>
        </p:nvSpPr>
        <p:spPr>
          <a:xfrm>
            <a:off x="543154" y="1572768"/>
            <a:ext cx="5650000" cy="20108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6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6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01216"/>
            <a:ext cx="52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 </a:t>
            </a:r>
            <a:r>
              <a:rPr lang="en-US" sz="1000" b="0" dirty="0">
                <a:solidFill>
                  <a:srgbClr val="E2E8F0"/>
                </a:solidFill>
                <a:latin typeface="Consolas"/>
                <a:ea typeface="Consolas"/>
                <a:cs typeface="Consolas"/>
              </a:rPr>
              <a:t>(</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i = 1; i &lt;= 5; i++)</a:t>
            </a:r>
            <a:endParaRPr lang="en-US" sz="1000" dirty="0"/>
          </a:p>
        </p:txBody>
      </p:sp>
      <p:sp>
        <p:nvSpPr>
          <p:cNvPr id="23" name="cw_L01"/>
          <p:cNvSpPr txBox="1"/>
          <p:nvPr/>
        </p:nvSpPr>
        <p:spPr>
          <a:xfrm>
            <a:off x="771754" y="2204416"/>
            <a:ext cx="52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07616"/>
            <a:ext cx="52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number = i;</a:t>
            </a:r>
            <a:endParaRPr lang="en-US" sz="1000" dirty="0"/>
          </a:p>
        </p:txBody>
      </p:sp>
      <p:sp>
        <p:nvSpPr>
          <p:cNvPr id="25" name="cw_L03"/>
          <p:cNvSpPr txBox="1"/>
          <p:nvPr/>
        </p:nvSpPr>
        <p:spPr>
          <a:xfrm>
            <a:off x="771754" y="2610816"/>
            <a:ext cx="52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Task.Run(() =&gt; Console.WriteLine(</a:t>
            </a:r>
            <a:endParaRPr lang="en-US" sz="1000" dirty="0"/>
          </a:p>
        </p:txBody>
      </p:sp>
      <p:sp>
        <p:nvSpPr>
          <p:cNvPr id="26" name="cw_L04"/>
          <p:cNvSpPr txBox="1"/>
          <p:nvPr/>
        </p:nvSpPr>
        <p:spPr>
          <a:xfrm>
            <a:off x="771754" y="2814016"/>
            <a:ext cx="52659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F0A98B"/>
                </a:solidFill>
                <a:latin typeface="Consolas"/>
                <a:ea typeface="Consolas"/>
                <a:cs typeface="Consolas"/>
              </a:rPr>
              <a:t>$"Task {number}: Thread {Environment.CurrentManagedThreadId}"</a:t>
            </a: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017216"/>
            <a:ext cx="52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6"/>
          <p:cNvSpPr txBox="1"/>
          <p:nvPr/>
        </p:nvSpPr>
        <p:spPr>
          <a:xfrm>
            <a:off x="771754" y="3220416"/>
            <a:ext cx="52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Console.ReadLine();</a:t>
            </a:r>
            <a:endParaRPr lang="en-US" sz="1000" dirty="0"/>
          </a:p>
        </p:txBody>
      </p:sp>
      <p:sp>
        <p:nvSpPr>
          <p:cNvPr id="29" name="card"/>
          <p:cNvSpPr/>
          <p:nvPr/>
        </p:nvSpPr>
        <p:spPr>
          <a:xfrm>
            <a:off x="543154" y="3720776"/>
            <a:ext cx="5650000" cy="1229224"/>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WHO DECIDES?</a:t>
            </a:r>
            <a:endParaRPr lang="en-US" sz="1000" dirty="0"/>
          </a:p>
          <a:p>
            <a:pPr marL="0" indent="0" algn="l">
              <a:spcBef>
                <a:spcPts val="0"/>
              </a:spcBef>
              <a:spcAft>
                <a:spcPts val="0"/>
              </a:spcAft>
              <a:buNone/>
            </a:pPr>
            <a:r>
              <a:rPr lang="en-US" sz="1150" b="0" dirty="0">
                <a:solidFill>
                  <a:srgbClr val="CBD5E1"/>
                </a:solidFill>
                <a:latin typeface="Segoe UI"/>
                <a:ea typeface="Segoe UI"/>
                <a:cs typeface="Segoe UI"/>
              </a:rPr>
              <a:t>The pool decides which worker runs which Task, and when.</a:t>
            </a:r>
            <a:endParaRPr lang="en-US" sz="1150" dirty="0"/>
          </a:p>
        </p:txBody>
      </p:sp>
      <p:sp>
        <p:nvSpPr>
          <p:cNvPr id="30" name="out_win"/>
          <p:cNvSpPr/>
          <p:nvPr/>
        </p:nvSpPr>
        <p:spPr>
          <a:xfrm>
            <a:off x="6443154" y="1572768"/>
            <a:ext cx="5187100" cy="15536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1" name="out_bar"/>
          <p:cNvSpPr/>
          <p:nvPr/>
        </p:nvSpPr>
        <p:spPr>
          <a:xfrm>
            <a:off x="6443154" y="1572768"/>
            <a:ext cx="51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out_barfill"/>
          <p:cNvSpPr/>
          <p:nvPr/>
        </p:nvSpPr>
        <p:spPr>
          <a:xfrm>
            <a:off x="6443154" y="1744218"/>
            <a:ext cx="5187100" cy="171450"/>
          </a:xfrm>
          <a:prstGeom prst="rect">
            <a:avLst/>
          </a:prstGeom>
          <a:solidFill>
            <a:srgbClr val="0A1220"/>
          </a:solidFill>
          <a:ln w="12700">
            <a:solidFill>
              <a:srgbClr val="0A1220"/>
            </a:solidFill>
            <a:prstDash val="solid"/>
          </a:ln>
        </p:spPr>
        <p:txBody>
          <a:bodyPr/>
          <a:lstStyle/>
          <a:p>
            <a:endParaRPr lang="en-US"/>
          </a:p>
        </p:txBody>
      </p:sp>
      <p:sp>
        <p:nvSpPr>
          <p:cNvPr id="33" name="out_dot0"/>
          <p:cNvSpPr/>
          <p:nvPr/>
        </p:nvSpPr>
        <p:spPr>
          <a:xfrm>
            <a:off x="66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out_dot1"/>
          <p:cNvSpPr/>
          <p:nvPr/>
        </p:nvSpPr>
        <p:spPr>
          <a:xfrm>
            <a:off x="67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out_dot2"/>
          <p:cNvSpPr/>
          <p:nvPr/>
        </p:nvSpPr>
        <p:spPr>
          <a:xfrm>
            <a:off x="69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out_tab"/>
          <p:cNvSpPr/>
          <p:nvPr/>
        </p:nvSpPr>
        <p:spPr>
          <a:xfrm>
            <a:off x="7224051" y="1620317"/>
            <a:ext cx="21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Sample output (varies)</a:t>
            </a:r>
            <a:endParaRPr lang="en-US" sz="950" dirty="0"/>
          </a:p>
        </p:txBody>
      </p:sp>
      <p:sp>
        <p:nvSpPr>
          <p:cNvPr id="37" name="out_L00"/>
          <p:cNvSpPr txBox="1"/>
          <p:nvPr/>
        </p:nvSpPr>
        <p:spPr>
          <a:xfrm>
            <a:off x="6671754" y="2001216"/>
            <a:ext cx="48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2: Thread 8</a:t>
            </a:r>
            <a:endParaRPr lang="en-US" sz="950" dirty="0"/>
          </a:p>
        </p:txBody>
      </p:sp>
      <p:sp>
        <p:nvSpPr>
          <p:cNvPr id="38" name="out_L01"/>
          <p:cNvSpPr txBox="1"/>
          <p:nvPr/>
        </p:nvSpPr>
        <p:spPr>
          <a:xfrm>
            <a:off x="6671754" y="2194256"/>
            <a:ext cx="48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1: Thread 6</a:t>
            </a:r>
            <a:endParaRPr lang="en-US" sz="950" dirty="0"/>
          </a:p>
        </p:txBody>
      </p:sp>
      <p:sp>
        <p:nvSpPr>
          <p:cNvPr id="39" name="out_L02"/>
          <p:cNvSpPr txBox="1"/>
          <p:nvPr/>
        </p:nvSpPr>
        <p:spPr>
          <a:xfrm>
            <a:off x="6671754" y="2387296"/>
            <a:ext cx="48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3: Thread 6</a:t>
            </a:r>
            <a:endParaRPr lang="en-US" sz="950" dirty="0"/>
          </a:p>
        </p:txBody>
      </p:sp>
      <p:sp>
        <p:nvSpPr>
          <p:cNvPr id="40" name="out_L03"/>
          <p:cNvSpPr txBox="1"/>
          <p:nvPr/>
        </p:nvSpPr>
        <p:spPr>
          <a:xfrm>
            <a:off x="6671754" y="2580336"/>
            <a:ext cx="48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5: Thread 9</a:t>
            </a:r>
            <a:endParaRPr lang="en-US" sz="950" dirty="0"/>
          </a:p>
        </p:txBody>
      </p:sp>
      <p:sp>
        <p:nvSpPr>
          <p:cNvPr id="41" name="out_L04"/>
          <p:cNvSpPr txBox="1"/>
          <p:nvPr/>
        </p:nvSpPr>
        <p:spPr>
          <a:xfrm>
            <a:off x="6671754" y="2773376"/>
            <a:ext cx="48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4: Thread 7</a:t>
            </a:r>
            <a:endParaRPr lang="en-US" sz="950" dirty="0"/>
          </a:p>
        </p:txBody>
      </p:sp>
      <p:sp>
        <p:nvSpPr>
          <p:cNvPr id="42" name="card"/>
          <p:cNvSpPr/>
          <p:nvPr/>
        </p:nvSpPr>
        <p:spPr>
          <a:xfrm>
            <a:off x="6443154" y="3246416"/>
            <a:ext cx="5187100" cy="388396"/>
          </a:xfrm>
          <a:prstGeom prst="roundRect">
            <a:avLst>
              <a:gd name="adj" fmla="val 15000"/>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F87171"/>
                </a:solidFill>
                <a:latin typeface="Segoe UI"/>
                <a:ea typeface="Segoe UI"/>
                <a:cs typeface="Segoe UI"/>
              </a:rPr>
              <a:t>In order?  </a:t>
            </a:r>
            <a:r>
              <a:rPr lang="en-US" sz="1050" b="0" dirty="0">
                <a:solidFill>
                  <a:srgbClr val="CBD5E1"/>
                </a:solidFill>
                <a:latin typeface="Segoe UI"/>
                <a:ea typeface="Segoe UI"/>
                <a:cs typeface="Segoe UI"/>
              </a:rPr>
              <a:t>No: start order is not run order.</a:t>
            </a:r>
            <a:endParaRPr lang="en-US" sz="1050" dirty="0"/>
          </a:p>
        </p:txBody>
      </p:sp>
      <p:sp>
        <p:nvSpPr>
          <p:cNvPr id="43" name="card"/>
          <p:cNvSpPr/>
          <p:nvPr/>
        </p:nvSpPr>
        <p:spPr>
          <a:xfrm>
            <a:off x="6443154" y="3684812"/>
            <a:ext cx="5187100" cy="388396"/>
          </a:xfrm>
          <a:prstGeom prst="roundRect">
            <a:avLst>
              <a:gd name="adj" fmla="val 15000"/>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F87171"/>
                </a:solidFill>
                <a:latin typeface="Segoe UI"/>
                <a:ea typeface="Segoe UI"/>
                <a:cs typeface="Segoe UI"/>
              </a:rPr>
              <a:t>New thread each?  </a:t>
            </a:r>
            <a:r>
              <a:rPr lang="en-US" sz="1050" b="0" dirty="0">
                <a:solidFill>
                  <a:srgbClr val="CBD5E1"/>
                </a:solidFill>
                <a:latin typeface="Segoe UI"/>
                <a:ea typeface="Segoe UI"/>
                <a:cs typeface="Segoe UI"/>
              </a:rPr>
              <a:t>No: pool workers are reused.</a:t>
            </a:r>
            <a:endParaRPr lang="en-US" sz="1050" dirty="0"/>
          </a:p>
        </p:txBody>
      </p:sp>
      <p:sp>
        <p:nvSpPr>
          <p:cNvPr id="44" name="card"/>
          <p:cNvSpPr/>
          <p:nvPr/>
        </p:nvSpPr>
        <p:spPr>
          <a:xfrm>
            <a:off x="6443154" y="4123208"/>
            <a:ext cx="5187100" cy="388396"/>
          </a:xfrm>
          <a:prstGeom prst="roundRect">
            <a:avLst>
              <a:gd name="adj" fmla="val 15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34D399"/>
                </a:solidFill>
                <a:latin typeface="Segoe UI"/>
                <a:ea typeface="Segoe UI"/>
                <a:cs typeface="Segoe UI"/>
              </a:rPr>
              <a:t>Same thread twice?  </a:t>
            </a:r>
            <a:r>
              <a:rPr lang="en-US" sz="1050" b="0" dirty="0">
                <a:solidFill>
                  <a:srgbClr val="CBD5E1"/>
                </a:solidFill>
                <a:latin typeface="Segoe UI"/>
                <a:ea typeface="Segoe UI"/>
                <a:cs typeface="Segoe UI"/>
              </a:rPr>
              <a:t>Yes: Task 1 and Task 3 both ran on Thread 6.</a:t>
            </a:r>
            <a:endParaRPr lang="en-US" sz="1050" dirty="0"/>
          </a:p>
        </p:txBody>
      </p:sp>
      <p:sp>
        <p:nvSpPr>
          <p:cNvPr id="45" name="card"/>
          <p:cNvSpPr/>
          <p:nvPr/>
        </p:nvSpPr>
        <p:spPr>
          <a:xfrm>
            <a:off x="6443154" y="4561604"/>
            <a:ext cx="5187100" cy="388396"/>
          </a:xfrm>
          <a:prstGeom prst="roundRect">
            <a:avLst>
              <a:gd name="adj" fmla="val 15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00"/>
              </a:spcAft>
              <a:buNone/>
            </a:pPr>
            <a:r>
              <a:rPr lang="en-US" sz="1050" b="1" dirty="0">
                <a:solidFill>
                  <a:srgbClr val="34D399"/>
                </a:solidFill>
                <a:latin typeface="Segoe UI"/>
                <a:ea typeface="Segoe UI"/>
                <a:cs typeface="Segoe UI"/>
              </a:rPr>
              <a:t>At the same time?  </a:t>
            </a:r>
            <a:r>
              <a:rPr lang="en-US" sz="1050" b="0" dirty="0">
                <a:solidFill>
                  <a:srgbClr val="CBD5E1"/>
                </a:solidFill>
                <a:latin typeface="Segoe UI"/>
                <a:ea typeface="Segoe UI"/>
                <a:cs typeface="Segoe UI"/>
              </a:rPr>
              <a:t>Yes: on different workers and cores.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3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3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3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3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3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3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3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3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3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3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3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300"/>
                                        <p:tgtEl>
                                          <p:spTgt spid="4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300"/>
                                        <p:tgtEl>
                                          <p:spTgt spid="4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300"/>
                                        <p:tgtEl>
                                          <p:spTgt spid="43"/>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300"/>
                                        <p:tgtEl>
                                          <p:spTgt spid="4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3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76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TASK&lt;T&gt;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Task That Returns a Value: Task&lt;int&gt;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73</a:t>
            </a:r>
            <a:endParaRPr lang="en-US" sz="850" dirty="0"/>
          </a:p>
        </p:txBody>
      </p:sp>
      <p:sp>
        <p:nvSpPr>
          <p:cNvPr id="15" name="cwb_win"/>
          <p:cNvSpPr/>
          <p:nvPr/>
        </p:nvSpPr>
        <p:spPr>
          <a:xfrm>
            <a:off x="543154" y="1572768"/>
            <a:ext cx="5406390" cy="227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Normal.cs</a:t>
            </a:r>
            <a:endParaRPr lang="en-US" sz="950" dirty="0"/>
          </a:p>
        </p:txBody>
      </p:sp>
      <p:sp>
        <p:nvSpPr>
          <p:cNvPr id="30" name="cw_hl06"/>
          <p:cNvSpPr/>
          <p:nvPr/>
        </p:nvSpPr>
        <p:spPr>
          <a:xfrm>
            <a:off x="676656" y="3263088"/>
            <a:ext cx="5139386"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2" name="cwb_L00"/>
          <p:cNvSpPr txBox="1"/>
          <p:nvPr/>
        </p:nvSpPr>
        <p:spPr>
          <a:xfrm>
            <a:off x="771754" y="200121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int </a:t>
            </a:r>
            <a:r>
              <a:rPr lang="en-US" sz="1050" b="0" dirty="0">
                <a:solidFill>
                  <a:srgbClr val="E2E8F0"/>
                </a:solidFill>
                <a:latin typeface="Consolas"/>
                <a:ea typeface="Consolas"/>
                <a:cs typeface="Consolas"/>
              </a:rPr>
              <a:t>CalculateTotal()</a:t>
            </a:r>
            <a:endParaRPr lang="en-US" sz="1050" dirty="0"/>
          </a:p>
        </p:txBody>
      </p:sp>
      <p:sp>
        <p:nvSpPr>
          <p:cNvPr id="23" name="cwb_L01"/>
          <p:cNvSpPr txBox="1"/>
          <p:nvPr/>
        </p:nvSpPr>
        <p:spPr>
          <a:xfrm>
            <a:off x="771754" y="221457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b_L02"/>
          <p:cNvSpPr txBox="1"/>
          <p:nvPr/>
        </p:nvSpPr>
        <p:spPr>
          <a:xfrm>
            <a:off x="771754" y="2427936"/>
            <a:ext cx="502234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   </a:t>
            </a:r>
            <a:r>
              <a:rPr lang="en-US" sz="1050" b="0" dirty="0">
                <a:solidFill>
                  <a:srgbClr val="6FAE7A"/>
                </a:solidFill>
                <a:latin typeface="Consolas"/>
                <a:ea typeface="Consolas"/>
                <a:cs typeface="Consolas"/>
              </a:rPr>
              <a:t>// prices, taxes...</a:t>
            </a:r>
            <a:endParaRPr lang="en-US" sz="1050" dirty="0"/>
          </a:p>
        </p:txBody>
      </p:sp>
      <p:sp>
        <p:nvSpPr>
          <p:cNvPr id="25" name="cwb_L03"/>
          <p:cNvSpPr txBox="1"/>
          <p:nvPr/>
        </p:nvSpPr>
        <p:spPr>
          <a:xfrm>
            <a:off x="771754" y="2641296"/>
            <a:ext cx="502234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 </a:t>
            </a:r>
            <a:r>
              <a:rPr lang="en-US" sz="1050" b="0" dirty="0">
                <a:solidFill>
                  <a:srgbClr val="E2E8F0"/>
                </a:solidFill>
                <a:latin typeface="Consolas"/>
                <a:ea typeface="Consolas"/>
                <a:cs typeface="Consolas"/>
              </a:rPr>
              <a:t>500;</a:t>
            </a:r>
            <a:endParaRPr lang="en-US" sz="1050" dirty="0"/>
          </a:p>
        </p:txBody>
      </p:sp>
      <p:sp>
        <p:nvSpPr>
          <p:cNvPr id="26" name="cwb_L04"/>
          <p:cNvSpPr txBox="1"/>
          <p:nvPr/>
        </p:nvSpPr>
        <p:spPr>
          <a:xfrm>
            <a:off x="771754" y="285465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b_L06"/>
          <p:cNvSpPr txBox="1"/>
          <p:nvPr/>
        </p:nvSpPr>
        <p:spPr>
          <a:xfrm>
            <a:off x="771754" y="328137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int </a:t>
            </a:r>
            <a:r>
              <a:rPr lang="en-US" sz="1050" b="0" dirty="0">
                <a:solidFill>
                  <a:srgbClr val="E2E8F0"/>
                </a:solidFill>
                <a:latin typeface="Consolas"/>
                <a:ea typeface="Consolas"/>
                <a:cs typeface="Consolas"/>
              </a:rPr>
              <a:t>total = CalculateTotal();  </a:t>
            </a:r>
            <a:r>
              <a:rPr lang="en-US" sz="1050" b="0" dirty="0">
                <a:solidFill>
                  <a:srgbClr val="6FAE7A"/>
                </a:solidFill>
                <a:latin typeface="Consolas"/>
                <a:ea typeface="Consolas"/>
                <a:cs typeface="Consolas"/>
              </a:rPr>
              <a:t>// Main waits</a:t>
            </a:r>
            <a:endParaRPr lang="en-US" sz="1050" dirty="0"/>
          </a:p>
        </p:txBody>
      </p:sp>
      <p:sp>
        <p:nvSpPr>
          <p:cNvPr id="28" name="cwb_L07"/>
          <p:cNvSpPr txBox="1"/>
          <p:nvPr/>
        </p:nvSpPr>
        <p:spPr>
          <a:xfrm>
            <a:off x="771754" y="349473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Console.WriteLine(total);</a:t>
            </a:r>
            <a:endParaRPr lang="en-US" sz="1050" dirty="0"/>
          </a:p>
        </p:txBody>
      </p:sp>
      <p:sp>
        <p:nvSpPr>
          <p:cNvPr id="29" name="pill"/>
          <p:cNvSpPr/>
          <p:nvPr/>
        </p:nvSpPr>
        <p:spPr>
          <a:xfrm>
            <a:off x="4669384" y="162534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BLOCKS MAIN</a:t>
            </a:r>
            <a:endParaRPr lang="en-US" sz="900" dirty="0"/>
          </a:p>
        </p:txBody>
      </p:sp>
      <p:sp>
        <p:nvSpPr>
          <p:cNvPr id="31" name="cwa_win"/>
          <p:cNvSpPr/>
          <p:nvPr/>
        </p:nvSpPr>
        <p:spPr>
          <a:xfrm>
            <a:off x="6223864" y="1572768"/>
            <a:ext cx="5406390" cy="22753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2" name="cwa_bar"/>
          <p:cNvSpPr/>
          <p:nvPr/>
        </p:nvSpPr>
        <p:spPr>
          <a:xfrm>
            <a:off x="622386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3" name="cwa_barfill"/>
          <p:cNvSpPr/>
          <p:nvPr/>
        </p:nvSpPr>
        <p:spPr>
          <a:xfrm>
            <a:off x="622386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34" name="cwa_dot0"/>
          <p:cNvSpPr/>
          <p:nvPr/>
        </p:nvSpPr>
        <p:spPr>
          <a:xfrm>
            <a:off x="638571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5" name="cwa_dot1"/>
          <p:cNvSpPr/>
          <p:nvPr/>
        </p:nvSpPr>
        <p:spPr>
          <a:xfrm>
            <a:off x="657133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6" name="cwa_dot2"/>
          <p:cNvSpPr/>
          <p:nvPr/>
        </p:nvSpPr>
        <p:spPr>
          <a:xfrm>
            <a:off x="675696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7" name="cwa_tab"/>
          <p:cNvSpPr/>
          <p:nvPr/>
        </p:nvSpPr>
        <p:spPr>
          <a:xfrm>
            <a:off x="700476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WithTask.cs</a:t>
            </a:r>
            <a:endParaRPr lang="en-US" sz="950" dirty="0"/>
          </a:p>
        </p:txBody>
      </p:sp>
      <p:sp>
        <p:nvSpPr>
          <p:cNvPr id="45" name="cw_hl00"/>
          <p:cNvSpPr/>
          <p:nvPr/>
        </p:nvSpPr>
        <p:spPr>
          <a:xfrm>
            <a:off x="6357366" y="1982928"/>
            <a:ext cx="5139386" cy="1103376"/>
          </a:xfrm>
          <a:prstGeom prst="rect">
            <a:avLst/>
          </a:prstGeom>
          <a:solidFill>
            <a:srgbClr val="34D399">
              <a:alpha val="15000"/>
            </a:srgbClr>
          </a:solidFill>
          <a:ln w="12700">
            <a:solidFill>
              <a:srgbClr val="34D399"/>
            </a:solidFill>
            <a:prstDash val="solid"/>
          </a:ln>
        </p:spPr>
        <p:txBody>
          <a:bodyPr/>
          <a:lstStyle/>
          <a:p>
            <a:endParaRPr lang="en-US"/>
          </a:p>
        </p:txBody>
      </p:sp>
      <p:sp>
        <p:nvSpPr>
          <p:cNvPr id="38" name="cwa_L00"/>
          <p:cNvSpPr txBox="1"/>
          <p:nvPr/>
        </p:nvSpPr>
        <p:spPr>
          <a:xfrm>
            <a:off x="6452464" y="200121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Task&lt;</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&gt; task = Task.Run(() =&gt;</a:t>
            </a:r>
            <a:endParaRPr lang="en-US" sz="1050" dirty="0"/>
          </a:p>
        </p:txBody>
      </p:sp>
      <p:sp>
        <p:nvSpPr>
          <p:cNvPr id="39" name="cwa_L01"/>
          <p:cNvSpPr txBox="1"/>
          <p:nvPr/>
        </p:nvSpPr>
        <p:spPr>
          <a:xfrm>
            <a:off x="6452464" y="221457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0" name="cwa_L02"/>
          <p:cNvSpPr txBox="1"/>
          <p:nvPr/>
        </p:nvSpPr>
        <p:spPr>
          <a:xfrm>
            <a:off x="6452464" y="2427936"/>
            <a:ext cx="502234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Thread.Sleep(2000);</a:t>
            </a:r>
            <a:endParaRPr lang="en-US" sz="1050" dirty="0"/>
          </a:p>
        </p:txBody>
      </p:sp>
      <p:sp>
        <p:nvSpPr>
          <p:cNvPr id="41" name="cwa_L03"/>
          <p:cNvSpPr txBox="1"/>
          <p:nvPr/>
        </p:nvSpPr>
        <p:spPr>
          <a:xfrm>
            <a:off x="6452464" y="2641296"/>
            <a:ext cx="502234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 </a:t>
            </a:r>
            <a:r>
              <a:rPr lang="en-US" sz="1050" b="0" dirty="0">
                <a:solidFill>
                  <a:srgbClr val="E2E8F0"/>
                </a:solidFill>
                <a:latin typeface="Consolas"/>
                <a:ea typeface="Consolas"/>
                <a:cs typeface="Consolas"/>
              </a:rPr>
              <a:t>500;</a:t>
            </a:r>
            <a:endParaRPr lang="en-US" sz="1050" dirty="0"/>
          </a:p>
        </p:txBody>
      </p:sp>
      <p:sp>
        <p:nvSpPr>
          <p:cNvPr id="42" name="cwa_L04"/>
          <p:cNvSpPr txBox="1"/>
          <p:nvPr/>
        </p:nvSpPr>
        <p:spPr>
          <a:xfrm>
            <a:off x="6452464" y="285465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43" name="cwa_L06"/>
          <p:cNvSpPr txBox="1"/>
          <p:nvPr/>
        </p:nvSpPr>
        <p:spPr>
          <a:xfrm>
            <a:off x="6452464" y="3281376"/>
            <a:ext cx="502234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"Main Thread Continues"</a:t>
            </a:r>
            <a:r>
              <a:rPr lang="en-US" sz="1050" b="0" dirty="0">
                <a:solidFill>
                  <a:srgbClr val="E2E8F0"/>
                </a:solidFill>
                <a:latin typeface="Consolas"/>
                <a:ea typeface="Consolas"/>
                <a:cs typeface="Consolas"/>
              </a:rPr>
              <a:t>);</a:t>
            </a:r>
            <a:endParaRPr lang="en-US" sz="1050" dirty="0"/>
          </a:p>
        </p:txBody>
      </p:sp>
      <p:sp>
        <p:nvSpPr>
          <p:cNvPr id="44" name="pill"/>
          <p:cNvSpPr/>
          <p:nvPr/>
        </p:nvSpPr>
        <p:spPr>
          <a:xfrm>
            <a:off x="10350094" y="162534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TASK&lt;INT&gt;</a:t>
            </a:r>
            <a:endParaRPr lang="en-US" sz="900" dirty="0"/>
          </a:p>
        </p:txBody>
      </p:sp>
      <p:cxnSp>
        <p:nvCxnSpPr>
          <p:cNvPr id="46" name="arrow"/>
          <p:cNvCxnSpPr/>
          <p:nvPr/>
        </p:nvCxnSpPr>
        <p:spPr>
          <a:xfrm>
            <a:off x="5999544" y="2710432"/>
            <a:ext cx="174320" cy="0"/>
          </a:xfrm>
          <a:prstGeom prst="line">
            <a:avLst/>
          </a:prstGeom>
          <a:ln w="28575">
            <a:solidFill>
              <a:srgbClr val="13D0F7"/>
            </a:solidFill>
            <a:tailEnd type="triangle" w="med" len="med"/>
          </a:ln>
        </p:spPr>
      </p:cxnSp>
      <p:sp>
        <p:nvSpPr>
          <p:cNvPr id="47" name="card"/>
          <p:cNvSpPr/>
          <p:nvPr/>
        </p:nvSpPr>
        <p:spPr>
          <a:xfrm>
            <a:off x="543154" y="3985256"/>
            <a:ext cx="5406390" cy="964744"/>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We need a result (an invoice total), but the method makes Main wait 2 seconds.</a:t>
            </a:r>
            <a:endParaRPr lang="en-US" sz="1150" dirty="0"/>
          </a:p>
        </p:txBody>
      </p:sp>
      <p:sp>
        <p:nvSpPr>
          <p:cNvPr id="48" name="card"/>
          <p:cNvSpPr/>
          <p:nvPr/>
        </p:nvSpPr>
        <p:spPr>
          <a:xfrm>
            <a:off x="6223864" y="3985256"/>
            <a:ext cx="5406390" cy="964744"/>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THE IDEA</a:t>
            </a:r>
            <a:endParaRPr lang="en-US" sz="1050" dirty="0"/>
          </a:p>
          <a:p>
            <a:pPr marL="0" indent="0" algn="l">
              <a:spcBef>
                <a:spcPts val="0"/>
              </a:spcBef>
              <a:spcAft>
                <a:spcPts val="0"/>
              </a:spcAft>
              <a:buNone/>
            </a:pPr>
            <a:r>
              <a:rPr lang="en-US" sz="1150" b="0" dirty="0">
                <a:solidFill>
                  <a:srgbClr val="CBD5E1"/>
                </a:solidFill>
                <a:latin typeface="Segoe UI"/>
                <a:ea typeface="Segoe UI"/>
                <a:cs typeface="Segoe UI"/>
              </a:rPr>
              <a:t>The lambda returns an int, so Task.Run returns Task&lt;int&gt;. Main continues at once.</a:t>
            </a:r>
            <a:endParaRPr lang="en-US" sz="1150" dirty="0"/>
          </a:p>
        </p:txBody>
      </p:sp>
      <p:sp>
        <p:nvSpPr>
          <p:cNvPr id="49"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Task&lt;int&gt;: a Task that will eventually produce an int.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3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30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3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3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3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3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3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300"/>
                                        <p:tgtEl>
                                          <p:spTgt spid="3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3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300"/>
                                        <p:tgtEl>
                                          <p:spTgt spid="4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300"/>
                                        <p:tgtEl>
                                          <p:spTgt spid="4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300"/>
                                        <p:tgtEl>
                                          <p:spTgt spid="4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300"/>
                                        <p:tgtEl>
                                          <p:spTgt spid="4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300"/>
                                        <p:tgtEl>
                                          <p:spTgt spid="4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300"/>
                                        <p:tgtEl>
                                          <p:spTgt spid="48"/>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45" grpId="0" animBg="1"/>
      <p:bldP spid="38" grpId="0" animBg="1"/>
      <p:bldP spid="39" grpId="0" animBg="1"/>
      <p:bldP spid="40" grpId="0" animBg="1"/>
      <p:bldP spid="41" grpId="0" animBg="1"/>
      <p:bldP spid="42" grpId="0" animBg="1"/>
      <p:bldP spid="43" grpId="0" animBg="1"/>
      <p:bldP spid="44" grpId="0" animBg="1"/>
      <p:bldP spid="47" grpId="0" animBg="1"/>
      <p:bldP spid="48" grpId="0" animBg="1"/>
      <p:bldP spid="4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76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TASK&lt;T&gt;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Task&lt;T&gt;: A Promise of a Value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74</a:t>
            </a:r>
            <a:endParaRPr lang="en-US" sz="850" dirty="0"/>
          </a:p>
        </p:txBody>
      </p:sp>
      <p:sp>
        <p:nvSpPr>
          <p:cNvPr id="15" name="tbl_head"/>
          <p:cNvSpPr/>
          <p:nvPr/>
        </p:nvSpPr>
        <p:spPr>
          <a:xfrm>
            <a:off x="543154" y="1572768"/>
            <a:ext cx="53000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16" name="tbl_h"/>
          <p:cNvSpPr txBox="1"/>
          <p:nvPr/>
        </p:nvSpPr>
        <p:spPr>
          <a:xfrm>
            <a:off x="671170" y="1572768"/>
            <a:ext cx="17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TYPE</a:t>
            </a:r>
            <a:endParaRPr lang="en-US" sz="1000" dirty="0"/>
          </a:p>
        </p:txBody>
      </p:sp>
      <p:sp>
        <p:nvSpPr>
          <p:cNvPr id="17" name="tbl_h"/>
          <p:cNvSpPr txBox="1"/>
          <p:nvPr/>
        </p:nvSpPr>
        <p:spPr>
          <a:xfrm>
            <a:off x="2493154" y="1572768"/>
            <a:ext cx="33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MEANING</a:t>
            </a:r>
            <a:endParaRPr lang="en-US" sz="1000" dirty="0"/>
          </a:p>
        </p:txBody>
      </p:sp>
      <p:sp>
        <p:nvSpPr>
          <p:cNvPr id="18" name="tbl_row"/>
          <p:cNvSpPr/>
          <p:nvPr/>
        </p:nvSpPr>
        <p:spPr>
          <a:xfrm>
            <a:off x="543154" y="1920240"/>
            <a:ext cx="5300000" cy="44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19" name="tbl_c"/>
          <p:cNvSpPr txBox="1"/>
          <p:nvPr/>
        </p:nvSpPr>
        <p:spPr>
          <a:xfrm>
            <a:off x="671170" y="1920240"/>
            <a:ext cx="17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4D91F0"/>
                </a:solidFill>
                <a:latin typeface="Consolas"/>
                <a:ea typeface="Consolas"/>
                <a:cs typeface="Consolas"/>
              </a:rPr>
              <a:t>Task</a:t>
            </a:r>
            <a:endParaRPr lang="en-US" sz="1150" dirty="0"/>
          </a:p>
        </p:txBody>
      </p:sp>
      <p:sp>
        <p:nvSpPr>
          <p:cNvPr id="20" name="tbl_c"/>
          <p:cNvSpPr txBox="1"/>
          <p:nvPr/>
        </p:nvSpPr>
        <p:spPr>
          <a:xfrm>
            <a:off x="2493154" y="1920240"/>
            <a:ext cx="33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operation that completes without a result</a:t>
            </a:r>
            <a:endParaRPr lang="en-US" sz="1150" dirty="0"/>
          </a:p>
        </p:txBody>
      </p:sp>
      <p:sp>
        <p:nvSpPr>
          <p:cNvPr id="21" name="tbl_row"/>
          <p:cNvSpPr/>
          <p:nvPr/>
        </p:nvSpPr>
        <p:spPr>
          <a:xfrm>
            <a:off x="543154" y="2405960"/>
            <a:ext cx="5300000" cy="44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22" name="tbl_c"/>
          <p:cNvSpPr txBox="1"/>
          <p:nvPr/>
        </p:nvSpPr>
        <p:spPr>
          <a:xfrm>
            <a:off x="671170" y="2405960"/>
            <a:ext cx="17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Task&lt;int&gt;</a:t>
            </a:r>
            <a:endParaRPr lang="en-US" sz="1150" dirty="0"/>
          </a:p>
        </p:txBody>
      </p:sp>
      <p:sp>
        <p:nvSpPr>
          <p:cNvPr id="23" name="tbl_c"/>
          <p:cNvSpPr txBox="1"/>
          <p:nvPr/>
        </p:nvSpPr>
        <p:spPr>
          <a:xfrm>
            <a:off x="2493154" y="2405960"/>
            <a:ext cx="33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operation that produces an int</a:t>
            </a:r>
            <a:endParaRPr lang="en-US" sz="1150" dirty="0"/>
          </a:p>
        </p:txBody>
      </p:sp>
      <p:sp>
        <p:nvSpPr>
          <p:cNvPr id="24" name="tbl_row"/>
          <p:cNvSpPr/>
          <p:nvPr/>
        </p:nvSpPr>
        <p:spPr>
          <a:xfrm>
            <a:off x="543154" y="2891680"/>
            <a:ext cx="5300000" cy="44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25" name="tbl_c"/>
          <p:cNvSpPr txBox="1"/>
          <p:nvPr/>
        </p:nvSpPr>
        <p:spPr>
          <a:xfrm>
            <a:off x="671170" y="2891680"/>
            <a:ext cx="17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Task&lt;string&gt;</a:t>
            </a:r>
            <a:endParaRPr lang="en-US" sz="1150" dirty="0"/>
          </a:p>
        </p:txBody>
      </p:sp>
      <p:sp>
        <p:nvSpPr>
          <p:cNvPr id="26" name="tbl_c"/>
          <p:cNvSpPr txBox="1"/>
          <p:nvPr/>
        </p:nvSpPr>
        <p:spPr>
          <a:xfrm>
            <a:off x="2493154" y="2891680"/>
            <a:ext cx="33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operation that produces a string</a:t>
            </a:r>
            <a:endParaRPr lang="en-US" sz="1150" dirty="0"/>
          </a:p>
        </p:txBody>
      </p:sp>
      <p:sp>
        <p:nvSpPr>
          <p:cNvPr id="27" name="tbl_row"/>
          <p:cNvSpPr/>
          <p:nvPr/>
        </p:nvSpPr>
        <p:spPr>
          <a:xfrm>
            <a:off x="543154" y="3377400"/>
            <a:ext cx="5300000" cy="44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28" name="tbl_c"/>
          <p:cNvSpPr txBox="1"/>
          <p:nvPr/>
        </p:nvSpPr>
        <p:spPr>
          <a:xfrm>
            <a:off x="671170" y="3377400"/>
            <a:ext cx="17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Task&lt;bool&gt;</a:t>
            </a:r>
            <a:endParaRPr lang="en-US" sz="1150" dirty="0"/>
          </a:p>
        </p:txBody>
      </p:sp>
      <p:sp>
        <p:nvSpPr>
          <p:cNvPr id="29" name="tbl_c"/>
          <p:cNvSpPr txBox="1"/>
          <p:nvPr/>
        </p:nvSpPr>
        <p:spPr>
          <a:xfrm>
            <a:off x="2493154" y="3377400"/>
            <a:ext cx="3300000" cy="4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operation that produces a bool</a:t>
            </a:r>
            <a:endParaRPr lang="en-US" sz="1150" dirty="0"/>
          </a:p>
        </p:txBody>
      </p:sp>
      <p:sp>
        <p:nvSpPr>
          <p:cNvPr id="30" name="cw_win"/>
          <p:cNvSpPr/>
          <p:nvPr/>
        </p:nvSpPr>
        <p:spPr>
          <a:xfrm>
            <a:off x="6143154" y="1572768"/>
            <a:ext cx="5487100" cy="90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1" name="cw_bar"/>
          <p:cNvSpPr/>
          <p:nvPr/>
        </p:nvSpPr>
        <p:spPr>
          <a:xfrm>
            <a:off x="6143154" y="1572768"/>
            <a:ext cx="54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cw_barfill"/>
          <p:cNvSpPr/>
          <p:nvPr/>
        </p:nvSpPr>
        <p:spPr>
          <a:xfrm>
            <a:off x="6143154" y="1744218"/>
            <a:ext cx="5487100" cy="171450"/>
          </a:xfrm>
          <a:prstGeom prst="rect">
            <a:avLst/>
          </a:prstGeom>
          <a:solidFill>
            <a:srgbClr val="0A1220"/>
          </a:solidFill>
          <a:ln w="12700">
            <a:solidFill>
              <a:srgbClr val="0A1220"/>
            </a:solidFill>
            <a:prstDash val="solid"/>
          </a:ln>
        </p:spPr>
        <p:txBody>
          <a:bodyPr/>
          <a:lstStyle/>
          <a:p>
            <a:endParaRPr lang="en-US"/>
          </a:p>
        </p:txBody>
      </p:sp>
      <p:sp>
        <p:nvSpPr>
          <p:cNvPr id="33" name="cw_dot0"/>
          <p:cNvSpPr/>
          <p:nvPr/>
        </p:nvSpPr>
        <p:spPr>
          <a:xfrm>
            <a:off x="63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cw_dot1"/>
          <p:cNvSpPr/>
          <p:nvPr/>
        </p:nvSpPr>
        <p:spPr>
          <a:xfrm>
            <a:off x="64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cw_dot2"/>
          <p:cNvSpPr/>
          <p:nvPr/>
        </p:nvSpPr>
        <p:spPr>
          <a:xfrm>
            <a:off x="66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cw_tab"/>
          <p:cNvSpPr/>
          <p:nvPr/>
        </p:nvSpPr>
        <p:spPr>
          <a:xfrm>
            <a:off x="69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37" name="cw_L00"/>
          <p:cNvSpPr txBox="1"/>
          <p:nvPr/>
        </p:nvSpPr>
        <p:spPr>
          <a:xfrm>
            <a:off x="6371754" y="2001216"/>
            <a:ext cx="51030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Task&lt;</a:t>
            </a: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&gt; task = Task.Run(() =&gt; 500);</a:t>
            </a:r>
            <a:endParaRPr lang="en-US" sz="1100" dirty="0"/>
          </a:p>
        </p:txBody>
      </p:sp>
      <p:sp>
        <p:nvSpPr>
          <p:cNvPr id="38" name="room"/>
          <p:cNvSpPr/>
          <p:nvPr/>
        </p:nvSpPr>
        <p:spPr>
          <a:xfrm>
            <a:off x="6143154" y="2622768"/>
            <a:ext cx="2900000" cy="1500000"/>
          </a:xfrm>
          <a:prstGeom prst="roundRect">
            <a:avLst>
              <a:gd name="adj" fmla="val 6000"/>
            </a:avLst>
          </a:prstGeom>
          <a:solidFill>
            <a:srgbClr val="0C1628"/>
          </a:solidFill>
          <a:ln w="19050">
            <a:solidFill>
              <a:srgbClr val="4D91F0"/>
            </a:solidFill>
            <a:prstDash val="solid"/>
          </a:ln>
        </p:spPr>
        <p:txBody>
          <a:bodyPr wrap="square" lIns="91440" tIns="91440" rIns="91440" bIns="91440" rtlCol="0" anchor="ctr">
            <a:noAutofit/>
          </a:bodyPr>
          <a:lstStyle/>
          <a:p>
            <a:pPr marL="0" indent="0" algn="ctr">
              <a:spcBef>
                <a:spcPts val="0"/>
              </a:spcBef>
              <a:spcAft>
                <a:spcPts val="0"/>
              </a:spcAft>
              <a:buNone/>
            </a:pPr>
            <a:r>
              <a:rPr lang="en-US" sz="1200" b="1" dirty="0">
                <a:solidFill>
                  <a:srgbClr val="4D91F0"/>
                </a:solidFill>
                <a:latin typeface="Consolas"/>
                <a:ea typeface="Consolas"/>
                <a:cs typeface="Consolas"/>
              </a:rPr>
              <a:t>task</a:t>
            </a:r>
            <a:endParaRPr lang="en-US" sz="1200" dirty="0"/>
          </a:p>
          <a:p>
            <a:pPr marL="0" indent="0" algn="ctr">
              <a:spcBef>
                <a:spcPts val="0"/>
              </a:spcBef>
              <a:spcAft>
                <a:spcPts val="600"/>
              </a:spcAft>
              <a:buNone/>
            </a:pPr>
            <a:r>
              <a:rPr lang="en-US" sz="1000" b="0" dirty="0">
                <a:solidFill>
                  <a:srgbClr val="94A3B8"/>
                </a:solidFill>
                <a:latin typeface="Segoe UI"/>
                <a:ea typeface="Segoe UI"/>
                <a:cs typeface="Segoe UI"/>
              </a:rPr>
              <a:t>a Task&lt;int&gt; object</a:t>
            </a:r>
            <a:endParaRPr lang="en-US" sz="1000" dirty="0"/>
          </a:p>
          <a:p>
            <a:pPr marL="0" indent="0" algn="ctr">
              <a:spcBef>
                <a:spcPts val="0"/>
              </a:spcBef>
              <a:spcAft>
                <a:spcPts val="0"/>
              </a:spcAft>
              <a:buNone/>
            </a:pPr>
            <a:r>
              <a:rPr lang="en-US" sz="1000" b="0" dirty="0">
                <a:solidFill>
                  <a:srgbClr val="CBD5E1"/>
                </a:solidFill>
                <a:latin typeface="Consolas"/>
                <a:ea typeface="Consolas"/>
                <a:cs typeface="Consolas"/>
              </a:rPr>
              <a:t>Status · Result · Exception</a:t>
            </a:r>
            <a:endParaRPr lang="en-US" sz="1000" dirty="0"/>
          </a:p>
          <a:p>
            <a:pPr marL="0" indent="0" algn="ctr">
              <a:spcBef>
                <a:spcPts val="0"/>
              </a:spcBef>
              <a:spcAft>
                <a:spcPts val="0"/>
              </a:spcAft>
              <a:buNone/>
            </a:pPr>
            <a:r>
              <a:rPr lang="en-US" sz="1000" b="0" dirty="0">
                <a:solidFill>
                  <a:srgbClr val="94A3B8"/>
                </a:solidFill>
                <a:latin typeface="Segoe UI"/>
                <a:ea typeface="Segoe UI"/>
                <a:cs typeface="Segoe UI"/>
              </a:rPr>
              <a:t>(500 arrives later)</a:t>
            </a:r>
            <a:endParaRPr lang="en-US" sz="1000" dirty="0"/>
          </a:p>
        </p:txBody>
      </p:sp>
      <p:sp>
        <p:nvSpPr>
          <p:cNvPr id="39" name="lab"/>
          <p:cNvSpPr txBox="1"/>
          <p:nvPr/>
        </p:nvSpPr>
        <p:spPr>
          <a:xfrm>
            <a:off x="9093154" y="2622768"/>
            <a:ext cx="500000" cy="150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3200" b="1" dirty="0">
                <a:solidFill>
                  <a:srgbClr val="F87171"/>
                </a:solidFill>
                <a:latin typeface="Segoe UI"/>
                <a:ea typeface="Segoe UI"/>
                <a:cs typeface="Segoe UI"/>
              </a:rPr>
              <a:t>≠</a:t>
            </a:r>
            <a:endParaRPr lang="en-US" sz="3200" dirty="0"/>
          </a:p>
        </p:txBody>
      </p:sp>
      <p:sp>
        <p:nvSpPr>
          <p:cNvPr id="40" name="box"/>
          <p:cNvSpPr/>
          <p:nvPr/>
        </p:nvSpPr>
        <p:spPr>
          <a:xfrm>
            <a:off x="9643154" y="2922768"/>
            <a:ext cx="1987100" cy="900000"/>
          </a:xfrm>
          <a:prstGeom prst="roundRect">
            <a:avLst>
              <a:gd name="adj" fmla="val 10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2000" b="1" dirty="0">
                <a:solidFill>
                  <a:srgbClr val="FBBF24"/>
                </a:solidFill>
                <a:latin typeface="Consolas"/>
                <a:ea typeface="Consolas"/>
                <a:cs typeface="Consolas"/>
              </a:rPr>
              <a:t>500</a:t>
            </a:r>
            <a:endParaRPr lang="en-US" sz="2000" dirty="0"/>
          </a:p>
          <a:p>
            <a:pPr marL="0" indent="0" algn="ctr">
              <a:spcBef>
                <a:spcPts val="0"/>
              </a:spcBef>
              <a:spcAft>
                <a:spcPts val="0"/>
              </a:spcAft>
              <a:buNone/>
            </a:pPr>
            <a:r>
              <a:rPr lang="en-US" sz="1000" b="0" dirty="0">
                <a:solidFill>
                  <a:srgbClr val="94A3B8"/>
                </a:solidFill>
                <a:latin typeface="Segoe UI"/>
                <a:ea typeface="Segoe UI"/>
                <a:cs typeface="Segoe UI"/>
              </a:rPr>
              <a:t>an int</a:t>
            </a:r>
            <a:endParaRPr lang="en-US" sz="1000" dirty="0"/>
          </a:p>
        </p:txBody>
      </p:sp>
      <p:sp>
        <p:nvSpPr>
          <p:cNvPr id="41" name="card"/>
          <p:cNvSpPr/>
          <p:nvPr/>
        </p:nvSpPr>
        <p:spPr>
          <a:xfrm>
            <a:off x="543154" y="3900000"/>
            <a:ext cx="11087100" cy="1050000"/>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BBF24"/>
                </a:solidFill>
                <a:latin typeface="Segoe UI"/>
                <a:ea typeface="Segoe UI"/>
                <a:cs typeface="Segoe UI"/>
              </a:rPr>
              <a:t>THE IMPORTANT DISTINCTION</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task is NOT the integer 500. It is an object representing an operation that will produce 500. To get the 500, you must ask the Task for it (next slide).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3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3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3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3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3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3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3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3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300"/>
                                        <p:tgtEl>
                                          <p:spTgt spid="3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300"/>
                                        <p:tgtEl>
                                          <p:spTgt spid="38"/>
                                        </p:tgtEl>
                                      </p:cBhvr>
                                    </p:animEffect>
                                  </p:childTnLst>
                                </p:cTn>
                              </p:par>
                              <p:par>
                                <p:cTn id="83" presetID="10" presetClass="entr" presetSubtype="0" fill="hold" grpId="0" nodeType="withEffect">
                                  <p:stCondLst>
                                    <p:cond delay="40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300"/>
                                        <p:tgtEl>
                                          <p:spTgt spid="39"/>
                                        </p:tgtEl>
                                      </p:cBhvr>
                                    </p:animEffect>
                                  </p:childTnLst>
                                </p:cTn>
                              </p:par>
                              <p:par>
                                <p:cTn id="86" presetID="10" presetClass="entr" presetSubtype="0" fill="hold" grpId="0" nodeType="withEffect">
                                  <p:stCondLst>
                                    <p:cond delay="70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300"/>
                                        <p:tgtEl>
                                          <p:spTgt spid="4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3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798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RESULT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Getting the Value: task.Result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75</a:t>
            </a:r>
            <a:endParaRPr lang="en-US" sz="850" dirty="0"/>
          </a:p>
        </p:txBody>
      </p:sp>
      <p:sp>
        <p:nvSpPr>
          <p:cNvPr id="15" name="cw_win"/>
          <p:cNvSpPr/>
          <p:nvPr/>
        </p:nvSpPr>
        <p:spPr>
          <a:xfrm>
            <a:off x="543154" y="1572768"/>
            <a:ext cx="53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30" name="cw_hl07"/>
          <p:cNvSpPr/>
          <p:nvPr/>
        </p:nvSpPr>
        <p:spPr>
          <a:xfrm>
            <a:off x="676656" y="3547568"/>
            <a:ext cx="5032996" cy="26009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Task&lt;</a:t>
            </a: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&gt; task = Task.Run(() =&gt;</a:t>
            </a:r>
            <a:endParaRPr lang="en-US" sz="1100" dirty="0"/>
          </a:p>
        </p:txBody>
      </p:sp>
      <p:sp>
        <p:nvSpPr>
          <p:cNvPr id="23" name="cw_L01"/>
          <p:cNvSpPr txBox="1"/>
          <p:nvPr/>
        </p:nvSpPr>
        <p:spPr>
          <a:xfrm>
            <a:off x="771754" y="222473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4" name="cw_L02"/>
          <p:cNvSpPr txBox="1"/>
          <p:nvPr/>
        </p:nvSpPr>
        <p:spPr>
          <a:xfrm>
            <a:off x="771754" y="2448256"/>
            <a:ext cx="49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Thread.Sleep(3000);</a:t>
            </a:r>
            <a:endParaRPr lang="en-US" sz="1100" dirty="0"/>
          </a:p>
        </p:txBody>
      </p:sp>
      <p:sp>
        <p:nvSpPr>
          <p:cNvPr id="25" name="cw_L03"/>
          <p:cNvSpPr txBox="1"/>
          <p:nvPr/>
        </p:nvSpPr>
        <p:spPr>
          <a:xfrm>
            <a:off x="771754" y="2671776"/>
            <a:ext cx="49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return </a:t>
            </a:r>
            <a:r>
              <a:rPr lang="en-US" sz="1100" b="0" dirty="0">
                <a:solidFill>
                  <a:srgbClr val="E2E8F0"/>
                </a:solidFill>
                <a:latin typeface="Consolas"/>
                <a:ea typeface="Consolas"/>
                <a:cs typeface="Consolas"/>
              </a:rPr>
              <a:t>500;</a:t>
            </a:r>
            <a:endParaRPr lang="en-US" sz="1100" dirty="0"/>
          </a:p>
        </p:txBody>
      </p:sp>
      <p:sp>
        <p:nvSpPr>
          <p:cNvPr id="26" name="cw_L04"/>
          <p:cNvSpPr txBox="1"/>
          <p:nvPr/>
        </p:nvSpPr>
        <p:spPr>
          <a:xfrm>
            <a:off x="771754" y="289529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7" name="cw_L06"/>
          <p:cNvSpPr txBox="1"/>
          <p:nvPr/>
        </p:nvSpPr>
        <p:spPr>
          <a:xfrm>
            <a:off x="771754" y="334233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"A"</a:t>
            </a:r>
            <a:r>
              <a:rPr lang="en-US" sz="1100" b="0" dirty="0">
                <a:solidFill>
                  <a:srgbClr val="E2E8F0"/>
                </a:solidFill>
                <a:latin typeface="Consolas"/>
                <a:ea typeface="Consolas"/>
                <a:cs typeface="Consolas"/>
              </a:rPr>
              <a:t>);</a:t>
            </a:r>
            <a:endParaRPr lang="en-US" sz="1100" dirty="0"/>
          </a:p>
        </p:txBody>
      </p:sp>
      <p:sp>
        <p:nvSpPr>
          <p:cNvPr id="28" name="cw_L07"/>
          <p:cNvSpPr txBox="1"/>
          <p:nvPr/>
        </p:nvSpPr>
        <p:spPr>
          <a:xfrm>
            <a:off x="771754" y="356585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Console.WriteLine(task.Result);</a:t>
            </a:r>
            <a:endParaRPr lang="en-US" sz="1100" dirty="0"/>
          </a:p>
        </p:txBody>
      </p:sp>
      <p:sp>
        <p:nvSpPr>
          <p:cNvPr id="29" name="cw_L08"/>
          <p:cNvSpPr txBox="1"/>
          <p:nvPr/>
        </p:nvSpPr>
        <p:spPr>
          <a:xfrm>
            <a:off x="771754" y="378937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"B"</a:t>
            </a:r>
            <a:r>
              <a:rPr lang="en-US" sz="1100" b="0" dirty="0">
                <a:solidFill>
                  <a:srgbClr val="E2E8F0"/>
                </a:solidFill>
                <a:latin typeface="Consolas"/>
                <a:ea typeface="Consolas"/>
                <a:cs typeface="Consolas"/>
              </a:rPr>
              <a:t>);</a:t>
            </a:r>
            <a:endParaRPr lang="en-US" sz="1100" dirty="0"/>
          </a:p>
        </p:txBody>
      </p:sp>
      <p:sp>
        <p:nvSpPr>
          <p:cNvPr id="31" name="caption"/>
          <p:cNvSpPr/>
          <p:nvPr/>
        </p:nvSpPr>
        <p:spPr>
          <a:xfrm>
            <a:off x="6093154" y="1572768"/>
            <a:ext cx="5537100" cy="56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Predict the output. How long does it take?</a:t>
            </a:r>
            <a:endParaRPr lang="en-US" sz="1150" dirty="0"/>
          </a:p>
        </p:txBody>
      </p:sp>
      <p:sp>
        <p:nvSpPr>
          <p:cNvPr id="32" name="out_win"/>
          <p:cNvSpPr/>
          <p:nvPr/>
        </p:nvSpPr>
        <p:spPr>
          <a:xfrm>
            <a:off x="6093154" y="2252768"/>
            <a:ext cx="5537100" cy="135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out_bar"/>
          <p:cNvSpPr/>
          <p:nvPr/>
        </p:nvSpPr>
        <p:spPr>
          <a:xfrm>
            <a:off x="6093154" y="2252768"/>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out_barfill"/>
          <p:cNvSpPr/>
          <p:nvPr/>
        </p:nvSpPr>
        <p:spPr>
          <a:xfrm>
            <a:off x="6093154" y="2424218"/>
            <a:ext cx="5537100" cy="171450"/>
          </a:xfrm>
          <a:prstGeom prst="rect">
            <a:avLst/>
          </a:prstGeom>
          <a:solidFill>
            <a:srgbClr val="0A1220"/>
          </a:solidFill>
          <a:ln w="12700">
            <a:solidFill>
              <a:srgbClr val="0A1220"/>
            </a:solidFill>
            <a:prstDash val="solid"/>
          </a:ln>
        </p:spPr>
        <p:txBody>
          <a:bodyPr/>
          <a:lstStyle/>
          <a:p>
            <a:endParaRPr lang="en-US"/>
          </a:p>
        </p:txBody>
      </p:sp>
      <p:sp>
        <p:nvSpPr>
          <p:cNvPr id="35" name="out_dot0"/>
          <p:cNvSpPr/>
          <p:nvPr/>
        </p:nvSpPr>
        <p:spPr>
          <a:xfrm>
            <a:off x="6255002" y="237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out_dot1"/>
          <p:cNvSpPr/>
          <p:nvPr/>
        </p:nvSpPr>
        <p:spPr>
          <a:xfrm>
            <a:off x="6440626" y="237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out_dot2"/>
          <p:cNvSpPr/>
          <p:nvPr/>
        </p:nvSpPr>
        <p:spPr>
          <a:xfrm>
            <a:off x="6626250" y="237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out_tab"/>
          <p:cNvSpPr/>
          <p:nvPr/>
        </p:nvSpPr>
        <p:spPr>
          <a:xfrm>
            <a:off x="6874051" y="230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9" name="out_L00"/>
          <p:cNvSpPr txBox="1"/>
          <p:nvPr/>
        </p:nvSpPr>
        <p:spPr>
          <a:xfrm>
            <a:off x="6321754" y="26812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a:t>
            </a:r>
            <a:endParaRPr lang="en-US" sz="1000" dirty="0"/>
          </a:p>
        </p:txBody>
      </p:sp>
      <p:sp>
        <p:nvSpPr>
          <p:cNvPr id="40" name="out_L01"/>
          <p:cNvSpPr txBox="1"/>
          <p:nvPr/>
        </p:nvSpPr>
        <p:spPr>
          <a:xfrm>
            <a:off x="6321754" y="2884416"/>
            <a:ext cx="5153052" cy="203200"/>
          </a:xfrm>
          <a:prstGeom prst="rect">
            <a:avLst/>
          </a:prstGeom>
          <a:noFill/>
          <a:ln>
            <a:noFill/>
          </a:ln>
        </p:spPr>
        <p:txBody>
          <a:bodyPr wrap="none" lIns="0" tIns="0" rIns="0" bIns="0" rtlCol="0" anchor="ctr">
            <a:noAutofit/>
          </a:bodyPr>
          <a:lstStyle/>
          <a:p>
            <a:pPr marL="419100" indent="0" algn="l">
              <a:spcBef>
                <a:spcPts val="0"/>
              </a:spcBef>
              <a:spcAft>
                <a:spcPts val="0"/>
              </a:spcAft>
              <a:buNone/>
            </a:pPr>
            <a:r>
              <a:rPr lang="en-US" sz="1000" b="0" dirty="0">
                <a:solidFill>
                  <a:srgbClr val="F87171"/>
                </a:solidFill>
                <a:latin typeface="Consolas"/>
                <a:ea typeface="Consolas"/>
                <a:cs typeface="Consolas"/>
              </a:rPr>
              <a:t>(about 3 seconds of waiting)</a:t>
            </a:r>
            <a:endParaRPr lang="en-US" sz="1000" dirty="0"/>
          </a:p>
        </p:txBody>
      </p:sp>
      <p:sp>
        <p:nvSpPr>
          <p:cNvPr id="41" name="out_L02"/>
          <p:cNvSpPr txBox="1"/>
          <p:nvPr/>
        </p:nvSpPr>
        <p:spPr>
          <a:xfrm>
            <a:off x="6321754" y="30876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FBBF24"/>
                </a:solidFill>
                <a:latin typeface="Consolas"/>
                <a:ea typeface="Consolas"/>
                <a:cs typeface="Consolas"/>
              </a:rPr>
              <a:t>500</a:t>
            </a:r>
            <a:endParaRPr lang="en-US" sz="1000" dirty="0"/>
          </a:p>
        </p:txBody>
      </p:sp>
      <p:sp>
        <p:nvSpPr>
          <p:cNvPr id="42" name="out_L03"/>
          <p:cNvSpPr txBox="1"/>
          <p:nvPr/>
        </p:nvSpPr>
        <p:spPr>
          <a:xfrm>
            <a:off x="6321754" y="3290816"/>
            <a:ext cx="515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B</a:t>
            </a:r>
            <a:endParaRPr lang="en-US" sz="1000" dirty="0"/>
          </a:p>
        </p:txBody>
      </p:sp>
      <p:sp>
        <p:nvSpPr>
          <p:cNvPr id="43" name="card"/>
          <p:cNvSpPr/>
          <p:nvPr/>
        </p:nvSpPr>
        <p:spPr>
          <a:xfrm>
            <a:off x="6093154" y="3722768"/>
            <a:ext cx="5537100" cy="563616"/>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ALREADY COMPLETED?</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.Result returns the value immediately.</a:t>
            </a:r>
            <a:endParaRPr lang="en-US" sz="1100" dirty="0"/>
          </a:p>
        </p:txBody>
      </p:sp>
      <p:sp>
        <p:nvSpPr>
          <p:cNvPr id="44" name="card"/>
          <p:cNvSpPr/>
          <p:nvPr/>
        </p:nvSpPr>
        <p:spPr>
          <a:xfrm>
            <a:off x="6093154" y="4386384"/>
            <a:ext cx="5537100" cy="563616"/>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STILL RUNNING?</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.Result BLOCKS the calling thread until the value is ready.</a:t>
            </a:r>
            <a:endParaRPr lang="en-US" sz="1100" dirty="0"/>
          </a:p>
        </p:txBody>
      </p:sp>
      <p:sp>
        <p:nvSpPr>
          <p:cNvPr id="45"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.Result is synchronous blocking: the calling thread waits and does nothing else.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300"/>
                                        <p:tgtEl>
                                          <p:spTgt spid="3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30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30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3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300"/>
                                        <p:tgtEl>
                                          <p:spTgt spid="3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300"/>
                                        <p:tgtEl>
                                          <p:spTgt spid="3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3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300"/>
                                        <p:tgtEl>
                                          <p:spTgt spid="3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300"/>
                                        <p:tgtEl>
                                          <p:spTgt spid="3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300"/>
                                        <p:tgtEl>
                                          <p:spTgt spid="4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300"/>
                                        <p:tgtEl>
                                          <p:spTgt spid="4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300"/>
                                        <p:tgtEl>
                                          <p:spTgt spid="4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30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300"/>
                                        <p:tgtEl>
                                          <p:spTgt spid="4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300"/>
                                        <p:tgtEl>
                                          <p:spTgt spid="4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3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642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Wait() vs Result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77</a:t>
            </a:r>
            <a:endParaRPr lang="en-US" sz="850" dirty="0"/>
          </a:p>
        </p:txBody>
      </p:sp>
      <p:sp>
        <p:nvSpPr>
          <p:cNvPr id="15" name="cw_win"/>
          <p:cNvSpPr/>
          <p:nvPr/>
        </p:nvSpPr>
        <p:spPr>
          <a:xfrm>
            <a:off x="543154" y="1572768"/>
            <a:ext cx="53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30" name="cw_hl07"/>
          <p:cNvSpPr/>
          <p:nvPr/>
        </p:nvSpPr>
        <p:spPr>
          <a:xfrm>
            <a:off x="676656" y="3405328"/>
            <a:ext cx="5032996" cy="23977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task = Task.Run(() =&gt;</a:t>
            </a:r>
            <a:endParaRPr lang="en-US" sz="1000" dirty="0"/>
          </a:p>
        </p:txBody>
      </p:sp>
      <p:sp>
        <p:nvSpPr>
          <p:cNvPr id="23" name="cw_L01"/>
          <p:cNvSpPr txBox="1"/>
          <p:nvPr/>
        </p:nvSpPr>
        <p:spPr>
          <a:xfrm>
            <a:off x="771754" y="22044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07616"/>
            <a:ext cx="49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Thread.Sleep(3000);</a:t>
            </a:r>
            <a:endParaRPr lang="en-US" sz="1000" dirty="0"/>
          </a:p>
        </p:txBody>
      </p:sp>
      <p:sp>
        <p:nvSpPr>
          <p:cNvPr id="25" name="cw_L03"/>
          <p:cNvSpPr txBox="1"/>
          <p:nvPr/>
        </p:nvSpPr>
        <p:spPr>
          <a:xfrm>
            <a:off x="771754" y="2610816"/>
            <a:ext cx="49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"Task Completed"</a:t>
            </a: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8140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6"/>
          <p:cNvSpPr txBox="1"/>
          <p:nvPr/>
        </p:nvSpPr>
        <p:spPr>
          <a:xfrm>
            <a:off x="771754" y="32204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"Before Wait"</a:t>
            </a:r>
            <a:r>
              <a:rPr lang="en-US" sz="1000" b="0" dirty="0">
                <a:solidFill>
                  <a:srgbClr val="E2E8F0"/>
                </a:solidFill>
                <a:latin typeface="Consolas"/>
                <a:ea typeface="Consolas"/>
                <a:cs typeface="Consolas"/>
              </a:rPr>
              <a:t>);</a:t>
            </a:r>
            <a:endParaRPr lang="en-US" sz="1000" dirty="0"/>
          </a:p>
        </p:txBody>
      </p:sp>
      <p:sp>
        <p:nvSpPr>
          <p:cNvPr id="28" name="cw_L07"/>
          <p:cNvSpPr txBox="1"/>
          <p:nvPr/>
        </p:nvSpPr>
        <p:spPr>
          <a:xfrm>
            <a:off x="771754" y="34236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task.Wait();</a:t>
            </a:r>
            <a:endParaRPr lang="en-US" sz="1000" dirty="0"/>
          </a:p>
        </p:txBody>
      </p:sp>
      <p:sp>
        <p:nvSpPr>
          <p:cNvPr id="29" name="cw_L08"/>
          <p:cNvSpPr txBox="1"/>
          <p:nvPr/>
        </p:nvSpPr>
        <p:spPr>
          <a:xfrm>
            <a:off x="771754" y="36268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"After Wait"</a:t>
            </a:r>
            <a:r>
              <a:rPr lang="en-US" sz="1000" b="0" dirty="0">
                <a:solidFill>
                  <a:srgbClr val="E2E8F0"/>
                </a:solidFill>
                <a:latin typeface="Consolas"/>
                <a:ea typeface="Consolas"/>
                <a:cs typeface="Consolas"/>
              </a:rPr>
              <a:t>);</a:t>
            </a:r>
            <a:endParaRPr lang="en-US" sz="1000" dirty="0"/>
          </a:p>
        </p:txBody>
      </p:sp>
      <p:sp>
        <p:nvSpPr>
          <p:cNvPr id="31" name="tbl_head"/>
          <p:cNvSpPr/>
          <p:nvPr/>
        </p:nvSpPr>
        <p:spPr>
          <a:xfrm>
            <a:off x="6093154" y="1572768"/>
            <a:ext cx="55371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2" name="tbl_h"/>
          <p:cNvSpPr txBox="1"/>
          <p:nvPr/>
        </p:nvSpPr>
        <p:spPr>
          <a:xfrm>
            <a:off x="6221170" y="1572768"/>
            <a:ext cx="19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CALL</a:t>
            </a:r>
            <a:endParaRPr lang="en-US" sz="1000" dirty="0"/>
          </a:p>
        </p:txBody>
      </p:sp>
      <p:sp>
        <p:nvSpPr>
          <p:cNvPr id="33" name="tbl_h"/>
          <p:cNvSpPr txBox="1"/>
          <p:nvPr/>
        </p:nvSpPr>
        <p:spPr>
          <a:xfrm>
            <a:off x="8193154" y="1572768"/>
            <a:ext cx="33871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WHAT IT DOES</a:t>
            </a:r>
            <a:endParaRPr lang="en-US" sz="1000" dirty="0"/>
          </a:p>
        </p:txBody>
      </p:sp>
      <p:sp>
        <p:nvSpPr>
          <p:cNvPr id="34" name="tbl_row"/>
          <p:cNvSpPr/>
          <p:nvPr/>
        </p:nvSpPr>
        <p:spPr>
          <a:xfrm>
            <a:off x="6093154" y="1920240"/>
            <a:ext cx="5537100" cy="50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35" name="tbl_c"/>
          <p:cNvSpPr txBox="1"/>
          <p:nvPr/>
        </p:nvSpPr>
        <p:spPr>
          <a:xfrm>
            <a:off x="6221170" y="1920240"/>
            <a:ext cx="1900000" cy="5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task.Wait();</a:t>
            </a:r>
            <a:endParaRPr lang="en-US" sz="1100" dirty="0"/>
          </a:p>
        </p:txBody>
      </p:sp>
      <p:sp>
        <p:nvSpPr>
          <p:cNvPr id="36" name="tbl_c"/>
          <p:cNvSpPr txBox="1"/>
          <p:nvPr/>
        </p:nvSpPr>
        <p:spPr>
          <a:xfrm>
            <a:off x="8193154" y="1920240"/>
            <a:ext cx="3387100" cy="5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waits for completion; gives you nothing back</a:t>
            </a:r>
            <a:endParaRPr lang="en-US" sz="1100" dirty="0"/>
          </a:p>
        </p:txBody>
      </p:sp>
      <p:sp>
        <p:nvSpPr>
          <p:cNvPr id="37" name="tbl_row"/>
          <p:cNvSpPr/>
          <p:nvPr/>
        </p:nvSpPr>
        <p:spPr>
          <a:xfrm>
            <a:off x="6093154" y="2465960"/>
            <a:ext cx="5537100" cy="50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38" name="tbl_c"/>
          <p:cNvSpPr txBox="1"/>
          <p:nvPr/>
        </p:nvSpPr>
        <p:spPr>
          <a:xfrm>
            <a:off x="6221170" y="2465960"/>
            <a:ext cx="1900000" cy="5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Consolas"/>
                <a:ea typeface="Consolas"/>
                <a:cs typeface="Consolas"/>
              </a:rPr>
              <a:t>task.Result</a:t>
            </a:r>
            <a:endParaRPr lang="en-US" sz="1100" dirty="0"/>
          </a:p>
        </p:txBody>
      </p:sp>
      <p:sp>
        <p:nvSpPr>
          <p:cNvPr id="39" name="tbl_c"/>
          <p:cNvSpPr txBox="1"/>
          <p:nvPr/>
        </p:nvSpPr>
        <p:spPr>
          <a:xfrm>
            <a:off x="8193154" y="2465960"/>
            <a:ext cx="3387100" cy="5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waits for completion AND returns the value</a:t>
            </a:r>
            <a:endParaRPr lang="en-US" sz="1100" dirty="0"/>
          </a:p>
        </p:txBody>
      </p:sp>
      <p:sp>
        <p:nvSpPr>
          <p:cNvPr id="40" name="out_win"/>
          <p:cNvSpPr/>
          <p:nvPr/>
        </p:nvSpPr>
        <p:spPr>
          <a:xfrm>
            <a:off x="6093154" y="3071680"/>
            <a:ext cx="5537100" cy="106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41" name="out_bar"/>
          <p:cNvSpPr/>
          <p:nvPr/>
        </p:nvSpPr>
        <p:spPr>
          <a:xfrm>
            <a:off x="6093154" y="3071680"/>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2" name="out_barfill"/>
          <p:cNvSpPr/>
          <p:nvPr/>
        </p:nvSpPr>
        <p:spPr>
          <a:xfrm>
            <a:off x="6093154" y="3243130"/>
            <a:ext cx="5537100" cy="171450"/>
          </a:xfrm>
          <a:prstGeom prst="rect">
            <a:avLst/>
          </a:prstGeom>
          <a:solidFill>
            <a:srgbClr val="0A1220"/>
          </a:solidFill>
          <a:ln w="12700">
            <a:solidFill>
              <a:srgbClr val="0A1220"/>
            </a:solidFill>
            <a:prstDash val="solid"/>
          </a:ln>
        </p:spPr>
        <p:txBody>
          <a:bodyPr/>
          <a:lstStyle/>
          <a:p>
            <a:endParaRPr lang="en-US"/>
          </a:p>
        </p:txBody>
      </p:sp>
      <p:sp>
        <p:nvSpPr>
          <p:cNvPr id="43" name="out_dot0"/>
          <p:cNvSpPr/>
          <p:nvPr/>
        </p:nvSpPr>
        <p:spPr>
          <a:xfrm>
            <a:off x="6255002" y="3195490"/>
            <a:ext cx="95098" cy="95098"/>
          </a:xfrm>
          <a:prstGeom prst="ellipse">
            <a:avLst/>
          </a:prstGeom>
          <a:solidFill>
            <a:srgbClr val="F87171"/>
          </a:solidFill>
          <a:ln w="12700">
            <a:solidFill>
              <a:srgbClr val="F87171"/>
            </a:solidFill>
            <a:prstDash val="solid"/>
          </a:ln>
        </p:spPr>
        <p:txBody>
          <a:bodyPr/>
          <a:lstStyle/>
          <a:p>
            <a:endParaRPr lang="en-US"/>
          </a:p>
        </p:txBody>
      </p:sp>
      <p:sp>
        <p:nvSpPr>
          <p:cNvPr id="44" name="out_dot1"/>
          <p:cNvSpPr/>
          <p:nvPr/>
        </p:nvSpPr>
        <p:spPr>
          <a:xfrm>
            <a:off x="6440626" y="3195490"/>
            <a:ext cx="95098" cy="95098"/>
          </a:xfrm>
          <a:prstGeom prst="ellipse">
            <a:avLst/>
          </a:prstGeom>
          <a:solidFill>
            <a:srgbClr val="FBBF24"/>
          </a:solidFill>
          <a:ln w="12700">
            <a:solidFill>
              <a:srgbClr val="FBBF24"/>
            </a:solidFill>
            <a:prstDash val="solid"/>
          </a:ln>
        </p:spPr>
        <p:txBody>
          <a:bodyPr/>
          <a:lstStyle/>
          <a:p>
            <a:endParaRPr lang="en-US"/>
          </a:p>
        </p:txBody>
      </p:sp>
      <p:sp>
        <p:nvSpPr>
          <p:cNvPr id="45" name="out_dot2"/>
          <p:cNvSpPr/>
          <p:nvPr/>
        </p:nvSpPr>
        <p:spPr>
          <a:xfrm>
            <a:off x="6626250" y="3195490"/>
            <a:ext cx="95098" cy="95098"/>
          </a:xfrm>
          <a:prstGeom prst="ellipse">
            <a:avLst/>
          </a:prstGeom>
          <a:solidFill>
            <a:srgbClr val="34D399"/>
          </a:solidFill>
          <a:ln w="12700">
            <a:solidFill>
              <a:srgbClr val="34D399"/>
            </a:solidFill>
            <a:prstDash val="solid"/>
          </a:ln>
        </p:spPr>
        <p:txBody>
          <a:bodyPr/>
          <a:lstStyle/>
          <a:p>
            <a:endParaRPr lang="en-US"/>
          </a:p>
        </p:txBody>
      </p:sp>
      <p:sp>
        <p:nvSpPr>
          <p:cNvPr id="46" name="out_tab"/>
          <p:cNvSpPr/>
          <p:nvPr/>
        </p:nvSpPr>
        <p:spPr>
          <a:xfrm>
            <a:off x="6874051" y="3119229"/>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47" name="out_L00"/>
          <p:cNvSpPr txBox="1"/>
          <p:nvPr/>
        </p:nvSpPr>
        <p:spPr>
          <a:xfrm>
            <a:off x="6321754" y="3500128"/>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Before Wait</a:t>
            </a:r>
            <a:endParaRPr lang="en-US" sz="950" dirty="0"/>
          </a:p>
        </p:txBody>
      </p:sp>
      <p:sp>
        <p:nvSpPr>
          <p:cNvPr id="48" name="out_L01"/>
          <p:cNvSpPr txBox="1"/>
          <p:nvPr/>
        </p:nvSpPr>
        <p:spPr>
          <a:xfrm>
            <a:off x="6321754" y="3693168"/>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34D399"/>
                </a:solidFill>
                <a:latin typeface="Consolas"/>
                <a:ea typeface="Consolas"/>
                <a:cs typeface="Consolas"/>
              </a:rPr>
              <a:t>Task Completed     (about 3 s later)</a:t>
            </a:r>
            <a:endParaRPr lang="en-US" sz="950" dirty="0"/>
          </a:p>
        </p:txBody>
      </p:sp>
      <p:sp>
        <p:nvSpPr>
          <p:cNvPr id="49" name="out_L02"/>
          <p:cNvSpPr txBox="1"/>
          <p:nvPr/>
        </p:nvSpPr>
        <p:spPr>
          <a:xfrm>
            <a:off x="6321754" y="3886208"/>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After Wait</a:t>
            </a:r>
            <a:endParaRPr lang="en-US" sz="950" dirty="0"/>
          </a:p>
        </p:txBody>
      </p:sp>
      <p:sp>
        <p:nvSpPr>
          <p:cNvPr id="50" name="card"/>
          <p:cNvSpPr/>
          <p:nvPr/>
        </p:nvSpPr>
        <p:spPr>
          <a:xfrm>
            <a:off x="6093154" y="4221680"/>
            <a:ext cx="5537100" cy="728320"/>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For a Task&lt;int&gt;: </a:t>
            </a:r>
            <a:r>
              <a:rPr lang="en-US" sz="1100" b="0" dirty="0">
                <a:solidFill>
                  <a:srgbClr val="CBD5E1"/>
                </a:solidFill>
                <a:latin typeface="Segoe UI"/>
                <a:ea typeface="Segoe UI"/>
                <a:cs typeface="Segoe UI"/>
              </a:rPr>
              <a:t>Wait() does not return the int; only Result does.</a:t>
            </a:r>
            <a:endParaRPr lang="en-US" sz="1100" dirty="0"/>
          </a:p>
        </p:txBody>
      </p:sp>
      <p:sp>
        <p:nvSpPr>
          <p:cNvPr id="51"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Wait() and Result both block the current thread until the Task finishes.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3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3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300"/>
                                        <p:tgtEl>
                                          <p:spTgt spid="4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300"/>
                                        <p:tgtEl>
                                          <p:spTgt spid="4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300"/>
                                        <p:tgtEl>
                                          <p:spTgt spid="4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fade">
                                      <p:cBhvr>
                                        <p:cTn id="72" dur="300"/>
                                        <p:tgtEl>
                                          <p:spTgt spid="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3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300"/>
                                        <p:tgtEl>
                                          <p:spTgt spid="4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fade">
                                      <p:cBhvr>
                                        <p:cTn id="81" dur="300"/>
                                        <p:tgtEl>
                                          <p:spTgt spid="4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300"/>
                                        <p:tgtEl>
                                          <p:spTgt spid="4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3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3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3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3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3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30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300"/>
                                        <p:tgtEl>
                                          <p:spTgt spid="39"/>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300"/>
                                        <p:tgtEl>
                                          <p:spTgt spid="50"/>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51"/>
                                        </p:tgtEl>
                                        <p:attrNameLst>
                                          <p:attrName>style.visibility</p:attrName>
                                        </p:attrNameLst>
                                      </p:cBhvr>
                                      <p:to>
                                        <p:strVal val="visible"/>
                                      </p:to>
                                    </p:set>
                                    <p:animEffect transition="in" filter="fade">
                                      <p:cBhvr>
                                        <p:cTn id="125" dur="3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32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GETRESULT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GetAwaiter().GetResult()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78</a:t>
            </a:r>
            <a:endParaRPr lang="en-US" sz="850" dirty="0"/>
          </a:p>
        </p:txBody>
      </p:sp>
      <p:sp>
        <p:nvSpPr>
          <p:cNvPr id="15" name="cw_win"/>
          <p:cNvSpPr/>
          <p:nvPr/>
        </p:nvSpPr>
        <p:spPr>
          <a:xfrm>
            <a:off x="543154" y="1572768"/>
            <a:ext cx="5300000" cy="237660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9" name="cw_hl06"/>
          <p:cNvSpPr/>
          <p:nvPr/>
        </p:nvSpPr>
        <p:spPr>
          <a:xfrm>
            <a:off x="676656" y="3324048"/>
            <a:ext cx="5032996" cy="260096"/>
          </a:xfrm>
          <a:prstGeom prst="rect">
            <a:avLst/>
          </a:prstGeom>
          <a:solidFill>
            <a:srgbClr val="A78BFA">
              <a:alpha val="15000"/>
            </a:srgbClr>
          </a:solidFill>
          <a:ln w="12700">
            <a:solidFill>
              <a:srgbClr val="A78BFA"/>
            </a:solidFill>
            <a:prstDash val="solid"/>
          </a:ln>
        </p:spPr>
        <p:txBody>
          <a:bodyPr/>
          <a:lstStyle/>
          <a:p>
            <a:endParaRPr lang="en-US"/>
          </a:p>
        </p:txBody>
      </p:sp>
      <p:sp>
        <p:nvSpPr>
          <p:cNvPr id="22" name="cw_L00"/>
          <p:cNvSpPr txBox="1"/>
          <p:nvPr/>
        </p:nvSpPr>
        <p:spPr>
          <a:xfrm>
            <a:off x="771754" y="200121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Task&lt;</a:t>
            </a:r>
            <a:r>
              <a:rPr lang="en-US" sz="1100" b="0" dirty="0">
                <a:solidFill>
                  <a:srgbClr val="60A5FA"/>
                </a:solidFill>
                <a:latin typeface="Consolas"/>
                <a:ea typeface="Consolas"/>
                <a:cs typeface="Consolas"/>
              </a:rPr>
              <a:t>int</a:t>
            </a:r>
            <a:r>
              <a:rPr lang="en-US" sz="1100" b="0" dirty="0">
                <a:solidFill>
                  <a:srgbClr val="E2E8F0"/>
                </a:solidFill>
                <a:latin typeface="Consolas"/>
                <a:ea typeface="Consolas"/>
                <a:cs typeface="Consolas"/>
              </a:rPr>
              <a:t>&gt; task = Task.Run(() =&gt;</a:t>
            </a:r>
            <a:endParaRPr lang="en-US" sz="1100" dirty="0"/>
          </a:p>
        </p:txBody>
      </p:sp>
      <p:sp>
        <p:nvSpPr>
          <p:cNvPr id="23" name="cw_L01"/>
          <p:cNvSpPr txBox="1"/>
          <p:nvPr/>
        </p:nvSpPr>
        <p:spPr>
          <a:xfrm>
            <a:off x="771754" y="222473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4" name="cw_L02"/>
          <p:cNvSpPr txBox="1"/>
          <p:nvPr/>
        </p:nvSpPr>
        <p:spPr>
          <a:xfrm>
            <a:off x="771754" y="2448256"/>
            <a:ext cx="49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Thread.Sleep(2000);</a:t>
            </a:r>
            <a:endParaRPr lang="en-US" sz="1100" dirty="0"/>
          </a:p>
        </p:txBody>
      </p:sp>
      <p:sp>
        <p:nvSpPr>
          <p:cNvPr id="25" name="cw_L03"/>
          <p:cNvSpPr txBox="1"/>
          <p:nvPr/>
        </p:nvSpPr>
        <p:spPr>
          <a:xfrm>
            <a:off x="771754" y="2671776"/>
            <a:ext cx="491595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return </a:t>
            </a:r>
            <a:r>
              <a:rPr lang="en-US" sz="1100" b="0" dirty="0">
                <a:solidFill>
                  <a:srgbClr val="E2E8F0"/>
                </a:solidFill>
                <a:latin typeface="Consolas"/>
                <a:ea typeface="Consolas"/>
                <a:cs typeface="Consolas"/>
              </a:rPr>
              <a:t>500;</a:t>
            </a:r>
            <a:endParaRPr lang="en-US" sz="1100" dirty="0"/>
          </a:p>
        </p:txBody>
      </p:sp>
      <p:sp>
        <p:nvSpPr>
          <p:cNvPr id="26" name="cw_L04"/>
          <p:cNvSpPr txBox="1"/>
          <p:nvPr/>
        </p:nvSpPr>
        <p:spPr>
          <a:xfrm>
            <a:off x="771754" y="289529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7" name="cw_L06"/>
          <p:cNvSpPr txBox="1"/>
          <p:nvPr/>
        </p:nvSpPr>
        <p:spPr>
          <a:xfrm>
            <a:off x="771754" y="334233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int </a:t>
            </a:r>
            <a:r>
              <a:rPr lang="en-US" sz="1100" b="0" dirty="0">
                <a:solidFill>
                  <a:srgbClr val="E2E8F0"/>
                </a:solidFill>
                <a:latin typeface="Consolas"/>
                <a:ea typeface="Consolas"/>
                <a:cs typeface="Consolas"/>
              </a:rPr>
              <a:t>result = task.GetAwaiter().GetResult();</a:t>
            </a:r>
            <a:endParaRPr lang="en-US" sz="1100" dirty="0"/>
          </a:p>
        </p:txBody>
      </p:sp>
      <p:sp>
        <p:nvSpPr>
          <p:cNvPr id="28" name="cw_L07"/>
          <p:cNvSpPr txBox="1"/>
          <p:nvPr/>
        </p:nvSpPr>
        <p:spPr>
          <a:xfrm>
            <a:off x="771754" y="3565856"/>
            <a:ext cx="491595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Console.WriteLine(result);   </a:t>
            </a:r>
            <a:r>
              <a:rPr lang="en-US" sz="1100" b="0" dirty="0">
                <a:solidFill>
                  <a:srgbClr val="6FAE7A"/>
                </a:solidFill>
                <a:latin typeface="Consolas"/>
                <a:ea typeface="Consolas"/>
                <a:cs typeface="Consolas"/>
              </a:rPr>
              <a:t>// 500</a:t>
            </a:r>
            <a:endParaRPr lang="en-US" sz="1100" dirty="0"/>
          </a:p>
        </p:txBody>
      </p:sp>
      <p:sp>
        <p:nvSpPr>
          <p:cNvPr id="30" name="cw2_win"/>
          <p:cNvSpPr/>
          <p:nvPr/>
        </p:nvSpPr>
        <p:spPr>
          <a:xfrm>
            <a:off x="543154" y="4086536"/>
            <a:ext cx="5300000" cy="863464"/>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1" name="cw2_bar"/>
          <p:cNvSpPr/>
          <p:nvPr/>
        </p:nvSpPr>
        <p:spPr>
          <a:xfrm>
            <a:off x="543154" y="4086536"/>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cw2_barfill"/>
          <p:cNvSpPr/>
          <p:nvPr/>
        </p:nvSpPr>
        <p:spPr>
          <a:xfrm>
            <a:off x="543154" y="4257986"/>
            <a:ext cx="5300000" cy="171450"/>
          </a:xfrm>
          <a:prstGeom prst="rect">
            <a:avLst/>
          </a:prstGeom>
          <a:solidFill>
            <a:srgbClr val="0A1220"/>
          </a:solidFill>
          <a:ln w="12700">
            <a:solidFill>
              <a:srgbClr val="0A1220"/>
            </a:solidFill>
            <a:prstDash val="solid"/>
          </a:ln>
        </p:spPr>
        <p:txBody>
          <a:bodyPr/>
          <a:lstStyle/>
          <a:p>
            <a:endParaRPr lang="en-US"/>
          </a:p>
        </p:txBody>
      </p:sp>
      <p:sp>
        <p:nvSpPr>
          <p:cNvPr id="33" name="cw2_dot0"/>
          <p:cNvSpPr/>
          <p:nvPr/>
        </p:nvSpPr>
        <p:spPr>
          <a:xfrm>
            <a:off x="705002" y="4210346"/>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cw2_dot1"/>
          <p:cNvSpPr/>
          <p:nvPr/>
        </p:nvSpPr>
        <p:spPr>
          <a:xfrm>
            <a:off x="890626" y="4210346"/>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cw2_dot2"/>
          <p:cNvSpPr/>
          <p:nvPr/>
        </p:nvSpPr>
        <p:spPr>
          <a:xfrm>
            <a:off x="1076250" y="4210346"/>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cw2_tab"/>
          <p:cNvSpPr/>
          <p:nvPr/>
        </p:nvSpPr>
        <p:spPr>
          <a:xfrm>
            <a:off x="1324051" y="4134085"/>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Same effect</a:t>
            </a:r>
            <a:endParaRPr lang="en-US" sz="950" dirty="0"/>
          </a:p>
        </p:txBody>
      </p:sp>
      <p:sp>
        <p:nvSpPr>
          <p:cNvPr id="37" name="cw2_L00"/>
          <p:cNvSpPr txBox="1"/>
          <p:nvPr/>
        </p:nvSpPr>
        <p:spPr>
          <a:xfrm>
            <a:off x="771754" y="4514984"/>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a = task.Result;                     </a:t>
            </a:r>
            <a:r>
              <a:rPr lang="en-US" sz="1000" b="0" dirty="0">
                <a:solidFill>
                  <a:srgbClr val="6FAE7A"/>
                </a:solidFill>
                <a:latin typeface="Consolas"/>
                <a:ea typeface="Consolas"/>
                <a:cs typeface="Consolas"/>
              </a:rPr>
              <a:t>// waits if needed</a:t>
            </a:r>
            <a:endParaRPr lang="en-US" sz="1000" dirty="0"/>
          </a:p>
        </p:txBody>
      </p:sp>
      <p:sp>
        <p:nvSpPr>
          <p:cNvPr id="38" name="cw2_L01"/>
          <p:cNvSpPr txBox="1"/>
          <p:nvPr/>
        </p:nvSpPr>
        <p:spPr>
          <a:xfrm>
            <a:off x="771754" y="4718184"/>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b = task.GetAwaiter().GetResult();   </a:t>
            </a:r>
            <a:r>
              <a:rPr lang="en-US" sz="1000" b="0" dirty="0">
                <a:solidFill>
                  <a:srgbClr val="6FAE7A"/>
                </a:solidFill>
                <a:latin typeface="Consolas"/>
                <a:ea typeface="Consolas"/>
                <a:cs typeface="Consolas"/>
              </a:rPr>
              <a:t>// waits if needed</a:t>
            </a:r>
            <a:endParaRPr lang="en-US" sz="1000" dirty="0"/>
          </a:p>
        </p:txBody>
      </p:sp>
      <p:sp>
        <p:nvSpPr>
          <p:cNvPr id="39" name="box"/>
          <p:cNvSpPr/>
          <p:nvPr/>
        </p:nvSpPr>
        <p:spPr>
          <a:xfrm>
            <a:off x="6093154" y="1572768"/>
            <a:ext cx="760000" cy="520000"/>
          </a:xfrm>
          <a:prstGeom prst="roundRect">
            <a:avLst>
              <a:gd name="adj" fmla="val 12000"/>
            </a:avLst>
          </a:prstGeom>
          <a:solidFill>
            <a:srgbClr val="111B2E"/>
          </a:solidFill>
          <a:ln w="19050">
            <a:solidFill>
              <a:srgbClr val="1E3A5F"/>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FFFFFF"/>
                </a:solidFill>
                <a:latin typeface="Consolas"/>
                <a:ea typeface="Consolas"/>
                <a:cs typeface="Consolas"/>
              </a:rPr>
              <a:t>task</a:t>
            </a:r>
            <a:endParaRPr lang="en-US" sz="1150" dirty="0"/>
          </a:p>
        </p:txBody>
      </p:sp>
      <p:sp>
        <p:nvSpPr>
          <p:cNvPr id="40" name="box"/>
          <p:cNvSpPr/>
          <p:nvPr/>
        </p:nvSpPr>
        <p:spPr>
          <a:xfrm>
            <a:off x="6893154" y="1572768"/>
            <a:ext cx="2110000" cy="52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4D91F0"/>
                </a:solidFill>
                <a:latin typeface="Consolas"/>
                <a:ea typeface="Consolas"/>
                <a:cs typeface="Consolas"/>
              </a:rPr>
              <a:t>.GetAwaiter()</a:t>
            </a:r>
            <a:endParaRPr lang="en-US" sz="1150" dirty="0"/>
          </a:p>
        </p:txBody>
      </p:sp>
      <p:sp>
        <p:nvSpPr>
          <p:cNvPr id="41" name="box"/>
          <p:cNvSpPr/>
          <p:nvPr/>
        </p:nvSpPr>
        <p:spPr>
          <a:xfrm>
            <a:off x="9043154" y="1572768"/>
            <a:ext cx="2547100" cy="52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150" b="1" dirty="0">
                <a:solidFill>
                  <a:srgbClr val="34D399"/>
                </a:solidFill>
                <a:latin typeface="Consolas"/>
                <a:ea typeface="Consolas"/>
                <a:cs typeface="Consolas"/>
              </a:rPr>
              <a:t>.GetResult()</a:t>
            </a:r>
            <a:endParaRPr lang="en-US" sz="1150" dirty="0"/>
          </a:p>
        </p:txBody>
      </p:sp>
      <p:sp>
        <p:nvSpPr>
          <p:cNvPr id="42" name="card"/>
          <p:cNvSpPr/>
          <p:nvPr/>
        </p:nvSpPr>
        <p:spPr>
          <a:xfrm>
            <a:off x="6093154" y="2212768"/>
            <a:ext cx="5537100" cy="1000000"/>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4D91F0"/>
                </a:solidFill>
                <a:latin typeface="Segoe UI"/>
                <a:ea typeface="Segoe UI"/>
                <a:cs typeface="Segoe UI"/>
              </a:rPr>
              <a:t>GetAwaiter()</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Gets the awaiter for the Task: the object that supports awaiting, such as checking completion and retrieving the result.</a:t>
            </a:r>
            <a:endParaRPr lang="en-US" sz="1100" dirty="0"/>
          </a:p>
        </p:txBody>
      </p:sp>
      <p:sp>
        <p:nvSpPr>
          <p:cNvPr id="43" name="card"/>
          <p:cNvSpPr/>
          <p:nvPr/>
        </p:nvSpPr>
        <p:spPr>
          <a:xfrm>
            <a:off x="6093154" y="3312768"/>
            <a:ext cx="5537100" cy="90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GetResult()</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Gets the result. On an incomplete Task it BLOCKS the calling thread until the Task completes.</a:t>
            </a:r>
            <a:endParaRPr lang="en-US" sz="1100" dirty="0"/>
          </a:p>
        </p:txBody>
      </p:sp>
      <p:sp>
        <p:nvSpPr>
          <p:cNvPr id="44" name="card"/>
          <p:cNvSpPr/>
          <p:nvPr/>
        </p:nvSpPr>
        <p:spPr>
          <a:xfrm>
            <a:off x="6093154" y="4312768"/>
            <a:ext cx="5537100" cy="637232"/>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FBBF24"/>
                </a:solidFill>
                <a:latin typeface="Segoe UI"/>
                <a:ea typeface="Segoe UI"/>
                <a:cs typeface="Segoe UI"/>
              </a:rPr>
              <a:t>SO WHAT IS DIFFERENT?</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Both wait synchronously. The main difference to learn first: exceptions (next slide).</a:t>
            </a:r>
            <a:endParaRPr lang="en-US" sz="1100" dirty="0"/>
          </a:p>
        </p:txBody>
      </p:sp>
      <p:sp>
        <p:nvSpPr>
          <p:cNvPr id="45"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task.GetAwaiter().GetResult() waits just like .Result: it still blocks the calling thread.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3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3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300"/>
                                        <p:tgtEl>
                                          <p:spTgt spid="4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300"/>
                                        <p:tgtEl>
                                          <p:spTgt spid="4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300"/>
                                        <p:tgtEl>
                                          <p:spTgt spid="4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3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3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3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3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3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3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3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3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300"/>
                                        <p:tgtEl>
                                          <p:spTgt spid="3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300"/>
                                        <p:tgtEl>
                                          <p:spTgt spid="4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3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9"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EXCEPTIONS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 the Task Fails: Which Exception?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79</a:t>
            </a:r>
            <a:endParaRPr lang="en-US" sz="850" dirty="0"/>
          </a:p>
        </p:txBody>
      </p:sp>
      <p:sp>
        <p:nvSpPr>
          <p:cNvPr id="15" name="cwa_win"/>
          <p:cNvSpPr/>
          <p:nvPr/>
        </p:nvSpPr>
        <p:spPr>
          <a:xfrm>
            <a:off x="543154" y="1572768"/>
            <a:ext cx="5406390" cy="15036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a_bar"/>
          <p:cNvSpPr/>
          <p:nvPr/>
        </p:nvSpPr>
        <p:spPr>
          <a:xfrm>
            <a:off x="54315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a_barfill"/>
          <p:cNvSpPr/>
          <p:nvPr/>
        </p:nvSpPr>
        <p:spPr>
          <a:xfrm>
            <a:off x="54315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18" name="cwa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a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a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a_tab"/>
          <p:cNvSpPr/>
          <p:nvPr/>
        </p:nvSpPr>
        <p:spPr>
          <a:xfrm>
            <a:off x="1324051" y="1620317"/>
            <a:ext cx="134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WithResult.cs</a:t>
            </a:r>
            <a:endParaRPr lang="en-US" sz="950" dirty="0"/>
          </a:p>
        </p:txBody>
      </p:sp>
      <p:sp>
        <p:nvSpPr>
          <p:cNvPr id="39" name="cw_hl04"/>
          <p:cNvSpPr/>
          <p:nvPr/>
        </p:nvSpPr>
        <p:spPr>
          <a:xfrm>
            <a:off x="676656" y="2755088"/>
            <a:ext cx="5139386" cy="22961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a_L00"/>
          <p:cNvSpPr txBox="1"/>
          <p:nvPr/>
        </p:nvSpPr>
        <p:spPr>
          <a:xfrm>
            <a:off x="771754" y="20012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task = Task.Run&lt;</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=&gt;</a:t>
            </a:r>
            <a:endParaRPr lang="en-US" sz="950" dirty="0"/>
          </a:p>
        </p:txBody>
      </p:sp>
      <p:sp>
        <p:nvSpPr>
          <p:cNvPr id="23" name="cwa_L01"/>
          <p:cNvSpPr txBox="1"/>
          <p:nvPr/>
        </p:nvSpPr>
        <p:spPr>
          <a:xfrm>
            <a:off x="771754" y="21942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a_L02"/>
          <p:cNvSpPr txBox="1"/>
          <p:nvPr/>
        </p:nvSpPr>
        <p:spPr>
          <a:xfrm>
            <a:off x="771754" y="238729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throw </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InvalidOperationException(</a:t>
            </a:r>
            <a:r>
              <a:rPr lang="en-US" sz="950" b="0" dirty="0">
                <a:solidFill>
                  <a:srgbClr val="F0A98B"/>
                </a:solidFill>
                <a:latin typeface="Consolas"/>
                <a:ea typeface="Consolas"/>
                <a:cs typeface="Consolas"/>
              </a:rPr>
              <a:t>"Calculation failed"</a:t>
            </a:r>
            <a:r>
              <a:rPr lang="en-US" sz="950" b="0" dirty="0">
                <a:solidFill>
                  <a:srgbClr val="E2E8F0"/>
                </a:solidFill>
                <a:latin typeface="Consolas"/>
                <a:ea typeface="Consolas"/>
                <a:cs typeface="Consolas"/>
              </a:rPr>
              <a:t>);</a:t>
            </a:r>
            <a:endParaRPr lang="en-US" sz="950" dirty="0"/>
          </a:p>
        </p:txBody>
      </p:sp>
      <p:sp>
        <p:nvSpPr>
          <p:cNvPr id="25" name="cwa_L03"/>
          <p:cNvSpPr txBox="1"/>
          <p:nvPr/>
        </p:nvSpPr>
        <p:spPr>
          <a:xfrm>
            <a:off x="771754" y="258033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6" name="cwa_L04"/>
          <p:cNvSpPr txBox="1"/>
          <p:nvPr/>
        </p:nvSpPr>
        <p:spPr>
          <a:xfrm>
            <a:off x="771754" y="277337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result = task.Result;</a:t>
            </a:r>
            <a:endParaRPr lang="en-US" sz="950" dirty="0"/>
          </a:p>
        </p:txBody>
      </p:sp>
      <p:sp>
        <p:nvSpPr>
          <p:cNvPr id="27" name="cwb_win"/>
          <p:cNvSpPr/>
          <p:nvPr/>
        </p:nvSpPr>
        <p:spPr>
          <a:xfrm>
            <a:off x="6223864" y="1572768"/>
            <a:ext cx="5406390" cy="150364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8" name="cwb_bar"/>
          <p:cNvSpPr/>
          <p:nvPr/>
        </p:nvSpPr>
        <p:spPr>
          <a:xfrm>
            <a:off x="622386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9" name="cwb_barfill"/>
          <p:cNvSpPr/>
          <p:nvPr/>
        </p:nvSpPr>
        <p:spPr>
          <a:xfrm>
            <a:off x="622386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30" name="cwb_dot0"/>
          <p:cNvSpPr/>
          <p:nvPr/>
        </p:nvSpPr>
        <p:spPr>
          <a:xfrm>
            <a:off x="638571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1" name="cwb_dot1"/>
          <p:cNvSpPr/>
          <p:nvPr/>
        </p:nvSpPr>
        <p:spPr>
          <a:xfrm>
            <a:off x="657133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2" name="cwb_dot2"/>
          <p:cNvSpPr/>
          <p:nvPr/>
        </p:nvSpPr>
        <p:spPr>
          <a:xfrm>
            <a:off x="675696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3" name="cwb_tab"/>
          <p:cNvSpPr/>
          <p:nvPr/>
        </p:nvSpPr>
        <p:spPr>
          <a:xfrm>
            <a:off x="7004761" y="1620317"/>
            <a:ext cx="15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WithGetResult.cs</a:t>
            </a:r>
            <a:endParaRPr lang="en-US" sz="950" dirty="0"/>
          </a:p>
        </p:txBody>
      </p:sp>
      <p:sp>
        <p:nvSpPr>
          <p:cNvPr id="40" name="cw_hl04"/>
          <p:cNvSpPr/>
          <p:nvPr/>
        </p:nvSpPr>
        <p:spPr>
          <a:xfrm>
            <a:off x="6357366" y="2755088"/>
            <a:ext cx="5139386" cy="229616"/>
          </a:xfrm>
          <a:prstGeom prst="rect">
            <a:avLst/>
          </a:prstGeom>
          <a:solidFill>
            <a:srgbClr val="A78BFA">
              <a:alpha val="15000"/>
            </a:srgbClr>
          </a:solidFill>
          <a:ln w="12700">
            <a:solidFill>
              <a:srgbClr val="A78BFA"/>
            </a:solidFill>
            <a:prstDash val="solid"/>
          </a:ln>
        </p:spPr>
        <p:txBody>
          <a:bodyPr/>
          <a:lstStyle/>
          <a:p>
            <a:endParaRPr lang="en-US"/>
          </a:p>
        </p:txBody>
      </p:sp>
      <p:sp>
        <p:nvSpPr>
          <p:cNvPr id="34" name="cwb_L00"/>
          <p:cNvSpPr txBox="1"/>
          <p:nvPr/>
        </p:nvSpPr>
        <p:spPr>
          <a:xfrm>
            <a:off x="6452464" y="20012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task = Task.Run&lt;</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=&gt;</a:t>
            </a:r>
            <a:endParaRPr lang="en-US" sz="950" dirty="0"/>
          </a:p>
        </p:txBody>
      </p:sp>
      <p:sp>
        <p:nvSpPr>
          <p:cNvPr id="35" name="cwb_L01"/>
          <p:cNvSpPr txBox="1"/>
          <p:nvPr/>
        </p:nvSpPr>
        <p:spPr>
          <a:xfrm>
            <a:off x="6452464" y="21942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cwb_L02"/>
          <p:cNvSpPr txBox="1"/>
          <p:nvPr/>
        </p:nvSpPr>
        <p:spPr>
          <a:xfrm>
            <a:off x="6452464" y="238729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throw </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InvalidOperationException(</a:t>
            </a:r>
            <a:r>
              <a:rPr lang="en-US" sz="950" b="0" dirty="0">
                <a:solidFill>
                  <a:srgbClr val="F0A98B"/>
                </a:solidFill>
                <a:latin typeface="Consolas"/>
                <a:ea typeface="Consolas"/>
                <a:cs typeface="Consolas"/>
              </a:rPr>
              <a:t>"Calculation failed"</a:t>
            </a:r>
            <a:r>
              <a:rPr lang="en-US" sz="950" b="0" dirty="0">
                <a:solidFill>
                  <a:srgbClr val="E2E8F0"/>
                </a:solidFill>
                <a:latin typeface="Consolas"/>
                <a:ea typeface="Consolas"/>
                <a:cs typeface="Consolas"/>
              </a:rPr>
              <a:t>);</a:t>
            </a:r>
            <a:endParaRPr lang="en-US" sz="950" dirty="0"/>
          </a:p>
        </p:txBody>
      </p:sp>
      <p:sp>
        <p:nvSpPr>
          <p:cNvPr id="37" name="cwb_L03"/>
          <p:cNvSpPr txBox="1"/>
          <p:nvPr/>
        </p:nvSpPr>
        <p:spPr>
          <a:xfrm>
            <a:off x="6452464" y="258033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8" name="cwb_L04"/>
          <p:cNvSpPr txBox="1"/>
          <p:nvPr/>
        </p:nvSpPr>
        <p:spPr>
          <a:xfrm>
            <a:off x="6452464" y="277337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result = task.GetAwaiter().GetResult();</a:t>
            </a:r>
            <a:endParaRPr lang="en-US" sz="950" dirty="0"/>
          </a:p>
        </p:txBody>
      </p:sp>
      <p:sp>
        <p:nvSpPr>
          <p:cNvPr id="41" name="exc"/>
          <p:cNvSpPr/>
          <p:nvPr/>
        </p:nvSpPr>
        <p:spPr>
          <a:xfrm>
            <a:off x="543154" y="3166416"/>
            <a:ext cx="5406390" cy="380000"/>
          </a:xfrm>
          <a:prstGeom prst="roundRect">
            <a:avLst>
              <a:gd name="adj" fmla="val 15000"/>
            </a:avLst>
          </a:prstGeom>
          <a:solidFill>
            <a:srgbClr val="2A1215"/>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87171"/>
                </a:solidFill>
                <a:latin typeface="Consolas"/>
                <a:ea typeface="Consolas"/>
                <a:cs typeface="Consolas"/>
              </a:rPr>
              <a:t>AggregateException  (wraps the original)</a:t>
            </a:r>
            <a:endParaRPr lang="en-US" sz="1050" dirty="0"/>
          </a:p>
        </p:txBody>
      </p:sp>
      <p:sp>
        <p:nvSpPr>
          <p:cNvPr id="42" name="exc"/>
          <p:cNvSpPr/>
          <p:nvPr/>
        </p:nvSpPr>
        <p:spPr>
          <a:xfrm>
            <a:off x="6223864" y="3166416"/>
            <a:ext cx="5406390" cy="380000"/>
          </a:xfrm>
          <a:prstGeom prst="roundRect">
            <a:avLst>
              <a:gd name="adj" fmla="val 15000"/>
            </a:avLst>
          </a:prstGeom>
          <a:solidFill>
            <a:srgbClr val="2A1215"/>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50" b="1" dirty="0">
                <a:solidFill>
                  <a:srgbClr val="F87171"/>
                </a:solidFill>
                <a:latin typeface="Consolas"/>
                <a:ea typeface="Consolas"/>
                <a:cs typeface="Consolas"/>
              </a:rPr>
              <a:t>InvalidOperationException  (the original)</a:t>
            </a:r>
            <a:endParaRPr lang="en-US" sz="1050" dirty="0"/>
          </a:p>
        </p:txBody>
      </p:sp>
      <p:sp>
        <p:nvSpPr>
          <p:cNvPr id="43" name="tbl_head"/>
          <p:cNvSpPr/>
          <p:nvPr/>
        </p:nvSpPr>
        <p:spPr>
          <a:xfrm>
            <a:off x="543154" y="3626416"/>
            <a:ext cx="11087100" cy="240000"/>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4" name="tbl_h"/>
          <p:cNvSpPr txBox="1"/>
          <p:nvPr/>
        </p:nvSpPr>
        <p:spPr>
          <a:xfrm>
            <a:off x="671170" y="3626416"/>
            <a:ext cx="40000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45" name="tbl_h"/>
          <p:cNvSpPr txBox="1"/>
          <p:nvPr/>
        </p:nvSpPr>
        <p:spPr>
          <a:xfrm>
            <a:off x="4843154" y="3626416"/>
            <a:ext cx="66871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EXCEPTION BEHAVIOR</a:t>
            </a:r>
            <a:endParaRPr lang="en-US" sz="1000" dirty="0"/>
          </a:p>
        </p:txBody>
      </p:sp>
      <p:sp>
        <p:nvSpPr>
          <p:cNvPr id="46" name="tbl_row"/>
          <p:cNvSpPr/>
          <p:nvPr/>
        </p:nvSpPr>
        <p:spPr>
          <a:xfrm>
            <a:off x="543154" y="3921280"/>
            <a:ext cx="11087100" cy="27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47" name="tbl_c"/>
          <p:cNvSpPr txBox="1"/>
          <p:nvPr/>
        </p:nvSpPr>
        <p:spPr>
          <a:xfrm>
            <a:off x="671170" y="3921280"/>
            <a:ext cx="40000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BBF24"/>
                </a:solidFill>
                <a:latin typeface="Consolas"/>
                <a:ea typeface="Consolas"/>
                <a:cs typeface="Consolas"/>
              </a:rPr>
              <a:t>.Wait()</a:t>
            </a:r>
            <a:endParaRPr lang="en-US" sz="1000" dirty="0"/>
          </a:p>
        </p:txBody>
      </p:sp>
      <p:sp>
        <p:nvSpPr>
          <p:cNvPr id="48" name="tbl_c"/>
          <p:cNvSpPr txBox="1"/>
          <p:nvPr/>
        </p:nvSpPr>
        <p:spPr>
          <a:xfrm>
            <a:off x="4843154" y="3921280"/>
            <a:ext cx="66871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usually wraps the failure in AggregateException</a:t>
            </a:r>
            <a:endParaRPr lang="en-US" sz="1000" dirty="0"/>
          </a:p>
        </p:txBody>
      </p:sp>
      <p:sp>
        <p:nvSpPr>
          <p:cNvPr id="49" name="tbl_row"/>
          <p:cNvSpPr/>
          <p:nvPr/>
        </p:nvSpPr>
        <p:spPr>
          <a:xfrm>
            <a:off x="543154" y="4221280"/>
            <a:ext cx="11087100" cy="27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50" name="tbl_c"/>
          <p:cNvSpPr txBox="1"/>
          <p:nvPr/>
        </p:nvSpPr>
        <p:spPr>
          <a:xfrm>
            <a:off x="671170" y="4221280"/>
            <a:ext cx="40000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BBF24"/>
                </a:solidFill>
                <a:latin typeface="Consolas"/>
                <a:ea typeface="Consolas"/>
                <a:cs typeface="Consolas"/>
              </a:rPr>
              <a:t>.Result</a:t>
            </a:r>
            <a:endParaRPr lang="en-US" sz="1000" dirty="0"/>
          </a:p>
        </p:txBody>
      </p:sp>
      <p:sp>
        <p:nvSpPr>
          <p:cNvPr id="51" name="tbl_c"/>
          <p:cNvSpPr txBox="1"/>
          <p:nvPr/>
        </p:nvSpPr>
        <p:spPr>
          <a:xfrm>
            <a:off x="4843154" y="4221280"/>
            <a:ext cx="66871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usually wraps the failure in AggregateException</a:t>
            </a:r>
            <a:endParaRPr lang="en-US" sz="1000" dirty="0"/>
          </a:p>
        </p:txBody>
      </p:sp>
      <p:sp>
        <p:nvSpPr>
          <p:cNvPr id="52" name="tbl_row"/>
          <p:cNvSpPr/>
          <p:nvPr/>
        </p:nvSpPr>
        <p:spPr>
          <a:xfrm>
            <a:off x="543154" y="4521280"/>
            <a:ext cx="11087100" cy="27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53" name="tbl_c"/>
          <p:cNvSpPr txBox="1"/>
          <p:nvPr/>
        </p:nvSpPr>
        <p:spPr>
          <a:xfrm>
            <a:off x="671170" y="4521280"/>
            <a:ext cx="40000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A78BFA"/>
                </a:solidFill>
                <a:latin typeface="Consolas"/>
                <a:ea typeface="Consolas"/>
                <a:cs typeface="Consolas"/>
              </a:rPr>
              <a:t>.GetAwaiter().GetResult()</a:t>
            </a:r>
            <a:endParaRPr lang="en-US" sz="1000" dirty="0"/>
          </a:p>
        </p:txBody>
      </p:sp>
      <p:sp>
        <p:nvSpPr>
          <p:cNvPr id="54" name="tbl_c"/>
          <p:cNvSpPr txBox="1"/>
          <p:nvPr/>
        </p:nvSpPr>
        <p:spPr>
          <a:xfrm>
            <a:off x="4843154" y="4521280"/>
            <a:ext cx="66871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propagates the underlying exception</a:t>
            </a:r>
            <a:endParaRPr lang="en-US" sz="1000" dirty="0"/>
          </a:p>
        </p:txBody>
      </p:sp>
      <p:sp>
        <p:nvSpPr>
          <p:cNvPr id="55" name="tbl_row"/>
          <p:cNvSpPr/>
          <p:nvPr/>
        </p:nvSpPr>
        <p:spPr>
          <a:xfrm>
            <a:off x="543154" y="4821280"/>
            <a:ext cx="11087100" cy="270000"/>
          </a:xfrm>
          <a:prstGeom prst="roundRect">
            <a:avLst>
              <a:gd name="adj" fmla="val 17777"/>
            </a:avLst>
          </a:prstGeom>
          <a:solidFill>
            <a:srgbClr val="111B2E"/>
          </a:solidFill>
          <a:ln w="12700">
            <a:solidFill>
              <a:srgbClr val="34D399"/>
            </a:solidFill>
            <a:prstDash val="solid"/>
          </a:ln>
        </p:spPr>
        <p:txBody>
          <a:bodyPr/>
          <a:lstStyle/>
          <a:p>
            <a:endParaRPr lang="en-US"/>
          </a:p>
        </p:txBody>
      </p:sp>
      <p:sp>
        <p:nvSpPr>
          <p:cNvPr id="56" name="tbl_c"/>
          <p:cNvSpPr txBox="1"/>
          <p:nvPr/>
        </p:nvSpPr>
        <p:spPr>
          <a:xfrm>
            <a:off x="671170" y="4821280"/>
            <a:ext cx="40000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await   (Part 6)</a:t>
            </a:r>
            <a:endParaRPr lang="en-US" sz="1000" dirty="0"/>
          </a:p>
        </p:txBody>
      </p:sp>
      <p:sp>
        <p:nvSpPr>
          <p:cNvPr id="57" name="tbl_c"/>
          <p:cNvSpPr txBox="1"/>
          <p:nvPr/>
        </p:nvSpPr>
        <p:spPr>
          <a:xfrm>
            <a:off x="4843154" y="4821280"/>
            <a:ext cx="6687100" cy="27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propagates the underlying exception</a:t>
            </a:r>
            <a:endParaRPr lang="en-US" sz="1000" dirty="0"/>
          </a:p>
        </p:txBody>
      </p:sp>
      <p:sp>
        <p:nvSpPr>
          <p:cNvPr id="58" name="banner"/>
          <p:cNvSpPr/>
          <p:nvPr/>
        </p:nvSpPr>
        <p:spPr>
          <a:xfrm>
            <a:off x="543154" y="5250000"/>
            <a:ext cx="11087100" cy="600000"/>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That is why some developers prefer GetAwaiter().GetResult() over .Result. But neither is a solution to blocking.</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3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3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3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300"/>
                                        <p:tgtEl>
                                          <p:spTgt spid="2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3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3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3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3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3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3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300"/>
                                        <p:tgtEl>
                                          <p:spTgt spid="4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3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300"/>
                                        <p:tgtEl>
                                          <p:spTgt spid="4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3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300"/>
                                        <p:tgtEl>
                                          <p:spTgt spid="4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3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300"/>
                                        <p:tgtEl>
                                          <p:spTgt spid="4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3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300"/>
                                        <p:tgtEl>
                                          <p:spTgt spid="5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300"/>
                                        <p:tgtEl>
                                          <p:spTgt spid="51"/>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52"/>
                                        </p:tgtEl>
                                        <p:attrNameLst>
                                          <p:attrName>style.visibility</p:attrName>
                                        </p:attrNameLst>
                                      </p:cBhvr>
                                      <p:to>
                                        <p:strVal val="visible"/>
                                      </p:to>
                                    </p:set>
                                    <p:animEffect transition="in" filter="fade">
                                      <p:cBhvr>
                                        <p:cTn id="128" dur="300"/>
                                        <p:tgtEl>
                                          <p:spTgt spid="5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3"/>
                                        </p:tgtEl>
                                        <p:attrNameLst>
                                          <p:attrName>style.visibility</p:attrName>
                                        </p:attrNameLst>
                                      </p:cBhvr>
                                      <p:to>
                                        <p:strVal val="visible"/>
                                      </p:to>
                                    </p:set>
                                    <p:animEffect transition="in" filter="fade">
                                      <p:cBhvr>
                                        <p:cTn id="131" dur="300"/>
                                        <p:tgtEl>
                                          <p:spTgt spid="5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4"/>
                                        </p:tgtEl>
                                        <p:attrNameLst>
                                          <p:attrName>style.visibility</p:attrName>
                                        </p:attrNameLst>
                                      </p:cBhvr>
                                      <p:to>
                                        <p:strVal val="visible"/>
                                      </p:to>
                                    </p:set>
                                    <p:animEffect transition="in" filter="fade">
                                      <p:cBhvr>
                                        <p:cTn id="134" dur="300"/>
                                        <p:tgtEl>
                                          <p:spTgt spid="54"/>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5"/>
                                        </p:tgtEl>
                                        <p:attrNameLst>
                                          <p:attrName>style.visibility</p:attrName>
                                        </p:attrNameLst>
                                      </p:cBhvr>
                                      <p:to>
                                        <p:strVal val="visible"/>
                                      </p:to>
                                    </p:set>
                                    <p:animEffect transition="in" filter="fade">
                                      <p:cBhvr>
                                        <p:cTn id="137" dur="300"/>
                                        <p:tgtEl>
                                          <p:spTgt spid="55"/>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fade">
                                      <p:cBhvr>
                                        <p:cTn id="140" dur="300"/>
                                        <p:tgtEl>
                                          <p:spTgt spid="5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7"/>
                                        </p:tgtEl>
                                        <p:attrNameLst>
                                          <p:attrName>style.visibility</p:attrName>
                                        </p:attrNameLst>
                                      </p:cBhvr>
                                      <p:to>
                                        <p:strVal val="visible"/>
                                      </p:to>
                                    </p:set>
                                    <p:animEffect transition="in" filter="fade">
                                      <p:cBhvr>
                                        <p:cTn id="143" dur="300"/>
                                        <p:tgtEl>
                                          <p:spTgt spid="57"/>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fade">
                                      <p:cBhvr>
                                        <p:cTn id="148"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9"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40" grpId="0" animBg="1"/>
      <p:bldP spid="34" grpId="0" animBg="1"/>
      <p:bldP spid="35" grpId="0" animBg="1"/>
      <p:bldP spid="36" grpId="0" animBg="1"/>
      <p:bldP spid="37" grpId="0" animBg="1"/>
      <p:bldP spid="38"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32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LIFECYCLE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Task Lifecycle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80</a:t>
            </a:r>
            <a:endParaRPr lang="en-US" sz="850" dirty="0"/>
          </a:p>
        </p:txBody>
      </p:sp>
      <p:sp>
        <p:nvSpPr>
          <p:cNvPr id="15" name="caption"/>
          <p:cNvSpPr/>
          <p:nvPr/>
        </p:nvSpPr>
        <p:spPr>
          <a:xfrm>
            <a:off x="543154" y="1572768"/>
            <a:ext cx="5300000" cy="70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00" b="0" dirty="0">
                <a:solidFill>
                  <a:srgbClr val="FFFFFF"/>
                </a:solidFill>
                <a:latin typeface="Segoe UI"/>
                <a:ea typeface="Segoe UI"/>
                <a:cs typeface="Segoe UI"/>
              </a:rPr>
              <a:t>We can create a Task and get its result. But how does .NET know if it is waiting, running, completed or failed?</a:t>
            </a:r>
            <a:endParaRPr lang="en-US" sz="1100" dirty="0"/>
          </a:p>
        </p:txBody>
      </p:sp>
      <p:sp>
        <p:nvSpPr>
          <p:cNvPr id="16" name="cw_win"/>
          <p:cNvSpPr/>
          <p:nvPr/>
        </p:nvSpPr>
        <p:spPr>
          <a:xfrm>
            <a:off x="543154" y="2392768"/>
            <a:ext cx="5300000" cy="255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239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256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251657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251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50" y="251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244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8212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task = Task.Run(() =&gt;</a:t>
            </a:r>
            <a:endParaRPr lang="en-US" sz="1000" dirty="0"/>
          </a:p>
        </p:txBody>
      </p:sp>
      <p:sp>
        <p:nvSpPr>
          <p:cNvPr id="24" name="cw_L01"/>
          <p:cNvSpPr txBox="1"/>
          <p:nvPr/>
        </p:nvSpPr>
        <p:spPr>
          <a:xfrm>
            <a:off x="771754" y="30244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5" name="cw_L02"/>
          <p:cNvSpPr txBox="1"/>
          <p:nvPr/>
        </p:nvSpPr>
        <p:spPr>
          <a:xfrm>
            <a:off x="771754" y="3227616"/>
            <a:ext cx="49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Thread.Sleep(3000);</a:t>
            </a:r>
            <a:endParaRPr lang="en-US" sz="1000" dirty="0"/>
          </a:p>
        </p:txBody>
      </p:sp>
      <p:sp>
        <p:nvSpPr>
          <p:cNvPr id="26" name="cw_L03"/>
          <p:cNvSpPr txBox="1"/>
          <p:nvPr/>
        </p:nvSpPr>
        <p:spPr>
          <a:xfrm>
            <a:off x="771754" y="34308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8372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Console.WriteLine(task.Status);  </a:t>
            </a:r>
            <a:r>
              <a:rPr lang="en-US" sz="1000" b="0" dirty="0">
                <a:solidFill>
                  <a:srgbClr val="6FAE7A"/>
                </a:solidFill>
                <a:latin typeface="Consolas"/>
                <a:ea typeface="Consolas"/>
                <a:cs typeface="Consolas"/>
              </a:rPr>
              <a:t>// WaitingToRun or Running</a:t>
            </a:r>
            <a:endParaRPr lang="en-US" sz="1000" dirty="0"/>
          </a:p>
        </p:txBody>
      </p:sp>
      <p:sp>
        <p:nvSpPr>
          <p:cNvPr id="28" name="cw_L06"/>
          <p:cNvSpPr txBox="1"/>
          <p:nvPr/>
        </p:nvSpPr>
        <p:spPr>
          <a:xfrm>
            <a:off x="771754" y="40404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task.Wait();</a:t>
            </a:r>
            <a:endParaRPr lang="en-US" sz="1000" dirty="0"/>
          </a:p>
        </p:txBody>
      </p:sp>
      <p:sp>
        <p:nvSpPr>
          <p:cNvPr id="29" name="cw_L07"/>
          <p:cNvSpPr txBox="1"/>
          <p:nvPr/>
        </p:nvSpPr>
        <p:spPr>
          <a:xfrm>
            <a:off x="771754" y="4243616"/>
            <a:ext cx="49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Console.WriteLine(task.Status);  </a:t>
            </a:r>
            <a:r>
              <a:rPr lang="en-US" sz="1000" b="0" dirty="0">
                <a:solidFill>
                  <a:srgbClr val="6FAE7A"/>
                </a:solidFill>
                <a:latin typeface="Consolas"/>
                <a:ea typeface="Consolas"/>
                <a:cs typeface="Consolas"/>
              </a:rPr>
              <a:t>// RanToCompletion</a:t>
            </a:r>
            <a:endParaRPr lang="en-US" sz="1000" dirty="0"/>
          </a:p>
        </p:txBody>
      </p:sp>
      <p:sp>
        <p:nvSpPr>
          <p:cNvPr id="30" name="box"/>
          <p:cNvSpPr/>
          <p:nvPr/>
        </p:nvSpPr>
        <p:spPr>
          <a:xfrm>
            <a:off x="6093154" y="1572768"/>
            <a:ext cx="1679033" cy="440000"/>
          </a:xfrm>
          <a:prstGeom prst="roundRect">
            <a:avLst>
              <a:gd name="adj" fmla="val 12000"/>
            </a:avLst>
          </a:prstGeom>
          <a:solidFill>
            <a:srgbClr val="111B2E"/>
          </a:solidFill>
          <a:ln w="1905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Consolas"/>
                <a:ea typeface="Consolas"/>
                <a:cs typeface="Consolas"/>
              </a:rPr>
              <a:t>Created</a:t>
            </a:r>
            <a:endParaRPr lang="en-US" sz="1000" dirty="0"/>
          </a:p>
        </p:txBody>
      </p:sp>
      <p:sp>
        <p:nvSpPr>
          <p:cNvPr id="31" name="lab"/>
          <p:cNvSpPr txBox="1"/>
          <p:nvPr/>
        </p:nvSpPr>
        <p:spPr>
          <a:xfrm>
            <a:off x="6093154" y="204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created, not started</a:t>
            </a:r>
            <a:endParaRPr lang="en-US" sz="950" dirty="0"/>
          </a:p>
        </p:txBody>
      </p:sp>
      <p:sp>
        <p:nvSpPr>
          <p:cNvPr id="32" name="box"/>
          <p:cNvSpPr/>
          <p:nvPr/>
        </p:nvSpPr>
        <p:spPr>
          <a:xfrm>
            <a:off x="8022187" y="1572768"/>
            <a:ext cx="1679033" cy="44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Consolas"/>
                <a:ea typeface="Consolas"/>
                <a:cs typeface="Consolas"/>
              </a:rPr>
              <a:t>WaitingToRun</a:t>
            </a:r>
            <a:endParaRPr lang="en-US" sz="1000" dirty="0"/>
          </a:p>
        </p:txBody>
      </p:sp>
      <p:sp>
        <p:nvSpPr>
          <p:cNvPr id="33" name="lab"/>
          <p:cNvSpPr txBox="1"/>
          <p:nvPr/>
        </p:nvSpPr>
        <p:spPr>
          <a:xfrm>
            <a:off x="8022187" y="204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scheduled, waiting</a:t>
            </a:r>
            <a:endParaRPr lang="en-US" sz="950" dirty="0"/>
          </a:p>
        </p:txBody>
      </p:sp>
      <p:sp>
        <p:nvSpPr>
          <p:cNvPr id="34" name="box"/>
          <p:cNvSpPr/>
          <p:nvPr/>
        </p:nvSpPr>
        <p:spPr>
          <a:xfrm>
            <a:off x="9951220" y="1572768"/>
            <a:ext cx="1679033" cy="440000"/>
          </a:xfrm>
          <a:prstGeom prst="roundRect">
            <a:avLst>
              <a:gd name="adj" fmla="val 12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Consolas"/>
                <a:ea typeface="Consolas"/>
                <a:cs typeface="Consolas"/>
              </a:rPr>
              <a:t>Running</a:t>
            </a:r>
            <a:endParaRPr lang="en-US" sz="1000" dirty="0"/>
          </a:p>
        </p:txBody>
      </p:sp>
      <p:sp>
        <p:nvSpPr>
          <p:cNvPr id="35" name="lab"/>
          <p:cNvSpPr txBox="1"/>
          <p:nvPr/>
        </p:nvSpPr>
        <p:spPr>
          <a:xfrm>
            <a:off x="9951220" y="204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delegate executing</a:t>
            </a:r>
            <a:endParaRPr lang="en-US" sz="950" dirty="0"/>
          </a:p>
        </p:txBody>
      </p:sp>
      <p:cxnSp>
        <p:nvCxnSpPr>
          <p:cNvPr id="36" name="arrow"/>
          <p:cNvCxnSpPr/>
          <p:nvPr/>
        </p:nvCxnSpPr>
        <p:spPr>
          <a:xfrm>
            <a:off x="7792187" y="1792768"/>
            <a:ext cx="210000" cy="0"/>
          </a:xfrm>
          <a:prstGeom prst="line">
            <a:avLst/>
          </a:prstGeom>
          <a:ln w="28575">
            <a:solidFill>
              <a:srgbClr val="94A3B8"/>
            </a:solidFill>
            <a:tailEnd type="triangle" w="med" len="med"/>
          </a:ln>
        </p:spPr>
      </p:cxnSp>
      <p:cxnSp>
        <p:nvCxnSpPr>
          <p:cNvPr id="37" name="arrow"/>
          <p:cNvCxnSpPr/>
          <p:nvPr/>
        </p:nvCxnSpPr>
        <p:spPr>
          <a:xfrm>
            <a:off x="9721220" y="1792768"/>
            <a:ext cx="210000" cy="0"/>
          </a:xfrm>
          <a:prstGeom prst="line">
            <a:avLst/>
          </a:prstGeom>
          <a:ln w="28575">
            <a:solidFill>
              <a:srgbClr val="94A3B8"/>
            </a:solidFill>
            <a:tailEnd type="triangle" w="med" len="med"/>
          </a:ln>
        </p:spPr>
      </p:cxnSp>
      <p:sp>
        <p:nvSpPr>
          <p:cNvPr id="38" name="box"/>
          <p:cNvSpPr/>
          <p:nvPr/>
        </p:nvSpPr>
        <p:spPr>
          <a:xfrm>
            <a:off x="6093154" y="2822768"/>
            <a:ext cx="1679033" cy="44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Consolas"/>
                <a:ea typeface="Consolas"/>
                <a:cs typeface="Consolas"/>
              </a:rPr>
              <a:t>RanToCompletion</a:t>
            </a:r>
            <a:endParaRPr lang="en-US" sz="1000" dirty="0"/>
          </a:p>
        </p:txBody>
      </p:sp>
      <p:sp>
        <p:nvSpPr>
          <p:cNvPr id="39" name="lab"/>
          <p:cNvSpPr txBox="1"/>
          <p:nvPr/>
        </p:nvSpPr>
        <p:spPr>
          <a:xfrm>
            <a:off x="6093154" y="329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finished successfully</a:t>
            </a:r>
            <a:endParaRPr lang="en-US" sz="950" dirty="0"/>
          </a:p>
        </p:txBody>
      </p:sp>
      <p:cxnSp>
        <p:nvCxnSpPr>
          <p:cNvPr id="40" name="arrow"/>
          <p:cNvCxnSpPr/>
          <p:nvPr/>
        </p:nvCxnSpPr>
        <p:spPr>
          <a:xfrm flipH="1">
            <a:off x="6932670" y="2332768"/>
            <a:ext cx="3858066" cy="470000"/>
          </a:xfrm>
          <a:prstGeom prst="line">
            <a:avLst/>
          </a:prstGeom>
          <a:ln w="28575">
            <a:solidFill>
              <a:srgbClr val="34D399"/>
            </a:solidFill>
            <a:tailEnd type="triangle" w="med" len="med"/>
          </a:ln>
        </p:spPr>
      </p:cxnSp>
      <p:sp>
        <p:nvSpPr>
          <p:cNvPr id="41" name="box"/>
          <p:cNvSpPr/>
          <p:nvPr/>
        </p:nvSpPr>
        <p:spPr>
          <a:xfrm>
            <a:off x="8022187" y="2822768"/>
            <a:ext cx="1679033" cy="44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Consolas"/>
                <a:ea typeface="Consolas"/>
                <a:cs typeface="Consolas"/>
              </a:rPr>
              <a:t>Faulted</a:t>
            </a:r>
            <a:endParaRPr lang="en-US" sz="1000" dirty="0"/>
          </a:p>
        </p:txBody>
      </p:sp>
      <p:sp>
        <p:nvSpPr>
          <p:cNvPr id="42" name="lab"/>
          <p:cNvSpPr txBox="1"/>
          <p:nvPr/>
        </p:nvSpPr>
        <p:spPr>
          <a:xfrm>
            <a:off x="8022187" y="329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an exception was thrown</a:t>
            </a:r>
            <a:endParaRPr lang="en-US" sz="950" dirty="0"/>
          </a:p>
        </p:txBody>
      </p:sp>
      <p:cxnSp>
        <p:nvCxnSpPr>
          <p:cNvPr id="43" name="arrow"/>
          <p:cNvCxnSpPr/>
          <p:nvPr/>
        </p:nvCxnSpPr>
        <p:spPr>
          <a:xfrm flipH="1">
            <a:off x="8861704" y="2332768"/>
            <a:ext cx="1929033" cy="470000"/>
          </a:xfrm>
          <a:prstGeom prst="line">
            <a:avLst/>
          </a:prstGeom>
          <a:ln w="28575">
            <a:solidFill>
              <a:srgbClr val="F87171"/>
            </a:solidFill>
            <a:tailEnd type="triangle" w="med" len="med"/>
          </a:ln>
        </p:spPr>
      </p:cxnSp>
      <p:sp>
        <p:nvSpPr>
          <p:cNvPr id="44" name="box"/>
          <p:cNvSpPr/>
          <p:nvPr/>
        </p:nvSpPr>
        <p:spPr>
          <a:xfrm>
            <a:off x="9951220" y="2822768"/>
            <a:ext cx="1679033" cy="44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Consolas"/>
                <a:ea typeface="Consolas"/>
                <a:cs typeface="Consolas"/>
              </a:rPr>
              <a:t>Canceled</a:t>
            </a:r>
            <a:endParaRPr lang="en-US" sz="1000" dirty="0"/>
          </a:p>
        </p:txBody>
      </p:sp>
      <p:sp>
        <p:nvSpPr>
          <p:cNvPr id="45" name="lab"/>
          <p:cNvSpPr txBox="1"/>
          <p:nvPr/>
        </p:nvSpPr>
        <p:spPr>
          <a:xfrm>
            <a:off x="9951220" y="3292768"/>
            <a:ext cx="1679033" cy="26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0" dirty="0">
                <a:solidFill>
                  <a:srgbClr val="94A3B8"/>
                </a:solidFill>
                <a:latin typeface="Segoe UI"/>
                <a:ea typeface="Segoe UI"/>
                <a:cs typeface="Segoe UI"/>
              </a:rPr>
              <a:t>it was asked to stop</a:t>
            </a:r>
            <a:endParaRPr lang="en-US" sz="950" dirty="0"/>
          </a:p>
        </p:txBody>
      </p:sp>
      <p:cxnSp>
        <p:nvCxnSpPr>
          <p:cNvPr id="46" name="arrow"/>
          <p:cNvCxnSpPr/>
          <p:nvPr/>
        </p:nvCxnSpPr>
        <p:spPr>
          <a:xfrm>
            <a:off x="10790737" y="2332768"/>
            <a:ext cx="0" cy="470000"/>
          </a:xfrm>
          <a:prstGeom prst="line">
            <a:avLst/>
          </a:prstGeom>
          <a:ln w="28575">
            <a:solidFill>
              <a:srgbClr val="A78BFA"/>
            </a:solidFill>
            <a:tailEnd type="triangle" w="med" len="med"/>
          </a:ln>
        </p:spPr>
      </p:cxnSp>
      <p:sp>
        <p:nvSpPr>
          <p:cNvPr id="47" name="lab"/>
          <p:cNvSpPr txBox="1"/>
          <p:nvPr/>
        </p:nvSpPr>
        <p:spPr>
          <a:xfrm>
            <a:off x="6093154" y="2492768"/>
            <a:ext cx="15000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final states</a:t>
            </a:r>
            <a:endParaRPr lang="en-US" sz="950" dirty="0"/>
          </a:p>
        </p:txBody>
      </p:sp>
      <p:sp>
        <p:nvSpPr>
          <p:cNvPr id="48" name="card"/>
          <p:cNvSpPr/>
          <p:nvPr/>
        </p:nvSpPr>
        <p:spPr>
          <a:xfrm>
            <a:off x="6093154" y="3672768"/>
            <a:ext cx="5537100" cy="1277232"/>
          </a:xfrm>
          <a:prstGeom prst="roundRect">
            <a:avLst>
              <a:gd name="adj" fmla="val 8132"/>
            </a:avLst>
          </a:prstGeom>
          <a:solidFill>
            <a:srgbClr val="111B2E"/>
          </a:solidFill>
          <a:ln w="12700">
            <a:solidFill>
              <a:srgbClr val="94A3B8"/>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94A3B8"/>
                </a:solidFill>
                <a:latin typeface="Segoe UI"/>
                <a:ea typeface="Segoe UI"/>
                <a:cs typeface="Segoe UI"/>
              </a:rPr>
              <a:t>SIMPLIFIED</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Task.Run() normally skips Created. Asynchronous Tasks may pass through other states, such as WaitingForActivation (later).</a:t>
            </a:r>
            <a:endParaRPr lang="en-US" sz="1050" dirty="0"/>
          </a:p>
        </p:txBody>
      </p:sp>
      <p:sp>
        <p:nvSpPr>
          <p:cNvPr id="49"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Every Task ends in exactly one final state: RanToCompletion, Faulted or Canceled.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3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00"/>
                                        <p:tgtEl>
                                          <p:spTgt spid="2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3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3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3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3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300"/>
                                        <p:tgtEl>
                                          <p:spTgt spid="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300"/>
                                        <p:tgtEl>
                                          <p:spTgt spid="3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3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3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300"/>
                                        <p:tgtEl>
                                          <p:spTgt spid="3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3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3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3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300"/>
                                        <p:tgtEl>
                                          <p:spTgt spid="39"/>
                                        </p:tgtEl>
                                      </p:cBhvr>
                                    </p:animEffect>
                                  </p:childTnLst>
                                </p:cTn>
                              </p:par>
                              <p:par>
                                <p:cTn id="93" presetID="10" presetClass="entr" presetSubtype="0" fill="hold"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300"/>
                                        <p:tgtEl>
                                          <p:spTgt spid="40"/>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300"/>
                                        <p:tgtEl>
                                          <p:spTgt spid="4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300"/>
                                        <p:tgtEl>
                                          <p:spTgt spid="42"/>
                                        </p:tgtEl>
                                      </p:cBhvr>
                                    </p:animEffect>
                                  </p:childTnLst>
                                </p:cTn>
                              </p:par>
                              <p:par>
                                <p:cTn id="104" presetID="10" presetClass="entr" presetSubtype="0" fill="hold" nodeType="with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300"/>
                                        <p:tgtEl>
                                          <p:spTgt spid="4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3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300"/>
                                        <p:tgtEl>
                                          <p:spTgt spid="45"/>
                                        </p:tgtEl>
                                      </p:cBhvr>
                                    </p:animEffect>
                                  </p:childTnLst>
                                </p:cTn>
                              </p:par>
                              <p:par>
                                <p:cTn id="115" presetID="10" presetClass="entr" presetSubtype="0" fill="hold" nodeType="withEffect">
                                  <p:stCondLst>
                                    <p:cond delay="0"/>
                                  </p:stCondLst>
                                  <p:childTnLst>
                                    <p:set>
                                      <p:cBhvr>
                                        <p:cTn id="116" dur="1" fill="hold">
                                          <p:stCondLst>
                                            <p:cond delay="0"/>
                                          </p:stCondLst>
                                        </p:cTn>
                                        <p:tgtEl>
                                          <p:spTgt spid="46"/>
                                        </p:tgtEl>
                                        <p:attrNameLst>
                                          <p:attrName>style.visibility</p:attrName>
                                        </p:attrNameLst>
                                      </p:cBhvr>
                                      <p:to>
                                        <p:strVal val="visible"/>
                                      </p:to>
                                    </p:set>
                                    <p:animEffect transition="in" filter="fade">
                                      <p:cBhvr>
                                        <p:cTn id="117" dur="300"/>
                                        <p:tgtEl>
                                          <p:spTgt spid="46"/>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300"/>
                                        <p:tgtEl>
                                          <p:spTgt spid="48"/>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9"/>
                                        </p:tgtEl>
                                        <p:attrNameLst>
                                          <p:attrName>style.visibility</p:attrName>
                                        </p:attrNameLst>
                                      </p:cBhvr>
                                      <p:to>
                                        <p:strVal val="visible"/>
                                      </p:to>
                                    </p:set>
                                    <p:animEffect transition="in" filter="fade">
                                      <p:cBhvr>
                                        <p:cTn id="127"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8" grpId="0" animBg="1"/>
      <p:bldP spid="39" grpId="0" animBg="1"/>
      <p:bldP spid="41" grpId="0" animBg="1"/>
      <p:bldP spid="42" grpId="0" animBg="1"/>
      <p:bldP spid="44" grpId="0" animBg="1"/>
      <p:bldP spid="45" grpId="0" animBg="1"/>
      <p:bldP spid="47" grpId="0" animBg="1"/>
      <p:bldP spid="48" grpId="0" animBg="1"/>
      <p:bldP spid="4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54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EXERCISE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Created Is Not Scheduled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82</a:t>
            </a:r>
            <a:endParaRPr lang="en-US" sz="850" dirty="0"/>
          </a:p>
        </p:txBody>
      </p:sp>
      <p:sp>
        <p:nvSpPr>
          <p:cNvPr id="15" name="cw_win"/>
          <p:cNvSpPr/>
          <p:nvPr/>
        </p:nvSpPr>
        <p:spPr>
          <a:xfrm>
            <a:off x="543154" y="1572768"/>
            <a:ext cx="53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3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3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Exercise3.cs</a:t>
            </a:r>
            <a:endParaRPr lang="en-US" sz="950" dirty="0"/>
          </a:p>
        </p:txBody>
      </p:sp>
      <p:sp>
        <p:nvSpPr>
          <p:cNvPr id="30" name="cw_hl00"/>
          <p:cNvSpPr/>
          <p:nvPr/>
        </p:nvSpPr>
        <p:spPr>
          <a:xfrm>
            <a:off x="676656" y="1982928"/>
            <a:ext cx="5032996" cy="249936"/>
          </a:xfrm>
          <a:prstGeom prst="rect">
            <a:avLst/>
          </a:prstGeom>
          <a:solidFill>
            <a:srgbClr val="A78BFA">
              <a:alpha val="15000"/>
            </a:srgbClr>
          </a:solidFill>
          <a:ln w="12700">
            <a:solidFill>
              <a:srgbClr val="A78BFA"/>
            </a:solidFill>
            <a:prstDash val="solid"/>
          </a:ln>
        </p:spPr>
        <p:txBody>
          <a:bodyPr/>
          <a:lstStyle/>
          <a:p>
            <a:endParaRPr lang="en-US"/>
          </a:p>
        </p:txBody>
      </p:sp>
      <p:sp>
        <p:nvSpPr>
          <p:cNvPr id="31" name="cw_hl07"/>
          <p:cNvSpPr/>
          <p:nvPr/>
        </p:nvSpPr>
        <p:spPr>
          <a:xfrm>
            <a:off x="676656" y="3476448"/>
            <a:ext cx="5032996" cy="24993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 task = </a:t>
            </a:r>
            <a:r>
              <a:rPr lang="en-US" sz="1050" b="0"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Task(() =&gt;</a:t>
            </a:r>
            <a:endParaRPr lang="en-US" sz="1050" dirty="0"/>
          </a:p>
        </p:txBody>
      </p:sp>
      <p:sp>
        <p:nvSpPr>
          <p:cNvPr id="23" name="cw_L01"/>
          <p:cNvSpPr txBox="1"/>
          <p:nvPr/>
        </p:nvSpPr>
        <p:spPr>
          <a:xfrm>
            <a:off x="771754" y="221457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27936"/>
            <a:ext cx="491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"Hello"</a:t>
            </a:r>
            <a:r>
              <a:rPr lang="en-US" sz="1050" b="0" dirty="0">
                <a:solidFill>
                  <a:srgbClr val="E2E8F0"/>
                </a:solidFill>
                <a:latin typeface="Consolas"/>
                <a:ea typeface="Consolas"/>
                <a:cs typeface="Consolas"/>
              </a:rPr>
              <a:t>);</a:t>
            </a:r>
            <a:endParaRPr lang="en-US" sz="1050" dirty="0"/>
          </a:p>
        </p:txBody>
      </p:sp>
      <p:sp>
        <p:nvSpPr>
          <p:cNvPr id="25" name="cw_L03"/>
          <p:cNvSpPr txBox="1"/>
          <p:nvPr/>
        </p:nvSpPr>
        <p:spPr>
          <a:xfrm>
            <a:off x="771754" y="264129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6" name="cw_L05"/>
          <p:cNvSpPr txBox="1"/>
          <p:nvPr/>
        </p:nvSpPr>
        <p:spPr>
          <a:xfrm>
            <a:off x="771754" y="306801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Console.WriteLine(task.Status);</a:t>
            </a:r>
            <a:endParaRPr lang="en-US" sz="1050" dirty="0"/>
          </a:p>
        </p:txBody>
      </p:sp>
      <p:sp>
        <p:nvSpPr>
          <p:cNvPr id="27" name="cw_L07"/>
          <p:cNvSpPr txBox="1"/>
          <p:nvPr/>
        </p:nvSpPr>
        <p:spPr>
          <a:xfrm>
            <a:off x="771754" y="349473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task.Start();</a:t>
            </a:r>
            <a:endParaRPr lang="en-US" sz="1050" dirty="0"/>
          </a:p>
        </p:txBody>
      </p:sp>
      <p:sp>
        <p:nvSpPr>
          <p:cNvPr id="28" name="cw_L08"/>
          <p:cNvSpPr txBox="1"/>
          <p:nvPr/>
        </p:nvSpPr>
        <p:spPr>
          <a:xfrm>
            <a:off x="771754" y="370809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task.Wait();</a:t>
            </a:r>
            <a:endParaRPr lang="en-US" sz="1050" dirty="0"/>
          </a:p>
        </p:txBody>
      </p:sp>
      <p:sp>
        <p:nvSpPr>
          <p:cNvPr id="29" name="cw_L10"/>
          <p:cNvSpPr txBox="1"/>
          <p:nvPr/>
        </p:nvSpPr>
        <p:spPr>
          <a:xfrm>
            <a:off x="771754" y="4134816"/>
            <a:ext cx="491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Console.WriteLine(task.Status);</a:t>
            </a:r>
            <a:endParaRPr lang="en-US" sz="1050" dirty="0"/>
          </a:p>
        </p:txBody>
      </p:sp>
      <p:sp>
        <p:nvSpPr>
          <p:cNvPr id="32" name="out_win"/>
          <p:cNvSpPr/>
          <p:nvPr/>
        </p:nvSpPr>
        <p:spPr>
          <a:xfrm>
            <a:off x="6093154" y="1572768"/>
            <a:ext cx="5537100" cy="105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out_bar"/>
          <p:cNvSpPr/>
          <p:nvPr/>
        </p:nvSpPr>
        <p:spPr>
          <a:xfrm>
            <a:off x="6093154" y="1572768"/>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out_barfill"/>
          <p:cNvSpPr/>
          <p:nvPr/>
        </p:nvSpPr>
        <p:spPr>
          <a:xfrm>
            <a:off x="6093154" y="1744218"/>
            <a:ext cx="5537100" cy="171450"/>
          </a:xfrm>
          <a:prstGeom prst="rect">
            <a:avLst/>
          </a:prstGeom>
          <a:solidFill>
            <a:srgbClr val="0A1220"/>
          </a:solidFill>
          <a:ln w="12700">
            <a:solidFill>
              <a:srgbClr val="0A1220"/>
            </a:solidFill>
            <a:prstDash val="solid"/>
          </a:ln>
        </p:spPr>
        <p:txBody>
          <a:bodyPr/>
          <a:lstStyle/>
          <a:p>
            <a:endParaRPr lang="en-US"/>
          </a:p>
        </p:txBody>
      </p:sp>
      <p:sp>
        <p:nvSpPr>
          <p:cNvPr id="35" name="out_dot0"/>
          <p:cNvSpPr/>
          <p:nvPr/>
        </p:nvSpPr>
        <p:spPr>
          <a:xfrm>
            <a:off x="625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out_dot1"/>
          <p:cNvSpPr/>
          <p:nvPr/>
        </p:nvSpPr>
        <p:spPr>
          <a:xfrm>
            <a:off x="644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out_dot2"/>
          <p:cNvSpPr/>
          <p:nvPr/>
        </p:nvSpPr>
        <p:spPr>
          <a:xfrm>
            <a:off x="662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out_tab"/>
          <p:cNvSpPr/>
          <p:nvPr/>
        </p:nvSpPr>
        <p:spPr>
          <a:xfrm>
            <a:off x="687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Expected</a:t>
            </a:r>
            <a:endParaRPr lang="en-US" sz="950" dirty="0"/>
          </a:p>
        </p:txBody>
      </p:sp>
      <p:sp>
        <p:nvSpPr>
          <p:cNvPr id="39" name="out_L00"/>
          <p:cNvSpPr txBox="1"/>
          <p:nvPr/>
        </p:nvSpPr>
        <p:spPr>
          <a:xfrm>
            <a:off x="6321754" y="2001216"/>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A78BFA"/>
                </a:solidFill>
                <a:latin typeface="Consolas"/>
                <a:ea typeface="Consolas"/>
                <a:cs typeface="Consolas"/>
              </a:rPr>
              <a:t>Created</a:t>
            </a:r>
            <a:endParaRPr lang="en-US" sz="950" dirty="0"/>
          </a:p>
        </p:txBody>
      </p:sp>
      <p:sp>
        <p:nvSpPr>
          <p:cNvPr id="40" name="out_L01"/>
          <p:cNvSpPr txBox="1"/>
          <p:nvPr/>
        </p:nvSpPr>
        <p:spPr>
          <a:xfrm>
            <a:off x="6321754" y="2194256"/>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Hello</a:t>
            </a:r>
            <a:endParaRPr lang="en-US" sz="950" dirty="0"/>
          </a:p>
        </p:txBody>
      </p:sp>
      <p:sp>
        <p:nvSpPr>
          <p:cNvPr id="41" name="out_L02"/>
          <p:cNvSpPr txBox="1"/>
          <p:nvPr/>
        </p:nvSpPr>
        <p:spPr>
          <a:xfrm>
            <a:off x="6321754" y="2387296"/>
            <a:ext cx="51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34D399"/>
                </a:solidFill>
                <a:latin typeface="Consolas"/>
                <a:ea typeface="Consolas"/>
                <a:cs typeface="Consolas"/>
              </a:rPr>
              <a:t>RanToCompletion</a:t>
            </a:r>
            <a:endParaRPr lang="en-US" sz="950" dirty="0"/>
          </a:p>
        </p:txBody>
      </p:sp>
      <p:sp>
        <p:nvSpPr>
          <p:cNvPr id="42" name="card"/>
          <p:cNvSpPr/>
          <p:nvPr/>
        </p:nvSpPr>
        <p:spPr>
          <a:xfrm>
            <a:off x="6093154" y="2702768"/>
            <a:ext cx="5537100" cy="640000"/>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new Task(...)</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Only creates the Task: Status = Created.</a:t>
            </a:r>
            <a:endParaRPr lang="en-US" sz="1050" dirty="0"/>
          </a:p>
        </p:txBody>
      </p:sp>
      <p:sp>
        <p:nvSpPr>
          <p:cNvPr id="43" name="card"/>
          <p:cNvSpPr/>
          <p:nvPr/>
        </p:nvSpPr>
        <p:spPr>
          <a:xfrm>
            <a:off x="6093154" y="3422768"/>
            <a:ext cx="5537100" cy="64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task.Start()</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Schedules it. Task.Run = create + start in one call.</a:t>
            </a:r>
            <a:endParaRPr lang="en-US" sz="1050" dirty="0"/>
          </a:p>
        </p:txBody>
      </p:sp>
      <p:sp>
        <p:nvSpPr>
          <p:cNvPr id="44" name="card"/>
          <p:cNvSpPr/>
          <p:nvPr/>
        </p:nvSpPr>
        <p:spPr>
          <a:xfrm>
            <a:off x="6093154" y="4142768"/>
            <a:ext cx="5537100" cy="807232"/>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Status IS A SNAPSHOT</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It can change right after you read it: intermediate values are not predictable.</a:t>
            </a:r>
            <a:endParaRPr lang="en-US" sz="1050" dirty="0"/>
          </a:p>
        </p:txBody>
      </p:sp>
      <p:sp>
        <p:nvSpPr>
          <p:cNvPr id="45"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Creating a Task and scheduling it are not necessarily the same operation.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3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3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300"/>
                                        <p:tgtEl>
                                          <p:spTgt spid="4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3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3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3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3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3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300"/>
                                        <p:tgtEl>
                                          <p:spTgt spid="3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3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3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300"/>
                                        <p:tgtEl>
                                          <p:spTgt spid="44"/>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3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54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EXERCISE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Lifecycle Exercises: Success and Failure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81</a:t>
            </a:r>
            <a:endParaRPr lang="en-US" sz="850" dirty="0"/>
          </a:p>
        </p:txBody>
      </p:sp>
      <p:sp>
        <p:nvSpPr>
          <p:cNvPr id="15" name="cwa_win"/>
          <p:cNvSpPr/>
          <p:nvPr/>
        </p:nvSpPr>
        <p:spPr>
          <a:xfrm>
            <a:off x="543154" y="1572768"/>
            <a:ext cx="540639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a_bar"/>
          <p:cNvSpPr/>
          <p:nvPr/>
        </p:nvSpPr>
        <p:spPr>
          <a:xfrm>
            <a:off x="54315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a_barfill"/>
          <p:cNvSpPr/>
          <p:nvPr/>
        </p:nvSpPr>
        <p:spPr>
          <a:xfrm>
            <a:off x="54315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18" name="cwa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a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a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a_tab"/>
          <p:cNvSpPr/>
          <p:nvPr/>
        </p:nvSpPr>
        <p:spPr>
          <a:xfrm>
            <a:off x="132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Exercise1.cs</a:t>
            </a:r>
            <a:endParaRPr lang="en-US" sz="950" dirty="0"/>
          </a:p>
        </p:txBody>
      </p:sp>
      <p:sp>
        <p:nvSpPr>
          <p:cNvPr id="22" name="cwa_L00"/>
          <p:cNvSpPr txBox="1"/>
          <p:nvPr/>
        </p:nvSpPr>
        <p:spPr>
          <a:xfrm>
            <a:off x="771754" y="20012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task = Task.Run(() =&gt;</a:t>
            </a:r>
            <a:endParaRPr lang="en-US" sz="950" dirty="0"/>
          </a:p>
        </p:txBody>
      </p:sp>
      <p:sp>
        <p:nvSpPr>
          <p:cNvPr id="23" name="cwa_L01"/>
          <p:cNvSpPr txBox="1"/>
          <p:nvPr/>
        </p:nvSpPr>
        <p:spPr>
          <a:xfrm>
            <a:off x="771754" y="21942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a_L02"/>
          <p:cNvSpPr txBox="1"/>
          <p:nvPr/>
        </p:nvSpPr>
        <p:spPr>
          <a:xfrm>
            <a:off x="771754" y="238729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Thread.Sleep(2000);</a:t>
            </a:r>
            <a:endParaRPr lang="en-US" sz="950" dirty="0"/>
          </a:p>
        </p:txBody>
      </p:sp>
      <p:sp>
        <p:nvSpPr>
          <p:cNvPr id="25" name="cwa_L03"/>
          <p:cNvSpPr txBox="1"/>
          <p:nvPr/>
        </p:nvSpPr>
        <p:spPr>
          <a:xfrm>
            <a:off x="771754" y="258033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6" name="cwa_L05"/>
          <p:cNvSpPr txBox="1"/>
          <p:nvPr/>
        </p:nvSpPr>
        <p:spPr>
          <a:xfrm>
            <a:off x="771754" y="29664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task.Wait();</a:t>
            </a:r>
            <a:endParaRPr lang="en-US" sz="950" dirty="0"/>
          </a:p>
        </p:txBody>
      </p:sp>
      <p:sp>
        <p:nvSpPr>
          <p:cNvPr id="27" name="cwa_L06"/>
          <p:cNvSpPr txBox="1"/>
          <p:nvPr/>
        </p:nvSpPr>
        <p:spPr>
          <a:xfrm>
            <a:off x="771754" y="31594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Console.WriteLine(task.Status);</a:t>
            </a:r>
            <a:endParaRPr lang="en-US" sz="950" dirty="0"/>
          </a:p>
        </p:txBody>
      </p:sp>
      <p:sp>
        <p:nvSpPr>
          <p:cNvPr id="28" name="cwb_win"/>
          <p:cNvSpPr/>
          <p:nvPr/>
        </p:nvSpPr>
        <p:spPr>
          <a:xfrm>
            <a:off x="6223864" y="1572768"/>
            <a:ext cx="540639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9" name="cwb_bar"/>
          <p:cNvSpPr/>
          <p:nvPr/>
        </p:nvSpPr>
        <p:spPr>
          <a:xfrm>
            <a:off x="622386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0" name="cwb_barfill"/>
          <p:cNvSpPr/>
          <p:nvPr/>
        </p:nvSpPr>
        <p:spPr>
          <a:xfrm>
            <a:off x="622386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31" name="cwb_dot0"/>
          <p:cNvSpPr/>
          <p:nvPr/>
        </p:nvSpPr>
        <p:spPr>
          <a:xfrm>
            <a:off x="638571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2" name="cwb_dot1"/>
          <p:cNvSpPr/>
          <p:nvPr/>
        </p:nvSpPr>
        <p:spPr>
          <a:xfrm>
            <a:off x="657133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3" name="cwb_dot2"/>
          <p:cNvSpPr/>
          <p:nvPr/>
        </p:nvSpPr>
        <p:spPr>
          <a:xfrm>
            <a:off x="675696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4" name="cwb_tab"/>
          <p:cNvSpPr/>
          <p:nvPr/>
        </p:nvSpPr>
        <p:spPr>
          <a:xfrm>
            <a:off x="700476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Exercise2.cs</a:t>
            </a:r>
            <a:endParaRPr lang="en-US" sz="950" dirty="0"/>
          </a:p>
        </p:txBody>
      </p:sp>
      <p:sp>
        <p:nvSpPr>
          <p:cNvPr id="35" name="cwb_L00"/>
          <p:cNvSpPr txBox="1"/>
          <p:nvPr/>
        </p:nvSpPr>
        <p:spPr>
          <a:xfrm>
            <a:off x="6452464" y="20012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task = Task.Run(() =&gt;</a:t>
            </a:r>
            <a:endParaRPr lang="en-US" sz="950" dirty="0"/>
          </a:p>
        </p:txBody>
      </p:sp>
      <p:sp>
        <p:nvSpPr>
          <p:cNvPr id="36" name="cwb_L01"/>
          <p:cNvSpPr txBox="1"/>
          <p:nvPr/>
        </p:nvSpPr>
        <p:spPr>
          <a:xfrm>
            <a:off x="6452464" y="21942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7" name="cwb_L02"/>
          <p:cNvSpPr txBox="1"/>
          <p:nvPr/>
        </p:nvSpPr>
        <p:spPr>
          <a:xfrm>
            <a:off x="6452464" y="238729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throw </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Exception(</a:t>
            </a:r>
            <a:r>
              <a:rPr lang="en-US" sz="950" b="0" dirty="0">
                <a:solidFill>
                  <a:srgbClr val="F0A98B"/>
                </a:solidFill>
                <a:latin typeface="Consolas"/>
                <a:ea typeface="Consolas"/>
                <a:cs typeface="Consolas"/>
              </a:rPr>
              <a:t>"Something went wrong"</a:t>
            </a:r>
            <a:r>
              <a:rPr lang="en-US" sz="950" b="0" dirty="0">
                <a:solidFill>
                  <a:srgbClr val="E2E8F0"/>
                </a:solidFill>
                <a:latin typeface="Consolas"/>
                <a:ea typeface="Consolas"/>
                <a:cs typeface="Consolas"/>
              </a:rPr>
              <a:t>);</a:t>
            </a:r>
            <a:endParaRPr lang="en-US" sz="950" dirty="0"/>
          </a:p>
        </p:txBody>
      </p:sp>
      <p:sp>
        <p:nvSpPr>
          <p:cNvPr id="38" name="cwb_L03"/>
          <p:cNvSpPr txBox="1"/>
          <p:nvPr/>
        </p:nvSpPr>
        <p:spPr>
          <a:xfrm>
            <a:off x="6452464" y="258033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b_L04"/>
          <p:cNvSpPr txBox="1"/>
          <p:nvPr/>
        </p:nvSpPr>
        <p:spPr>
          <a:xfrm>
            <a:off x="6452464" y="277337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40" name="cwb_L05"/>
          <p:cNvSpPr txBox="1"/>
          <p:nvPr/>
        </p:nvSpPr>
        <p:spPr>
          <a:xfrm>
            <a:off x="6452464" y="29664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1" name="cwb_L06"/>
          <p:cNvSpPr txBox="1"/>
          <p:nvPr/>
        </p:nvSpPr>
        <p:spPr>
          <a:xfrm>
            <a:off x="6452464" y="315945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task.Wait();</a:t>
            </a:r>
            <a:endParaRPr lang="en-US" sz="950" dirty="0"/>
          </a:p>
        </p:txBody>
      </p:sp>
      <p:sp>
        <p:nvSpPr>
          <p:cNvPr id="42" name="cwb_L07"/>
          <p:cNvSpPr txBox="1"/>
          <p:nvPr/>
        </p:nvSpPr>
        <p:spPr>
          <a:xfrm>
            <a:off x="6452464" y="335249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3" name="cwb_L08"/>
          <p:cNvSpPr txBox="1"/>
          <p:nvPr/>
        </p:nvSpPr>
        <p:spPr>
          <a:xfrm>
            <a:off x="6452464" y="354553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catch (AggregateException)</a:t>
            </a:r>
            <a:endParaRPr lang="en-US" sz="950" dirty="0"/>
          </a:p>
        </p:txBody>
      </p:sp>
      <p:sp>
        <p:nvSpPr>
          <p:cNvPr id="44" name="cwb_L09"/>
          <p:cNvSpPr txBox="1"/>
          <p:nvPr/>
        </p:nvSpPr>
        <p:spPr>
          <a:xfrm>
            <a:off x="6452464" y="373857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5" name="cwb_L10"/>
          <p:cNvSpPr txBox="1"/>
          <p:nvPr/>
        </p:nvSpPr>
        <p:spPr>
          <a:xfrm>
            <a:off x="6452464" y="393161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Console.WriteLine(task.Status);</a:t>
            </a:r>
            <a:endParaRPr lang="en-US" sz="950" dirty="0"/>
          </a:p>
        </p:txBody>
      </p:sp>
      <p:sp>
        <p:nvSpPr>
          <p:cNvPr id="46" name="cwb_L11"/>
          <p:cNvSpPr txBox="1"/>
          <p:nvPr/>
        </p:nvSpPr>
        <p:spPr>
          <a:xfrm>
            <a:off x="6452464" y="41246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7" name="pill"/>
          <p:cNvSpPr/>
          <p:nvPr/>
        </p:nvSpPr>
        <p:spPr>
          <a:xfrm>
            <a:off x="4358104" y="1625346"/>
            <a:ext cx="150000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SUCCESS</a:t>
            </a:r>
            <a:endParaRPr lang="en-US" sz="900" dirty="0"/>
          </a:p>
        </p:txBody>
      </p:sp>
      <p:sp>
        <p:nvSpPr>
          <p:cNvPr id="48" name="pill"/>
          <p:cNvSpPr/>
          <p:nvPr/>
        </p:nvSpPr>
        <p:spPr>
          <a:xfrm>
            <a:off x="10038814" y="1625346"/>
            <a:ext cx="150000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FAILURE</a:t>
            </a:r>
            <a:endParaRPr lang="en-US" sz="900" dirty="0"/>
          </a:p>
        </p:txBody>
      </p:sp>
      <p:sp>
        <p:nvSpPr>
          <p:cNvPr id="49" name="box"/>
          <p:cNvSpPr/>
          <p:nvPr/>
        </p:nvSpPr>
        <p:spPr>
          <a:xfrm>
            <a:off x="1893154" y="4430000"/>
            <a:ext cx="3826390" cy="40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200" b="1" dirty="0">
                <a:solidFill>
                  <a:srgbClr val="34D399"/>
                </a:solidFill>
                <a:latin typeface="Consolas"/>
                <a:ea typeface="Consolas"/>
                <a:cs typeface="Consolas"/>
              </a:rPr>
              <a:t>RanToCompletion</a:t>
            </a:r>
            <a:endParaRPr lang="en-US" sz="1200" dirty="0"/>
          </a:p>
        </p:txBody>
      </p:sp>
      <p:sp>
        <p:nvSpPr>
          <p:cNvPr id="50" name="box"/>
          <p:cNvSpPr/>
          <p:nvPr/>
        </p:nvSpPr>
        <p:spPr>
          <a:xfrm>
            <a:off x="7573864" y="4430000"/>
            <a:ext cx="3826390" cy="400000"/>
          </a:xfrm>
          <a:prstGeom prst="roundRect">
            <a:avLst>
              <a:gd name="adj" fmla="val 12000"/>
            </a:avLst>
          </a:prstGeom>
          <a:solidFill>
            <a:srgbClr val="111B2E"/>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200" b="1" dirty="0">
                <a:solidFill>
                  <a:srgbClr val="F87171"/>
                </a:solidFill>
                <a:latin typeface="Consolas"/>
                <a:ea typeface="Consolas"/>
                <a:cs typeface="Consolas"/>
              </a:rPr>
              <a:t>Faulted</a:t>
            </a:r>
            <a:endParaRPr lang="en-US" sz="1200" dirty="0"/>
          </a:p>
        </p:txBody>
      </p:sp>
      <p:sp>
        <p:nvSpPr>
          <p:cNvPr id="51" name="lab"/>
          <p:cNvSpPr txBox="1"/>
          <p:nvPr/>
        </p:nvSpPr>
        <p:spPr>
          <a:xfrm>
            <a:off x="771754" y="4430000"/>
            <a:ext cx="110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Expected:</a:t>
            </a:r>
            <a:endParaRPr lang="en-US" sz="1050" dirty="0"/>
          </a:p>
        </p:txBody>
      </p:sp>
      <p:sp>
        <p:nvSpPr>
          <p:cNvPr id="52" name="lab"/>
          <p:cNvSpPr txBox="1"/>
          <p:nvPr/>
        </p:nvSpPr>
        <p:spPr>
          <a:xfrm>
            <a:off x="6452464" y="4430000"/>
            <a:ext cx="110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Expected:</a:t>
            </a:r>
            <a:endParaRPr lang="en-US" sz="1050" dirty="0"/>
          </a:p>
        </p:txBody>
      </p:sp>
      <p:sp>
        <p:nvSpPr>
          <p:cNvPr id="53"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Finished normally: RanToCompletion. An exception escaped the Task: Faulted.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300"/>
                                        <p:tgtEl>
                                          <p:spTgt spid="4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300"/>
                                        <p:tgtEl>
                                          <p:spTgt spid="5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300"/>
                                        <p:tgtEl>
                                          <p:spTgt spid="4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3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3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3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3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3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300"/>
                                        <p:tgtEl>
                                          <p:spTgt spid="3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3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300"/>
                                        <p:tgtEl>
                                          <p:spTgt spid="3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300"/>
                                        <p:tgtEl>
                                          <p:spTgt spid="3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300"/>
                                        <p:tgtEl>
                                          <p:spTgt spid="3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3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3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300"/>
                                        <p:tgtEl>
                                          <p:spTgt spid="4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300"/>
                                        <p:tgtEl>
                                          <p:spTgt spid="4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fade">
                                      <p:cBhvr>
                                        <p:cTn id="101" dur="300"/>
                                        <p:tgtEl>
                                          <p:spTgt spid="4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3"/>
                                        </p:tgtEl>
                                        <p:attrNameLst>
                                          <p:attrName>style.visibility</p:attrName>
                                        </p:attrNameLst>
                                      </p:cBhvr>
                                      <p:to>
                                        <p:strVal val="visible"/>
                                      </p:to>
                                    </p:set>
                                    <p:animEffect transition="in" filter="fade">
                                      <p:cBhvr>
                                        <p:cTn id="104" dur="300"/>
                                        <p:tgtEl>
                                          <p:spTgt spid="4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7" dur="300"/>
                                        <p:tgtEl>
                                          <p:spTgt spid="4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300"/>
                                        <p:tgtEl>
                                          <p:spTgt spid="4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fade">
                                      <p:cBhvr>
                                        <p:cTn id="113" dur="300"/>
                                        <p:tgtEl>
                                          <p:spTgt spid="4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fade">
                                      <p:cBhvr>
                                        <p:cTn id="116" dur="300"/>
                                        <p:tgtEl>
                                          <p:spTgt spid="48"/>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300"/>
                                        <p:tgtEl>
                                          <p:spTgt spid="5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3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3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RIGHT TOOL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CPU-Bound or I/O-Bound? Pick the Tool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84</a:t>
            </a:r>
            <a:endParaRPr lang="en-US" sz="850" dirty="0"/>
          </a:p>
        </p:txBody>
      </p:sp>
      <p:sp>
        <p:nvSpPr>
          <p:cNvPr id="15" name="card"/>
          <p:cNvSpPr/>
          <p:nvPr/>
        </p:nvSpPr>
        <p:spPr>
          <a:xfrm>
            <a:off x="543154" y="1572768"/>
            <a:ext cx="5440680" cy="3310128"/>
          </a:xfrm>
          <a:prstGeom prst="roundRect">
            <a:avLst>
              <a:gd name="adj" fmla="val 2486"/>
            </a:avLst>
          </a:prstGeom>
          <a:solidFill>
            <a:srgbClr val="111B2E"/>
          </a:solidFill>
          <a:ln w="12700">
            <a:solidFill>
              <a:srgbClr val="4D91F0"/>
            </a:solidFill>
            <a:prstDash val="solid"/>
          </a:ln>
        </p:spPr>
        <p:txBody>
          <a:bodyPr wrap="square" lIns="274320" tIns="228600" rIns="228600" bIns="137160" rtlCol="0" anchor="t">
            <a:noAutofit/>
          </a:bodyPr>
          <a:lstStyle/>
          <a:p>
            <a:pPr marL="0" indent="0" algn="l">
              <a:spcBef>
                <a:spcPts val="0"/>
              </a:spcBef>
              <a:spcAft>
                <a:spcPts val="350"/>
              </a:spcAft>
              <a:buNone/>
            </a:pPr>
            <a:r>
              <a:rPr lang="en-US" sz="1150" b="1" dirty="0">
                <a:solidFill>
                  <a:srgbClr val="4D91F0"/>
                </a:solidFill>
                <a:latin typeface="Segoe UI"/>
                <a:ea typeface="Segoe UI"/>
                <a:cs typeface="Segoe UI"/>
              </a:rPr>
              <a:t>CPU-BOUND</a:t>
            </a:r>
            <a:endParaRPr lang="en-US" sz="1150" dirty="0"/>
          </a:p>
          <a:p>
            <a:pPr marL="0" indent="0" algn="l">
              <a:spcBef>
                <a:spcPts val="0"/>
              </a:spcBef>
              <a:spcAft>
                <a:spcPts val="350"/>
              </a:spcAft>
              <a:buNone/>
            </a:pPr>
            <a:r>
              <a:rPr lang="en-US" sz="1600" b="1" dirty="0">
                <a:solidFill>
                  <a:srgbClr val="FFFFFF"/>
                </a:solidFill>
                <a:latin typeface="Segoe UI"/>
                <a:ea typeface="Segoe UI"/>
                <a:cs typeface="Segoe UI"/>
              </a:rPr>
              <a:t>Needs a core</a:t>
            </a:r>
            <a:endParaRPr lang="en-US" sz="1600" dirty="0"/>
          </a:p>
          <a:p>
            <a:pPr marL="0" indent="0" algn="l">
              <a:spcBef>
                <a:spcPts val="0"/>
              </a:spcBef>
              <a:spcAft>
                <a:spcPts val="350"/>
              </a:spcAft>
              <a:buNone/>
            </a:pPr>
            <a:r>
              <a:rPr lang="en-US" sz="1400" b="0" dirty="0">
                <a:solidFill>
                  <a:srgbClr val="CBD5E1"/>
                </a:solidFill>
                <a:latin typeface="Segoe UI"/>
                <a:ea typeface="Segoe UI"/>
                <a:cs typeface="Segoe UI"/>
              </a:rPr>
              <a:t>Move it off the thread that must stay responsive, or split it across cores.</a:t>
            </a:r>
            <a:endParaRPr lang="en-US" sz="1400" dirty="0"/>
          </a:p>
          <a:p>
            <a:pPr marL="0" indent="0" algn="l">
              <a:spcBef>
                <a:spcPts val="0"/>
              </a:spcBef>
              <a:spcAft>
                <a:spcPts val="0"/>
              </a:spcAft>
              <a:buNone/>
            </a:pPr>
            <a:r>
              <a:rPr lang="en-US" sz="1250" b="1" dirty="0">
                <a:solidFill>
                  <a:srgbClr val="94A3B8"/>
                </a:solidFill>
                <a:latin typeface="Segoe UI"/>
                <a:ea typeface="Segoe UI"/>
                <a:cs typeface="Segoe UI"/>
              </a:rPr>
              <a:t>Tools:  </a:t>
            </a:r>
            <a:r>
              <a:rPr lang="en-US" sz="1250" b="1" dirty="0">
                <a:solidFill>
                  <a:srgbClr val="4D91F0"/>
                </a:solidFill>
                <a:latin typeface="Consolas"/>
                <a:ea typeface="Consolas"/>
                <a:cs typeface="Consolas"/>
              </a:rPr>
              <a:t>Task.Run · Parallel.For</a:t>
            </a:r>
            <a:endParaRPr lang="en-US" sz="1250" dirty="0"/>
          </a:p>
        </p:txBody>
      </p:sp>
      <p:sp>
        <p:nvSpPr>
          <p:cNvPr id="16" name="card"/>
          <p:cNvSpPr/>
          <p:nvPr/>
        </p:nvSpPr>
        <p:spPr>
          <a:xfrm>
            <a:off x="6189574" y="1572768"/>
            <a:ext cx="5440680" cy="3310128"/>
          </a:xfrm>
          <a:prstGeom prst="roundRect">
            <a:avLst>
              <a:gd name="adj" fmla="val 2486"/>
            </a:avLst>
          </a:prstGeom>
          <a:solidFill>
            <a:srgbClr val="111B2E"/>
          </a:solidFill>
          <a:ln w="12700">
            <a:solidFill>
              <a:srgbClr val="13D0F7"/>
            </a:solidFill>
            <a:prstDash val="solid"/>
          </a:ln>
        </p:spPr>
        <p:txBody>
          <a:bodyPr wrap="square" lIns="274320" tIns="228600" rIns="228600" bIns="137160" rtlCol="0" anchor="t">
            <a:noAutofit/>
          </a:bodyPr>
          <a:lstStyle/>
          <a:p>
            <a:pPr marL="0" indent="0" algn="l">
              <a:spcBef>
                <a:spcPts val="0"/>
              </a:spcBef>
              <a:spcAft>
                <a:spcPts val="350"/>
              </a:spcAft>
              <a:buNone/>
            </a:pPr>
            <a:r>
              <a:rPr lang="en-US" sz="1150" b="1" dirty="0">
                <a:solidFill>
                  <a:srgbClr val="13D0F7"/>
                </a:solidFill>
                <a:latin typeface="Segoe UI"/>
                <a:ea typeface="Segoe UI"/>
                <a:cs typeface="Segoe UI"/>
              </a:rPr>
              <a:t>I/O-BOUND</a:t>
            </a:r>
            <a:endParaRPr lang="en-US" sz="1150" dirty="0"/>
          </a:p>
          <a:p>
            <a:pPr marL="0" indent="0" algn="l">
              <a:spcBef>
                <a:spcPts val="0"/>
              </a:spcBef>
              <a:spcAft>
                <a:spcPts val="350"/>
              </a:spcAft>
              <a:buNone/>
            </a:pPr>
            <a:r>
              <a:rPr lang="en-US" sz="1600" b="1" dirty="0">
                <a:solidFill>
                  <a:srgbClr val="FFFFFF"/>
                </a:solidFill>
                <a:latin typeface="Segoe UI"/>
                <a:ea typeface="Segoe UI"/>
                <a:cs typeface="Segoe UI"/>
              </a:rPr>
              <a:t>Needs a way to wait</a:t>
            </a:r>
            <a:endParaRPr lang="en-US" sz="1600" dirty="0"/>
          </a:p>
          <a:p>
            <a:pPr marL="0" indent="0" algn="l">
              <a:spcBef>
                <a:spcPts val="0"/>
              </a:spcBef>
              <a:spcAft>
                <a:spcPts val="350"/>
              </a:spcAft>
              <a:buNone/>
            </a:pPr>
            <a:r>
              <a:rPr lang="en-US" sz="1400" b="0" dirty="0">
                <a:solidFill>
                  <a:srgbClr val="CBD5E1"/>
                </a:solidFill>
                <a:latin typeface="Segoe UI"/>
                <a:ea typeface="Segoe UI"/>
                <a:cs typeface="Segoe UI"/>
              </a:rPr>
              <a:t>No core is used while waiting, so no thread should be held either.</a:t>
            </a:r>
            <a:endParaRPr lang="en-US" sz="1400" dirty="0"/>
          </a:p>
          <a:p>
            <a:pPr marL="0" indent="0" algn="l">
              <a:spcBef>
                <a:spcPts val="0"/>
              </a:spcBef>
              <a:spcAft>
                <a:spcPts val="0"/>
              </a:spcAft>
              <a:buNone/>
            </a:pPr>
            <a:r>
              <a:rPr lang="en-US" sz="1250" b="1" dirty="0">
                <a:solidFill>
                  <a:srgbClr val="94A3B8"/>
                </a:solidFill>
                <a:latin typeface="Segoe UI"/>
                <a:ea typeface="Segoe UI"/>
                <a:cs typeface="Segoe UI"/>
              </a:rPr>
              <a:t>Tools:  </a:t>
            </a:r>
            <a:r>
              <a:rPr lang="en-US" sz="1250" b="1" dirty="0">
                <a:solidFill>
                  <a:srgbClr val="13D0F7"/>
                </a:solidFill>
                <a:latin typeface="Consolas"/>
                <a:ea typeface="Consolas"/>
                <a:cs typeface="Consolas"/>
              </a:rPr>
              <a:t>async / await</a:t>
            </a:r>
            <a:endParaRPr lang="en-US" sz="1250" dirty="0"/>
          </a:p>
        </p:txBody>
      </p:sp>
      <p:sp>
        <p:nvSpPr>
          <p:cNvPr id="17"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CPU-bound: use more cores. I/O-bound: wait without holding a thread.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41832"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TASK.RUN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Task.Run Is for CPU-Bound Work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83</a:t>
            </a:r>
            <a:endParaRPr lang="en-US" sz="850" dirty="0"/>
          </a:p>
        </p:txBody>
      </p:sp>
      <p:sp>
        <p:nvSpPr>
          <p:cNvPr id="15" name="cw_win"/>
          <p:cNvSpPr/>
          <p:nvPr/>
        </p:nvSpPr>
        <p:spPr>
          <a:xfrm>
            <a:off x="543154" y="1572768"/>
            <a:ext cx="649224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92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922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decimal</a:t>
            </a:r>
            <a:r>
              <a:rPr lang="en-US" sz="1050" b="0" dirty="0">
                <a:solidFill>
                  <a:srgbClr val="E2E8F0"/>
                </a:solidFill>
                <a:latin typeface="Consolas"/>
                <a:ea typeface="Consolas"/>
                <a:cs typeface="Consolas"/>
              </a:rPr>
              <a:t> CalculateMonthlyReport()</a:t>
            </a:r>
            <a:endParaRPr lang="en-US" sz="1050" dirty="0"/>
          </a:p>
        </p:txBody>
      </p:sp>
      <p:sp>
        <p:nvSpPr>
          <p:cNvPr id="23" name="cw_L01"/>
          <p:cNvSpPr txBox="1"/>
          <p:nvPr/>
        </p:nvSpPr>
        <p:spPr>
          <a:xfrm>
            <a:off x="771754" y="226161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74976"/>
            <a:ext cx="610819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decimal</a:t>
            </a:r>
            <a:r>
              <a:rPr lang="en-US" sz="1050" b="0" dirty="0">
                <a:solidFill>
                  <a:srgbClr val="E2E8F0"/>
                </a:solidFill>
                <a:latin typeface="Consolas"/>
                <a:ea typeface="Consolas"/>
                <a:cs typeface="Consolas"/>
              </a:rPr>
              <a:t> total = 0;</a:t>
            </a:r>
            <a:endParaRPr lang="en-US" sz="1050" dirty="0"/>
          </a:p>
        </p:txBody>
      </p:sp>
      <p:sp>
        <p:nvSpPr>
          <p:cNvPr id="25" name="cw_L03"/>
          <p:cNvSpPr txBox="1"/>
          <p:nvPr/>
        </p:nvSpPr>
        <p:spPr>
          <a:xfrm>
            <a:off x="771754" y="2688336"/>
            <a:ext cx="610819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for</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order = 1; order &lt;= 20_000_000; order++)</a:t>
            </a:r>
            <a:endParaRPr lang="en-US" sz="1050" dirty="0"/>
          </a:p>
        </p:txBody>
      </p:sp>
      <p:sp>
        <p:nvSpPr>
          <p:cNvPr id="26" name="cw_L04"/>
          <p:cNvSpPr txBox="1"/>
          <p:nvPr/>
        </p:nvSpPr>
        <p:spPr>
          <a:xfrm>
            <a:off x="771754" y="2901696"/>
            <a:ext cx="610819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total += order % 100;      </a:t>
            </a:r>
            <a:r>
              <a:rPr lang="en-US" sz="1050" b="0" dirty="0">
                <a:solidFill>
                  <a:srgbClr val="6FAE7A"/>
                </a:solidFill>
                <a:latin typeface="Consolas"/>
                <a:ea typeface="Consolas"/>
                <a:cs typeface="Consolas"/>
              </a:rPr>
              <a:t>// heavy CPU work</a:t>
            </a:r>
            <a:endParaRPr lang="en-US" sz="1050" dirty="0"/>
          </a:p>
        </p:txBody>
      </p:sp>
      <p:sp>
        <p:nvSpPr>
          <p:cNvPr id="27" name="cw_L05"/>
          <p:cNvSpPr txBox="1"/>
          <p:nvPr/>
        </p:nvSpPr>
        <p:spPr>
          <a:xfrm>
            <a:off x="771754" y="3115056"/>
            <a:ext cx="610819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a:t>
            </a:r>
            <a:r>
              <a:rPr lang="en-US" sz="1050" b="0" dirty="0">
                <a:solidFill>
                  <a:srgbClr val="E2E8F0"/>
                </a:solidFill>
                <a:latin typeface="Consolas"/>
                <a:ea typeface="Consolas"/>
                <a:cs typeface="Consolas"/>
              </a:rPr>
              <a:t> total;</a:t>
            </a:r>
            <a:endParaRPr lang="en-US" sz="1050" dirty="0"/>
          </a:p>
        </p:txBody>
      </p:sp>
      <p:sp>
        <p:nvSpPr>
          <p:cNvPr id="28" name="cw_L06"/>
          <p:cNvSpPr txBox="1"/>
          <p:nvPr/>
        </p:nvSpPr>
        <p:spPr>
          <a:xfrm>
            <a:off x="771754" y="332841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9" name="cw_L08"/>
          <p:cNvSpPr txBox="1"/>
          <p:nvPr/>
        </p:nvSpPr>
        <p:spPr>
          <a:xfrm>
            <a:off x="771754" y="375513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Task&lt;</a:t>
            </a:r>
            <a:r>
              <a:rPr lang="en-US" sz="1050" b="0" dirty="0">
                <a:solidFill>
                  <a:srgbClr val="60A5FA"/>
                </a:solidFill>
                <a:latin typeface="Consolas"/>
                <a:ea typeface="Consolas"/>
                <a:cs typeface="Consolas"/>
              </a:rPr>
              <a:t>decimal</a:t>
            </a:r>
            <a:r>
              <a:rPr lang="en-US" sz="1050" b="0" dirty="0">
                <a:solidFill>
                  <a:srgbClr val="E2E8F0"/>
                </a:solidFill>
                <a:latin typeface="Consolas"/>
                <a:ea typeface="Consolas"/>
                <a:cs typeface="Consolas"/>
              </a:rPr>
              <a:t>&gt; reportTask = Task.Run(CalculateMonthlyReport);</a:t>
            </a:r>
            <a:endParaRPr lang="en-US" sz="1050" dirty="0"/>
          </a:p>
        </p:txBody>
      </p:sp>
      <p:sp>
        <p:nvSpPr>
          <p:cNvPr id="30" name="cw_L09"/>
          <p:cNvSpPr txBox="1"/>
          <p:nvPr/>
        </p:nvSpPr>
        <p:spPr>
          <a:xfrm>
            <a:off x="771754" y="396849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"Building report... Main is free"</a:t>
            </a:r>
            <a:r>
              <a:rPr lang="en-US" sz="1050" b="0" dirty="0">
                <a:solidFill>
                  <a:srgbClr val="E2E8F0"/>
                </a:solidFill>
                <a:latin typeface="Consolas"/>
                <a:ea typeface="Consolas"/>
                <a:cs typeface="Consolas"/>
              </a:rPr>
              <a:t>);</a:t>
            </a:r>
            <a:endParaRPr lang="en-US" sz="1050" dirty="0"/>
          </a:p>
        </p:txBody>
      </p:sp>
      <p:sp>
        <p:nvSpPr>
          <p:cNvPr id="31" name="cw_L10"/>
          <p:cNvSpPr txBox="1"/>
          <p:nvPr/>
        </p:nvSpPr>
        <p:spPr>
          <a:xfrm>
            <a:off x="771754" y="418185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$"Report total: {reportTask.Result}"</a:t>
            </a:r>
            <a:r>
              <a:rPr lang="en-US" sz="1050" b="0" dirty="0">
                <a:solidFill>
                  <a:srgbClr val="E2E8F0"/>
                </a:solidFill>
                <a:latin typeface="Consolas"/>
                <a:ea typeface="Consolas"/>
                <a:cs typeface="Consolas"/>
              </a:rPr>
              <a:t>);</a:t>
            </a:r>
            <a:endParaRPr lang="en-US" sz="1050" dirty="0"/>
          </a:p>
        </p:txBody>
      </p:sp>
      <p:sp>
        <p:nvSpPr>
          <p:cNvPr id="32" name="cw_L11"/>
          <p:cNvSpPr txBox="1"/>
          <p:nvPr/>
        </p:nvSpPr>
        <p:spPr>
          <a:xfrm>
            <a:off x="771754" y="4395216"/>
            <a:ext cx="610819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Report total: 990000000</a:t>
            </a:r>
            <a:endParaRPr lang="en-US" sz="1050" dirty="0"/>
          </a:p>
        </p:txBody>
      </p:sp>
      <p:sp>
        <p:nvSpPr>
          <p:cNvPr id="33" name="card"/>
          <p:cNvSpPr/>
          <p:nvPr/>
        </p:nvSpPr>
        <p:spPr>
          <a:xfrm>
            <a:off x="7263994" y="1572768"/>
            <a:ext cx="436626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GOOD USE</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Heavy calculation moved off the caller's thread (for example, keeping a UI responsive).</a:t>
            </a:r>
            <a:endParaRPr lang="en-US" sz="1200" dirty="0"/>
          </a:p>
        </p:txBody>
      </p:sp>
      <p:sp>
        <p:nvSpPr>
          <p:cNvPr id="34" name="card"/>
          <p:cNvSpPr/>
          <p:nvPr/>
        </p:nvSpPr>
        <p:spPr>
          <a:xfrm>
            <a:off x="7263994" y="2721864"/>
            <a:ext cx="4366260" cy="1011936"/>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NOT A SPEED BOOST</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Same total work (Exercise 3). Wrapping every method in Task.Run does not make it better, </a:t>
            </a:r>
            <a:r>
              <a:rPr lang="en-US" sz="1100" b="1" dirty="0">
                <a:solidFill>
                  <a:srgbClr val="F87171"/>
                </a:solidFill>
                <a:latin typeface="Segoe UI"/>
                <a:ea typeface="Segoe UI"/>
                <a:cs typeface="Segoe UI"/>
              </a:rPr>
              <a:t>scheduling overhead</a:t>
            </a:r>
            <a:r>
              <a:rPr lang="en-US" sz="1200" b="0" dirty="0">
                <a:solidFill>
                  <a:srgbClr val="CBD5E1"/>
                </a:solidFill>
                <a:latin typeface="Segoe UI"/>
                <a:ea typeface="Segoe UI"/>
                <a:cs typeface="Segoe UI"/>
              </a:rPr>
              <a:t>.</a:t>
            </a:r>
            <a:endParaRPr lang="en-US" sz="1200" dirty="0"/>
          </a:p>
        </p:txBody>
      </p:sp>
      <p:sp>
        <p:nvSpPr>
          <p:cNvPr id="35" name="card"/>
          <p:cNvSpPr/>
          <p:nvPr/>
        </p:nvSpPr>
        <p:spPr>
          <a:xfrm>
            <a:off x="7263994" y="3870960"/>
            <a:ext cx="4366260" cy="1011936"/>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DON'T WRAP I/O</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Task.Run(() =&gt; DownloadAsync()) is unnecessary: I/O is already asynchronous.</a:t>
            </a:r>
            <a:endParaRPr lang="en-US" sz="1200" dirty="0"/>
          </a:p>
        </p:txBody>
      </p:sp>
      <p:sp>
        <p:nvSpPr>
          <p:cNvPr id="36"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Use Task.Run to move CPU-heavy work off the current thread, not to wrap I/O.</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2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5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FROMRESULT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err="1">
                <a:solidFill>
                  <a:srgbClr val="FFFFFF"/>
                </a:solidFill>
                <a:latin typeface="Segoe UI"/>
                <a:ea typeface="Segoe UI"/>
                <a:cs typeface="Segoe UI"/>
              </a:rPr>
              <a:t>FromResult</a:t>
            </a:r>
            <a:r>
              <a:rPr lang="en-US" sz="3000" b="1" dirty="0">
                <a:solidFill>
                  <a:srgbClr val="FFFFFF"/>
                </a:solidFill>
                <a:latin typeface="Segoe UI"/>
                <a:ea typeface="Segoe UI"/>
                <a:cs typeface="Segoe UI"/>
              </a:rPr>
              <a:t> : Fakes and Interfaces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03</a:t>
            </a:r>
            <a:endParaRPr lang="en-US" sz="850" dirty="0"/>
          </a:p>
        </p:txBody>
      </p:sp>
      <p:sp>
        <p:nvSpPr>
          <p:cNvPr id="15" name="cw_win"/>
          <p:cNvSpPr/>
          <p:nvPr/>
        </p:nvSpPr>
        <p:spPr>
          <a:xfrm>
            <a:off x="543154" y="1572768"/>
            <a:ext cx="65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5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5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6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FakeRepository.cs</a:t>
            </a:r>
            <a:endParaRPr lang="en-US" sz="950" dirty="0"/>
          </a:p>
        </p:txBody>
      </p:sp>
      <p:sp>
        <p:nvSpPr>
          <p:cNvPr id="34" name="cw_hl09"/>
          <p:cNvSpPr/>
          <p:nvPr/>
        </p:nvSpPr>
        <p:spPr>
          <a:xfrm>
            <a:off x="676656" y="3720288"/>
            <a:ext cx="6232996" cy="422656"/>
          </a:xfrm>
          <a:prstGeom prst="rect">
            <a:avLst/>
          </a:prstGeom>
          <a:solidFill>
            <a:srgbClr val="34D399">
              <a:alpha val="15000"/>
            </a:srgbClr>
          </a:solidFill>
          <a:ln w="12700">
            <a:solidFill>
              <a:srgbClr val="34D399"/>
            </a:solidFill>
            <a:prstDash val="solid"/>
          </a:ln>
        </p:spPr>
        <p:txBody>
          <a:bodyPr/>
          <a:lstStyle/>
          <a:p>
            <a:endParaRPr lang="en-US"/>
          </a:p>
        </p:txBody>
      </p:sp>
      <p:sp>
        <p:nvSpPr>
          <p:cNvPr id="35" name="cw_hl12"/>
          <p:cNvSpPr/>
          <p:nvPr/>
        </p:nvSpPr>
        <p:spPr>
          <a:xfrm>
            <a:off x="676656" y="4299408"/>
            <a:ext cx="6232996" cy="22961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0121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 </a:t>
            </a:r>
            <a:r>
              <a:rPr lang="en-US" sz="950" b="0" dirty="0">
                <a:solidFill>
                  <a:srgbClr val="E2E8F0"/>
                </a:solidFill>
                <a:latin typeface="Consolas"/>
                <a:ea typeface="Consolas"/>
                <a:cs typeface="Consolas"/>
              </a:rPr>
              <a:t>interface IEmployeeRepository</a:t>
            </a:r>
            <a:endParaRPr lang="en-US" sz="950" dirty="0"/>
          </a:p>
        </p:txBody>
      </p:sp>
      <p:sp>
        <p:nvSpPr>
          <p:cNvPr id="23" name="cw_L01"/>
          <p:cNvSpPr txBox="1"/>
          <p:nvPr/>
        </p:nvSpPr>
        <p:spPr>
          <a:xfrm>
            <a:off x="771754" y="219425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_L02"/>
          <p:cNvSpPr txBox="1"/>
          <p:nvPr/>
        </p:nvSpPr>
        <p:spPr>
          <a:xfrm>
            <a:off x="771754" y="2387296"/>
            <a:ext cx="61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Task&lt;Employee?&gt; GetByIdAsync(</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a:t>
            </a:r>
            <a:endParaRPr lang="en-US" sz="950" dirty="0"/>
          </a:p>
        </p:txBody>
      </p:sp>
      <p:sp>
        <p:nvSpPr>
          <p:cNvPr id="25" name="cw_L03"/>
          <p:cNvSpPr txBox="1"/>
          <p:nvPr/>
        </p:nvSpPr>
        <p:spPr>
          <a:xfrm>
            <a:off x="771754" y="2580336"/>
            <a:ext cx="61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Task AddAsync(Employee employee);</a:t>
            </a:r>
            <a:endParaRPr lang="en-US" sz="950" dirty="0"/>
          </a:p>
        </p:txBody>
      </p:sp>
      <p:sp>
        <p:nvSpPr>
          <p:cNvPr id="26" name="cw_L04"/>
          <p:cNvSpPr txBox="1"/>
          <p:nvPr/>
        </p:nvSpPr>
        <p:spPr>
          <a:xfrm>
            <a:off x="771754" y="277337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7" name="cw_L06"/>
          <p:cNvSpPr txBox="1"/>
          <p:nvPr/>
        </p:nvSpPr>
        <p:spPr>
          <a:xfrm>
            <a:off x="771754" y="315945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In tests: no database, instant answers</a:t>
            </a:r>
            <a:endParaRPr lang="en-US" sz="950" dirty="0"/>
          </a:p>
        </p:txBody>
      </p:sp>
      <p:sp>
        <p:nvSpPr>
          <p:cNvPr id="28" name="cw_L07"/>
          <p:cNvSpPr txBox="1"/>
          <p:nvPr/>
        </p:nvSpPr>
        <p:spPr>
          <a:xfrm>
            <a:off x="771754" y="335249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 class </a:t>
            </a:r>
            <a:r>
              <a:rPr lang="en-US" sz="950" b="0" dirty="0">
                <a:solidFill>
                  <a:srgbClr val="E2E8F0"/>
                </a:solidFill>
                <a:latin typeface="Consolas"/>
                <a:ea typeface="Consolas"/>
                <a:cs typeface="Consolas"/>
              </a:rPr>
              <a:t>FakeEmployeeRepository : IEmployeeRepository</a:t>
            </a:r>
            <a:endParaRPr lang="en-US" sz="950" dirty="0"/>
          </a:p>
        </p:txBody>
      </p:sp>
      <p:sp>
        <p:nvSpPr>
          <p:cNvPr id="29" name="cw_L08"/>
          <p:cNvSpPr txBox="1"/>
          <p:nvPr/>
        </p:nvSpPr>
        <p:spPr>
          <a:xfrm>
            <a:off x="771754" y="354553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09"/>
          <p:cNvSpPr txBox="1"/>
          <p:nvPr/>
        </p:nvSpPr>
        <p:spPr>
          <a:xfrm>
            <a:off x="771754" y="3738576"/>
            <a:ext cx="61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 </a:t>
            </a:r>
            <a:r>
              <a:rPr lang="en-US" sz="950" b="0" dirty="0">
                <a:solidFill>
                  <a:srgbClr val="E2E8F0"/>
                </a:solidFill>
                <a:latin typeface="Consolas"/>
                <a:ea typeface="Consolas"/>
                <a:cs typeface="Consolas"/>
              </a:rPr>
              <a:t>Task&lt;Employee?&gt; GetByIdAsync(</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 =&gt;</a:t>
            </a:r>
            <a:endParaRPr lang="en-US" sz="950" dirty="0"/>
          </a:p>
        </p:txBody>
      </p:sp>
      <p:sp>
        <p:nvSpPr>
          <p:cNvPr id="31" name="cw_L10"/>
          <p:cNvSpPr txBox="1"/>
          <p:nvPr/>
        </p:nvSpPr>
        <p:spPr>
          <a:xfrm>
            <a:off x="771754" y="3931616"/>
            <a:ext cx="61159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Task.FromResult&lt;Employee?&gt;(</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Employee(id,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32" name="cw_L12"/>
          <p:cNvSpPr txBox="1"/>
          <p:nvPr/>
        </p:nvSpPr>
        <p:spPr>
          <a:xfrm>
            <a:off x="771754" y="4317696"/>
            <a:ext cx="61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 </a:t>
            </a:r>
            <a:r>
              <a:rPr lang="en-US" sz="950" b="0" dirty="0">
                <a:solidFill>
                  <a:srgbClr val="E2E8F0"/>
                </a:solidFill>
                <a:latin typeface="Consolas"/>
                <a:ea typeface="Consolas"/>
                <a:cs typeface="Consolas"/>
              </a:rPr>
              <a:t>Task AddAsync(Employee employee) =&gt; Task.CompletedTask;</a:t>
            </a:r>
            <a:endParaRPr lang="en-US" sz="950" dirty="0"/>
          </a:p>
        </p:txBody>
      </p:sp>
      <p:sp>
        <p:nvSpPr>
          <p:cNvPr id="33" name="cw_L13"/>
          <p:cNvSpPr txBox="1"/>
          <p:nvPr/>
        </p:nvSpPr>
        <p:spPr>
          <a:xfrm>
            <a:off x="771754" y="4510736"/>
            <a:ext cx="61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card"/>
          <p:cNvSpPr/>
          <p:nvPr/>
        </p:nvSpPr>
        <p:spPr>
          <a:xfrm>
            <a:off x="7293154" y="1572768"/>
            <a:ext cx="4337100" cy="100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GOOD USES</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Test fakes and stubs, cached values, default answers: anywhere a Task is required but the value is ready.</a:t>
            </a:r>
            <a:endParaRPr lang="en-US" sz="1050" dirty="0"/>
          </a:p>
        </p:txBody>
      </p:sp>
      <p:sp>
        <p:nvSpPr>
          <p:cNvPr id="37" name="cw2_win"/>
          <p:cNvSpPr/>
          <p:nvPr/>
        </p:nvSpPr>
        <p:spPr>
          <a:xfrm>
            <a:off x="7293154" y="2672768"/>
            <a:ext cx="4337100" cy="105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8" name="cw2_bar"/>
          <p:cNvSpPr/>
          <p:nvPr/>
        </p:nvSpPr>
        <p:spPr>
          <a:xfrm>
            <a:off x="7293154" y="2672768"/>
            <a:ext cx="43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9" name="cw2_barfill"/>
          <p:cNvSpPr/>
          <p:nvPr/>
        </p:nvSpPr>
        <p:spPr>
          <a:xfrm>
            <a:off x="7293154" y="2844218"/>
            <a:ext cx="4337100" cy="171450"/>
          </a:xfrm>
          <a:prstGeom prst="rect">
            <a:avLst/>
          </a:prstGeom>
          <a:solidFill>
            <a:srgbClr val="0A1220"/>
          </a:solidFill>
          <a:ln w="12700">
            <a:solidFill>
              <a:srgbClr val="0A1220"/>
            </a:solidFill>
            <a:prstDash val="solid"/>
          </a:ln>
        </p:spPr>
        <p:txBody>
          <a:bodyPr/>
          <a:lstStyle/>
          <a:p>
            <a:endParaRPr lang="en-US"/>
          </a:p>
        </p:txBody>
      </p:sp>
      <p:sp>
        <p:nvSpPr>
          <p:cNvPr id="40" name="cw2_dot0"/>
          <p:cNvSpPr/>
          <p:nvPr/>
        </p:nvSpPr>
        <p:spPr>
          <a:xfrm>
            <a:off x="7455002" y="27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1" name="cw2_dot1"/>
          <p:cNvSpPr/>
          <p:nvPr/>
        </p:nvSpPr>
        <p:spPr>
          <a:xfrm>
            <a:off x="7640626" y="27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2" name="cw2_dot2"/>
          <p:cNvSpPr/>
          <p:nvPr/>
        </p:nvSpPr>
        <p:spPr>
          <a:xfrm>
            <a:off x="7826250" y="27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3" name="cw2_tab"/>
          <p:cNvSpPr/>
          <p:nvPr/>
        </p:nvSpPr>
        <p:spPr>
          <a:xfrm>
            <a:off x="8074051" y="27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Trap.cs</a:t>
            </a:r>
            <a:endParaRPr lang="en-US" sz="950" dirty="0"/>
          </a:p>
        </p:txBody>
      </p:sp>
      <p:sp>
        <p:nvSpPr>
          <p:cNvPr id="44" name="cw2_L00"/>
          <p:cNvSpPr txBox="1"/>
          <p:nvPr/>
        </p:nvSpPr>
        <p:spPr>
          <a:xfrm>
            <a:off x="7521754" y="3101216"/>
            <a:ext cx="39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F87171"/>
                </a:solidFill>
                <a:latin typeface="Consolas"/>
                <a:ea typeface="Consolas"/>
                <a:cs typeface="Consolas"/>
              </a:rPr>
              <a:t>// TRAP</a:t>
            </a:r>
            <a:endParaRPr lang="en-US" sz="950" dirty="0"/>
          </a:p>
        </p:txBody>
      </p:sp>
      <p:sp>
        <p:nvSpPr>
          <p:cNvPr id="45" name="cw2_L01"/>
          <p:cNvSpPr txBox="1"/>
          <p:nvPr/>
        </p:nvSpPr>
        <p:spPr>
          <a:xfrm>
            <a:off x="7521754" y="3294256"/>
            <a:ext cx="395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t = Task.FromResult(</a:t>
            </a:r>
            <a:endParaRPr lang="en-US" sz="950" dirty="0"/>
          </a:p>
        </p:txBody>
      </p:sp>
      <p:sp>
        <p:nvSpPr>
          <p:cNvPr id="46" name="cw2_L02"/>
          <p:cNvSpPr txBox="1"/>
          <p:nvPr/>
        </p:nvSpPr>
        <p:spPr>
          <a:xfrm>
            <a:off x="7521754" y="3487296"/>
            <a:ext cx="39530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SlowCalculation());   </a:t>
            </a:r>
            <a:r>
              <a:rPr lang="en-US" sz="950" b="0" dirty="0">
                <a:solidFill>
                  <a:srgbClr val="6FAE7A"/>
                </a:solidFill>
                <a:latin typeface="Consolas"/>
                <a:ea typeface="Consolas"/>
                <a:cs typeface="Consolas"/>
              </a:rPr>
              <a:t>// 5 s</a:t>
            </a:r>
            <a:endParaRPr lang="en-US" sz="950" dirty="0"/>
          </a:p>
        </p:txBody>
      </p:sp>
      <p:sp>
        <p:nvSpPr>
          <p:cNvPr id="47" name="card"/>
          <p:cNvSpPr/>
          <p:nvPr/>
        </p:nvSpPr>
        <p:spPr>
          <a:xfrm>
            <a:off x="7293154" y="3822768"/>
            <a:ext cx="4337100" cy="1127232"/>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NOT ASYNC</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SlowCalculation() runs first, on YOUR thread, for 5 s. FromResult only wraps the finished value.</a:t>
            </a:r>
            <a:endParaRPr lang="en-US" sz="1050" dirty="0"/>
          </a:p>
        </p:txBody>
      </p:sp>
      <p:sp>
        <p:nvSpPr>
          <p:cNvPr id="48"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FromResult never makes work asynchronous: it only packages an answer you already have.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30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3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3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300"/>
                                        <p:tgtEl>
                                          <p:spTgt spid="3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300"/>
                                        <p:tgtEl>
                                          <p:spTgt spid="3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300"/>
                                        <p:tgtEl>
                                          <p:spTgt spid="4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300"/>
                                        <p:tgtEl>
                                          <p:spTgt spid="4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3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300"/>
                                        <p:tgtEl>
                                          <p:spTgt spid="4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300"/>
                                        <p:tgtEl>
                                          <p:spTgt spid="4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fade">
                                      <p:cBhvr>
                                        <p:cTn id="106" dur="300"/>
                                        <p:tgtEl>
                                          <p:spTgt spid="4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300"/>
                                        <p:tgtEl>
                                          <p:spTgt spid="47"/>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fade">
                                      <p:cBhvr>
                                        <p:cTn id="116" dur="3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4" grpId="0" animBg="1"/>
      <p:bldP spid="35"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PART 6</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87</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13D0F7"/>
                </a:solidFill>
                <a:latin typeface="Segoe UI"/>
                <a:ea typeface="Segoe UI"/>
                <a:cs typeface="Segoe UI"/>
              </a:rPr>
              <a:t>06</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async / await</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Wait for slow operations without blocking a thread.</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Wait without blocking  ·  Sync vs async  ·  What happens at await  ·  Runs synchronously until await  ·  Return types  ·  async void  ·  Thread.Sleep vs Task.Delay  ·  async is not parallel  ·  Start together  ·  Lab: Employee CRUD  ·  WhenAll  ·  WhenAny  ·  WhenEach  ·  Thread safety  ·  Exceptions  ·  Real pipeline  ·  Async throttling  ·  Forgot await?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await: Wait Without Blocking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88</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Blocking.cs</a:t>
            </a:r>
            <a:endParaRPr lang="en-US" sz="950" dirty="0"/>
          </a:p>
        </p:txBody>
      </p:sp>
      <p:sp>
        <p:nvSpPr>
          <p:cNvPr id="22" name="cwb_hl00"/>
          <p:cNvSpPr/>
          <p:nvPr/>
        </p:nvSpPr>
        <p:spPr>
          <a:xfrm>
            <a:off x="676656" y="2029968"/>
            <a:ext cx="5173675" cy="270256"/>
          </a:xfrm>
          <a:prstGeom prst="rect">
            <a:avLst/>
          </a:prstGeom>
          <a:solidFill>
            <a:srgbClr val="F87171">
              <a:alpha val="15000"/>
            </a:srgbClr>
          </a:solidFill>
          <a:ln w="12700">
            <a:solidFill>
              <a:srgbClr val="F87171"/>
            </a:solidFill>
            <a:prstDash val="solid"/>
          </a:ln>
        </p:spPr>
        <p:txBody>
          <a:bodyPr/>
          <a:lstStyle/>
          <a:p>
            <a:endParaRPr lang="en-US"/>
          </a:p>
        </p:txBody>
      </p:sp>
      <p:sp>
        <p:nvSpPr>
          <p:cNvPr id="23" name="cwb_L00"/>
          <p:cNvSpPr txBox="1"/>
          <p:nvPr/>
        </p:nvSpPr>
        <p:spPr>
          <a:xfrm>
            <a:off x="771754" y="20482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string</a:t>
            </a:r>
            <a:r>
              <a:rPr lang="en-US" sz="1150" b="0" dirty="0">
                <a:solidFill>
                  <a:srgbClr val="E2E8F0"/>
                </a:solidFill>
                <a:latin typeface="Consolas"/>
                <a:ea typeface="Consolas"/>
                <a:cs typeface="Consolas"/>
              </a:rPr>
              <a:t> menu = GetMenuAsync().Result;   </a:t>
            </a:r>
            <a:r>
              <a:rPr lang="en-US" sz="1150" b="0" dirty="0">
                <a:solidFill>
                  <a:srgbClr val="6FAE7A"/>
                </a:solidFill>
                <a:latin typeface="Consolas"/>
                <a:ea typeface="Consolas"/>
                <a:cs typeface="Consolas"/>
              </a:rPr>
              <a:t>// blocked</a:t>
            </a:r>
            <a:endParaRPr lang="en-US" sz="1150" dirty="0"/>
          </a:p>
        </p:txBody>
      </p:sp>
      <p:sp>
        <p:nvSpPr>
          <p:cNvPr id="24" name="cwb_L01"/>
          <p:cNvSpPr txBox="1"/>
          <p:nvPr/>
        </p:nvSpPr>
        <p:spPr>
          <a:xfrm>
            <a:off x="771754" y="228193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Console.WriteLine(menu);</a:t>
            </a:r>
            <a:endParaRPr lang="en-US" sz="1150" dirty="0"/>
          </a:p>
        </p:txBody>
      </p:sp>
      <p:sp>
        <p:nvSpPr>
          <p:cNvPr id="25" name="cwb_L03"/>
          <p:cNvSpPr txBox="1"/>
          <p:nvPr/>
        </p:nvSpPr>
        <p:spPr>
          <a:xfrm>
            <a:off x="771754" y="274929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String </a:t>
            </a:r>
            <a:r>
              <a:rPr lang="en-US" sz="1150" b="0" dirty="0" err="1">
                <a:solidFill>
                  <a:srgbClr val="E2E8F0"/>
                </a:solidFill>
                <a:latin typeface="Consolas"/>
                <a:ea typeface="Consolas"/>
                <a:cs typeface="Consolas"/>
              </a:rPr>
              <a:t>GetMenuAsync</a:t>
            </a:r>
            <a:r>
              <a:rPr lang="en-US" sz="1150" b="0" dirty="0">
                <a:solidFill>
                  <a:srgbClr val="E2E8F0"/>
                </a:solidFill>
                <a:latin typeface="Consolas"/>
                <a:ea typeface="Consolas"/>
                <a:cs typeface="Consolas"/>
              </a:rPr>
              <a:t>()</a:t>
            </a:r>
            <a:endParaRPr lang="en-US" sz="1150" dirty="0"/>
          </a:p>
        </p:txBody>
      </p:sp>
      <p:sp>
        <p:nvSpPr>
          <p:cNvPr id="26" name="cwb_L04"/>
          <p:cNvSpPr txBox="1"/>
          <p:nvPr/>
        </p:nvSpPr>
        <p:spPr>
          <a:xfrm>
            <a:off x="771754" y="298297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7" name="cwb_L05"/>
          <p:cNvSpPr txBox="1"/>
          <p:nvPr/>
        </p:nvSpPr>
        <p:spPr>
          <a:xfrm>
            <a:off x="771754" y="321665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dirty="0" err="1">
                <a:solidFill>
                  <a:srgbClr val="E2E8F0"/>
                </a:solidFill>
                <a:latin typeface="Consolas"/>
                <a:ea typeface="Consolas"/>
                <a:cs typeface="Consolas"/>
              </a:rPr>
              <a:t>Thread.</a:t>
            </a:r>
            <a:r>
              <a:rPr lang="en-US" sz="1150" b="0" dirty="0" err="1">
                <a:solidFill>
                  <a:srgbClr val="E2E8F0"/>
                </a:solidFill>
                <a:latin typeface="Consolas"/>
                <a:ea typeface="Consolas"/>
                <a:cs typeface="Consolas"/>
              </a:rPr>
              <a:t>Sleep</a:t>
            </a:r>
            <a:r>
              <a:rPr lang="en-US" sz="1150" b="0" dirty="0">
                <a:solidFill>
                  <a:srgbClr val="E2E8F0"/>
                </a:solidFill>
                <a:latin typeface="Consolas"/>
                <a:ea typeface="Consolas"/>
                <a:cs typeface="Consolas"/>
              </a:rPr>
              <a:t>(2000);   </a:t>
            </a:r>
            <a:r>
              <a:rPr lang="en-US" sz="1150" b="0" dirty="0">
                <a:solidFill>
                  <a:srgbClr val="6FAE7A"/>
                </a:solidFill>
                <a:latin typeface="Consolas"/>
                <a:ea typeface="Consolas"/>
                <a:cs typeface="Consolas"/>
              </a:rPr>
              <a:t>// simulates a network call</a:t>
            </a:r>
            <a:endParaRPr lang="en-US" sz="1150" dirty="0"/>
          </a:p>
        </p:txBody>
      </p:sp>
      <p:sp>
        <p:nvSpPr>
          <p:cNvPr id="28" name="cwb_L06"/>
          <p:cNvSpPr txBox="1"/>
          <p:nvPr/>
        </p:nvSpPr>
        <p:spPr>
          <a:xfrm>
            <a:off x="771754" y="345033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return</a:t>
            </a:r>
            <a:r>
              <a:rPr lang="en-US" sz="1150" b="0" dirty="0">
                <a:solidFill>
                  <a:srgbClr val="E2E8F0"/>
                </a:solidFill>
                <a:latin typeface="Consolas"/>
                <a:ea typeface="Consolas"/>
                <a:cs typeface="Consolas"/>
              </a:rPr>
              <a:t> </a:t>
            </a:r>
            <a:r>
              <a:rPr lang="en-US" sz="1150" b="0" dirty="0">
                <a:solidFill>
                  <a:srgbClr val="F0A98B"/>
                </a:solidFill>
                <a:latin typeface="Consolas"/>
                <a:ea typeface="Consolas"/>
                <a:cs typeface="Consolas"/>
              </a:rPr>
              <a:t>"Koshary, Fattah, Hawawshi"</a:t>
            </a:r>
            <a:r>
              <a:rPr lang="en-US" sz="1150" b="0" dirty="0">
                <a:solidFill>
                  <a:srgbClr val="E2E8F0"/>
                </a:solidFill>
                <a:latin typeface="Consolas"/>
                <a:ea typeface="Consolas"/>
                <a:cs typeface="Consolas"/>
              </a:rPr>
              <a:t>;</a:t>
            </a:r>
            <a:endParaRPr lang="en-US" sz="1150" dirty="0"/>
          </a:p>
        </p:txBody>
      </p:sp>
      <p:sp>
        <p:nvSpPr>
          <p:cNvPr id="29" name="cwb_L07"/>
          <p:cNvSpPr txBox="1"/>
          <p:nvPr/>
        </p:nvSpPr>
        <p:spPr>
          <a:xfrm>
            <a:off x="771754" y="368401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30"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1"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3"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Async.cs</a:t>
            </a:r>
            <a:endParaRPr lang="en-US" sz="950" dirty="0"/>
          </a:p>
        </p:txBody>
      </p:sp>
      <p:sp>
        <p:nvSpPr>
          <p:cNvPr id="37" name="cwa_hl00"/>
          <p:cNvSpPr/>
          <p:nvPr/>
        </p:nvSpPr>
        <p:spPr>
          <a:xfrm>
            <a:off x="6323076" y="2029968"/>
            <a:ext cx="5173675" cy="270256"/>
          </a:xfrm>
          <a:prstGeom prst="rect">
            <a:avLst/>
          </a:prstGeom>
          <a:solidFill>
            <a:srgbClr val="34D399">
              <a:alpha val="15000"/>
            </a:srgbClr>
          </a:solidFill>
          <a:ln w="12700">
            <a:solidFill>
              <a:srgbClr val="34D399"/>
            </a:solidFill>
            <a:prstDash val="solid"/>
          </a:ln>
        </p:spPr>
        <p:txBody>
          <a:bodyPr/>
          <a:lstStyle/>
          <a:p>
            <a:endParaRPr lang="en-US"/>
          </a:p>
        </p:txBody>
      </p:sp>
      <p:sp>
        <p:nvSpPr>
          <p:cNvPr id="38" name="cwa_L00"/>
          <p:cNvSpPr txBox="1"/>
          <p:nvPr/>
        </p:nvSpPr>
        <p:spPr>
          <a:xfrm>
            <a:off x="6418174" y="20482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string</a:t>
            </a:r>
            <a:r>
              <a:rPr lang="en-US" sz="1150" b="0" dirty="0">
                <a:solidFill>
                  <a:srgbClr val="E2E8F0"/>
                </a:solidFill>
                <a:latin typeface="Consolas"/>
                <a:ea typeface="Consolas"/>
                <a:cs typeface="Consolas"/>
              </a:rPr>
              <a:t> menu = </a:t>
            </a: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GetMenuAsync();    </a:t>
            </a:r>
            <a:r>
              <a:rPr lang="en-US" sz="1150" b="0" dirty="0">
                <a:solidFill>
                  <a:srgbClr val="6FAE7A"/>
                </a:solidFill>
                <a:latin typeface="Consolas"/>
                <a:ea typeface="Consolas"/>
                <a:cs typeface="Consolas"/>
              </a:rPr>
              <a:t>// released</a:t>
            </a:r>
            <a:endParaRPr lang="en-US" sz="1150" dirty="0"/>
          </a:p>
        </p:txBody>
      </p:sp>
      <p:sp>
        <p:nvSpPr>
          <p:cNvPr id="39" name="cwa_L01"/>
          <p:cNvSpPr txBox="1"/>
          <p:nvPr/>
        </p:nvSpPr>
        <p:spPr>
          <a:xfrm>
            <a:off x="6418174" y="228193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Console.WriteLine(menu);</a:t>
            </a:r>
            <a:endParaRPr lang="en-US" sz="1150" dirty="0"/>
          </a:p>
        </p:txBody>
      </p:sp>
      <p:sp>
        <p:nvSpPr>
          <p:cNvPr id="40" name="cwa_L03"/>
          <p:cNvSpPr txBox="1"/>
          <p:nvPr/>
        </p:nvSpPr>
        <p:spPr>
          <a:xfrm>
            <a:off x="6418174" y="274929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Task&lt;</a:t>
            </a:r>
            <a:r>
              <a:rPr lang="en-US" sz="1150" b="0" dirty="0">
                <a:solidFill>
                  <a:srgbClr val="60A5FA"/>
                </a:solidFill>
                <a:latin typeface="Consolas"/>
                <a:ea typeface="Consolas"/>
                <a:cs typeface="Consolas"/>
              </a:rPr>
              <a:t>string</a:t>
            </a:r>
            <a:r>
              <a:rPr lang="en-US" sz="1150" b="0" dirty="0">
                <a:solidFill>
                  <a:srgbClr val="E2E8F0"/>
                </a:solidFill>
                <a:latin typeface="Consolas"/>
                <a:ea typeface="Consolas"/>
                <a:cs typeface="Consolas"/>
              </a:rPr>
              <a:t>&gt; GetMenuAsync()</a:t>
            </a:r>
            <a:endParaRPr lang="en-US" sz="1150" dirty="0"/>
          </a:p>
        </p:txBody>
      </p:sp>
      <p:sp>
        <p:nvSpPr>
          <p:cNvPr id="41" name="cwa_L04"/>
          <p:cNvSpPr txBox="1"/>
          <p:nvPr/>
        </p:nvSpPr>
        <p:spPr>
          <a:xfrm>
            <a:off x="6418174" y="298297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42" name="cwa_L05"/>
          <p:cNvSpPr txBox="1"/>
          <p:nvPr/>
        </p:nvSpPr>
        <p:spPr>
          <a:xfrm>
            <a:off x="6418174" y="321665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Task.Delay(2000);   </a:t>
            </a:r>
            <a:r>
              <a:rPr lang="en-US" sz="1150" b="0" dirty="0">
                <a:solidFill>
                  <a:srgbClr val="6FAE7A"/>
                </a:solidFill>
                <a:latin typeface="Consolas"/>
                <a:ea typeface="Consolas"/>
                <a:cs typeface="Consolas"/>
              </a:rPr>
              <a:t>// simulates a network call</a:t>
            </a:r>
            <a:endParaRPr lang="en-US" sz="1150" dirty="0"/>
          </a:p>
        </p:txBody>
      </p:sp>
      <p:sp>
        <p:nvSpPr>
          <p:cNvPr id="43" name="cwa_L06"/>
          <p:cNvSpPr txBox="1"/>
          <p:nvPr/>
        </p:nvSpPr>
        <p:spPr>
          <a:xfrm>
            <a:off x="6418174" y="345033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return</a:t>
            </a:r>
            <a:r>
              <a:rPr lang="en-US" sz="1150" b="0" dirty="0">
                <a:solidFill>
                  <a:srgbClr val="E2E8F0"/>
                </a:solidFill>
                <a:latin typeface="Consolas"/>
                <a:ea typeface="Consolas"/>
                <a:cs typeface="Consolas"/>
              </a:rPr>
              <a:t> </a:t>
            </a:r>
            <a:r>
              <a:rPr lang="en-US" sz="1150" b="0" dirty="0">
                <a:solidFill>
                  <a:srgbClr val="F0A98B"/>
                </a:solidFill>
                <a:latin typeface="Consolas"/>
                <a:ea typeface="Consolas"/>
                <a:cs typeface="Consolas"/>
              </a:rPr>
              <a:t>"Koshary, Fattah, Hawawshi"</a:t>
            </a:r>
            <a:r>
              <a:rPr lang="en-US" sz="1150" b="0" dirty="0">
                <a:solidFill>
                  <a:srgbClr val="E2E8F0"/>
                </a:solidFill>
                <a:latin typeface="Consolas"/>
                <a:ea typeface="Consolas"/>
                <a:cs typeface="Consolas"/>
              </a:rPr>
              <a:t>;</a:t>
            </a:r>
            <a:endParaRPr lang="en-US" sz="1150" dirty="0"/>
          </a:p>
        </p:txBody>
      </p:sp>
      <p:sp>
        <p:nvSpPr>
          <p:cNvPr id="44" name="cwa_L07"/>
          <p:cNvSpPr txBox="1"/>
          <p:nvPr/>
        </p:nvSpPr>
        <p:spPr>
          <a:xfrm>
            <a:off x="6418174" y="368401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45"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BLOCKING</a:t>
            </a:r>
            <a:endParaRPr lang="en-US" sz="900" dirty="0"/>
          </a:p>
        </p:txBody>
      </p:sp>
      <p:sp>
        <p:nvSpPr>
          <p:cNvPr id="46"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ASYNC</a:t>
            </a:r>
            <a:endParaRPr lang="en-US" sz="900" dirty="0"/>
          </a:p>
        </p:txBody>
      </p:sp>
      <p:cxnSp>
        <p:nvCxnSpPr>
          <p:cNvPr id="47" name="arrow"/>
          <p:cNvCxnSpPr/>
          <p:nvPr/>
        </p:nvCxnSpPr>
        <p:spPr>
          <a:xfrm>
            <a:off x="6011266" y="3227832"/>
            <a:ext cx="150876" cy="0"/>
          </a:xfrm>
          <a:prstGeom prst="line">
            <a:avLst/>
          </a:prstGeom>
          <a:ln w="28575">
            <a:solidFill>
              <a:srgbClr val="13D0F7"/>
            </a:solidFill>
            <a:tailEnd type="triangle" w="med" len="med"/>
          </a:ln>
        </p:spPr>
      </p:cxnSp>
      <p:sp>
        <p:nvSpPr>
          <p:cNvPr id="48"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thread sits blocked for 2 seconds. During that time it cannot serve anyone else.</a:t>
            </a:r>
            <a:endParaRPr lang="en-US" sz="1250" dirty="0"/>
          </a:p>
        </p:txBody>
      </p:sp>
      <p:sp>
        <p:nvSpPr>
          <p:cNvPr id="49"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await pauses the METHOD, not the thread. The thread is released while waiting; the method resumes when the result arrives.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250"/>
                                        <p:tgtEl>
                                          <p:spTgt spid="4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25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25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25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5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25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250"/>
                                        <p:tgtEl>
                                          <p:spTgt spid="46"/>
                                        </p:tgtEl>
                                      </p:cBhvr>
                                    </p:animEffect>
                                  </p:childTnLst>
                                </p:cTn>
                              </p:par>
                              <p:par>
                                <p:cTn id="66" presetID="10" presetClass="entr" presetSubtype="0" fill="hold"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fade">
                                      <p:cBhvr>
                                        <p:cTn id="68" dur="25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fade">
                                      <p:cBhvr>
                                        <p:cTn id="73" dur="2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p:bldP spid="25" grpId="0"/>
      <p:bldP spid="26" grpId="0"/>
      <p:bldP spid="27" grpId="0"/>
      <p:bldP spid="28" grpId="0"/>
      <p:bldP spid="29" grpId="0"/>
      <p:bldP spid="37" grpId="0" animBg="1"/>
      <p:bldP spid="38" grpId="0"/>
      <p:bldP spid="39" grpId="0"/>
      <p:bldP spid="40" grpId="0"/>
      <p:bldP spid="41" grpId="0"/>
      <p:bldP spid="42" grpId="0"/>
      <p:bldP spid="43" grpId="0"/>
      <p:bldP spid="44" grpId="0"/>
      <p:bldP spid="45" grpId="0" animBg="1"/>
      <p:bldP spid="46" grpId="0" animBg="1"/>
      <p:bldP spid="48" grpId="0" animBg="1"/>
      <p:bldP spid="4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How Many Threads Are Waiting?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TASKS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89</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During the 5-second delay, how many threads are busy waiting?</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Console.WriteLine(</a:t>
            </a:r>
            <a:r>
              <a:rPr lang="en-US" sz="1300" b="0" dirty="0">
                <a:solidFill>
                  <a:srgbClr val="F0A98B"/>
                </a:solidFill>
                <a:latin typeface="Consolas"/>
                <a:ea typeface="Consolas"/>
                <a:cs typeface="Consolas"/>
              </a:rPr>
              <a:t>"Start"</a:t>
            </a:r>
            <a:r>
              <a:rPr lang="en-US" sz="1300" b="0" dirty="0">
                <a:solidFill>
                  <a:srgbClr val="E2E8F0"/>
                </a:solidFill>
                <a:latin typeface="Consolas"/>
                <a:ea typeface="Consolas"/>
                <a:cs typeface="Consolas"/>
              </a:rPr>
              <a:t>);</a:t>
            </a:r>
            <a:endParaRPr lang="en-US" sz="1300" dirty="0"/>
          </a:p>
        </p:txBody>
      </p:sp>
      <p:sp>
        <p:nvSpPr>
          <p:cNvPr id="24" name="cw_L02"/>
          <p:cNvSpPr txBox="1"/>
          <p:nvPr/>
        </p:nvSpPr>
        <p:spPr>
          <a:xfrm>
            <a:off x="771754" y="271373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0A5FA"/>
                </a:solidFill>
                <a:latin typeface="Consolas"/>
                <a:ea typeface="Consolas"/>
                <a:cs typeface="Consolas"/>
              </a:rPr>
              <a:t>await</a:t>
            </a:r>
            <a:r>
              <a:rPr lang="en-US" sz="1300" b="0" dirty="0">
                <a:solidFill>
                  <a:srgbClr val="E2E8F0"/>
                </a:solidFill>
                <a:latin typeface="Consolas"/>
                <a:ea typeface="Consolas"/>
                <a:cs typeface="Consolas"/>
              </a:rPr>
              <a:t> Task.Delay(5000);</a:t>
            </a:r>
            <a:endParaRPr lang="en-US" sz="1300" dirty="0"/>
          </a:p>
        </p:txBody>
      </p:sp>
      <p:sp>
        <p:nvSpPr>
          <p:cNvPr id="25" name="cw_L04"/>
          <p:cNvSpPr txBox="1"/>
          <p:nvPr/>
        </p:nvSpPr>
        <p:spPr>
          <a:xfrm>
            <a:off x="771754" y="324205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Console.WriteLine(</a:t>
            </a:r>
            <a:r>
              <a:rPr lang="en-US" sz="1300" b="0" dirty="0">
                <a:solidFill>
                  <a:srgbClr val="F0A98B"/>
                </a:solidFill>
                <a:latin typeface="Consolas"/>
                <a:ea typeface="Consolas"/>
                <a:cs typeface="Consolas"/>
              </a:rPr>
              <a:t>"Done"</a:t>
            </a:r>
            <a:r>
              <a:rPr lang="en-US" sz="1300" b="0" dirty="0">
                <a:solidFill>
                  <a:srgbClr val="E2E8F0"/>
                </a:solidFill>
                <a:latin typeface="Consolas"/>
                <a:ea typeface="Consolas"/>
                <a:cs typeface="Consolas"/>
              </a:rPr>
              <a:t>);</a:t>
            </a:r>
            <a:endParaRPr lang="en-US" sz="1300" dirty="0"/>
          </a:p>
        </p:txBody>
      </p:sp>
      <p:sp>
        <p:nvSpPr>
          <p:cNvPr id="26"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One pool thread</a:t>
            </a:r>
            <a:endParaRPr lang="en-US" sz="1400" dirty="0"/>
          </a:p>
        </p:txBody>
      </p:sp>
      <p:sp>
        <p:nvSpPr>
          <p:cNvPr id="27"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One new thread</a:t>
            </a:r>
            <a:endParaRPr lang="en-US" sz="1400" dirty="0"/>
          </a:p>
        </p:txBody>
      </p:sp>
      <p:sp>
        <p:nvSpPr>
          <p:cNvPr id="28"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None: a timer completes the task</a:t>
            </a:r>
            <a:endParaRPr lang="en-US" sz="1400" dirty="0"/>
          </a:p>
        </p:txBody>
      </p:sp>
      <p:sp>
        <p:nvSpPr>
          <p:cNvPr id="29"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All pool threads</a:t>
            </a:r>
            <a:endParaRPr lang="en-US" sz="1400" dirty="0"/>
          </a:p>
        </p:txBody>
      </p:sp>
      <p:sp>
        <p:nvSpPr>
          <p:cNvPr id="30" name="answer_mark"/>
          <p:cNvSpPr/>
          <p:nvPr/>
        </p:nvSpPr>
        <p:spPr>
          <a:xfrm>
            <a:off x="6532474" y="3282696"/>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C   </a:t>
            </a:r>
            <a:r>
              <a:rPr lang="en-US" sz="1400" b="1" dirty="0">
                <a:solidFill>
                  <a:srgbClr val="34D399"/>
                </a:solidFill>
                <a:latin typeface="Segoe UI"/>
                <a:ea typeface="Segoe UI"/>
                <a:cs typeface="Segoe UI"/>
              </a:rPr>
              <a:t>None: a timer completes the task</a:t>
            </a:r>
            <a:endParaRPr lang="en-US" sz="1400" dirty="0"/>
          </a:p>
        </p:txBody>
      </p:sp>
      <p:sp>
        <p:nvSpPr>
          <p:cNvPr id="31"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C   </a:t>
            </a:r>
            <a:r>
              <a:rPr lang="en-US" sz="1450" b="0" dirty="0">
                <a:solidFill>
                  <a:srgbClr val="FFFFFF"/>
                </a:solidFill>
                <a:latin typeface="Segoe UI"/>
                <a:ea typeface="Segoe UI"/>
                <a:cs typeface="Segoe UI"/>
              </a:rPr>
              <a:t>Task.Delay uses a timer. No thread sits waiting; when the timer fires, the rest of the method continues on a thread.</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25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2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2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animBg="1"/>
      <p:bldP spid="27" grpId="0" animBg="1"/>
      <p:bldP spid="28" grpId="0" animBg="1"/>
      <p:bldP spid="29" grpId="0" animBg="1"/>
      <p:bldP spid="30" grpId="0" animBg="1"/>
      <p:bldP spid="3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4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SYNC VS ASYNC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Synchronous vs Asynchronous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90</a:t>
            </a:r>
            <a:endParaRPr lang="en-US" sz="850" dirty="0"/>
          </a:p>
        </p:txBody>
      </p:sp>
      <p:sp>
        <p:nvSpPr>
          <p:cNvPr id="15" name="lab"/>
          <p:cNvSpPr txBox="1"/>
          <p:nvPr/>
        </p:nvSpPr>
        <p:spPr>
          <a:xfrm>
            <a:off x="543154" y="1592768"/>
            <a:ext cx="1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Segoe UI"/>
                <a:ea typeface="Segoe UI"/>
                <a:cs typeface="Segoe UI"/>
              </a:rPr>
              <a:t>Synchronous</a:t>
            </a:r>
            <a:endParaRPr lang="en-US" sz="1150" dirty="0"/>
          </a:p>
        </p:txBody>
      </p:sp>
      <p:sp>
        <p:nvSpPr>
          <p:cNvPr id="16" name="bar"/>
          <p:cNvSpPr/>
          <p:nvPr/>
        </p:nvSpPr>
        <p:spPr>
          <a:xfrm>
            <a:off x="2043154" y="1592768"/>
            <a:ext cx="1695678" cy="38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your code</a:t>
            </a:r>
            <a:endParaRPr lang="en-US" sz="950" dirty="0"/>
          </a:p>
        </p:txBody>
      </p:sp>
      <p:sp>
        <p:nvSpPr>
          <p:cNvPr id="17" name="bar"/>
          <p:cNvSpPr/>
          <p:nvPr/>
        </p:nvSpPr>
        <p:spPr>
          <a:xfrm>
            <a:off x="3768832" y="1592768"/>
            <a:ext cx="5914002" cy="38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BLOCKED: waiting for the database</a:t>
            </a:r>
            <a:endParaRPr lang="en-US" sz="950" dirty="0"/>
          </a:p>
        </p:txBody>
      </p:sp>
      <p:sp>
        <p:nvSpPr>
          <p:cNvPr id="18" name="bar"/>
          <p:cNvSpPr/>
          <p:nvPr/>
        </p:nvSpPr>
        <p:spPr>
          <a:xfrm>
            <a:off x="9712834" y="1592768"/>
            <a:ext cx="1887420" cy="38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your code</a:t>
            </a:r>
            <a:endParaRPr lang="en-US" sz="950" dirty="0"/>
          </a:p>
        </p:txBody>
      </p:sp>
      <p:sp>
        <p:nvSpPr>
          <p:cNvPr id="19" name="lab"/>
          <p:cNvSpPr txBox="1"/>
          <p:nvPr/>
        </p:nvSpPr>
        <p:spPr>
          <a:xfrm>
            <a:off x="543154" y="2132768"/>
            <a:ext cx="1450000" cy="4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Asynchronous</a:t>
            </a:r>
            <a:endParaRPr lang="en-US" sz="1150" dirty="0"/>
          </a:p>
        </p:txBody>
      </p:sp>
      <p:sp>
        <p:nvSpPr>
          <p:cNvPr id="20" name="bar"/>
          <p:cNvSpPr/>
          <p:nvPr/>
        </p:nvSpPr>
        <p:spPr>
          <a:xfrm>
            <a:off x="2043154" y="2132768"/>
            <a:ext cx="1695678" cy="38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your code</a:t>
            </a:r>
            <a:endParaRPr lang="en-US" sz="950" dirty="0"/>
          </a:p>
        </p:txBody>
      </p:sp>
      <p:sp>
        <p:nvSpPr>
          <p:cNvPr id="21" name="bar"/>
          <p:cNvSpPr/>
          <p:nvPr/>
        </p:nvSpPr>
        <p:spPr>
          <a:xfrm>
            <a:off x="3768832" y="2132768"/>
            <a:ext cx="5914002" cy="38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FREE: the thread serves other work</a:t>
            </a:r>
            <a:endParaRPr lang="en-US" sz="950" dirty="0"/>
          </a:p>
        </p:txBody>
      </p:sp>
      <p:sp>
        <p:nvSpPr>
          <p:cNvPr id="22" name="bar"/>
          <p:cNvSpPr/>
          <p:nvPr/>
        </p:nvSpPr>
        <p:spPr>
          <a:xfrm>
            <a:off x="9712834" y="2132768"/>
            <a:ext cx="1887420" cy="38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resumes</a:t>
            </a:r>
            <a:endParaRPr lang="en-US" sz="950" dirty="0"/>
          </a:p>
        </p:txBody>
      </p:sp>
      <p:sp>
        <p:nvSpPr>
          <p:cNvPr id="23" name="bar"/>
          <p:cNvSpPr/>
          <p:nvPr/>
        </p:nvSpPr>
        <p:spPr>
          <a:xfrm>
            <a:off x="3768832" y="2572768"/>
            <a:ext cx="5914002" cy="300000"/>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database works: no thread is waiting</a:t>
            </a:r>
            <a:endParaRPr lang="en-US" sz="900" dirty="0"/>
          </a:p>
        </p:txBody>
      </p:sp>
      <p:sp>
        <p:nvSpPr>
          <p:cNvPr id="24" name="card"/>
          <p:cNvSpPr/>
          <p:nvPr/>
        </p:nvSpPr>
        <p:spPr>
          <a:xfrm>
            <a:off x="543154" y="3022768"/>
            <a:ext cx="5474970" cy="900000"/>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SYNCHRONOUS</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The thread waits, blocked, until the answer arrives. 1,000 waiting users = about 1,000 blocked threads.</a:t>
            </a:r>
            <a:endParaRPr lang="en-US" sz="1100" dirty="0"/>
          </a:p>
        </p:txBody>
      </p:sp>
      <p:sp>
        <p:nvSpPr>
          <p:cNvPr id="25" name="card"/>
          <p:cNvSpPr/>
          <p:nvPr/>
        </p:nvSpPr>
        <p:spPr>
          <a:xfrm>
            <a:off x="6155284" y="3022768"/>
            <a:ext cx="5474970" cy="90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ASYNCHRONOUS</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At await the thread is released; the method resumes when the answer arrives. A few threads serve 1,000 users.</a:t>
            </a:r>
            <a:endParaRPr lang="en-US" sz="1100" dirty="0"/>
          </a:p>
        </p:txBody>
      </p:sp>
      <p:sp>
        <p:nvSpPr>
          <p:cNvPr id="26" name="card"/>
          <p:cNvSpPr/>
          <p:nvPr/>
        </p:nvSpPr>
        <p:spPr>
          <a:xfrm>
            <a:off x="543154" y="4022768"/>
            <a:ext cx="5474970" cy="927232"/>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NOT MULTITHREADING</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async can work on ONE thread: a UI app runs all its awaits on its single UI thread. While waiting, no thread is used.</a:t>
            </a:r>
            <a:endParaRPr lang="en-US" sz="1100" dirty="0"/>
          </a:p>
        </p:txBody>
      </p:sp>
      <p:sp>
        <p:nvSpPr>
          <p:cNvPr id="27" name="card"/>
          <p:cNvSpPr/>
          <p:nvPr/>
        </p:nvSpPr>
        <p:spPr>
          <a:xfrm>
            <a:off x="6155284" y="4022768"/>
            <a:ext cx="5474970" cy="927232"/>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NOT PARALLEL</a:t>
            </a:r>
            <a:endParaRPr lang="en-US" sz="1000" dirty="0"/>
          </a:p>
          <a:p>
            <a:pPr marL="0" indent="0" algn="l">
              <a:spcBef>
                <a:spcPts val="0"/>
              </a:spcBef>
              <a:spcAft>
                <a:spcPts val="0"/>
              </a:spcAft>
              <a:buNone/>
            </a:pPr>
            <a:r>
              <a:rPr lang="en-US" sz="1100" b="0" dirty="0">
                <a:solidFill>
                  <a:srgbClr val="CBD5E1"/>
                </a:solidFill>
                <a:latin typeface="Segoe UI"/>
                <a:ea typeface="Segoe UI"/>
                <a:cs typeface="Segoe UI"/>
              </a:rPr>
              <a:t>await one call, then the next: they still run one after another. async is about not blocking, not about doing things at once.</a:t>
            </a:r>
            <a:endParaRPr lang="en-US" sz="1100" dirty="0"/>
          </a:p>
        </p:txBody>
      </p:sp>
      <p:sp>
        <p:nvSpPr>
          <p:cNvPr id="28"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async = </a:t>
            </a:r>
            <a:r>
              <a:rPr lang="en-US" sz="1600" b="0" dirty="0">
                <a:solidFill>
                  <a:srgbClr val="FF0000"/>
                </a:solidFill>
                <a:latin typeface="Segoe UI"/>
                <a:ea typeface="Segoe UI"/>
                <a:cs typeface="Segoe UI"/>
              </a:rPr>
              <a:t>do not </a:t>
            </a:r>
            <a:r>
              <a:rPr lang="en-US" sz="1600" b="0" dirty="0">
                <a:solidFill>
                  <a:srgbClr val="FFFFFF"/>
                </a:solidFill>
                <a:latin typeface="Segoe UI"/>
                <a:ea typeface="Segoe UI"/>
                <a:cs typeface="Segoe UI"/>
              </a:rPr>
              <a:t>block while waiting. Not more threads, not parallel work.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600"/>
                                        <p:tgtEl>
                                          <p:spTgt spid="16"/>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600"/>
                                        <p:tgtEl>
                                          <p:spTgt spid="17"/>
                                        </p:tgtEl>
                                      </p:cBhvr>
                                    </p:animEffect>
                                  </p:childTnLst>
                                </p:cTn>
                              </p:par>
                              <p:par>
                                <p:cTn id="14" presetID="22" presetClass="entr" presetSubtype="8" fill="hold" grpId="0"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6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3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00"/>
                                        <p:tgtEl>
                                          <p:spTgt spid="1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600"/>
                                        <p:tgtEl>
                                          <p:spTgt spid="20"/>
                                        </p:tgtEl>
                                      </p:cBhvr>
                                    </p:animEffect>
                                  </p:childTnLst>
                                </p:cTn>
                              </p:par>
                              <p:par>
                                <p:cTn id="30" presetID="22" presetClass="entr" presetSubtype="8" fill="hold" grpId="0" nodeType="withEffect">
                                  <p:stCondLst>
                                    <p:cond delay="50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600"/>
                                        <p:tgtEl>
                                          <p:spTgt spid="21"/>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600"/>
                                        <p:tgtEl>
                                          <p:spTgt spid="23"/>
                                        </p:tgtEl>
                                      </p:cBhvr>
                                    </p:animEffect>
                                  </p:childTnLst>
                                </p:cTn>
                              </p:par>
                              <p:par>
                                <p:cTn id="36" presetID="22" presetClass="entr" presetSubtype="8" fill="hold" grpId="0" nodeType="withEffect">
                                  <p:stCondLst>
                                    <p:cond delay="110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6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3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3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3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3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41832"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AT AWAIT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Actually Happens at await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91</a:t>
            </a:r>
            <a:endParaRPr lang="en-US" sz="850" dirty="0"/>
          </a:p>
        </p:txBody>
      </p:sp>
      <p:sp>
        <p:nvSpPr>
          <p:cNvPr id="15" name="cw_win"/>
          <p:cNvSpPr/>
          <p:nvPr/>
        </p:nvSpPr>
        <p:spPr>
          <a:xfrm>
            <a:off x="543154" y="1572768"/>
            <a:ext cx="5852160" cy="2377440"/>
          </a:xfrm>
          <a:prstGeom prst="roundRect">
            <a:avLst>
              <a:gd name="adj" fmla="val 2884"/>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8521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8521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4681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await</a:t>
            </a:r>
            <a:r>
              <a:rPr lang="en-US" sz="1100" b="0" dirty="0">
                <a:solidFill>
                  <a:srgbClr val="E2E8F0"/>
                </a:solidFill>
                <a:latin typeface="Consolas"/>
                <a:ea typeface="Consolas"/>
                <a:cs typeface="Consolas"/>
              </a:rPr>
              <a:t> ShowMenuAsync();</a:t>
            </a:r>
            <a:endParaRPr lang="en-US" sz="1100" dirty="0"/>
          </a:p>
        </p:txBody>
      </p:sp>
      <p:sp>
        <p:nvSpPr>
          <p:cNvPr id="23" name="cw_L02"/>
          <p:cNvSpPr txBox="1"/>
          <p:nvPr/>
        </p:nvSpPr>
        <p:spPr>
          <a:xfrm>
            <a:off x="771754" y="2495296"/>
            <a:ext cx="54681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async</a:t>
            </a:r>
            <a:r>
              <a:rPr lang="en-US" sz="1100" b="0" dirty="0">
                <a:solidFill>
                  <a:srgbClr val="E2E8F0"/>
                </a:solidFill>
                <a:latin typeface="Consolas"/>
                <a:ea typeface="Consolas"/>
                <a:cs typeface="Consolas"/>
              </a:rPr>
              <a:t> Task ShowMenuAsync()</a:t>
            </a:r>
            <a:endParaRPr lang="en-US" sz="1100" dirty="0"/>
          </a:p>
        </p:txBody>
      </p:sp>
      <p:sp>
        <p:nvSpPr>
          <p:cNvPr id="24" name="cw_L03"/>
          <p:cNvSpPr txBox="1"/>
          <p:nvPr/>
        </p:nvSpPr>
        <p:spPr>
          <a:xfrm>
            <a:off x="771754" y="2718816"/>
            <a:ext cx="54681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5" name="cw_L04"/>
          <p:cNvSpPr txBox="1"/>
          <p:nvPr/>
        </p:nvSpPr>
        <p:spPr>
          <a:xfrm>
            <a:off x="771754" y="2942336"/>
            <a:ext cx="54681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Console.WriteLine(</a:t>
            </a:r>
            <a:r>
              <a:rPr lang="en-US" sz="1100" b="0" dirty="0">
                <a:solidFill>
                  <a:srgbClr val="F0A98B"/>
                </a:solidFill>
                <a:latin typeface="Consolas"/>
                <a:ea typeface="Consolas"/>
                <a:cs typeface="Consolas"/>
              </a:rPr>
              <a:t>"Loading menu..."</a:t>
            </a:r>
            <a:r>
              <a:rPr lang="en-US" sz="1100" b="0" dirty="0">
                <a:solidFill>
                  <a:srgbClr val="E2E8F0"/>
                </a:solidFill>
                <a:latin typeface="Consolas"/>
                <a:ea typeface="Consolas"/>
                <a:cs typeface="Consolas"/>
              </a:rPr>
              <a:t>);</a:t>
            </a:r>
            <a:endParaRPr lang="en-US" sz="1100" dirty="0"/>
          </a:p>
        </p:txBody>
      </p:sp>
      <p:sp>
        <p:nvSpPr>
          <p:cNvPr id="26" name="cw_L05"/>
          <p:cNvSpPr txBox="1"/>
          <p:nvPr/>
        </p:nvSpPr>
        <p:spPr>
          <a:xfrm>
            <a:off x="771754" y="3165856"/>
            <a:ext cx="54681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60A5FA"/>
                </a:solidFill>
                <a:latin typeface="Consolas"/>
                <a:ea typeface="Consolas"/>
                <a:cs typeface="Consolas"/>
              </a:rPr>
              <a:t>string</a:t>
            </a:r>
            <a:r>
              <a:rPr lang="en-US" sz="1100" b="0" dirty="0">
                <a:solidFill>
                  <a:srgbClr val="E2E8F0"/>
                </a:solidFill>
                <a:latin typeface="Consolas"/>
                <a:ea typeface="Consolas"/>
                <a:cs typeface="Consolas"/>
              </a:rPr>
              <a:t> menu = </a:t>
            </a:r>
            <a:r>
              <a:rPr lang="en-US" sz="1100" b="0" dirty="0">
                <a:solidFill>
                  <a:srgbClr val="60A5FA"/>
                </a:solidFill>
                <a:latin typeface="Consolas"/>
                <a:ea typeface="Consolas"/>
                <a:cs typeface="Consolas"/>
              </a:rPr>
              <a:t>await</a:t>
            </a:r>
            <a:r>
              <a:rPr lang="en-US" sz="1100" b="0" dirty="0">
                <a:solidFill>
                  <a:srgbClr val="E2E8F0"/>
                </a:solidFill>
                <a:latin typeface="Consolas"/>
                <a:ea typeface="Consolas"/>
                <a:cs typeface="Consolas"/>
              </a:rPr>
              <a:t> GetMenuAsync();   </a:t>
            </a:r>
            <a:r>
              <a:rPr lang="en-US" sz="1100" b="0" dirty="0">
                <a:solidFill>
                  <a:srgbClr val="6FAE7A"/>
                </a:solidFill>
                <a:latin typeface="Consolas"/>
                <a:ea typeface="Consolas"/>
                <a:cs typeface="Consolas"/>
              </a:rPr>
              <a:t>// network call</a:t>
            </a:r>
            <a:endParaRPr lang="en-US" sz="1100" dirty="0"/>
          </a:p>
        </p:txBody>
      </p:sp>
      <p:sp>
        <p:nvSpPr>
          <p:cNvPr id="27" name="cw_L06"/>
          <p:cNvSpPr txBox="1"/>
          <p:nvPr/>
        </p:nvSpPr>
        <p:spPr>
          <a:xfrm>
            <a:off x="771754" y="3389376"/>
            <a:ext cx="546811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Console.WriteLine(menu);</a:t>
            </a:r>
            <a:endParaRPr lang="en-US" sz="1100" dirty="0"/>
          </a:p>
        </p:txBody>
      </p:sp>
      <p:sp>
        <p:nvSpPr>
          <p:cNvPr id="28" name="cw_L07"/>
          <p:cNvSpPr txBox="1"/>
          <p:nvPr/>
        </p:nvSpPr>
        <p:spPr>
          <a:xfrm>
            <a:off x="771754" y="3612896"/>
            <a:ext cx="546811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9" name="cmark"/>
          <p:cNvSpPr/>
          <p:nvPr/>
        </p:nvSpPr>
        <p:spPr>
          <a:xfrm>
            <a:off x="676656" y="2964688"/>
            <a:ext cx="5585155" cy="270256"/>
          </a:xfrm>
          <a:prstGeom prst="rect">
            <a:avLst/>
          </a:prstGeom>
          <a:solidFill>
            <a:srgbClr val="4D91F0">
              <a:alpha val="16000"/>
            </a:srgbClr>
          </a:solidFill>
          <a:ln w="15875">
            <a:solidFill>
              <a:srgbClr val="4D91F0"/>
            </a:solidFill>
            <a:prstDash val="solid"/>
          </a:ln>
        </p:spPr>
        <p:txBody>
          <a:bodyPr/>
          <a:lstStyle/>
          <a:p>
            <a:endParaRPr lang="en-US"/>
          </a:p>
        </p:txBody>
      </p:sp>
      <p:sp>
        <p:nvSpPr>
          <p:cNvPr id="30" name="cmark"/>
          <p:cNvSpPr/>
          <p:nvPr/>
        </p:nvSpPr>
        <p:spPr>
          <a:xfrm>
            <a:off x="676656" y="3198368"/>
            <a:ext cx="5585155" cy="270256"/>
          </a:xfrm>
          <a:prstGeom prst="rect">
            <a:avLst/>
          </a:prstGeom>
          <a:solidFill>
            <a:srgbClr val="FBBF24">
              <a:alpha val="16000"/>
            </a:srgbClr>
          </a:solidFill>
          <a:ln w="15875">
            <a:solidFill>
              <a:srgbClr val="FBBF24"/>
            </a:solidFill>
            <a:prstDash val="solid"/>
          </a:ln>
        </p:spPr>
        <p:txBody>
          <a:bodyPr/>
          <a:lstStyle/>
          <a:p>
            <a:endParaRPr lang="en-US"/>
          </a:p>
        </p:txBody>
      </p:sp>
      <p:sp>
        <p:nvSpPr>
          <p:cNvPr id="31" name="cmark"/>
          <p:cNvSpPr/>
          <p:nvPr/>
        </p:nvSpPr>
        <p:spPr>
          <a:xfrm>
            <a:off x="676656" y="3432048"/>
            <a:ext cx="5585155" cy="270256"/>
          </a:xfrm>
          <a:prstGeom prst="rect">
            <a:avLst/>
          </a:prstGeom>
          <a:solidFill>
            <a:srgbClr val="34D399">
              <a:alpha val="16000"/>
            </a:srgbClr>
          </a:solidFill>
          <a:ln w="15875">
            <a:solidFill>
              <a:srgbClr val="34D399"/>
            </a:solidFill>
            <a:prstDash val="solid"/>
          </a:ln>
        </p:spPr>
        <p:txBody>
          <a:bodyPr/>
          <a:lstStyle/>
          <a:p>
            <a:endParaRPr lang="en-US"/>
          </a:p>
        </p:txBody>
      </p:sp>
      <p:sp>
        <p:nvSpPr>
          <p:cNvPr id="32" name="card"/>
          <p:cNvSpPr/>
          <p:nvPr/>
        </p:nvSpPr>
        <p:spPr>
          <a:xfrm>
            <a:off x="6623914" y="1572768"/>
            <a:ext cx="5006340" cy="411480"/>
          </a:xfrm>
          <a:prstGeom prst="roundRect">
            <a:avLst>
              <a:gd name="adj" fmla="val 12500"/>
            </a:avLst>
          </a:prstGeom>
          <a:solidFill>
            <a:srgbClr val="111B2E"/>
          </a:solidFill>
          <a:ln w="12700">
            <a:solidFill>
              <a:srgbClr val="4D91F0"/>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4D91F0"/>
                </a:solidFill>
                <a:latin typeface="Consolas"/>
                <a:ea typeface="Consolas"/>
                <a:cs typeface="Consolas"/>
              </a:rPr>
              <a:t>1  </a:t>
            </a:r>
            <a:r>
              <a:rPr lang="en-US" sz="1100" b="0" dirty="0">
                <a:solidFill>
                  <a:srgbClr val="CBD5E1"/>
                </a:solidFill>
                <a:latin typeface="Segoe UI"/>
                <a:ea typeface="Segoe UI"/>
                <a:cs typeface="Segoe UI"/>
              </a:rPr>
              <a:t>Thread enters the method</a:t>
            </a:r>
            <a:endParaRPr lang="en-US" sz="1100" dirty="0"/>
          </a:p>
        </p:txBody>
      </p:sp>
      <p:sp>
        <p:nvSpPr>
          <p:cNvPr id="33" name="card"/>
          <p:cNvSpPr/>
          <p:nvPr/>
        </p:nvSpPr>
        <p:spPr>
          <a:xfrm>
            <a:off x="6623914" y="2048256"/>
            <a:ext cx="5006340" cy="411480"/>
          </a:xfrm>
          <a:prstGeom prst="roundRect">
            <a:avLst>
              <a:gd name="adj" fmla="val 12500"/>
            </a:avLst>
          </a:prstGeom>
          <a:solidFill>
            <a:srgbClr val="111B2E"/>
          </a:solidFill>
          <a:ln w="12700">
            <a:solidFill>
              <a:srgbClr val="FBBF24"/>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2  </a:t>
            </a:r>
            <a:r>
              <a:rPr lang="en-US" sz="1100" b="0" dirty="0">
                <a:solidFill>
                  <a:srgbClr val="CBD5E1"/>
                </a:solidFill>
                <a:latin typeface="Segoe UI"/>
                <a:ea typeface="Segoe UI"/>
                <a:cs typeface="Segoe UI"/>
              </a:rPr>
              <a:t>Starts the network call</a:t>
            </a:r>
            <a:endParaRPr lang="en-US" sz="1100" dirty="0"/>
          </a:p>
        </p:txBody>
      </p:sp>
      <p:sp>
        <p:nvSpPr>
          <p:cNvPr id="34" name="card"/>
          <p:cNvSpPr/>
          <p:nvPr/>
        </p:nvSpPr>
        <p:spPr>
          <a:xfrm>
            <a:off x="6623914" y="2523744"/>
            <a:ext cx="5006340" cy="411480"/>
          </a:xfrm>
          <a:prstGeom prst="roundRect">
            <a:avLst>
              <a:gd name="adj" fmla="val 12500"/>
            </a:avLst>
          </a:prstGeom>
          <a:solidFill>
            <a:srgbClr val="111B2E"/>
          </a:solidFill>
          <a:ln w="12700">
            <a:solidFill>
              <a:srgbClr val="34D399"/>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3  </a:t>
            </a:r>
            <a:r>
              <a:rPr lang="en-US" sz="1100" b="0" dirty="0">
                <a:solidFill>
                  <a:srgbClr val="CBD5E1"/>
                </a:solidFill>
                <a:latin typeface="Segoe UI"/>
                <a:ea typeface="Segoe UI"/>
                <a:cs typeface="Segoe UI"/>
              </a:rPr>
              <a:t>await: not done → method returns, thread is free</a:t>
            </a:r>
            <a:endParaRPr lang="en-US" sz="1100" dirty="0"/>
          </a:p>
        </p:txBody>
      </p:sp>
      <p:sp>
        <p:nvSpPr>
          <p:cNvPr id="35" name="card"/>
          <p:cNvSpPr/>
          <p:nvPr/>
        </p:nvSpPr>
        <p:spPr>
          <a:xfrm>
            <a:off x="6623914" y="2999232"/>
            <a:ext cx="5006340" cy="411480"/>
          </a:xfrm>
          <a:prstGeom prst="roundRect">
            <a:avLst>
              <a:gd name="adj" fmla="val 12500"/>
            </a:avLst>
          </a:prstGeom>
          <a:solidFill>
            <a:srgbClr val="111B2E"/>
          </a:solidFill>
          <a:ln w="12700">
            <a:solidFill>
              <a:srgbClr val="13D0F7"/>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4  </a:t>
            </a:r>
            <a:r>
              <a:rPr lang="en-US" sz="1100" b="0" dirty="0">
                <a:solidFill>
                  <a:srgbClr val="CBD5E1"/>
                </a:solidFill>
                <a:latin typeface="Segoe UI"/>
                <a:ea typeface="Segoe UI"/>
                <a:cs typeface="Segoe UI"/>
              </a:rPr>
              <a:t>Network answers</a:t>
            </a:r>
            <a:endParaRPr lang="en-US" sz="1100" dirty="0"/>
          </a:p>
        </p:txBody>
      </p:sp>
      <p:sp>
        <p:nvSpPr>
          <p:cNvPr id="36" name="card"/>
          <p:cNvSpPr/>
          <p:nvPr/>
        </p:nvSpPr>
        <p:spPr>
          <a:xfrm>
            <a:off x="6623914" y="3474720"/>
            <a:ext cx="5006340" cy="411480"/>
          </a:xfrm>
          <a:prstGeom prst="roundRect">
            <a:avLst>
              <a:gd name="adj" fmla="val 12500"/>
            </a:avLst>
          </a:prstGeom>
          <a:solidFill>
            <a:srgbClr val="111B2E"/>
          </a:solidFill>
          <a:ln w="12700">
            <a:solidFill>
              <a:srgbClr val="34D399"/>
            </a:solidFill>
            <a:prstDash val="solid"/>
          </a:ln>
        </p:spPr>
        <p:txBody>
          <a:bodyPr wrap="square" lIns="137160" tIns="9144" rIns="91440" bIns="9144"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5  </a:t>
            </a:r>
            <a:r>
              <a:rPr lang="en-US" sz="1100" b="0" dirty="0">
                <a:solidFill>
                  <a:srgbClr val="CBD5E1"/>
                </a:solidFill>
                <a:latin typeface="Segoe UI"/>
                <a:ea typeface="Segoe UI"/>
                <a:cs typeface="Segoe UI"/>
              </a:rPr>
              <a:t>Continuation resumes</a:t>
            </a:r>
            <a:endParaRPr lang="en-US" sz="1100" dirty="0"/>
          </a:p>
        </p:txBody>
      </p:sp>
      <p:sp>
        <p:nvSpPr>
          <p:cNvPr id="37" name="lab"/>
          <p:cNvSpPr txBox="1"/>
          <p:nvPr/>
        </p:nvSpPr>
        <p:spPr>
          <a:xfrm>
            <a:off x="543154" y="413308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Thread</a:t>
            </a:r>
            <a:endParaRPr lang="en-US" sz="1100" dirty="0"/>
          </a:p>
        </p:txBody>
      </p:sp>
      <p:sp>
        <p:nvSpPr>
          <p:cNvPr id="38" name="lane"/>
          <p:cNvSpPr/>
          <p:nvPr/>
        </p:nvSpPr>
        <p:spPr>
          <a:xfrm>
            <a:off x="1731874" y="4572000"/>
            <a:ext cx="9898380" cy="18288"/>
          </a:xfrm>
          <a:prstGeom prst="rect">
            <a:avLst/>
          </a:prstGeom>
          <a:solidFill>
            <a:srgbClr val="1E3A5F"/>
          </a:solidFill>
          <a:ln w="12700">
            <a:solidFill>
              <a:srgbClr val="1E3A5F"/>
            </a:solidFill>
            <a:prstDash val="solid"/>
          </a:ln>
        </p:spPr>
        <p:txBody>
          <a:bodyPr/>
          <a:lstStyle/>
          <a:p>
            <a:endParaRPr lang="en-US"/>
          </a:p>
        </p:txBody>
      </p:sp>
      <p:sp>
        <p:nvSpPr>
          <p:cNvPr id="39" name="lab"/>
          <p:cNvSpPr txBox="1"/>
          <p:nvPr/>
        </p:nvSpPr>
        <p:spPr>
          <a:xfrm>
            <a:off x="543154" y="463600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Network</a:t>
            </a:r>
            <a:endParaRPr lang="en-US" sz="1100" dirty="0"/>
          </a:p>
        </p:txBody>
      </p:sp>
      <p:sp>
        <p:nvSpPr>
          <p:cNvPr id="40" name="lane"/>
          <p:cNvSpPr/>
          <p:nvPr/>
        </p:nvSpPr>
        <p:spPr>
          <a:xfrm>
            <a:off x="1731874" y="5074920"/>
            <a:ext cx="9898380" cy="18288"/>
          </a:xfrm>
          <a:prstGeom prst="rect">
            <a:avLst/>
          </a:prstGeom>
          <a:solidFill>
            <a:srgbClr val="1E3A5F"/>
          </a:solidFill>
          <a:ln w="12700">
            <a:solidFill>
              <a:srgbClr val="1E3A5F"/>
            </a:solidFill>
            <a:prstDash val="solid"/>
          </a:ln>
        </p:spPr>
        <p:txBody>
          <a:bodyPr/>
          <a:lstStyle/>
          <a:p>
            <a:endParaRPr lang="en-US"/>
          </a:p>
        </p:txBody>
      </p:sp>
      <p:sp>
        <p:nvSpPr>
          <p:cNvPr id="41" name="bar"/>
          <p:cNvSpPr/>
          <p:nvPr/>
        </p:nvSpPr>
        <p:spPr>
          <a:xfrm>
            <a:off x="1777594" y="4160520"/>
            <a:ext cx="1176833"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Loading...</a:t>
            </a:r>
            <a:endParaRPr lang="en-US" sz="950" dirty="0"/>
          </a:p>
        </p:txBody>
      </p:sp>
      <p:sp>
        <p:nvSpPr>
          <p:cNvPr id="42" name="bar"/>
          <p:cNvSpPr/>
          <p:nvPr/>
        </p:nvSpPr>
        <p:spPr>
          <a:xfrm>
            <a:off x="3003461" y="4160520"/>
            <a:ext cx="882625"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start call</a:t>
            </a:r>
            <a:endParaRPr lang="en-US" sz="950" dirty="0"/>
          </a:p>
        </p:txBody>
      </p:sp>
      <p:sp>
        <p:nvSpPr>
          <p:cNvPr id="43" name="bar"/>
          <p:cNvSpPr/>
          <p:nvPr/>
        </p:nvSpPr>
        <p:spPr>
          <a:xfrm>
            <a:off x="3935120" y="4663440"/>
            <a:ext cx="5491886"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request in flight: no thread waiting</a:t>
            </a:r>
            <a:endParaRPr lang="en-US" sz="950" dirty="0"/>
          </a:p>
        </p:txBody>
      </p:sp>
      <p:sp>
        <p:nvSpPr>
          <p:cNvPr id="44" name="bar"/>
          <p:cNvSpPr/>
          <p:nvPr/>
        </p:nvSpPr>
        <p:spPr>
          <a:xfrm>
            <a:off x="3935120" y="4160520"/>
            <a:ext cx="5491886" cy="384048"/>
          </a:xfrm>
          <a:prstGeom prst="roundRect">
            <a:avLst>
              <a:gd name="adj" fmla="val 20000"/>
            </a:avLst>
          </a:prstGeom>
          <a:solidFill>
            <a:srgbClr val="34D399">
              <a:alpha val="14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FREE: serves other users</a:t>
            </a:r>
            <a:endParaRPr lang="en-US" sz="950" dirty="0"/>
          </a:p>
        </p:txBody>
      </p:sp>
      <p:sp>
        <p:nvSpPr>
          <p:cNvPr id="45" name="done"/>
          <p:cNvSpPr/>
          <p:nvPr/>
        </p:nvSpPr>
        <p:spPr>
          <a:xfrm>
            <a:off x="9427007" y="4087368"/>
            <a:ext cx="36576" cy="960120"/>
          </a:xfrm>
          <a:prstGeom prst="rect">
            <a:avLst/>
          </a:prstGeom>
          <a:solidFill>
            <a:srgbClr val="13D0F7"/>
          </a:solidFill>
          <a:ln w="12700">
            <a:solidFill>
              <a:srgbClr val="13D0F7"/>
            </a:solidFill>
            <a:prstDash val="solid"/>
          </a:ln>
        </p:spPr>
        <p:txBody>
          <a:bodyPr/>
          <a:lstStyle/>
          <a:p>
            <a:endParaRPr lang="en-US"/>
          </a:p>
        </p:txBody>
      </p:sp>
      <p:sp>
        <p:nvSpPr>
          <p:cNvPr id="46" name="bar"/>
          <p:cNvSpPr/>
          <p:nvPr/>
        </p:nvSpPr>
        <p:spPr>
          <a:xfrm>
            <a:off x="9525076" y="4160520"/>
            <a:ext cx="1961388"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prints menu</a:t>
            </a:r>
            <a:endParaRPr lang="en-US" sz="950" dirty="0"/>
          </a:p>
        </p:txBody>
      </p:sp>
      <p:sp>
        <p:nvSpPr>
          <p:cNvPr id="47" name="banner"/>
          <p:cNvSpPr/>
          <p:nvPr/>
        </p:nvSpPr>
        <p:spPr>
          <a:xfrm>
            <a:off x="543154" y="5440680"/>
            <a:ext cx="11087100" cy="566928"/>
          </a:xfrm>
          <a:prstGeom prst="roundRect">
            <a:avLst>
              <a:gd name="adj" fmla="val 12500"/>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At an unfinished await the method pauses and the thread goes back to work; the rest runs later.</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25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2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2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250"/>
                                        <p:tgtEl>
                                          <p:spTgt spid="4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25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25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250"/>
                                        <p:tgtEl>
                                          <p:spTgt spid="3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250"/>
                                        <p:tgtEl>
                                          <p:spTgt spid="4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25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250"/>
                                        <p:tgtEl>
                                          <p:spTgt spid="43"/>
                                        </p:tgtEl>
                                      </p:cBhvr>
                                    </p:animEffect>
                                  </p:childTnLst>
                                </p:cTn>
                              </p:par>
                              <p:par>
                                <p:cTn id="61" presetID="10" presetClass="exit" presetSubtype="0" fill="hold" grpId="1" nodeType="withEffect">
                                  <p:stCondLst>
                                    <p:cond delay="0"/>
                                  </p:stCondLst>
                                  <p:childTnLst>
                                    <p:animEffect transition="out" filter="fade">
                                      <p:cBhvr>
                                        <p:cTn id="62" dur="250"/>
                                        <p:tgtEl>
                                          <p:spTgt spid="29"/>
                                        </p:tgtEl>
                                      </p:cBhvr>
                                    </p:animEffect>
                                    <p:set>
                                      <p:cBhvr>
                                        <p:cTn id="63" dur="1" fill="hold">
                                          <p:stCondLst>
                                            <p:cond delay="249"/>
                                          </p:stCondLst>
                                        </p:cTn>
                                        <p:tgtEl>
                                          <p:spTgt spid="29"/>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25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250"/>
                                        <p:tgtEl>
                                          <p:spTgt spid="4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250"/>
                                        <p:tgtEl>
                                          <p:spTgt spid="3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25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2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250"/>
                                        <p:tgtEl>
                                          <p:spTgt spid="3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250"/>
                                        <p:tgtEl>
                                          <p:spTgt spid="46"/>
                                        </p:tgtEl>
                                      </p:cBhvr>
                                    </p:animEffect>
                                  </p:childTnLst>
                                </p:cTn>
                              </p:par>
                              <p:par>
                                <p:cTn id="91" presetID="10" presetClass="exit" presetSubtype="0" fill="hold" grpId="1" nodeType="withEffect">
                                  <p:stCondLst>
                                    <p:cond delay="0"/>
                                  </p:stCondLst>
                                  <p:childTnLst>
                                    <p:animEffect transition="out" filter="fade">
                                      <p:cBhvr>
                                        <p:cTn id="92" dur="250"/>
                                        <p:tgtEl>
                                          <p:spTgt spid="30"/>
                                        </p:tgtEl>
                                      </p:cBhvr>
                                    </p:animEffect>
                                    <p:set>
                                      <p:cBhvr>
                                        <p:cTn id="93" dur="1" fill="hold">
                                          <p:stCondLst>
                                            <p:cond delay="249"/>
                                          </p:stCondLst>
                                        </p:cTn>
                                        <p:tgtEl>
                                          <p:spTgt spid="3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2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animBg="1"/>
      <p:bldP spid="29" grpId="1" animBg="1"/>
      <p:bldP spid="30" grpId="0" animBg="1"/>
      <p:bldP spid="30" grpId="1" animBg="1"/>
      <p:bldP spid="31" grpId="0" animBg="1"/>
      <p:bldP spid="32" grpId="0" animBg="1"/>
      <p:bldP spid="33" grpId="0" animBg="1"/>
      <p:bldP spid="34" grpId="0" animBg="1"/>
      <p:bldP spid="35" grpId="0" animBg="1"/>
      <p:bldP spid="36" grpId="0" animBg="1"/>
      <p:bldP spid="37" grpId="0"/>
      <p:bldP spid="38" grpId="0" animBg="1"/>
      <p:bldP spid="39" grpId="0"/>
      <p:bldP spid="40" grpId="0" animBg="1"/>
      <p:bldP spid="41" grpId="0" animBg="1"/>
      <p:bldP spid="42" grpId="0" animBg="1"/>
      <p:bldP spid="43" grpId="0" animBg="1"/>
      <p:bldP spid="44" grpId="0" animBg="1"/>
      <p:bldP spid="45" grpId="0" animBg="1"/>
      <p:bldP spid="46" grpId="0" animBg="1"/>
      <p:bldP spid="4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4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STATE MACHINE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Where Does the Thread Continue?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07</a:t>
            </a:r>
            <a:endParaRPr lang="en-US" sz="850" dirty="0"/>
          </a:p>
        </p:txBody>
      </p:sp>
      <p:sp>
        <p:nvSpPr>
          <p:cNvPr id="15" name="cw_win"/>
          <p:cNvSpPr/>
          <p:nvPr/>
        </p:nvSpPr>
        <p:spPr>
          <a:xfrm>
            <a:off x="543154" y="1572768"/>
            <a:ext cx="6200000" cy="210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2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2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7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GetSummaryAsync</a:t>
            </a:r>
            <a:endParaRPr lang="en-US" sz="950" dirty="0"/>
          </a:p>
        </p:txBody>
      </p:sp>
      <p:sp>
        <p:nvSpPr>
          <p:cNvPr id="30" name="cw_hl02"/>
          <p:cNvSpPr/>
          <p:nvPr/>
        </p:nvSpPr>
        <p:spPr>
          <a:xfrm>
            <a:off x="676656" y="2369008"/>
            <a:ext cx="5932996" cy="229616"/>
          </a:xfrm>
          <a:prstGeom prst="rect">
            <a:avLst/>
          </a:prstGeom>
          <a:solidFill>
            <a:srgbClr val="13D0F7">
              <a:alpha val="22000"/>
            </a:srgbClr>
          </a:solidFill>
          <a:ln w="19050">
            <a:solidFill>
              <a:srgbClr val="13D0F7"/>
            </a:solidFill>
            <a:prstDash val="solid"/>
          </a:ln>
        </p:spPr>
        <p:txBody>
          <a:bodyPr/>
          <a:lstStyle/>
          <a:p>
            <a:endParaRPr lang="en-US"/>
          </a:p>
        </p:txBody>
      </p:sp>
      <p:sp>
        <p:nvSpPr>
          <p:cNvPr id="22" name="cw_L00"/>
          <p:cNvSpPr txBox="1"/>
          <p:nvPr/>
        </p:nvSpPr>
        <p:spPr>
          <a:xfrm>
            <a:off x="771754" y="2001216"/>
            <a:ext cx="58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 </a:t>
            </a:r>
            <a:r>
              <a:rPr lang="en-US" sz="950" b="0" dirty="0">
                <a:solidFill>
                  <a:srgbClr val="E2E8F0"/>
                </a:solidFill>
                <a:latin typeface="Consolas"/>
                <a:ea typeface="Consolas"/>
                <a:cs typeface="Consolas"/>
              </a:rPr>
              <a:t>Task&lt;Summary&gt; GetSummaryAsync(</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a:t>
            </a:r>
            <a:endParaRPr lang="en-US" sz="950" dirty="0"/>
          </a:p>
        </p:txBody>
      </p:sp>
      <p:sp>
        <p:nvSpPr>
          <p:cNvPr id="23" name="cw_L01"/>
          <p:cNvSpPr txBox="1"/>
          <p:nvPr/>
        </p:nvSpPr>
        <p:spPr>
          <a:xfrm>
            <a:off x="771754" y="2194256"/>
            <a:ext cx="58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_L02"/>
          <p:cNvSpPr txBox="1"/>
          <p:nvPr/>
        </p:nvSpPr>
        <p:spPr>
          <a:xfrm>
            <a:off x="771754" y="2387296"/>
            <a:ext cx="58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"Start"</a:t>
            </a:r>
            <a:r>
              <a:rPr lang="en-US" sz="950" b="0" dirty="0">
                <a:solidFill>
                  <a:srgbClr val="E2E8F0"/>
                </a:solidFill>
                <a:latin typeface="Consolas"/>
                <a:ea typeface="Consolas"/>
                <a:cs typeface="Consolas"/>
              </a:rPr>
              <a:t>);</a:t>
            </a:r>
            <a:endParaRPr lang="en-US" sz="950" dirty="0"/>
          </a:p>
        </p:txBody>
      </p:sp>
      <p:sp>
        <p:nvSpPr>
          <p:cNvPr id="25" name="cw_L03"/>
          <p:cNvSpPr txBox="1"/>
          <p:nvPr/>
        </p:nvSpPr>
        <p:spPr>
          <a:xfrm>
            <a:off x="771754" y="2580336"/>
            <a:ext cx="58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Order order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_orders.GetByIdAsync(id);</a:t>
            </a:r>
            <a:endParaRPr lang="en-US" sz="950" dirty="0"/>
          </a:p>
        </p:txBody>
      </p:sp>
      <p:sp>
        <p:nvSpPr>
          <p:cNvPr id="26" name="cw_L04"/>
          <p:cNvSpPr txBox="1"/>
          <p:nvPr/>
        </p:nvSpPr>
        <p:spPr>
          <a:xfrm>
            <a:off x="771754" y="2773376"/>
            <a:ext cx="58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"Got order"</a:t>
            </a:r>
            <a:r>
              <a:rPr lang="en-US" sz="950" b="0" dirty="0">
                <a:solidFill>
                  <a:srgbClr val="E2E8F0"/>
                </a:solidFill>
                <a:latin typeface="Consolas"/>
                <a:ea typeface="Consolas"/>
                <a:cs typeface="Consolas"/>
              </a:rPr>
              <a:t>);</a:t>
            </a:r>
            <a:endParaRPr lang="en-US" sz="950" dirty="0"/>
          </a:p>
        </p:txBody>
      </p:sp>
      <p:sp>
        <p:nvSpPr>
          <p:cNvPr id="27" name="cw_L05"/>
          <p:cNvSpPr txBox="1"/>
          <p:nvPr/>
        </p:nvSpPr>
        <p:spPr>
          <a:xfrm>
            <a:off x="771754" y="2966416"/>
            <a:ext cx="58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Customer c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_customers.GetAsync(order.CustomerId);</a:t>
            </a:r>
            <a:endParaRPr lang="en-US" sz="950" dirty="0"/>
          </a:p>
        </p:txBody>
      </p:sp>
      <p:sp>
        <p:nvSpPr>
          <p:cNvPr id="28" name="cw_L06"/>
          <p:cNvSpPr txBox="1"/>
          <p:nvPr/>
        </p:nvSpPr>
        <p:spPr>
          <a:xfrm>
            <a:off x="771754" y="3159456"/>
            <a:ext cx="581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 new </a:t>
            </a:r>
            <a:r>
              <a:rPr lang="en-US" sz="950" b="0" dirty="0">
                <a:solidFill>
                  <a:srgbClr val="E2E8F0"/>
                </a:solidFill>
                <a:latin typeface="Consolas"/>
                <a:ea typeface="Consolas"/>
                <a:cs typeface="Consolas"/>
              </a:rPr>
              <a:t>Summary(order, c);</a:t>
            </a:r>
            <a:endParaRPr lang="en-US" sz="950" dirty="0"/>
          </a:p>
        </p:txBody>
      </p:sp>
      <p:sp>
        <p:nvSpPr>
          <p:cNvPr id="29" name="cw_L07"/>
          <p:cNvSpPr txBox="1"/>
          <p:nvPr/>
        </p:nvSpPr>
        <p:spPr>
          <a:xfrm>
            <a:off x="771754" y="3352496"/>
            <a:ext cx="581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1" name="lab"/>
          <p:cNvSpPr txBox="1"/>
          <p:nvPr/>
        </p:nvSpPr>
        <p:spPr>
          <a:xfrm>
            <a:off x="6993154" y="1572768"/>
            <a:ext cx="463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A78BFA"/>
                </a:solidFill>
                <a:latin typeface="Segoe UI"/>
                <a:ea typeface="Segoe UI"/>
                <a:cs typeface="Segoe UI"/>
              </a:rPr>
              <a:t>state (the bookmark)</a:t>
            </a:r>
            <a:endParaRPr lang="en-US" sz="1000" dirty="0"/>
          </a:p>
        </p:txBody>
      </p:sp>
      <p:sp>
        <p:nvSpPr>
          <p:cNvPr id="32" name="box"/>
          <p:cNvSpPr/>
          <p:nvPr/>
        </p:nvSpPr>
        <p:spPr>
          <a:xfrm>
            <a:off x="6993154" y="1862768"/>
            <a:ext cx="4637100" cy="520000"/>
          </a:xfrm>
          <a:prstGeom prst="roundRect">
            <a:avLst>
              <a:gd name="adj" fmla="val 12000"/>
            </a:avLst>
          </a:prstGeom>
          <a:solidFill>
            <a:srgbClr val="111B2E"/>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400" b="1" dirty="0">
                <a:solidFill>
                  <a:srgbClr val="FFFFFF"/>
                </a:solidFill>
                <a:latin typeface="Consolas"/>
                <a:ea typeface="Consolas"/>
                <a:cs typeface="Consolas"/>
              </a:rPr>
              <a:t>0</a:t>
            </a:r>
            <a:endParaRPr lang="en-US" sz="1400" dirty="0"/>
          </a:p>
        </p:txBody>
      </p:sp>
      <p:sp>
        <p:nvSpPr>
          <p:cNvPr id="33" name="box"/>
          <p:cNvSpPr/>
          <p:nvPr/>
        </p:nvSpPr>
        <p:spPr>
          <a:xfrm>
            <a:off x="6993154" y="1862768"/>
            <a:ext cx="4637100" cy="520000"/>
          </a:xfrm>
          <a:prstGeom prst="roundRect">
            <a:avLst>
              <a:gd name="adj" fmla="val 12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400" b="1" dirty="0">
                <a:solidFill>
                  <a:srgbClr val="FBBF24"/>
                </a:solidFill>
                <a:latin typeface="Consolas"/>
                <a:ea typeface="Consolas"/>
                <a:cs typeface="Consolas"/>
              </a:rPr>
              <a:t>1</a:t>
            </a:r>
            <a:endParaRPr lang="en-US" sz="1400" dirty="0"/>
          </a:p>
        </p:txBody>
      </p:sp>
      <p:sp>
        <p:nvSpPr>
          <p:cNvPr id="34" name="box"/>
          <p:cNvSpPr/>
          <p:nvPr/>
        </p:nvSpPr>
        <p:spPr>
          <a:xfrm>
            <a:off x="6993154" y="1862768"/>
            <a:ext cx="4637100" cy="52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2</a:t>
            </a:r>
            <a:endParaRPr lang="en-US" sz="1400" dirty="0"/>
          </a:p>
        </p:txBody>
      </p:sp>
      <p:sp>
        <p:nvSpPr>
          <p:cNvPr id="35" name="box"/>
          <p:cNvSpPr/>
          <p:nvPr/>
        </p:nvSpPr>
        <p:spPr>
          <a:xfrm>
            <a:off x="6993154" y="1862768"/>
            <a:ext cx="4637100" cy="520000"/>
          </a:xfrm>
          <a:prstGeom prst="roundRect">
            <a:avLst>
              <a:gd name="adj" fmla="val 12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done</a:t>
            </a:r>
            <a:endParaRPr lang="en-US" sz="1400" dirty="0"/>
          </a:p>
        </p:txBody>
      </p:sp>
      <p:sp>
        <p:nvSpPr>
          <p:cNvPr id="36" name="caption"/>
          <p:cNvSpPr/>
          <p:nvPr/>
        </p:nvSpPr>
        <p:spPr>
          <a:xfrm>
            <a:off x="6993154" y="2502768"/>
            <a:ext cx="4637100" cy="117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Thread 7 calls the method: MoveNext() runs piece 0 and prints Start.</a:t>
            </a:r>
            <a:endParaRPr lang="en-US" sz="1050" dirty="0"/>
          </a:p>
        </p:txBody>
      </p:sp>
      <p:sp>
        <p:nvSpPr>
          <p:cNvPr id="37" name="caption"/>
          <p:cNvSpPr/>
          <p:nvPr/>
        </p:nvSpPr>
        <p:spPr>
          <a:xfrm>
            <a:off x="6993154" y="2502768"/>
            <a:ext cx="4637100" cy="117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await: GetByIdAsync is not done. state = 1, MoveNext returns. Thread 7 is free.</a:t>
            </a:r>
            <a:endParaRPr lang="en-US" sz="1050" dirty="0"/>
          </a:p>
        </p:txBody>
      </p:sp>
      <p:sp>
        <p:nvSpPr>
          <p:cNvPr id="38" name="caption"/>
          <p:cNvSpPr/>
          <p:nvPr/>
        </p:nvSpPr>
        <p:spPr>
          <a:xfrm>
            <a:off x="6993154" y="2502768"/>
            <a:ext cx="4637100" cy="117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The order arrives. Thread 9 calls MoveNext(): switch jumps to case 1, right AFTER the first await.</a:t>
            </a:r>
            <a:endParaRPr lang="en-US" sz="1050" dirty="0"/>
          </a:p>
        </p:txBody>
      </p:sp>
      <p:sp>
        <p:nvSpPr>
          <p:cNvPr id="39" name="caption"/>
          <p:cNvSpPr/>
          <p:nvPr/>
        </p:nvSpPr>
        <p:spPr>
          <a:xfrm>
            <a:off x="6993154" y="2502768"/>
            <a:ext cx="4637100" cy="117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Second await, same story: state = 2, return. Later MoveNext jumps to case 2 and completes the Task.</a:t>
            </a:r>
            <a:endParaRPr lang="en-US" sz="1050" dirty="0"/>
          </a:p>
        </p:txBody>
      </p:sp>
      <p:sp>
        <p:nvSpPr>
          <p:cNvPr id="40" name="lab"/>
          <p:cNvSpPr txBox="1"/>
          <p:nvPr/>
        </p:nvSpPr>
        <p:spPr>
          <a:xfrm>
            <a:off x="543154" y="3972768"/>
            <a:ext cx="1200000"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4D91F0"/>
                </a:solidFill>
                <a:latin typeface="Segoe UI"/>
                <a:ea typeface="Segoe UI"/>
                <a:cs typeface="Segoe UI"/>
              </a:rPr>
              <a:t>Thread 7</a:t>
            </a:r>
            <a:endParaRPr lang="en-US" sz="1050" dirty="0"/>
          </a:p>
        </p:txBody>
      </p:sp>
      <p:sp>
        <p:nvSpPr>
          <p:cNvPr id="41" name="lab"/>
          <p:cNvSpPr txBox="1"/>
          <p:nvPr/>
        </p:nvSpPr>
        <p:spPr>
          <a:xfrm>
            <a:off x="543154" y="4422768"/>
            <a:ext cx="1200000" cy="30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Thread 9</a:t>
            </a:r>
            <a:endParaRPr lang="en-US" sz="1050" dirty="0"/>
          </a:p>
        </p:txBody>
      </p:sp>
      <p:sp>
        <p:nvSpPr>
          <p:cNvPr id="42" name="bar"/>
          <p:cNvSpPr/>
          <p:nvPr/>
        </p:nvSpPr>
        <p:spPr>
          <a:xfrm>
            <a:off x="1793154" y="3972768"/>
            <a:ext cx="1770678" cy="30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piece 0</a:t>
            </a:r>
            <a:endParaRPr lang="en-US" sz="900" dirty="0"/>
          </a:p>
        </p:txBody>
      </p:sp>
      <p:sp>
        <p:nvSpPr>
          <p:cNvPr id="43" name="bar"/>
          <p:cNvSpPr/>
          <p:nvPr/>
        </p:nvSpPr>
        <p:spPr>
          <a:xfrm>
            <a:off x="3563832" y="3972768"/>
            <a:ext cx="3147872" cy="300000"/>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free: serves other work</a:t>
            </a:r>
            <a:endParaRPr lang="en-US" sz="900" dirty="0"/>
          </a:p>
        </p:txBody>
      </p:sp>
      <p:sp>
        <p:nvSpPr>
          <p:cNvPr id="44" name="bar"/>
          <p:cNvSpPr/>
          <p:nvPr/>
        </p:nvSpPr>
        <p:spPr>
          <a:xfrm>
            <a:off x="6711704" y="4422768"/>
            <a:ext cx="1770678" cy="300000"/>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piece 1</a:t>
            </a:r>
            <a:endParaRPr lang="en-US" sz="900" dirty="0"/>
          </a:p>
        </p:txBody>
      </p:sp>
      <p:sp>
        <p:nvSpPr>
          <p:cNvPr id="45" name="bar"/>
          <p:cNvSpPr/>
          <p:nvPr/>
        </p:nvSpPr>
        <p:spPr>
          <a:xfrm>
            <a:off x="9466092" y="4422768"/>
            <a:ext cx="2144162" cy="30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piece 2</a:t>
            </a:r>
            <a:endParaRPr lang="en-US" sz="900" dirty="0"/>
          </a:p>
        </p:txBody>
      </p:sp>
      <p:sp>
        <p:nvSpPr>
          <p:cNvPr id="46" name="lab"/>
          <p:cNvSpPr txBox="1"/>
          <p:nvPr/>
        </p:nvSpPr>
        <p:spPr>
          <a:xfrm>
            <a:off x="3563832" y="4422768"/>
            <a:ext cx="3147872" cy="30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waiting for the order</a:t>
            </a:r>
            <a:endParaRPr lang="en-US" sz="900" dirty="0"/>
          </a:p>
        </p:txBody>
      </p:sp>
      <p:sp>
        <p:nvSpPr>
          <p:cNvPr id="47" name="lab"/>
          <p:cNvSpPr txBox="1"/>
          <p:nvPr/>
        </p:nvSpPr>
        <p:spPr>
          <a:xfrm>
            <a:off x="8482382" y="4422768"/>
            <a:ext cx="983710" cy="3000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wait</a:t>
            </a:r>
            <a:endParaRPr lang="en-US" sz="900" dirty="0"/>
          </a:p>
        </p:txBody>
      </p:sp>
      <p:sp>
        <p:nvSpPr>
          <p:cNvPr id="48" name="banner"/>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350" b="0" dirty="0">
                <a:solidFill>
                  <a:srgbClr val="FFFFFF"/>
                </a:solidFill>
                <a:latin typeface="Segoe UI"/>
                <a:ea typeface="Segoe UI"/>
                <a:cs typeface="Segoe UI"/>
              </a:rPr>
              <a:t>ANSWER: right after the await that paused it, locals restored. Console / ASP.NET Core: any pool thread. UI app: the UI thread.</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300"/>
                                        <p:tgtEl>
                                          <p:spTgt spid="3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3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300"/>
                                        <p:tgtEl>
                                          <p:spTgt spid="3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300"/>
                                        <p:tgtEl>
                                          <p:spTgt spid="3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300"/>
                                        <p:tgtEl>
                                          <p:spTgt spid="40"/>
                                        </p:tgtEl>
                                      </p:cBhvr>
                                    </p:animEffect>
                                  </p:childTnLst>
                                </p:cTn>
                              </p:par>
                              <p:par>
                                <p:cTn id="67" presetID="22" presetClass="entr" presetSubtype="8" fill="hold" grpId="0" nodeType="withEffect">
                                  <p:stCondLst>
                                    <p:cond delay="300"/>
                                  </p:stCondLst>
                                  <p:childTnLst>
                                    <p:set>
                                      <p:cBhvr>
                                        <p:cTn id="68" dur="1" fill="hold">
                                          <p:stCondLst>
                                            <p:cond delay="0"/>
                                          </p:stCondLst>
                                        </p:cTn>
                                        <p:tgtEl>
                                          <p:spTgt spid="42"/>
                                        </p:tgtEl>
                                        <p:attrNameLst>
                                          <p:attrName>style.visibility</p:attrName>
                                        </p:attrNameLst>
                                      </p:cBhvr>
                                      <p:to>
                                        <p:strVal val="visible"/>
                                      </p:to>
                                    </p:set>
                                    <p:animEffect transition="in" filter="wipe(left)">
                                      <p:cBhvr>
                                        <p:cTn id="69" dur="600"/>
                                        <p:tgtEl>
                                          <p:spTgt spid="4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3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300"/>
                                        <p:tgtEl>
                                          <p:spTgt spid="33"/>
                                        </p:tgtEl>
                                      </p:cBhvr>
                                    </p:animEffect>
                                  </p:childTnLst>
                                </p:cTn>
                              </p:par>
                              <p:par>
                                <p:cTn id="78" presetID="0" presetClass="path" presetSubtype="0" accel="50000" decel="50000" fill="hold" grpId="1" nodeType="withEffect">
                                  <p:stCondLst>
                                    <p:cond delay="0"/>
                                  </p:stCondLst>
                                  <p:childTnLst>
                                    <p:animMotion origin="layout" path="M 0.00000 0.00000 L 0.00000 0.02815 E" pathEditMode="relative" rAng="0" ptsTypes="AA">
                                      <p:cBhvr>
                                        <p:cTn id="79" dur="600" fill="hold"/>
                                        <p:tgtEl>
                                          <p:spTgt spid="30"/>
                                        </p:tgtEl>
                                        <p:attrNameLst>
                                          <p:attrName>ppt_x</p:attrName>
                                          <p:attrName>ppt_y</p:attrName>
                                        </p:attrNameLst>
                                      </p:cBhvr>
                                      <p:rCtr x="0" y="1407"/>
                                    </p:animMotion>
                                  </p:childTnLst>
                                </p:cTn>
                              </p:par>
                              <p:par>
                                <p:cTn id="80" presetID="22" presetClass="entr" presetSubtype="8" fill="hold" grpId="0" nodeType="withEffect">
                                  <p:stCondLst>
                                    <p:cond delay="600"/>
                                  </p:stCondLst>
                                  <p:childTnLst>
                                    <p:set>
                                      <p:cBhvr>
                                        <p:cTn id="81" dur="1" fill="hold">
                                          <p:stCondLst>
                                            <p:cond delay="0"/>
                                          </p:stCondLst>
                                        </p:cTn>
                                        <p:tgtEl>
                                          <p:spTgt spid="43"/>
                                        </p:tgtEl>
                                        <p:attrNameLst>
                                          <p:attrName>style.visibility</p:attrName>
                                        </p:attrNameLst>
                                      </p:cBhvr>
                                      <p:to>
                                        <p:strVal val="visible"/>
                                      </p:to>
                                    </p:set>
                                    <p:animEffect transition="in" filter="wipe(left)">
                                      <p:cBhvr>
                                        <p:cTn id="82" dur="600"/>
                                        <p:tgtEl>
                                          <p:spTgt spid="4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300"/>
                                        <p:tgtEl>
                                          <p:spTgt spid="3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300"/>
                                        <p:tgtEl>
                                          <p:spTgt spid="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300"/>
                                        <p:tgtEl>
                                          <p:spTgt spid="46"/>
                                        </p:tgtEl>
                                      </p:cBhvr>
                                    </p:animEffect>
                                  </p:childTnLst>
                                </p:cTn>
                              </p:par>
                              <p:par>
                                <p:cTn id="94" presetID="0" presetClass="path" presetSubtype="0" accel="50000" decel="50000" fill="hold" grpId="2" nodeType="withEffect">
                                  <p:stCondLst>
                                    <p:cond delay="0"/>
                                  </p:stCondLst>
                                  <p:childTnLst>
                                    <p:animMotion origin="layout" path="M 0.00000 0.02815 L 0.00000 0.05630 E" pathEditMode="relative" rAng="0" ptsTypes="AA">
                                      <p:cBhvr>
                                        <p:cTn id="95" dur="600" fill="hold"/>
                                        <p:tgtEl>
                                          <p:spTgt spid="30"/>
                                        </p:tgtEl>
                                        <p:attrNameLst>
                                          <p:attrName>ppt_x</p:attrName>
                                          <p:attrName>ppt_y</p:attrName>
                                        </p:attrNameLst>
                                      </p:cBhvr>
                                      <p:rCtr x="0" y="2815"/>
                                    </p:animMotion>
                                  </p:childTnLst>
                                </p:cTn>
                              </p:par>
                              <p:par>
                                <p:cTn id="96" presetID="22" presetClass="entr" presetSubtype="8" fill="hold" grpId="0" nodeType="withEffect">
                                  <p:stCondLst>
                                    <p:cond delay="600"/>
                                  </p:stCondLst>
                                  <p:childTnLst>
                                    <p:set>
                                      <p:cBhvr>
                                        <p:cTn id="97" dur="1" fill="hold">
                                          <p:stCondLst>
                                            <p:cond delay="0"/>
                                          </p:stCondLst>
                                        </p:cTn>
                                        <p:tgtEl>
                                          <p:spTgt spid="44"/>
                                        </p:tgtEl>
                                        <p:attrNameLst>
                                          <p:attrName>style.visibility</p:attrName>
                                        </p:attrNameLst>
                                      </p:cBhvr>
                                      <p:to>
                                        <p:strVal val="visible"/>
                                      </p:to>
                                    </p:set>
                                    <p:animEffect transition="in" filter="wipe(left)">
                                      <p:cBhvr>
                                        <p:cTn id="98" dur="600"/>
                                        <p:tgtEl>
                                          <p:spTgt spid="44"/>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300"/>
                                        <p:tgtEl>
                                          <p:spTgt spid="3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30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300"/>
                                        <p:tgtEl>
                                          <p:spTgt spid="47"/>
                                        </p:tgtEl>
                                      </p:cBhvr>
                                    </p:animEffect>
                                  </p:childTnLst>
                                </p:cTn>
                              </p:par>
                              <p:par>
                                <p:cTn id="110" presetID="0" presetClass="path" presetSubtype="0" accel="50000" decel="50000" fill="hold" grpId="3" nodeType="withEffect">
                                  <p:stCondLst>
                                    <p:cond delay="0"/>
                                  </p:stCondLst>
                                  <p:childTnLst>
                                    <p:animMotion origin="layout" path="M 0.00000 0.05630 L 0.00000 0.08444 E" pathEditMode="relative" rAng="0" ptsTypes="AA">
                                      <p:cBhvr>
                                        <p:cTn id="111" dur="500" fill="hold"/>
                                        <p:tgtEl>
                                          <p:spTgt spid="30"/>
                                        </p:tgtEl>
                                        <p:attrNameLst>
                                          <p:attrName>ppt_x</p:attrName>
                                          <p:attrName>ppt_y</p:attrName>
                                        </p:attrNameLst>
                                      </p:cBhvr>
                                      <p:rCtr x="0" y="4222"/>
                                    </p:animMotion>
                                  </p:childTnLst>
                                </p:cTn>
                              </p:par>
                              <p:par>
                                <p:cTn id="112" presetID="0" presetClass="path" presetSubtype="0" accel="50000" decel="50000" fill="hold" grpId="4" nodeType="withEffect">
                                  <p:stCondLst>
                                    <p:cond delay="900"/>
                                  </p:stCondLst>
                                  <p:childTnLst>
                                    <p:animMotion origin="layout" path="M 0.00000 0.08444 L 0.00000 0.11259 E" pathEditMode="relative" rAng="0" ptsTypes="AA">
                                      <p:cBhvr>
                                        <p:cTn id="113" dur="600" fill="hold"/>
                                        <p:tgtEl>
                                          <p:spTgt spid="30"/>
                                        </p:tgtEl>
                                        <p:attrNameLst>
                                          <p:attrName>ppt_x</p:attrName>
                                          <p:attrName>ppt_y</p:attrName>
                                        </p:attrNameLst>
                                      </p:cBhvr>
                                      <p:rCtr x="0" y="5630"/>
                                    </p:animMotion>
                                  </p:childTnLst>
                                </p:cTn>
                              </p:par>
                              <p:par>
                                <p:cTn id="114" presetID="22" presetClass="entr" presetSubtype="8" fill="hold" grpId="0" nodeType="withEffect">
                                  <p:stCondLst>
                                    <p:cond delay="1000"/>
                                  </p:stCondLst>
                                  <p:childTnLst>
                                    <p:set>
                                      <p:cBhvr>
                                        <p:cTn id="115" dur="1" fill="hold">
                                          <p:stCondLst>
                                            <p:cond delay="0"/>
                                          </p:stCondLst>
                                        </p:cTn>
                                        <p:tgtEl>
                                          <p:spTgt spid="45"/>
                                        </p:tgtEl>
                                        <p:attrNameLst>
                                          <p:attrName>style.visibility</p:attrName>
                                        </p:attrNameLst>
                                      </p:cBhvr>
                                      <p:to>
                                        <p:strVal val="visible"/>
                                      </p:to>
                                    </p:set>
                                    <p:animEffect transition="in" filter="wipe(left)">
                                      <p:cBhvr>
                                        <p:cTn id="116" dur="600"/>
                                        <p:tgtEl>
                                          <p:spTgt spid="45"/>
                                        </p:tgtEl>
                                      </p:cBhvr>
                                    </p:animEffect>
                                  </p:childTnLst>
                                </p:cTn>
                              </p:par>
                              <p:par>
                                <p:cTn id="117" presetID="10" presetClass="entr" presetSubtype="0" fill="hold" grpId="0" nodeType="withEffect">
                                  <p:stCondLst>
                                    <p:cond delay="170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300"/>
                                        <p:tgtEl>
                                          <p:spTgt spid="35"/>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3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0" grpId="1" animBg="1"/>
      <p:bldP spid="30" grpId="2" animBg="1"/>
      <p:bldP spid="30" grpId="3" animBg="1"/>
      <p:bldP spid="30" grpId="4"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4D91F0">
              <a:alpha val="1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CALL CHAIN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Real async Call Chain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05</a:t>
            </a:r>
            <a:endParaRPr lang="en-US" sz="850" dirty="0"/>
          </a:p>
        </p:txBody>
      </p:sp>
      <p:sp>
        <p:nvSpPr>
          <p:cNvPr id="15" name="layer"/>
          <p:cNvSpPr/>
          <p:nvPr/>
        </p:nvSpPr>
        <p:spPr>
          <a:xfrm>
            <a:off x="1893154" y="1572768"/>
            <a:ext cx="6300000" cy="760000"/>
          </a:xfrm>
          <a:prstGeom prst="roundRect">
            <a:avLst>
              <a:gd name="adj" fmla="val 8000"/>
            </a:avLst>
          </a:prstGeom>
          <a:solidFill>
            <a:srgbClr val="111B2E"/>
          </a:solidFill>
          <a:ln w="19050">
            <a:solidFill>
              <a:srgbClr val="A78BFA"/>
            </a:solidFill>
            <a:prstDash val="solid"/>
          </a:ln>
        </p:spPr>
        <p:txBody>
          <a:bodyPr wrap="square" lIns="164592" tIns="45720" rIns="91440" bIns="45720" rtlCol="0" anchor="ctr">
            <a:noAutofit/>
          </a:bodyPr>
          <a:lstStyle/>
          <a:p>
            <a:pPr marL="0" indent="0" algn="l">
              <a:spcBef>
                <a:spcPts val="0"/>
              </a:spcBef>
              <a:spcAft>
                <a:spcPts val="200"/>
              </a:spcAft>
              <a:buNone/>
            </a:pPr>
            <a:r>
              <a:rPr lang="en-US" sz="1000" b="1" dirty="0">
                <a:solidFill>
                  <a:srgbClr val="A78BFA"/>
                </a:solidFill>
                <a:latin typeface="Segoe UI"/>
                <a:ea typeface="Segoe UI"/>
                <a:cs typeface="Segoe UI"/>
              </a:rPr>
              <a:t>ASP.NET Core endpoint</a:t>
            </a:r>
            <a:endParaRPr lang="en-US" sz="1000" dirty="0"/>
          </a:p>
          <a:p>
            <a:pPr marL="0" indent="0" algn="l">
              <a:spcBef>
                <a:spcPts val="0"/>
              </a:spcBef>
              <a:spcAft>
                <a:spcPts val="0"/>
              </a:spcAft>
              <a:buNone/>
            </a:pPr>
            <a:r>
              <a:rPr lang="en-US" sz="1100" b="0" dirty="0">
                <a:solidFill>
                  <a:srgbClr val="E2E8F0"/>
                </a:solidFill>
                <a:latin typeface="Consolas"/>
                <a:ea typeface="Consolas"/>
                <a:cs typeface="Consolas"/>
              </a:rPr>
              <a:t>await svc.GetOrderSummaryAsync(id)</a:t>
            </a:r>
            <a:endParaRPr lang="en-US" sz="1100" dirty="0"/>
          </a:p>
        </p:txBody>
      </p:sp>
      <p:sp>
        <p:nvSpPr>
          <p:cNvPr id="16" name="layer"/>
          <p:cNvSpPr/>
          <p:nvPr/>
        </p:nvSpPr>
        <p:spPr>
          <a:xfrm>
            <a:off x="1893154" y="2442768"/>
            <a:ext cx="6300000" cy="760000"/>
          </a:xfrm>
          <a:prstGeom prst="roundRect">
            <a:avLst>
              <a:gd name="adj" fmla="val 8000"/>
            </a:avLst>
          </a:prstGeom>
          <a:solidFill>
            <a:srgbClr val="111B2E"/>
          </a:solidFill>
          <a:ln w="19050">
            <a:solidFill>
              <a:srgbClr val="4D91F0"/>
            </a:solidFill>
            <a:prstDash val="solid"/>
          </a:ln>
        </p:spPr>
        <p:txBody>
          <a:bodyPr wrap="square" lIns="164592" tIns="45720" rIns="91440" bIns="45720" rtlCol="0" anchor="ctr">
            <a:noAutofit/>
          </a:bodyPr>
          <a:lstStyle/>
          <a:p>
            <a:pPr marL="0" indent="0" algn="l">
              <a:spcBef>
                <a:spcPts val="0"/>
              </a:spcBef>
              <a:spcAft>
                <a:spcPts val="200"/>
              </a:spcAft>
              <a:buNone/>
            </a:pPr>
            <a:r>
              <a:rPr lang="en-US" sz="1000" b="1" dirty="0">
                <a:solidFill>
                  <a:srgbClr val="4D91F0"/>
                </a:solidFill>
                <a:latin typeface="Segoe UI"/>
                <a:ea typeface="Segoe UI"/>
                <a:cs typeface="Segoe UI"/>
              </a:rPr>
              <a:t>OrderService</a:t>
            </a:r>
            <a:endParaRPr lang="en-US" sz="1000" dirty="0"/>
          </a:p>
          <a:p>
            <a:pPr marL="0" indent="0" algn="l">
              <a:spcBef>
                <a:spcPts val="0"/>
              </a:spcBef>
              <a:spcAft>
                <a:spcPts val="0"/>
              </a:spcAft>
              <a:buNone/>
            </a:pPr>
            <a:r>
              <a:rPr lang="en-US" sz="1100" b="0" dirty="0">
                <a:solidFill>
                  <a:srgbClr val="E2E8F0"/>
                </a:solidFill>
                <a:latin typeface="Consolas"/>
                <a:ea typeface="Consolas"/>
                <a:cs typeface="Consolas"/>
              </a:rPr>
              <a:t>await _orders.GetByIdAsync(id)</a:t>
            </a:r>
            <a:endParaRPr lang="en-US" sz="1100" dirty="0"/>
          </a:p>
        </p:txBody>
      </p:sp>
      <p:sp>
        <p:nvSpPr>
          <p:cNvPr id="17" name="layer"/>
          <p:cNvSpPr/>
          <p:nvPr/>
        </p:nvSpPr>
        <p:spPr>
          <a:xfrm>
            <a:off x="1893154" y="3312768"/>
            <a:ext cx="6300000" cy="760000"/>
          </a:xfrm>
          <a:prstGeom prst="roundRect">
            <a:avLst>
              <a:gd name="adj" fmla="val 8000"/>
            </a:avLst>
          </a:prstGeom>
          <a:solidFill>
            <a:srgbClr val="111B2E"/>
          </a:solidFill>
          <a:ln w="19050">
            <a:solidFill>
              <a:srgbClr val="34D399"/>
            </a:solidFill>
            <a:prstDash val="solid"/>
          </a:ln>
        </p:spPr>
        <p:txBody>
          <a:bodyPr wrap="square" lIns="164592" tIns="45720" rIns="91440" bIns="45720" rtlCol="0" anchor="ctr">
            <a:noAutofit/>
          </a:bodyPr>
          <a:lstStyle/>
          <a:p>
            <a:pPr marL="0" indent="0" algn="l">
              <a:spcBef>
                <a:spcPts val="0"/>
              </a:spcBef>
              <a:spcAft>
                <a:spcPts val="200"/>
              </a:spcAft>
              <a:buNone/>
            </a:pPr>
            <a:r>
              <a:rPr lang="en-US" sz="1000" b="1" dirty="0">
                <a:solidFill>
                  <a:srgbClr val="34D399"/>
                </a:solidFill>
                <a:latin typeface="Segoe UI"/>
                <a:ea typeface="Segoe UI"/>
                <a:cs typeface="Segoe UI"/>
              </a:rPr>
              <a:t>OrderRepository</a:t>
            </a:r>
            <a:endParaRPr lang="en-US" sz="1000" dirty="0"/>
          </a:p>
          <a:p>
            <a:pPr marL="0" indent="0" algn="l">
              <a:spcBef>
                <a:spcPts val="0"/>
              </a:spcBef>
              <a:spcAft>
                <a:spcPts val="0"/>
              </a:spcAft>
              <a:buNone/>
            </a:pPr>
            <a:r>
              <a:rPr lang="en-US" sz="1100" b="0" dirty="0">
                <a:solidFill>
                  <a:srgbClr val="E2E8F0"/>
                </a:solidFill>
                <a:latin typeface="Consolas"/>
                <a:ea typeface="Consolas"/>
                <a:cs typeface="Consolas"/>
              </a:rPr>
              <a:t>await _db.Orders.FirstAsync(o =&gt; o.Id == id)</a:t>
            </a:r>
            <a:endParaRPr lang="en-US" sz="1100" dirty="0"/>
          </a:p>
        </p:txBody>
      </p:sp>
      <p:sp>
        <p:nvSpPr>
          <p:cNvPr id="18" name="layer"/>
          <p:cNvSpPr/>
          <p:nvPr/>
        </p:nvSpPr>
        <p:spPr>
          <a:xfrm>
            <a:off x="1893154" y="4182768"/>
            <a:ext cx="6300000" cy="760000"/>
          </a:xfrm>
          <a:prstGeom prst="roundRect">
            <a:avLst>
              <a:gd name="adj" fmla="val 8000"/>
            </a:avLst>
          </a:prstGeom>
          <a:solidFill>
            <a:srgbClr val="111B2E"/>
          </a:solidFill>
          <a:ln w="19050">
            <a:solidFill>
              <a:srgbClr val="13D0F7"/>
            </a:solidFill>
            <a:prstDash val="solid"/>
          </a:ln>
        </p:spPr>
        <p:txBody>
          <a:bodyPr wrap="square" lIns="164592" tIns="45720" rIns="91440" bIns="45720" rtlCol="0" anchor="ctr">
            <a:noAutofit/>
          </a:bodyPr>
          <a:lstStyle/>
          <a:p>
            <a:pPr marL="0" indent="0" algn="l">
              <a:spcBef>
                <a:spcPts val="0"/>
              </a:spcBef>
              <a:spcAft>
                <a:spcPts val="200"/>
              </a:spcAft>
              <a:buNone/>
            </a:pPr>
            <a:r>
              <a:rPr lang="en-US" sz="1000" b="1" dirty="0">
                <a:solidFill>
                  <a:srgbClr val="13D0F7"/>
                </a:solidFill>
                <a:latin typeface="Segoe UI"/>
                <a:ea typeface="Segoe UI"/>
                <a:cs typeface="Segoe UI"/>
              </a:rPr>
              <a:t>EF Core + database driver</a:t>
            </a:r>
            <a:endParaRPr lang="en-US" sz="1000" dirty="0"/>
          </a:p>
          <a:p>
            <a:pPr marL="0" indent="0" algn="l">
              <a:spcBef>
                <a:spcPts val="0"/>
              </a:spcBef>
              <a:spcAft>
                <a:spcPts val="0"/>
              </a:spcAft>
              <a:buNone/>
            </a:pPr>
            <a:r>
              <a:rPr lang="en-US" sz="1100" b="0" dirty="0">
                <a:solidFill>
                  <a:srgbClr val="94A3B8"/>
                </a:solidFill>
                <a:latin typeface="Segoe UI"/>
                <a:ea typeface="Segoe UI"/>
                <a:cs typeface="Segoe UI"/>
              </a:rPr>
              <a:t>sends the SQL, waits for the network</a:t>
            </a:r>
            <a:endParaRPr lang="en-US" sz="1100" dirty="0"/>
          </a:p>
        </p:txBody>
      </p:sp>
      <p:cxnSp>
        <p:nvCxnSpPr>
          <p:cNvPr id="19" name="arrow"/>
          <p:cNvCxnSpPr/>
          <p:nvPr/>
        </p:nvCxnSpPr>
        <p:spPr>
          <a:xfrm>
            <a:off x="2293154" y="2337768"/>
            <a:ext cx="0" cy="100000"/>
          </a:xfrm>
          <a:prstGeom prst="line">
            <a:avLst/>
          </a:prstGeom>
          <a:ln w="28575">
            <a:solidFill>
              <a:srgbClr val="94A3B8"/>
            </a:solidFill>
            <a:tailEnd type="triangle" w="med" len="med"/>
          </a:ln>
        </p:spPr>
      </p:cxnSp>
      <p:cxnSp>
        <p:nvCxnSpPr>
          <p:cNvPr id="20" name="arrow"/>
          <p:cNvCxnSpPr/>
          <p:nvPr/>
        </p:nvCxnSpPr>
        <p:spPr>
          <a:xfrm>
            <a:off x="2293154" y="3207768"/>
            <a:ext cx="0" cy="100000"/>
          </a:xfrm>
          <a:prstGeom prst="line">
            <a:avLst/>
          </a:prstGeom>
          <a:ln w="28575">
            <a:solidFill>
              <a:srgbClr val="94A3B8"/>
            </a:solidFill>
            <a:tailEnd type="triangle" w="med" len="med"/>
          </a:ln>
        </p:spPr>
      </p:cxnSp>
      <p:cxnSp>
        <p:nvCxnSpPr>
          <p:cNvPr id="21" name="arrow"/>
          <p:cNvCxnSpPr/>
          <p:nvPr/>
        </p:nvCxnSpPr>
        <p:spPr>
          <a:xfrm>
            <a:off x="2293154" y="4077768"/>
            <a:ext cx="0" cy="100000"/>
          </a:xfrm>
          <a:prstGeom prst="line">
            <a:avLst/>
          </a:prstGeom>
          <a:ln w="28575">
            <a:solidFill>
              <a:srgbClr val="94A3B8"/>
            </a:solidFill>
            <a:tailEnd type="triangle" w="med" len="med"/>
          </a:ln>
        </p:spPr>
      </p:cxnSp>
      <p:sp>
        <p:nvSpPr>
          <p:cNvPr id="22" name="chip"/>
          <p:cNvSpPr/>
          <p:nvPr/>
        </p:nvSpPr>
        <p:spPr>
          <a:xfrm>
            <a:off x="6143154" y="1632768"/>
            <a:ext cx="1950000" cy="28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BBF24"/>
                </a:solidFill>
                <a:latin typeface="Segoe UI"/>
                <a:ea typeface="Segoe UI"/>
                <a:cs typeface="Segoe UI"/>
              </a:rPr>
              <a:t>returns Task (not done)</a:t>
            </a:r>
            <a:endParaRPr lang="en-US" sz="850" dirty="0"/>
          </a:p>
        </p:txBody>
      </p:sp>
      <p:sp>
        <p:nvSpPr>
          <p:cNvPr id="23" name="chip"/>
          <p:cNvSpPr/>
          <p:nvPr/>
        </p:nvSpPr>
        <p:spPr>
          <a:xfrm>
            <a:off x="6143154" y="2502768"/>
            <a:ext cx="1950000" cy="28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BBF24"/>
                </a:solidFill>
                <a:latin typeface="Segoe UI"/>
                <a:ea typeface="Segoe UI"/>
                <a:cs typeface="Segoe UI"/>
              </a:rPr>
              <a:t>returns Task (not done)</a:t>
            </a:r>
            <a:endParaRPr lang="en-US" sz="850" dirty="0"/>
          </a:p>
        </p:txBody>
      </p:sp>
      <p:sp>
        <p:nvSpPr>
          <p:cNvPr id="24" name="chip"/>
          <p:cNvSpPr/>
          <p:nvPr/>
        </p:nvSpPr>
        <p:spPr>
          <a:xfrm>
            <a:off x="6143154" y="3372768"/>
            <a:ext cx="1950000" cy="280000"/>
          </a:xfrm>
          <a:prstGeom prst="roundRect">
            <a:avLst>
              <a:gd name="adj" fmla="val 25000"/>
            </a:avLst>
          </a:prstGeom>
          <a:solidFill>
            <a:srgbClr val="111B2E"/>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BBF24"/>
                </a:solidFill>
                <a:latin typeface="Segoe UI"/>
                <a:ea typeface="Segoe UI"/>
                <a:cs typeface="Segoe UI"/>
              </a:rPr>
              <a:t>returns Task (not done)</a:t>
            </a:r>
            <a:endParaRPr lang="en-US" sz="850" dirty="0"/>
          </a:p>
        </p:txBody>
      </p:sp>
      <p:sp>
        <p:nvSpPr>
          <p:cNvPr id="25" name="chip"/>
          <p:cNvSpPr/>
          <p:nvPr/>
        </p:nvSpPr>
        <p:spPr>
          <a:xfrm>
            <a:off x="6143154" y="1632768"/>
            <a:ext cx="1950000" cy="280000"/>
          </a:xfrm>
          <a:prstGeom prst="roundRect">
            <a:avLst>
              <a:gd name="adj" fmla="val 25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34D399"/>
                </a:solidFill>
                <a:latin typeface="Segoe UI"/>
                <a:ea typeface="Segoe UI"/>
                <a:cs typeface="Segoe UI"/>
              </a:rPr>
              <a:t>resumes after await</a:t>
            </a:r>
            <a:endParaRPr lang="en-US" sz="850" dirty="0"/>
          </a:p>
        </p:txBody>
      </p:sp>
      <p:sp>
        <p:nvSpPr>
          <p:cNvPr id="26" name="chip"/>
          <p:cNvSpPr/>
          <p:nvPr/>
        </p:nvSpPr>
        <p:spPr>
          <a:xfrm>
            <a:off x="6143154" y="2502768"/>
            <a:ext cx="1950000" cy="280000"/>
          </a:xfrm>
          <a:prstGeom prst="roundRect">
            <a:avLst>
              <a:gd name="adj" fmla="val 25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34D399"/>
                </a:solidFill>
                <a:latin typeface="Segoe UI"/>
                <a:ea typeface="Segoe UI"/>
                <a:cs typeface="Segoe UI"/>
              </a:rPr>
              <a:t>resumes after await</a:t>
            </a:r>
            <a:endParaRPr lang="en-US" sz="850" dirty="0"/>
          </a:p>
        </p:txBody>
      </p:sp>
      <p:sp>
        <p:nvSpPr>
          <p:cNvPr id="27" name="chip"/>
          <p:cNvSpPr/>
          <p:nvPr/>
        </p:nvSpPr>
        <p:spPr>
          <a:xfrm>
            <a:off x="6143154" y="3372768"/>
            <a:ext cx="1950000" cy="280000"/>
          </a:xfrm>
          <a:prstGeom prst="roundRect">
            <a:avLst>
              <a:gd name="adj" fmla="val 25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34D399"/>
                </a:solidFill>
                <a:latin typeface="Segoe UI"/>
                <a:ea typeface="Segoe UI"/>
                <a:cs typeface="Segoe UI"/>
              </a:rPr>
              <a:t>resumes after await</a:t>
            </a:r>
            <a:endParaRPr lang="en-US" sz="850" dirty="0"/>
          </a:p>
        </p:txBody>
      </p:sp>
      <p:sp>
        <p:nvSpPr>
          <p:cNvPr id="28" name="chip"/>
          <p:cNvSpPr/>
          <p:nvPr/>
        </p:nvSpPr>
        <p:spPr>
          <a:xfrm>
            <a:off x="543154" y="1752768"/>
            <a:ext cx="1150000" cy="400000"/>
          </a:xfrm>
          <a:prstGeom prst="roundRect">
            <a:avLst>
              <a:gd name="adj" fmla="val 25000"/>
            </a:avLst>
          </a:prstGeom>
          <a:solidFill>
            <a:srgbClr val="111B2E"/>
          </a:solidFill>
          <a:ln w="1905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4D91F0"/>
                </a:solidFill>
                <a:latin typeface="Segoe UI"/>
                <a:ea typeface="Segoe UI"/>
                <a:cs typeface="Segoe UI"/>
              </a:rPr>
              <a:t>Thread 7</a:t>
            </a:r>
            <a:endParaRPr lang="en-US" sz="1000" dirty="0"/>
          </a:p>
        </p:txBody>
      </p:sp>
      <p:sp>
        <p:nvSpPr>
          <p:cNvPr id="29" name="panel"/>
          <p:cNvSpPr/>
          <p:nvPr/>
        </p:nvSpPr>
        <p:spPr>
          <a:xfrm>
            <a:off x="8443154" y="1572768"/>
            <a:ext cx="3187100" cy="1300000"/>
          </a:xfrm>
          <a:prstGeom prst="roundRect">
            <a:avLst>
              <a:gd name="adj" fmla="val 8000"/>
            </a:avLst>
          </a:prstGeom>
          <a:solidFill>
            <a:srgbClr val="0C1628"/>
          </a:solidFill>
          <a:ln w="12700">
            <a:solidFill>
              <a:srgbClr val="1E3A5F"/>
            </a:solidFill>
            <a:prstDash val="solid"/>
          </a:ln>
        </p:spPr>
        <p:txBody>
          <a:bodyPr wrap="square" lIns="45720" tIns="64008" rIns="45720" bIns="45720" rtlCol="0" anchor="t">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ThreadPool</a:t>
            </a:r>
            <a:endParaRPr lang="en-US" sz="1000" dirty="0"/>
          </a:p>
        </p:txBody>
      </p:sp>
      <p:sp>
        <p:nvSpPr>
          <p:cNvPr id="30" name="io"/>
          <p:cNvSpPr/>
          <p:nvPr/>
        </p:nvSpPr>
        <p:spPr>
          <a:xfrm>
            <a:off x="8443154" y="4182768"/>
            <a:ext cx="3187100" cy="760000"/>
          </a:xfrm>
          <a:prstGeom prst="roundRect">
            <a:avLst>
              <a:gd name="adj" fmla="val 8000"/>
            </a:avLst>
          </a:prstGeom>
          <a:solidFill>
            <a:srgbClr val="0C2A33"/>
          </a:solidFill>
          <a:ln w="1905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network I/O in flight</a:t>
            </a:r>
            <a:endParaRPr lang="en-US" sz="1000" dirty="0"/>
          </a:p>
          <a:p>
            <a:pPr marL="0" indent="0" algn="ctr">
              <a:spcBef>
                <a:spcPts val="0"/>
              </a:spcBef>
              <a:spcAft>
                <a:spcPts val="0"/>
              </a:spcAft>
              <a:buNone/>
            </a:pPr>
            <a:r>
              <a:rPr lang="en-US" sz="950" b="0" dirty="0">
                <a:solidFill>
                  <a:srgbClr val="94A3B8"/>
                </a:solidFill>
                <a:latin typeface="Segoe UI"/>
                <a:ea typeface="Segoe UI"/>
                <a:cs typeface="Segoe UI"/>
              </a:rPr>
              <a:t>no thread waiting</a:t>
            </a:r>
            <a:endParaRPr lang="en-US" sz="950" dirty="0"/>
          </a:p>
        </p:txBody>
      </p:sp>
      <p:sp>
        <p:nvSpPr>
          <p:cNvPr id="31" name="chip"/>
          <p:cNvSpPr/>
          <p:nvPr/>
        </p:nvSpPr>
        <p:spPr>
          <a:xfrm>
            <a:off x="543154" y="4362768"/>
            <a:ext cx="1150000" cy="400000"/>
          </a:xfrm>
          <a:prstGeom prst="roundRect">
            <a:avLst>
              <a:gd name="adj" fmla="val 25000"/>
            </a:avLst>
          </a:prstGeom>
          <a:solidFill>
            <a:srgbClr val="111B2E"/>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Thread 9</a:t>
            </a:r>
            <a:endParaRPr lang="en-US" sz="1000" dirty="0"/>
          </a:p>
        </p:txBody>
      </p:sp>
      <p:sp>
        <p:nvSpPr>
          <p:cNvPr id="32" name="caption"/>
          <p:cNvSpPr/>
          <p:nvPr/>
        </p:nvSpPr>
        <p:spPr>
          <a:xfrm>
            <a:off x="8443154" y="2992768"/>
            <a:ext cx="3187100" cy="2080000"/>
          </a:xfrm>
          <a:prstGeom prst="roundRect">
            <a:avLst>
              <a:gd name="adj" fmla="val 12000"/>
            </a:avLst>
          </a:prstGeom>
          <a:solidFill>
            <a:srgbClr val="0C1628"/>
          </a:solidFill>
          <a:ln w="12700">
            <a:solidFill>
              <a:srgbClr val="4D91F0"/>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A request arrives. Thread 7 runs down the chain: each method calls the next one.</a:t>
            </a:r>
            <a:endParaRPr lang="en-US" sz="1050" dirty="0"/>
          </a:p>
        </p:txBody>
      </p:sp>
      <p:sp>
        <p:nvSpPr>
          <p:cNvPr id="33" name="caption"/>
          <p:cNvSpPr/>
          <p:nvPr/>
        </p:nvSpPr>
        <p:spPr>
          <a:xfrm>
            <a:off x="8443154" y="2992768"/>
            <a:ext cx="3187100" cy="2080000"/>
          </a:xfrm>
          <a:prstGeom prst="roundRect">
            <a:avLst>
              <a:gd name="adj" fmla="val 12000"/>
            </a:avLst>
          </a:prstGeom>
          <a:solidFill>
            <a:srgbClr val="0C1628"/>
          </a:solidFill>
          <a:ln w="12700">
            <a:solidFill>
              <a:srgbClr val="13D0F7"/>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At the bottom the query is sent. Nothing to compute: we just wait for the network.</a:t>
            </a:r>
            <a:endParaRPr lang="en-US" sz="1050" dirty="0"/>
          </a:p>
        </p:txBody>
      </p:sp>
      <p:sp>
        <p:nvSpPr>
          <p:cNvPr id="34" name="caption"/>
          <p:cNvSpPr/>
          <p:nvPr/>
        </p:nvSpPr>
        <p:spPr>
          <a:xfrm>
            <a:off x="8443154" y="2992768"/>
            <a:ext cx="3187100" cy="208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Each await sees an unfinished Task and returns one to its caller, all the way up. Thread 7 goes back to the pool.</a:t>
            </a:r>
            <a:endParaRPr lang="en-US" sz="1050" dirty="0"/>
          </a:p>
        </p:txBody>
      </p:sp>
      <p:sp>
        <p:nvSpPr>
          <p:cNvPr id="35" name="caption"/>
          <p:cNvSpPr/>
          <p:nvPr/>
        </p:nvSpPr>
        <p:spPr>
          <a:xfrm>
            <a:off x="8443154" y="2992768"/>
            <a:ext cx="3187100" cy="2080000"/>
          </a:xfrm>
          <a:prstGeom prst="roundRect">
            <a:avLst>
              <a:gd name="adj" fmla="val 12000"/>
            </a:avLst>
          </a:prstGeom>
          <a:solidFill>
            <a:srgbClr val="0C1628"/>
          </a:solidFill>
          <a:ln w="12700">
            <a:solidFill>
              <a:srgbClr val="34D399"/>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Rows arrive. A pool thread (maybe another one) resumes each method right after its await, from the bottom up.</a:t>
            </a:r>
            <a:endParaRPr lang="en-US" sz="1050" dirty="0"/>
          </a:p>
        </p:txBody>
      </p:sp>
      <p:sp>
        <p:nvSpPr>
          <p:cNvPr id="36" name="caption"/>
          <p:cNvSpPr/>
          <p:nvPr/>
        </p:nvSpPr>
        <p:spPr>
          <a:xfrm>
            <a:off x="8443154" y="2992768"/>
            <a:ext cx="3187100" cy="2080000"/>
          </a:xfrm>
          <a:prstGeom prst="roundRect">
            <a:avLst>
              <a:gd name="adj" fmla="val 12000"/>
            </a:avLst>
          </a:prstGeom>
          <a:solidFill>
            <a:srgbClr val="0C1628"/>
          </a:solidFill>
          <a:ln w="12700">
            <a:solidFill>
              <a:srgbClr val="A78BFA"/>
            </a:solidFill>
            <a:prstDash val="solid"/>
          </a:ln>
        </p:spPr>
        <p:txBody>
          <a:bodyPr wrap="square" lIns="137160" tIns="27432" rIns="137160" bIns="27432" rtlCol="0" anchor="ctr">
            <a:noAutofit/>
          </a:bodyPr>
          <a:lstStyle/>
          <a:p>
            <a:pPr marL="0" indent="0" algn="l">
              <a:spcBef>
                <a:spcPts val="0"/>
              </a:spcBef>
              <a:spcAft>
                <a:spcPts val="0"/>
              </a:spcAft>
              <a:buNone/>
            </a:pPr>
            <a:r>
              <a:rPr lang="en-US" sz="1050" b="0" dirty="0">
                <a:solidFill>
                  <a:srgbClr val="FFFFFF"/>
                </a:solidFill>
                <a:latin typeface="Segoe UI"/>
                <a:ea typeface="Segoe UI"/>
                <a:cs typeface="Segoe UI"/>
              </a:rPr>
              <a:t>The endpoint gets its result and ASP.NET Core sends the HTTP response.</a:t>
            </a:r>
            <a:endParaRPr lang="en-US" sz="1050" dirty="0"/>
          </a:p>
        </p:txBody>
      </p:sp>
      <p:sp>
        <p:nvSpPr>
          <p:cNvPr id="37"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async all the way: every layer awaits the one below. While the database works, no thread is held.</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0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300"/>
                                        <p:tgtEl>
                                          <p:spTgt spid="32"/>
                                        </p:tgtEl>
                                      </p:cBhvr>
                                    </p:animEffect>
                                  </p:childTnLst>
                                </p:cTn>
                              </p:par>
                              <p:par>
                                <p:cTn id="34" presetID="0" presetClass="path" presetSubtype="0" accel="50000" decel="50000" fill="hold" grpId="1" nodeType="withEffect">
                                  <p:stCondLst>
                                    <p:cond delay="300"/>
                                  </p:stCondLst>
                                  <p:childTnLst>
                                    <p:animMotion origin="layout" path="M 0.00000 0.00000 L 0.00000 0.12686 E" pathEditMode="relative" rAng="0" ptsTypes="AA">
                                      <p:cBhvr>
                                        <p:cTn id="35" dur="600" fill="hold"/>
                                        <p:tgtEl>
                                          <p:spTgt spid="28"/>
                                        </p:tgtEl>
                                        <p:attrNameLst>
                                          <p:attrName>ppt_x</p:attrName>
                                          <p:attrName>ppt_y</p:attrName>
                                        </p:attrNameLst>
                                      </p:cBhvr>
                                      <p:rCtr x="0" y="6343"/>
                                    </p:animMotion>
                                  </p:childTnLst>
                                </p:cTn>
                              </p:par>
                              <p:par>
                                <p:cTn id="36" presetID="0" presetClass="path" presetSubtype="0" accel="50000" decel="50000" fill="hold" grpId="2" nodeType="withEffect">
                                  <p:stCondLst>
                                    <p:cond delay="1000"/>
                                  </p:stCondLst>
                                  <p:childTnLst>
                                    <p:animMotion origin="layout" path="M 0.00000 0.12686 L 0.00000 0.25372 E" pathEditMode="relative" rAng="0" ptsTypes="AA">
                                      <p:cBhvr>
                                        <p:cTn id="37" dur="600" fill="hold"/>
                                        <p:tgtEl>
                                          <p:spTgt spid="28"/>
                                        </p:tgtEl>
                                        <p:attrNameLst>
                                          <p:attrName>ppt_x</p:attrName>
                                          <p:attrName>ppt_y</p:attrName>
                                        </p:attrNameLst>
                                      </p:cBhvr>
                                      <p:rCtr x="0" y="12686"/>
                                    </p:animMotion>
                                  </p:childTnLst>
                                </p:cTn>
                              </p:par>
                              <p:par>
                                <p:cTn id="38" presetID="0" presetClass="path" presetSubtype="0" accel="50000" decel="50000" fill="hold" grpId="3" nodeType="withEffect">
                                  <p:stCondLst>
                                    <p:cond delay="1700"/>
                                  </p:stCondLst>
                                  <p:childTnLst>
                                    <p:animMotion origin="layout" path="M 0.00000 0.25372 L 0.00000 0.38058 E" pathEditMode="relative" rAng="0" ptsTypes="AA">
                                      <p:cBhvr>
                                        <p:cTn id="39" dur="600" fill="hold"/>
                                        <p:tgtEl>
                                          <p:spTgt spid="28"/>
                                        </p:tgtEl>
                                        <p:attrNameLst>
                                          <p:attrName>ppt_x</p:attrName>
                                          <p:attrName>ppt_y</p:attrName>
                                        </p:attrNameLst>
                                      </p:cBhvr>
                                      <p:rCtr x="0" y="19029"/>
                                    </p:animMotion>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300"/>
                                        <p:tgtEl>
                                          <p:spTgt spid="3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3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3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10" presetClass="entr" presetSubtype="0" fill="hold" grpId="0" nodeType="withEffect">
                                  <p:stCondLst>
                                    <p:cond delay="4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00"/>
                                        <p:tgtEl>
                                          <p:spTgt spid="23"/>
                                        </p:tgtEl>
                                      </p:cBhvr>
                                    </p:animEffect>
                                  </p:childTnLst>
                                </p:cTn>
                              </p:par>
                              <p:par>
                                <p:cTn id="59" presetID="10" presetClass="entr" presetSubtype="0" fill="hold" grpId="0" nodeType="withEffect">
                                  <p:stCondLst>
                                    <p:cond delay="8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00"/>
                                        <p:tgtEl>
                                          <p:spTgt spid="22"/>
                                        </p:tgtEl>
                                      </p:cBhvr>
                                    </p:animEffect>
                                  </p:childTnLst>
                                </p:cTn>
                              </p:par>
                              <p:par>
                                <p:cTn id="62" presetID="0" presetClass="path" presetSubtype="0" accel="50000" decel="50000" fill="hold" grpId="4" nodeType="withEffect">
                                  <p:stCondLst>
                                    <p:cond delay="1100"/>
                                  </p:stCondLst>
                                  <p:childTnLst>
                                    <p:animMotion origin="layout" path="M 0.00000 0.38058 L 0.66437 0.06853 E" pathEditMode="relative" rAng="0" ptsTypes="AA">
                                      <p:cBhvr>
                                        <p:cTn id="63" dur="1000" fill="hold"/>
                                        <p:tgtEl>
                                          <p:spTgt spid="28"/>
                                        </p:tgtEl>
                                        <p:attrNameLst>
                                          <p:attrName>ppt_x</p:attrName>
                                          <p:attrName>ppt_y</p:attrName>
                                        </p:attrNameLst>
                                      </p:cBhvr>
                                      <p:rCtr x="33219" y="3427"/>
                                    </p:animMotion>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300"/>
                                        <p:tgtEl>
                                          <p:spTgt spid="35"/>
                                        </p:tgtEl>
                                      </p:cBhvr>
                                    </p:animEffect>
                                  </p:childTnLst>
                                </p:cTn>
                              </p:par>
                              <p:par>
                                <p:cTn id="69" presetID="10" presetClass="exit" presetSubtype="0" fill="hold" grpId="1" nodeType="withEffect">
                                  <p:stCondLst>
                                    <p:cond delay="0"/>
                                  </p:stCondLst>
                                  <p:childTnLst>
                                    <p:animEffect transition="out" filter="fade">
                                      <p:cBhvr>
                                        <p:cTn id="70" dur="300"/>
                                        <p:tgtEl>
                                          <p:spTgt spid="30"/>
                                        </p:tgtEl>
                                      </p:cBhvr>
                                    </p:animEffect>
                                    <p:set>
                                      <p:cBhvr>
                                        <p:cTn id="71" dur="1" fill="hold">
                                          <p:stCondLst>
                                            <p:cond delay="299"/>
                                          </p:stCondLst>
                                        </p:cTn>
                                        <p:tgtEl>
                                          <p:spTgt spid="30"/>
                                        </p:tgtEl>
                                        <p:attrNameLst>
                                          <p:attrName>style.visibility</p:attrName>
                                        </p:attrNameLst>
                                      </p:cBhvr>
                                      <p:to>
                                        <p:strVal val="hidden"/>
                                      </p:to>
                                    </p:set>
                                  </p:childTnLst>
                                </p:cTn>
                              </p:par>
                              <p:par>
                                <p:cTn id="72" presetID="10" presetClass="entr" presetSubtype="0" fill="hold" grpId="0" nodeType="withEffect">
                                  <p:stCondLst>
                                    <p:cond delay="20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300"/>
                                        <p:tgtEl>
                                          <p:spTgt spid="31"/>
                                        </p:tgtEl>
                                      </p:cBhvr>
                                    </p:animEffect>
                                  </p:childTnLst>
                                </p:cTn>
                              </p:par>
                              <p:par>
                                <p:cTn id="75" presetID="10" presetClass="entr" presetSubtype="0" fill="hold" grpId="0" nodeType="withEffect">
                                  <p:stCondLst>
                                    <p:cond delay="60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00"/>
                                        <p:tgtEl>
                                          <p:spTgt spid="27"/>
                                        </p:tgtEl>
                                      </p:cBhvr>
                                    </p:animEffect>
                                  </p:childTnLst>
                                </p:cTn>
                              </p:par>
                              <p:par>
                                <p:cTn id="78" presetID="0" presetClass="path" presetSubtype="0" accel="50000" decel="50000" fill="hold" grpId="1" nodeType="withEffect">
                                  <p:stCondLst>
                                    <p:cond delay="600"/>
                                  </p:stCondLst>
                                  <p:childTnLst>
                                    <p:animMotion origin="layout" path="M 0.00000 0.00000 L 0.00000 -0.12686 E" pathEditMode="relative" rAng="0" ptsTypes="AA">
                                      <p:cBhvr>
                                        <p:cTn id="79" dur="600" fill="hold"/>
                                        <p:tgtEl>
                                          <p:spTgt spid="31"/>
                                        </p:tgtEl>
                                        <p:attrNameLst>
                                          <p:attrName>ppt_x</p:attrName>
                                          <p:attrName>ppt_y</p:attrName>
                                        </p:attrNameLst>
                                      </p:cBhvr>
                                      <p:rCtr x="0" y="-6343"/>
                                    </p:animMotion>
                                  </p:childTnLst>
                                </p:cTn>
                              </p:par>
                              <p:par>
                                <p:cTn id="80" presetID="10" presetClass="entr" presetSubtype="0" fill="hold" grpId="0" nodeType="withEffect">
                                  <p:stCondLst>
                                    <p:cond delay="130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300"/>
                                        <p:tgtEl>
                                          <p:spTgt spid="26"/>
                                        </p:tgtEl>
                                      </p:cBhvr>
                                    </p:animEffect>
                                  </p:childTnLst>
                                </p:cTn>
                              </p:par>
                              <p:par>
                                <p:cTn id="83" presetID="0" presetClass="path" presetSubtype="0" accel="50000" decel="50000" fill="hold" grpId="2" nodeType="withEffect">
                                  <p:stCondLst>
                                    <p:cond delay="1300"/>
                                  </p:stCondLst>
                                  <p:childTnLst>
                                    <p:animMotion origin="layout" path="M 0.00000 -0.12686 L 0.00000 -0.25372 E" pathEditMode="relative" rAng="0" ptsTypes="AA">
                                      <p:cBhvr>
                                        <p:cTn id="84" dur="600" fill="hold"/>
                                        <p:tgtEl>
                                          <p:spTgt spid="31"/>
                                        </p:tgtEl>
                                        <p:attrNameLst>
                                          <p:attrName>ppt_x</p:attrName>
                                          <p:attrName>ppt_y</p:attrName>
                                        </p:attrNameLst>
                                      </p:cBhvr>
                                      <p:rCtr x="0" y="-12686"/>
                                    </p:animMotion>
                                  </p:childTnLst>
                                </p:cTn>
                              </p:par>
                              <p:par>
                                <p:cTn id="85" presetID="10" presetClass="entr" presetSubtype="0" fill="hold" grpId="0" nodeType="withEffect">
                                  <p:stCondLst>
                                    <p:cond delay="200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300"/>
                                        <p:tgtEl>
                                          <p:spTgt spid="25"/>
                                        </p:tgtEl>
                                      </p:cBhvr>
                                    </p:animEffect>
                                  </p:childTnLst>
                                </p:cTn>
                              </p:par>
                              <p:par>
                                <p:cTn id="88" presetID="0" presetClass="path" presetSubtype="0" accel="50000" decel="50000" fill="hold" grpId="3" nodeType="withEffect">
                                  <p:stCondLst>
                                    <p:cond delay="2000"/>
                                  </p:stCondLst>
                                  <p:childTnLst>
                                    <p:animMotion origin="layout" path="M 0.00000 -0.25372 L 0.00000 -0.38058 E" pathEditMode="relative" rAng="0" ptsTypes="AA">
                                      <p:cBhvr>
                                        <p:cTn id="89" dur="600" fill="hold"/>
                                        <p:tgtEl>
                                          <p:spTgt spid="31"/>
                                        </p:tgtEl>
                                        <p:attrNameLst>
                                          <p:attrName>ppt_x</p:attrName>
                                          <p:attrName>ppt_y</p:attrName>
                                        </p:attrNameLst>
                                      </p:cBhvr>
                                      <p:rCtr x="0" y="-19029"/>
                                    </p:animMotion>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300"/>
                                        <p:tgtEl>
                                          <p:spTgt spid="3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animBg="1"/>
      <p:bldP spid="23" grpId="0" animBg="1"/>
      <p:bldP spid="24" grpId="0" animBg="1"/>
      <p:bldP spid="25" grpId="0" animBg="1"/>
      <p:bldP spid="26" grpId="0" animBg="1"/>
      <p:bldP spid="27" grpId="0" animBg="1"/>
      <p:bldP spid="28" grpId="0" animBg="1"/>
      <p:bldP spid="28" grpId="1" animBg="1"/>
      <p:bldP spid="28" grpId="2" animBg="1"/>
      <p:bldP spid="28" grpId="3" animBg="1"/>
      <p:bldP spid="28" grpId="4" animBg="1"/>
      <p:bldP spid="30" grpId="0" animBg="1"/>
      <p:bldP spid="30" grpId="1" animBg="1"/>
      <p:bldP spid="31" grpId="0" animBg="1"/>
      <p:bldP spid="31" grpId="1" animBg="1"/>
      <p:bldP spid="31" grpId="2" animBg="1"/>
      <p:bldP spid="31" grpId="3" animBg="1"/>
      <p:bldP spid="32" grpId="0" animBg="1"/>
      <p:bldP spid="33" grpId="0" animBg="1"/>
      <p:bldP spid="34" grpId="0" animBg="1"/>
      <p:bldP spid="35" grpId="0" animBg="1"/>
      <p:bldP spid="36" grpId="0" animBg="1"/>
      <p:bldP spid="3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4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STATE MACHINE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Turns Your Method into a State Machine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06</a:t>
            </a:r>
            <a:endParaRPr lang="en-US" sz="850" dirty="0"/>
          </a:p>
        </p:txBody>
      </p:sp>
      <p:sp>
        <p:nvSpPr>
          <p:cNvPr id="15" name="cwa_win"/>
          <p:cNvSpPr/>
          <p:nvPr/>
        </p:nvSpPr>
        <p:spPr>
          <a:xfrm>
            <a:off x="543154" y="1572768"/>
            <a:ext cx="5406390" cy="210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a_bar"/>
          <p:cNvSpPr/>
          <p:nvPr/>
        </p:nvSpPr>
        <p:spPr>
          <a:xfrm>
            <a:off x="54315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a_barfill"/>
          <p:cNvSpPr/>
          <p:nvPr/>
        </p:nvSpPr>
        <p:spPr>
          <a:xfrm>
            <a:off x="54315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18" name="cwa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a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a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a_tab"/>
          <p:cNvSpPr/>
          <p:nvPr/>
        </p:nvSpPr>
        <p:spPr>
          <a:xfrm>
            <a:off x="1324051" y="1620317"/>
            <a:ext cx="17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What you write</a:t>
            </a:r>
            <a:endParaRPr lang="en-US" sz="950" dirty="0"/>
          </a:p>
        </p:txBody>
      </p:sp>
      <p:sp>
        <p:nvSpPr>
          <p:cNvPr id="30" name="cw_hl02"/>
          <p:cNvSpPr/>
          <p:nvPr/>
        </p:nvSpPr>
        <p:spPr>
          <a:xfrm>
            <a:off x="676656" y="2369008"/>
            <a:ext cx="5139386" cy="422656"/>
          </a:xfrm>
          <a:prstGeom prst="rect">
            <a:avLst/>
          </a:prstGeom>
          <a:solidFill>
            <a:srgbClr val="4D91F0">
              <a:alpha val="15000"/>
            </a:srgbClr>
          </a:solidFill>
          <a:ln w="12700">
            <a:solidFill>
              <a:srgbClr val="4D91F0"/>
            </a:solidFill>
            <a:prstDash val="solid"/>
          </a:ln>
        </p:spPr>
        <p:txBody>
          <a:bodyPr/>
          <a:lstStyle/>
          <a:p>
            <a:endParaRPr lang="en-US"/>
          </a:p>
        </p:txBody>
      </p:sp>
      <p:sp>
        <p:nvSpPr>
          <p:cNvPr id="31" name="cw_hl04"/>
          <p:cNvSpPr/>
          <p:nvPr/>
        </p:nvSpPr>
        <p:spPr>
          <a:xfrm>
            <a:off x="676656" y="2755088"/>
            <a:ext cx="5139386" cy="422656"/>
          </a:xfrm>
          <a:prstGeom prst="rect">
            <a:avLst/>
          </a:prstGeom>
          <a:solidFill>
            <a:srgbClr val="FBBF24">
              <a:alpha val="15000"/>
            </a:srgbClr>
          </a:solidFill>
          <a:ln w="12700">
            <a:solidFill>
              <a:srgbClr val="FBBF24"/>
            </a:solidFill>
            <a:prstDash val="solid"/>
          </a:ln>
        </p:spPr>
        <p:txBody>
          <a:bodyPr/>
          <a:lstStyle/>
          <a:p>
            <a:endParaRPr lang="en-US"/>
          </a:p>
        </p:txBody>
      </p:sp>
      <p:sp>
        <p:nvSpPr>
          <p:cNvPr id="32" name="cw_hl06"/>
          <p:cNvSpPr/>
          <p:nvPr/>
        </p:nvSpPr>
        <p:spPr>
          <a:xfrm>
            <a:off x="676656" y="3141168"/>
            <a:ext cx="5139386"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a_L00"/>
          <p:cNvSpPr txBox="1"/>
          <p:nvPr/>
        </p:nvSpPr>
        <p:spPr>
          <a:xfrm>
            <a:off x="771754" y="200121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 </a:t>
            </a:r>
            <a:r>
              <a:rPr lang="en-US" sz="950" b="0" dirty="0">
                <a:solidFill>
                  <a:srgbClr val="E2E8F0"/>
                </a:solidFill>
                <a:latin typeface="Consolas"/>
                <a:ea typeface="Consolas"/>
                <a:cs typeface="Consolas"/>
              </a:rPr>
              <a:t>Task&lt;Summary&gt; GetSummaryAsync(</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a:t>
            </a:r>
            <a:endParaRPr lang="en-US" sz="950" dirty="0"/>
          </a:p>
        </p:txBody>
      </p:sp>
      <p:sp>
        <p:nvSpPr>
          <p:cNvPr id="23" name="cwa_L01"/>
          <p:cNvSpPr txBox="1"/>
          <p:nvPr/>
        </p:nvSpPr>
        <p:spPr>
          <a:xfrm>
            <a:off x="771754" y="219425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a_L02"/>
          <p:cNvSpPr txBox="1"/>
          <p:nvPr/>
        </p:nvSpPr>
        <p:spPr>
          <a:xfrm>
            <a:off x="771754" y="238729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"Start"</a:t>
            </a:r>
            <a:r>
              <a:rPr lang="en-US" sz="950" b="0" dirty="0">
                <a:solidFill>
                  <a:srgbClr val="E2E8F0"/>
                </a:solidFill>
                <a:latin typeface="Consolas"/>
                <a:ea typeface="Consolas"/>
                <a:cs typeface="Consolas"/>
              </a:rPr>
              <a:t>);</a:t>
            </a:r>
            <a:endParaRPr lang="en-US" sz="950" dirty="0"/>
          </a:p>
        </p:txBody>
      </p:sp>
      <p:sp>
        <p:nvSpPr>
          <p:cNvPr id="25" name="cwa_L03"/>
          <p:cNvSpPr txBox="1"/>
          <p:nvPr/>
        </p:nvSpPr>
        <p:spPr>
          <a:xfrm>
            <a:off x="771754" y="258033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Order order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_orders.GetByIdAsync(id);</a:t>
            </a:r>
            <a:endParaRPr lang="en-US" sz="950" dirty="0"/>
          </a:p>
        </p:txBody>
      </p:sp>
      <p:sp>
        <p:nvSpPr>
          <p:cNvPr id="26" name="cwa_L04"/>
          <p:cNvSpPr txBox="1"/>
          <p:nvPr/>
        </p:nvSpPr>
        <p:spPr>
          <a:xfrm>
            <a:off x="771754" y="277337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"Got order"</a:t>
            </a:r>
            <a:r>
              <a:rPr lang="en-US" sz="950" b="0" dirty="0">
                <a:solidFill>
                  <a:srgbClr val="E2E8F0"/>
                </a:solidFill>
                <a:latin typeface="Consolas"/>
                <a:ea typeface="Consolas"/>
                <a:cs typeface="Consolas"/>
              </a:rPr>
              <a:t>);</a:t>
            </a:r>
            <a:endParaRPr lang="en-US" sz="950" dirty="0"/>
          </a:p>
        </p:txBody>
      </p:sp>
      <p:sp>
        <p:nvSpPr>
          <p:cNvPr id="27" name="cwa_L05"/>
          <p:cNvSpPr txBox="1"/>
          <p:nvPr/>
        </p:nvSpPr>
        <p:spPr>
          <a:xfrm>
            <a:off x="771754" y="296641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Customer c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_customers.GetAsync(order.CustomerId);</a:t>
            </a:r>
            <a:endParaRPr lang="en-US" sz="950" dirty="0"/>
          </a:p>
        </p:txBody>
      </p:sp>
      <p:sp>
        <p:nvSpPr>
          <p:cNvPr id="28" name="cwa_L06"/>
          <p:cNvSpPr txBox="1"/>
          <p:nvPr/>
        </p:nvSpPr>
        <p:spPr>
          <a:xfrm>
            <a:off x="771754" y="3159456"/>
            <a:ext cx="502234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 new </a:t>
            </a:r>
            <a:r>
              <a:rPr lang="en-US" sz="950" b="0" dirty="0">
                <a:solidFill>
                  <a:srgbClr val="E2E8F0"/>
                </a:solidFill>
                <a:latin typeface="Consolas"/>
                <a:ea typeface="Consolas"/>
                <a:cs typeface="Consolas"/>
              </a:rPr>
              <a:t>Summary(order, c);</a:t>
            </a:r>
            <a:endParaRPr lang="en-US" sz="950" dirty="0"/>
          </a:p>
        </p:txBody>
      </p:sp>
      <p:sp>
        <p:nvSpPr>
          <p:cNvPr id="29" name="cwa_L07"/>
          <p:cNvSpPr txBox="1"/>
          <p:nvPr/>
        </p:nvSpPr>
        <p:spPr>
          <a:xfrm>
            <a:off x="771754" y="3352496"/>
            <a:ext cx="502234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b_win"/>
          <p:cNvSpPr/>
          <p:nvPr/>
        </p:nvSpPr>
        <p:spPr>
          <a:xfrm>
            <a:off x="6223864" y="1572768"/>
            <a:ext cx="540639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4" name="cwb_bar"/>
          <p:cNvSpPr/>
          <p:nvPr/>
        </p:nvSpPr>
        <p:spPr>
          <a:xfrm>
            <a:off x="6223864" y="1572768"/>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5" name="cwb_barfill"/>
          <p:cNvSpPr/>
          <p:nvPr/>
        </p:nvSpPr>
        <p:spPr>
          <a:xfrm>
            <a:off x="6223864" y="1744218"/>
            <a:ext cx="5406390" cy="171450"/>
          </a:xfrm>
          <a:prstGeom prst="rect">
            <a:avLst/>
          </a:prstGeom>
          <a:solidFill>
            <a:srgbClr val="0A1220"/>
          </a:solidFill>
          <a:ln w="12700">
            <a:solidFill>
              <a:srgbClr val="0A1220"/>
            </a:solidFill>
            <a:prstDash val="solid"/>
          </a:ln>
        </p:spPr>
        <p:txBody>
          <a:bodyPr/>
          <a:lstStyle/>
          <a:p>
            <a:endParaRPr lang="en-US"/>
          </a:p>
        </p:txBody>
      </p:sp>
      <p:sp>
        <p:nvSpPr>
          <p:cNvPr id="36" name="cwb_dot0"/>
          <p:cNvSpPr/>
          <p:nvPr/>
        </p:nvSpPr>
        <p:spPr>
          <a:xfrm>
            <a:off x="638571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7" name="cwb_dot1"/>
          <p:cNvSpPr/>
          <p:nvPr/>
        </p:nvSpPr>
        <p:spPr>
          <a:xfrm>
            <a:off x="657133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8" name="cwb_dot2"/>
          <p:cNvSpPr/>
          <p:nvPr/>
        </p:nvSpPr>
        <p:spPr>
          <a:xfrm>
            <a:off x="675696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9" name="cwb_tab"/>
          <p:cNvSpPr/>
          <p:nvPr/>
        </p:nvSpPr>
        <p:spPr>
          <a:xfrm>
            <a:off x="7004761" y="1620317"/>
            <a:ext cx="21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What the compiler builds</a:t>
            </a:r>
            <a:endParaRPr lang="en-US" sz="950" dirty="0"/>
          </a:p>
        </p:txBody>
      </p:sp>
      <p:sp>
        <p:nvSpPr>
          <p:cNvPr id="57" name="cw_hl09"/>
          <p:cNvSpPr/>
          <p:nvPr/>
        </p:nvSpPr>
        <p:spPr>
          <a:xfrm>
            <a:off x="6357366" y="3537408"/>
            <a:ext cx="5139386" cy="382016"/>
          </a:xfrm>
          <a:prstGeom prst="rect">
            <a:avLst/>
          </a:prstGeom>
          <a:solidFill>
            <a:srgbClr val="4D91F0">
              <a:alpha val="15000"/>
            </a:srgbClr>
          </a:solidFill>
          <a:ln w="12700">
            <a:solidFill>
              <a:srgbClr val="4D91F0"/>
            </a:solidFill>
            <a:prstDash val="solid"/>
          </a:ln>
        </p:spPr>
        <p:txBody>
          <a:bodyPr/>
          <a:lstStyle/>
          <a:p>
            <a:endParaRPr lang="en-US"/>
          </a:p>
        </p:txBody>
      </p:sp>
      <p:sp>
        <p:nvSpPr>
          <p:cNvPr id="58" name="cw_hl11"/>
          <p:cNvSpPr/>
          <p:nvPr/>
        </p:nvSpPr>
        <p:spPr>
          <a:xfrm>
            <a:off x="6357366" y="3882848"/>
            <a:ext cx="5139386" cy="382016"/>
          </a:xfrm>
          <a:prstGeom prst="rect">
            <a:avLst/>
          </a:prstGeom>
          <a:solidFill>
            <a:srgbClr val="FBBF24">
              <a:alpha val="15000"/>
            </a:srgbClr>
          </a:solidFill>
          <a:ln w="12700">
            <a:solidFill>
              <a:srgbClr val="FBBF24"/>
            </a:solidFill>
            <a:prstDash val="solid"/>
          </a:ln>
        </p:spPr>
        <p:txBody>
          <a:bodyPr/>
          <a:lstStyle/>
          <a:p>
            <a:endParaRPr lang="en-US"/>
          </a:p>
        </p:txBody>
      </p:sp>
      <p:sp>
        <p:nvSpPr>
          <p:cNvPr id="59" name="cw_hl13"/>
          <p:cNvSpPr/>
          <p:nvPr/>
        </p:nvSpPr>
        <p:spPr>
          <a:xfrm>
            <a:off x="6357366" y="4228288"/>
            <a:ext cx="5139386" cy="209296"/>
          </a:xfrm>
          <a:prstGeom prst="rect">
            <a:avLst/>
          </a:prstGeom>
          <a:solidFill>
            <a:srgbClr val="34D399">
              <a:alpha val="15000"/>
            </a:srgbClr>
          </a:solidFill>
          <a:ln w="12700">
            <a:solidFill>
              <a:srgbClr val="34D399"/>
            </a:solidFill>
            <a:prstDash val="solid"/>
          </a:ln>
        </p:spPr>
        <p:txBody>
          <a:bodyPr/>
          <a:lstStyle/>
          <a:p>
            <a:endParaRPr lang="en-US"/>
          </a:p>
        </p:txBody>
      </p:sp>
      <p:sp>
        <p:nvSpPr>
          <p:cNvPr id="60" name="cw_hl03"/>
          <p:cNvSpPr/>
          <p:nvPr/>
        </p:nvSpPr>
        <p:spPr>
          <a:xfrm>
            <a:off x="6357366" y="2501088"/>
            <a:ext cx="5139386" cy="382016"/>
          </a:xfrm>
          <a:prstGeom prst="rect">
            <a:avLst/>
          </a:prstGeom>
          <a:solidFill>
            <a:srgbClr val="A78BFA">
              <a:alpha val="15000"/>
            </a:srgbClr>
          </a:solidFill>
          <a:ln w="12700">
            <a:solidFill>
              <a:srgbClr val="A78BFA"/>
            </a:solidFill>
            <a:prstDash val="solid"/>
          </a:ln>
        </p:spPr>
        <p:txBody>
          <a:bodyPr/>
          <a:lstStyle/>
          <a:p>
            <a:endParaRPr lang="en-US"/>
          </a:p>
        </p:txBody>
      </p:sp>
      <p:sp>
        <p:nvSpPr>
          <p:cNvPr id="40" name="cwb_L00"/>
          <p:cNvSpPr txBox="1"/>
          <p:nvPr/>
        </p:nvSpPr>
        <p:spPr>
          <a:xfrm>
            <a:off x="6452464" y="2001216"/>
            <a:ext cx="5022342" cy="1727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FAE7A"/>
                </a:solidFill>
                <a:latin typeface="Consolas"/>
                <a:ea typeface="Consolas"/>
                <a:cs typeface="Consolas"/>
              </a:rPr>
              <a:t>// simplified idea, not real compiler output</a:t>
            </a:r>
            <a:endParaRPr lang="en-US" sz="850" dirty="0"/>
          </a:p>
        </p:txBody>
      </p:sp>
      <p:sp>
        <p:nvSpPr>
          <p:cNvPr id="41" name="cwb_L01"/>
          <p:cNvSpPr txBox="1"/>
          <p:nvPr/>
        </p:nvSpPr>
        <p:spPr>
          <a:xfrm>
            <a:off x="6452464" y="2173936"/>
            <a:ext cx="5022342" cy="1727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class </a:t>
            </a:r>
            <a:r>
              <a:rPr lang="en-US" sz="850" b="0" dirty="0">
                <a:solidFill>
                  <a:srgbClr val="E2E8F0"/>
                </a:solidFill>
                <a:latin typeface="Consolas"/>
                <a:ea typeface="Consolas"/>
                <a:cs typeface="Consolas"/>
              </a:rPr>
              <a:t>GetSummaryStateMachine</a:t>
            </a:r>
            <a:endParaRPr lang="en-US" sz="850" dirty="0"/>
          </a:p>
        </p:txBody>
      </p:sp>
      <p:sp>
        <p:nvSpPr>
          <p:cNvPr id="42" name="cwb_L02"/>
          <p:cNvSpPr txBox="1"/>
          <p:nvPr/>
        </p:nvSpPr>
        <p:spPr>
          <a:xfrm>
            <a:off x="6452464" y="2346656"/>
            <a:ext cx="5022342" cy="1727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43" name="cwb_L03"/>
          <p:cNvSpPr txBox="1"/>
          <p:nvPr/>
        </p:nvSpPr>
        <p:spPr>
          <a:xfrm>
            <a:off x="6452464" y="2519376"/>
            <a:ext cx="5022342" cy="172720"/>
          </a:xfrm>
          <a:prstGeom prst="rect">
            <a:avLst/>
          </a:prstGeom>
          <a:noFill/>
          <a:ln>
            <a:noFill/>
          </a:ln>
        </p:spPr>
        <p:txBody>
          <a:bodyPr wrap="none" lIns="0" tIns="0" rIns="0" bIns="0" rtlCol="0" anchor="ctr">
            <a:noAutofit/>
          </a:bodyPr>
          <a:lstStyle/>
          <a:p>
            <a:pPr marL="237490" indent="0" algn="l">
              <a:spcBef>
                <a:spcPts val="0"/>
              </a:spcBef>
              <a:spcAft>
                <a:spcPts val="0"/>
              </a:spcAft>
              <a:buNone/>
            </a:pPr>
            <a:r>
              <a:rPr lang="en-US" sz="850" b="0" dirty="0">
                <a:solidFill>
                  <a:srgbClr val="60A5FA"/>
                </a:solidFill>
                <a:latin typeface="Consolas"/>
                <a:ea typeface="Consolas"/>
                <a:cs typeface="Consolas"/>
              </a:rPr>
              <a:t>int </a:t>
            </a:r>
            <a:r>
              <a:rPr lang="en-US" sz="850" b="0" dirty="0">
                <a:solidFill>
                  <a:srgbClr val="E2E8F0"/>
                </a:solidFill>
                <a:latin typeface="Consolas"/>
                <a:ea typeface="Consolas"/>
                <a:cs typeface="Consolas"/>
              </a:rPr>
              <a:t>state = 0;      </a:t>
            </a:r>
            <a:r>
              <a:rPr lang="en-US" sz="850" b="0" dirty="0">
                <a:solidFill>
                  <a:srgbClr val="6FAE7A"/>
                </a:solidFill>
                <a:latin typeface="Consolas"/>
                <a:ea typeface="Consolas"/>
                <a:cs typeface="Consolas"/>
              </a:rPr>
              <a:t>// the bookmark</a:t>
            </a:r>
            <a:endParaRPr lang="en-US" sz="850" dirty="0"/>
          </a:p>
        </p:txBody>
      </p:sp>
      <p:sp>
        <p:nvSpPr>
          <p:cNvPr id="44" name="cwb_L04"/>
          <p:cNvSpPr txBox="1"/>
          <p:nvPr/>
        </p:nvSpPr>
        <p:spPr>
          <a:xfrm>
            <a:off x="6452464" y="2692096"/>
            <a:ext cx="5022342" cy="172720"/>
          </a:xfrm>
          <a:prstGeom prst="rect">
            <a:avLst/>
          </a:prstGeom>
          <a:noFill/>
          <a:ln>
            <a:noFill/>
          </a:ln>
        </p:spPr>
        <p:txBody>
          <a:bodyPr wrap="none" lIns="0" tIns="0" rIns="0" bIns="0" rtlCol="0" anchor="ctr">
            <a:noAutofit/>
          </a:bodyPr>
          <a:lstStyle/>
          <a:p>
            <a:pPr marL="237490" indent="0" algn="l">
              <a:spcBef>
                <a:spcPts val="0"/>
              </a:spcBef>
              <a:spcAft>
                <a:spcPts val="0"/>
              </a:spcAft>
              <a:buNone/>
            </a:pPr>
            <a:r>
              <a:rPr lang="en-US" sz="850" b="0" dirty="0">
                <a:solidFill>
                  <a:srgbClr val="60A5FA"/>
                </a:solidFill>
                <a:latin typeface="Consolas"/>
                <a:ea typeface="Consolas"/>
                <a:cs typeface="Consolas"/>
              </a:rPr>
              <a:t>int </a:t>
            </a:r>
            <a:r>
              <a:rPr lang="en-US" sz="850" b="0" dirty="0">
                <a:solidFill>
                  <a:srgbClr val="E2E8F0"/>
                </a:solidFill>
                <a:latin typeface="Consolas"/>
                <a:ea typeface="Consolas"/>
                <a:cs typeface="Consolas"/>
              </a:rPr>
              <a:t>id; Order order;   </a:t>
            </a:r>
            <a:r>
              <a:rPr lang="en-US" sz="850" b="0" dirty="0">
                <a:solidFill>
                  <a:srgbClr val="6FAE7A"/>
                </a:solidFill>
                <a:latin typeface="Consolas"/>
                <a:ea typeface="Consolas"/>
                <a:cs typeface="Consolas"/>
              </a:rPr>
              <a:t>// locals become fields</a:t>
            </a:r>
            <a:endParaRPr lang="en-US" sz="850" dirty="0"/>
          </a:p>
        </p:txBody>
      </p:sp>
      <p:sp>
        <p:nvSpPr>
          <p:cNvPr id="45" name="cwb_L05"/>
          <p:cNvSpPr txBox="1"/>
          <p:nvPr/>
        </p:nvSpPr>
        <p:spPr>
          <a:xfrm>
            <a:off x="6452464" y="2864816"/>
            <a:ext cx="5022342" cy="172720"/>
          </a:xfrm>
          <a:prstGeom prst="rect">
            <a:avLst/>
          </a:prstGeom>
          <a:noFill/>
          <a:ln>
            <a:noFill/>
          </a:ln>
        </p:spPr>
        <p:txBody>
          <a:bodyPr wrap="none" lIns="0" tIns="0" rIns="0" bIns="0" rtlCol="0" anchor="ctr">
            <a:noAutofit/>
          </a:bodyPr>
          <a:lstStyle/>
          <a:p>
            <a:pPr marL="237490" indent="0" algn="l">
              <a:spcBef>
                <a:spcPts val="0"/>
              </a:spcBef>
              <a:spcAft>
                <a:spcPts val="0"/>
              </a:spcAft>
              <a:buNone/>
            </a:pPr>
            <a:r>
              <a:rPr lang="en-US" sz="850" b="0" dirty="0">
                <a:solidFill>
                  <a:srgbClr val="60A5FA"/>
                </a:solidFill>
                <a:latin typeface="Consolas"/>
                <a:ea typeface="Consolas"/>
                <a:cs typeface="Consolas"/>
              </a:rPr>
              <a:t>void </a:t>
            </a:r>
            <a:r>
              <a:rPr lang="en-US" sz="850" b="0" dirty="0">
                <a:solidFill>
                  <a:srgbClr val="E2E8F0"/>
                </a:solidFill>
                <a:latin typeface="Consolas"/>
                <a:ea typeface="Consolas"/>
                <a:cs typeface="Consolas"/>
              </a:rPr>
              <a:t>MoveNext()</a:t>
            </a:r>
            <a:endParaRPr lang="en-US" sz="850" dirty="0"/>
          </a:p>
        </p:txBody>
      </p:sp>
      <p:sp>
        <p:nvSpPr>
          <p:cNvPr id="46" name="cwb_L06"/>
          <p:cNvSpPr txBox="1"/>
          <p:nvPr/>
        </p:nvSpPr>
        <p:spPr>
          <a:xfrm>
            <a:off x="6452464" y="3037536"/>
            <a:ext cx="5022342" cy="172720"/>
          </a:xfrm>
          <a:prstGeom prst="rect">
            <a:avLst/>
          </a:prstGeom>
          <a:noFill/>
          <a:ln>
            <a:noFill/>
          </a:ln>
        </p:spPr>
        <p:txBody>
          <a:bodyPr wrap="none" lIns="0" tIns="0" rIns="0" bIns="0" rtlCol="0" anchor="ctr">
            <a:noAutofit/>
          </a:bodyPr>
          <a:lstStyle/>
          <a:p>
            <a:pPr marL="23749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47" name="cwb_L07"/>
          <p:cNvSpPr txBox="1"/>
          <p:nvPr/>
        </p:nvSpPr>
        <p:spPr>
          <a:xfrm>
            <a:off x="6452464" y="3210256"/>
            <a:ext cx="5022342" cy="172720"/>
          </a:xfrm>
          <a:prstGeom prst="rect">
            <a:avLst/>
          </a:prstGeom>
          <a:noFill/>
          <a:ln>
            <a:noFill/>
          </a:ln>
        </p:spPr>
        <p:txBody>
          <a:bodyPr wrap="none" lIns="0" tIns="0" rIns="0" bIns="0" rtlCol="0" anchor="ctr">
            <a:noAutofit/>
          </a:bodyPr>
          <a:lstStyle/>
          <a:p>
            <a:pPr marL="474980" indent="0" algn="l">
              <a:spcBef>
                <a:spcPts val="0"/>
              </a:spcBef>
              <a:spcAft>
                <a:spcPts val="0"/>
              </a:spcAft>
              <a:buNone/>
            </a:pPr>
            <a:r>
              <a:rPr lang="en-US" sz="850" b="0" dirty="0">
                <a:solidFill>
                  <a:srgbClr val="E2E8F0"/>
                </a:solidFill>
                <a:latin typeface="Consolas"/>
                <a:ea typeface="Consolas"/>
                <a:cs typeface="Consolas"/>
              </a:rPr>
              <a:t>switch (state)</a:t>
            </a:r>
            <a:endParaRPr lang="en-US" sz="850" dirty="0"/>
          </a:p>
        </p:txBody>
      </p:sp>
      <p:sp>
        <p:nvSpPr>
          <p:cNvPr id="48" name="cwb_L08"/>
          <p:cNvSpPr txBox="1"/>
          <p:nvPr/>
        </p:nvSpPr>
        <p:spPr>
          <a:xfrm>
            <a:off x="6452464" y="3382976"/>
            <a:ext cx="5022342" cy="172720"/>
          </a:xfrm>
          <a:prstGeom prst="rect">
            <a:avLst/>
          </a:prstGeom>
          <a:noFill/>
          <a:ln>
            <a:noFill/>
          </a:ln>
        </p:spPr>
        <p:txBody>
          <a:bodyPr wrap="none" lIns="0" tIns="0" rIns="0" bIns="0" rtlCol="0" anchor="ctr">
            <a:noAutofit/>
          </a:bodyPr>
          <a:lstStyle/>
          <a:p>
            <a:pPr marL="47498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49" name="cwb_L09"/>
          <p:cNvSpPr txBox="1"/>
          <p:nvPr/>
        </p:nvSpPr>
        <p:spPr>
          <a:xfrm>
            <a:off x="6452464" y="3555696"/>
            <a:ext cx="5022342" cy="172720"/>
          </a:xfrm>
          <a:prstGeom prst="rect">
            <a:avLst/>
          </a:prstGeom>
          <a:noFill/>
          <a:ln>
            <a:noFill/>
          </a:ln>
        </p:spPr>
        <p:txBody>
          <a:bodyPr wrap="none" lIns="0" tIns="0" rIns="0" bIns="0" rtlCol="0" anchor="ctr">
            <a:noAutofit/>
          </a:bodyPr>
          <a:lstStyle/>
          <a:p>
            <a:pPr marL="712470" indent="0" algn="l">
              <a:spcBef>
                <a:spcPts val="0"/>
              </a:spcBef>
              <a:spcAft>
                <a:spcPts val="0"/>
              </a:spcAft>
              <a:buNone/>
            </a:pPr>
            <a:r>
              <a:rPr lang="en-US" sz="850" b="0" dirty="0">
                <a:solidFill>
                  <a:srgbClr val="E2E8F0"/>
                </a:solidFill>
                <a:latin typeface="Consolas"/>
                <a:ea typeface="Consolas"/>
                <a:cs typeface="Consolas"/>
              </a:rPr>
              <a:t>case 0: print Start; start GetByIdAsync;</a:t>
            </a:r>
            <a:endParaRPr lang="en-US" sz="850" dirty="0"/>
          </a:p>
        </p:txBody>
      </p:sp>
      <p:sp>
        <p:nvSpPr>
          <p:cNvPr id="50" name="cwb_L10"/>
          <p:cNvSpPr txBox="1"/>
          <p:nvPr/>
        </p:nvSpPr>
        <p:spPr>
          <a:xfrm>
            <a:off x="6452464" y="3728416"/>
            <a:ext cx="5022342" cy="172720"/>
          </a:xfrm>
          <a:prstGeom prst="rect">
            <a:avLst/>
          </a:prstGeom>
          <a:noFill/>
          <a:ln>
            <a:noFill/>
          </a:ln>
        </p:spPr>
        <p:txBody>
          <a:bodyPr wrap="none" lIns="0" tIns="0" rIns="0" bIns="0" rtlCol="0" anchor="ctr">
            <a:noAutofit/>
          </a:bodyPr>
          <a:lstStyle/>
          <a:p>
            <a:pPr marL="1187450" indent="0" algn="l">
              <a:spcBef>
                <a:spcPts val="0"/>
              </a:spcBef>
              <a:spcAft>
                <a:spcPts val="0"/>
              </a:spcAft>
              <a:buNone/>
            </a:pPr>
            <a:r>
              <a:rPr lang="en-US" sz="850" b="0" dirty="0">
                <a:solidFill>
                  <a:srgbClr val="E2E8F0"/>
                </a:solidFill>
                <a:latin typeface="Consolas"/>
                <a:ea typeface="Consolas"/>
                <a:cs typeface="Consolas"/>
              </a:rPr>
              <a:t>not done? state = 1; </a:t>
            </a:r>
            <a:r>
              <a:rPr lang="en-US" sz="850" b="0" dirty="0">
                <a:solidFill>
                  <a:srgbClr val="60A5FA"/>
                </a:solidFill>
                <a:latin typeface="Consolas"/>
                <a:ea typeface="Consolas"/>
                <a:cs typeface="Consolas"/>
              </a:rPr>
              <a:t>return</a:t>
            </a:r>
            <a:r>
              <a:rPr lang="en-US" sz="850" b="0" dirty="0">
                <a:solidFill>
                  <a:srgbClr val="E2E8F0"/>
                </a:solidFill>
                <a:latin typeface="Consolas"/>
                <a:ea typeface="Consolas"/>
                <a:cs typeface="Consolas"/>
              </a:rPr>
              <a:t>;</a:t>
            </a:r>
            <a:endParaRPr lang="en-US" sz="850" dirty="0"/>
          </a:p>
        </p:txBody>
      </p:sp>
      <p:sp>
        <p:nvSpPr>
          <p:cNvPr id="51" name="cwb_L11"/>
          <p:cNvSpPr txBox="1"/>
          <p:nvPr/>
        </p:nvSpPr>
        <p:spPr>
          <a:xfrm>
            <a:off x="6452464" y="3901136"/>
            <a:ext cx="5022342" cy="172720"/>
          </a:xfrm>
          <a:prstGeom prst="rect">
            <a:avLst/>
          </a:prstGeom>
          <a:noFill/>
          <a:ln>
            <a:noFill/>
          </a:ln>
        </p:spPr>
        <p:txBody>
          <a:bodyPr wrap="none" lIns="0" tIns="0" rIns="0" bIns="0" rtlCol="0" anchor="ctr">
            <a:noAutofit/>
          </a:bodyPr>
          <a:lstStyle/>
          <a:p>
            <a:pPr marL="712470" indent="0" algn="l">
              <a:spcBef>
                <a:spcPts val="0"/>
              </a:spcBef>
              <a:spcAft>
                <a:spcPts val="0"/>
              </a:spcAft>
              <a:buNone/>
            </a:pPr>
            <a:r>
              <a:rPr lang="en-US" sz="850" b="0" dirty="0">
                <a:solidFill>
                  <a:srgbClr val="E2E8F0"/>
                </a:solidFill>
                <a:latin typeface="Consolas"/>
                <a:ea typeface="Consolas"/>
                <a:cs typeface="Consolas"/>
              </a:rPr>
              <a:t>case 1: order = result; print Got order;</a:t>
            </a:r>
            <a:endParaRPr lang="en-US" sz="850" dirty="0"/>
          </a:p>
        </p:txBody>
      </p:sp>
      <p:sp>
        <p:nvSpPr>
          <p:cNvPr id="52" name="cwb_L12"/>
          <p:cNvSpPr txBox="1"/>
          <p:nvPr/>
        </p:nvSpPr>
        <p:spPr>
          <a:xfrm>
            <a:off x="6452464" y="4073856"/>
            <a:ext cx="5022342" cy="172720"/>
          </a:xfrm>
          <a:prstGeom prst="rect">
            <a:avLst/>
          </a:prstGeom>
          <a:noFill/>
          <a:ln>
            <a:noFill/>
          </a:ln>
        </p:spPr>
        <p:txBody>
          <a:bodyPr wrap="none" lIns="0" tIns="0" rIns="0" bIns="0" rtlCol="0" anchor="ctr">
            <a:noAutofit/>
          </a:bodyPr>
          <a:lstStyle/>
          <a:p>
            <a:pPr marL="1187450" indent="0" algn="l">
              <a:spcBef>
                <a:spcPts val="0"/>
              </a:spcBef>
              <a:spcAft>
                <a:spcPts val="0"/>
              </a:spcAft>
              <a:buNone/>
            </a:pPr>
            <a:r>
              <a:rPr lang="en-US" sz="850" b="0" dirty="0">
                <a:solidFill>
                  <a:srgbClr val="E2E8F0"/>
                </a:solidFill>
                <a:latin typeface="Consolas"/>
                <a:ea typeface="Consolas"/>
                <a:cs typeface="Consolas"/>
              </a:rPr>
              <a:t>start GetAsync; not done? state = 2; </a:t>
            </a:r>
            <a:r>
              <a:rPr lang="en-US" sz="850" b="0" dirty="0">
                <a:solidFill>
                  <a:srgbClr val="60A5FA"/>
                </a:solidFill>
                <a:latin typeface="Consolas"/>
                <a:ea typeface="Consolas"/>
                <a:cs typeface="Consolas"/>
              </a:rPr>
              <a:t>return</a:t>
            </a:r>
            <a:r>
              <a:rPr lang="en-US" sz="850" b="0" dirty="0">
                <a:solidFill>
                  <a:srgbClr val="E2E8F0"/>
                </a:solidFill>
                <a:latin typeface="Consolas"/>
                <a:ea typeface="Consolas"/>
                <a:cs typeface="Consolas"/>
              </a:rPr>
              <a:t>;</a:t>
            </a:r>
            <a:endParaRPr lang="en-US" sz="850" dirty="0"/>
          </a:p>
        </p:txBody>
      </p:sp>
      <p:sp>
        <p:nvSpPr>
          <p:cNvPr id="53" name="cwb_L13"/>
          <p:cNvSpPr txBox="1"/>
          <p:nvPr/>
        </p:nvSpPr>
        <p:spPr>
          <a:xfrm>
            <a:off x="6452464" y="4246576"/>
            <a:ext cx="5022342" cy="172720"/>
          </a:xfrm>
          <a:prstGeom prst="rect">
            <a:avLst/>
          </a:prstGeom>
          <a:noFill/>
          <a:ln>
            <a:noFill/>
          </a:ln>
        </p:spPr>
        <p:txBody>
          <a:bodyPr wrap="none" lIns="0" tIns="0" rIns="0" bIns="0" rtlCol="0" anchor="ctr">
            <a:noAutofit/>
          </a:bodyPr>
          <a:lstStyle/>
          <a:p>
            <a:pPr marL="712470" indent="0" algn="l">
              <a:spcBef>
                <a:spcPts val="0"/>
              </a:spcBef>
              <a:spcAft>
                <a:spcPts val="0"/>
              </a:spcAft>
              <a:buNone/>
            </a:pPr>
            <a:r>
              <a:rPr lang="en-US" sz="850" b="0" dirty="0">
                <a:solidFill>
                  <a:srgbClr val="E2E8F0"/>
                </a:solidFill>
                <a:latin typeface="Consolas"/>
                <a:ea typeface="Consolas"/>
                <a:cs typeface="Consolas"/>
              </a:rPr>
              <a:t>case 2: c = result; complete the Task;</a:t>
            </a:r>
            <a:endParaRPr lang="en-US" sz="850" dirty="0"/>
          </a:p>
        </p:txBody>
      </p:sp>
      <p:sp>
        <p:nvSpPr>
          <p:cNvPr id="54" name="cwb_L14"/>
          <p:cNvSpPr txBox="1"/>
          <p:nvPr/>
        </p:nvSpPr>
        <p:spPr>
          <a:xfrm>
            <a:off x="6452464" y="4419296"/>
            <a:ext cx="5022342" cy="172720"/>
          </a:xfrm>
          <a:prstGeom prst="rect">
            <a:avLst/>
          </a:prstGeom>
          <a:noFill/>
          <a:ln>
            <a:noFill/>
          </a:ln>
        </p:spPr>
        <p:txBody>
          <a:bodyPr wrap="none" lIns="0" tIns="0" rIns="0" bIns="0" rtlCol="0" anchor="ctr">
            <a:noAutofit/>
          </a:bodyPr>
          <a:lstStyle/>
          <a:p>
            <a:pPr marL="47498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55" name="cwb_L15"/>
          <p:cNvSpPr txBox="1"/>
          <p:nvPr/>
        </p:nvSpPr>
        <p:spPr>
          <a:xfrm>
            <a:off x="6452464" y="4592016"/>
            <a:ext cx="5022342" cy="172720"/>
          </a:xfrm>
          <a:prstGeom prst="rect">
            <a:avLst/>
          </a:prstGeom>
          <a:noFill/>
          <a:ln>
            <a:noFill/>
          </a:ln>
        </p:spPr>
        <p:txBody>
          <a:bodyPr wrap="none" lIns="0" tIns="0" rIns="0" bIns="0" rtlCol="0" anchor="ctr">
            <a:noAutofit/>
          </a:bodyPr>
          <a:lstStyle/>
          <a:p>
            <a:pPr marL="23749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56" name="cwb_L16"/>
          <p:cNvSpPr txBox="1"/>
          <p:nvPr/>
        </p:nvSpPr>
        <p:spPr>
          <a:xfrm>
            <a:off x="6452464" y="4764736"/>
            <a:ext cx="5022342" cy="1727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61" name="card"/>
          <p:cNvSpPr/>
          <p:nvPr/>
        </p:nvSpPr>
        <p:spPr>
          <a:xfrm>
            <a:off x="543154" y="3792768"/>
            <a:ext cx="5406390" cy="325744"/>
          </a:xfrm>
          <a:prstGeom prst="roundRect">
            <a:avLst>
              <a:gd name="adj" fmla="val 15000"/>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00"/>
              </a:spcAft>
              <a:buNone/>
            </a:pPr>
            <a:r>
              <a:rPr lang="en-US" sz="1000" b="1" dirty="0">
                <a:solidFill>
                  <a:srgbClr val="4D91F0"/>
                </a:solidFill>
                <a:latin typeface="Segoe UI"/>
                <a:ea typeface="Segoe UI"/>
                <a:cs typeface="Segoe UI"/>
              </a:rPr>
              <a:t>PIECES  </a:t>
            </a:r>
            <a:r>
              <a:rPr lang="en-US" sz="1000" b="0" dirty="0">
                <a:solidFill>
                  <a:srgbClr val="CBD5E1"/>
                </a:solidFill>
                <a:latin typeface="Segoe UI"/>
                <a:ea typeface="Segoe UI"/>
                <a:cs typeface="Segoe UI"/>
              </a:rPr>
              <a:t>one per color: the method is cut at every await</a:t>
            </a:r>
            <a:endParaRPr lang="en-US" sz="1000" dirty="0"/>
          </a:p>
        </p:txBody>
      </p:sp>
      <p:sp>
        <p:nvSpPr>
          <p:cNvPr id="62" name="card"/>
          <p:cNvSpPr/>
          <p:nvPr/>
        </p:nvSpPr>
        <p:spPr>
          <a:xfrm>
            <a:off x="543154" y="4208512"/>
            <a:ext cx="5406390" cy="325744"/>
          </a:xfrm>
          <a:prstGeom prst="roundRect">
            <a:avLst>
              <a:gd name="adj" fmla="val 15000"/>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00"/>
              </a:spcAft>
              <a:buNone/>
            </a:pPr>
            <a:r>
              <a:rPr lang="en-US" sz="1000" b="1" dirty="0">
                <a:solidFill>
                  <a:srgbClr val="A78BFA"/>
                </a:solidFill>
                <a:latin typeface="Segoe UI"/>
                <a:ea typeface="Segoe UI"/>
                <a:cs typeface="Segoe UI"/>
              </a:rPr>
              <a:t>BOOKMARK  </a:t>
            </a:r>
            <a:r>
              <a:rPr lang="en-US" sz="1000" b="0" dirty="0">
                <a:solidFill>
                  <a:srgbClr val="CBD5E1"/>
                </a:solidFill>
                <a:latin typeface="Segoe UI"/>
                <a:ea typeface="Segoe UI"/>
                <a:cs typeface="Segoe UI"/>
              </a:rPr>
              <a:t>state = which piece runs next; locals become fields</a:t>
            </a:r>
            <a:endParaRPr lang="en-US" sz="1000" dirty="0"/>
          </a:p>
        </p:txBody>
      </p:sp>
      <p:sp>
        <p:nvSpPr>
          <p:cNvPr id="63" name="card"/>
          <p:cNvSpPr/>
          <p:nvPr/>
        </p:nvSpPr>
        <p:spPr>
          <a:xfrm>
            <a:off x="543154" y="4624256"/>
            <a:ext cx="5406390" cy="325744"/>
          </a:xfrm>
          <a:prstGeom prst="roundRect">
            <a:avLst>
              <a:gd name="adj" fmla="val 15000"/>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00"/>
              </a:spcAft>
              <a:buNone/>
            </a:pPr>
            <a:r>
              <a:rPr lang="en-US" sz="1000" b="1" dirty="0">
                <a:solidFill>
                  <a:srgbClr val="34D399"/>
                </a:solidFill>
                <a:latin typeface="Segoe UI"/>
                <a:ea typeface="Segoe UI"/>
                <a:cs typeface="Segoe UI"/>
              </a:rPr>
              <a:t>MoveNext()  </a:t>
            </a:r>
            <a:r>
              <a:rPr lang="en-US" sz="1000" b="0" dirty="0">
                <a:solidFill>
                  <a:srgbClr val="CBD5E1"/>
                </a:solidFill>
                <a:latin typeface="Segoe UI"/>
                <a:ea typeface="Segoe UI"/>
                <a:cs typeface="Segoe UI"/>
              </a:rPr>
              <a:t>runs the next piece, until an unfinished await</a:t>
            </a:r>
            <a:endParaRPr lang="en-US" sz="1000" dirty="0"/>
          </a:p>
        </p:txBody>
      </p:sp>
      <p:sp>
        <p:nvSpPr>
          <p:cNvPr id="64"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async makes the compiler turn your method into a state machine: pieces, a bookmark, and MoveNext().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3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fade">
                                      <p:cBhvr>
                                        <p:cTn id="63" dur="300"/>
                                        <p:tgtEl>
                                          <p:spTgt spid="6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3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300"/>
                                        <p:tgtEl>
                                          <p:spTgt spid="3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300"/>
                                        <p:tgtEl>
                                          <p:spTgt spid="3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300"/>
                                        <p:tgtEl>
                                          <p:spTgt spid="3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300"/>
                                        <p:tgtEl>
                                          <p:spTgt spid="3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300"/>
                                        <p:tgtEl>
                                          <p:spTgt spid="3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300"/>
                                        <p:tgtEl>
                                          <p:spTgt spid="3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300"/>
                                        <p:tgtEl>
                                          <p:spTgt spid="4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300"/>
                                        <p:tgtEl>
                                          <p:spTgt spid="4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300"/>
                                        <p:tgtEl>
                                          <p:spTgt spid="4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300"/>
                                        <p:tgtEl>
                                          <p:spTgt spid="4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fade">
                                      <p:cBhvr>
                                        <p:cTn id="101" dur="300"/>
                                        <p:tgtEl>
                                          <p:spTgt spid="4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300"/>
                                        <p:tgtEl>
                                          <p:spTgt spid="4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300"/>
                                        <p:tgtEl>
                                          <p:spTgt spid="4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300"/>
                                        <p:tgtEl>
                                          <p:spTgt spid="4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8"/>
                                        </p:tgtEl>
                                        <p:attrNameLst>
                                          <p:attrName>style.visibility</p:attrName>
                                        </p:attrNameLst>
                                      </p:cBhvr>
                                      <p:to>
                                        <p:strVal val="visible"/>
                                      </p:to>
                                    </p:set>
                                    <p:animEffect transition="in" filter="fade">
                                      <p:cBhvr>
                                        <p:cTn id="113" dur="300"/>
                                        <p:tgtEl>
                                          <p:spTgt spid="4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fade">
                                      <p:cBhvr>
                                        <p:cTn id="116" dur="300"/>
                                        <p:tgtEl>
                                          <p:spTgt spid="4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300"/>
                                        <p:tgtEl>
                                          <p:spTgt spid="5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1"/>
                                        </p:tgtEl>
                                        <p:attrNameLst>
                                          <p:attrName>style.visibility</p:attrName>
                                        </p:attrNameLst>
                                      </p:cBhvr>
                                      <p:to>
                                        <p:strVal val="visible"/>
                                      </p:to>
                                    </p:set>
                                    <p:animEffect transition="in" filter="fade">
                                      <p:cBhvr>
                                        <p:cTn id="122" dur="300"/>
                                        <p:tgtEl>
                                          <p:spTgt spid="5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2"/>
                                        </p:tgtEl>
                                        <p:attrNameLst>
                                          <p:attrName>style.visibility</p:attrName>
                                        </p:attrNameLst>
                                      </p:cBhvr>
                                      <p:to>
                                        <p:strVal val="visible"/>
                                      </p:to>
                                    </p:set>
                                    <p:animEffect transition="in" filter="fade">
                                      <p:cBhvr>
                                        <p:cTn id="125" dur="300"/>
                                        <p:tgtEl>
                                          <p:spTgt spid="5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3"/>
                                        </p:tgtEl>
                                        <p:attrNameLst>
                                          <p:attrName>style.visibility</p:attrName>
                                        </p:attrNameLst>
                                      </p:cBhvr>
                                      <p:to>
                                        <p:strVal val="visible"/>
                                      </p:to>
                                    </p:set>
                                    <p:animEffect transition="in" filter="fade">
                                      <p:cBhvr>
                                        <p:cTn id="128" dur="300"/>
                                        <p:tgtEl>
                                          <p:spTgt spid="5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300"/>
                                        <p:tgtEl>
                                          <p:spTgt spid="5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5"/>
                                        </p:tgtEl>
                                        <p:attrNameLst>
                                          <p:attrName>style.visibility</p:attrName>
                                        </p:attrNameLst>
                                      </p:cBhvr>
                                      <p:to>
                                        <p:strVal val="visible"/>
                                      </p:to>
                                    </p:set>
                                    <p:animEffect transition="in" filter="fade">
                                      <p:cBhvr>
                                        <p:cTn id="134" dur="300"/>
                                        <p:tgtEl>
                                          <p:spTgt spid="5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fade">
                                      <p:cBhvr>
                                        <p:cTn id="137" dur="300"/>
                                        <p:tgtEl>
                                          <p:spTgt spid="56"/>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300"/>
                                        <p:tgtEl>
                                          <p:spTgt spid="57"/>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8"/>
                                        </p:tgtEl>
                                        <p:attrNameLst>
                                          <p:attrName>style.visibility</p:attrName>
                                        </p:attrNameLst>
                                      </p:cBhvr>
                                      <p:to>
                                        <p:strVal val="visible"/>
                                      </p:to>
                                    </p:set>
                                    <p:animEffect transition="in" filter="fade">
                                      <p:cBhvr>
                                        <p:cTn id="147" dur="300"/>
                                        <p:tgtEl>
                                          <p:spTgt spid="58"/>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59"/>
                                        </p:tgtEl>
                                        <p:attrNameLst>
                                          <p:attrName>style.visibility</p:attrName>
                                        </p:attrNameLst>
                                      </p:cBhvr>
                                      <p:to>
                                        <p:strVal val="visible"/>
                                      </p:to>
                                    </p:set>
                                    <p:animEffect transition="in" filter="fade">
                                      <p:cBhvr>
                                        <p:cTn id="152" dur="300"/>
                                        <p:tgtEl>
                                          <p:spTgt spid="59"/>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300"/>
                                        <p:tgtEl>
                                          <p:spTgt spid="60"/>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2"/>
                                        </p:tgtEl>
                                        <p:attrNameLst>
                                          <p:attrName>style.visibility</p:attrName>
                                        </p:attrNameLst>
                                      </p:cBhvr>
                                      <p:to>
                                        <p:strVal val="visible"/>
                                      </p:to>
                                    </p:set>
                                    <p:animEffect transition="in" filter="fade">
                                      <p:cBhvr>
                                        <p:cTn id="160" dur="300"/>
                                        <p:tgtEl>
                                          <p:spTgt spid="62"/>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63"/>
                                        </p:tgtEl>
                                        <p:attrNameLst>
                                          <p:attrName>style.visibility</p:attrName>
                                        </p:attrNameLst>
                                      </p:cBhvr>
                                      <p:to>
                                        <p:strVal val="visible"/>
                                      </p:to>
                                    </p:set>
                                    <p:animEffect transition="in" filter="fade">
                                      <p:cBhvr>
                                        <p:cTn id="165" dur="300"/>
                                        <p:tgtEl>
                                          <p:spTgt spid="63"/>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64"/>
                                        </p:tgtEl>
                                        <p:attrNameLst>
                                          <p:attrName>style.visibility</p:attrName>
                                        </p:attrNameLst>
                                      </p:cBhvr>
                                      <p:to>
                                        <p:strVal val="visible"/>
                                      </p:to>
                                    </p:set>
                                    <p:animEffect transition="in" filter="fade">
                                      <p:cBhvr>
                                        <p:cTn id="170" dur="3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32" grpId="0" animBg="1"/>
      <p:bldP spid="22" grpId="0" animBg="1"/>
      <p:bldP spid="23" grpId="0" animBg="1"/>
      <p:bldP spid="24" grpId="0" animBg="1"/>
      <p:bldP spid="25" grpId="0" animBg="1"/>
      <p:bldP spid="26" grpId="0" animBg="1"/>
      <p:bldP spid="27" grpId="0" animBg="1"/>
      <p:bldP spid="28" grpId="0" animBg="1"/>
      <p:bldP spid="29" grpId="0" animBg="1"/>
      <p:bldP spid="33" grpId="0" animBg="1"/>
      <p:bldP spid="34" grpId="0" animBg="1"/>
      <p:bldP spid="35" grpId="0" animBg="1"/>
      <p:bldP spid="36" grpId="0" animBg="1"/>
      <p:bldP spid="37" grpId="0" animBg="1"/>
      <p:bldP spid="38" grpId="0" animBg="1"/>
      <p:bldP spid="39" grpId="0" animBg="1"/>
      <p:bldP spid="57" grpId="0" animBg="1"/>
      <p:bldP spid="58" grpId="0" animBg="1"/>
      <p:bldP spid="59" grpId="0" animBg="1"/>
      <p:bldP spid="60"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61" grpId="0" animBg="1"/>
      <p:bldP spid="62" grpId="0" animBg="1"/>
      <p:bldP spid="63" grpId="0" animBg="1"/>
      <p:bldP spid="6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Predict the Order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92</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What does this program print?</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"1"</a:t>
            </a:r>
            <a:r>
              <a:rPr lang="en-US" sz="1000" b="0" dirty="0">
                <a:solidFill>
                  <a:srgbClr val="E2E8F0"/>
                </a:solidFill>
                <a:latin typeface="Consolas"/>
                <a:ea typeface="Consolas"/>
                <a:cs typeface="Consolas"/>
              </a:rPr>
              <a:t>);</a:t>
            </a:r>
            <a:endParaRPr lang="en-US" sz="1000" dirty="0"/>
          </a:p>
        </p:txBody>
      </p:sp>
      <p:sp>
        <p:nvSpPr>
          <p:cNvPr id="24" name="cw_L01"/>
          <p:cNvSpPr txBox="1"/>
          <p:nvPr/>
        </p:nvSpPr>
        <p:spPr>
          <a:xfrm>
            <a:off x="771754" y="2388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task = PrintAsync();</a:t>
            </a:r>
            <a:endParaRPr lang="en-US" sz="1000" dirty="0"/>
          </a:p>
        </p:txBody>
      </p:sp>
      <p:sp>
        <p:nvSpPr>
          <p:cNvPr id="25" name="cw_L02"/>
          <p:cNvSpPr txBox="1"/>
          <p:nvPr/>
        </p:nvSpPr>
        <p:spPr>
          <a:xfrm>
            <a:off x="771754" y="25918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"3"</a:t>
            </a:r>
            <a:r>
              <a:rPr lang="en-US" sz="1000" b="0" dirty="0">
                <a:solidFill>
                  <a:srgbClr val="E2E8F0"/>
                </a:solidFill>
                <a:latin typeface="Consolas"/>
                <a:ea typeface="Consolas"/>
                <a:cs typeface="Consolas"/>
              </a:rPr>
              <a:t>);</a:t>
            </a:r>
            <a:endParaRPr lang="en-US" sz="1000" dirty="0"/>
          </a:p>
        </p:txBody>
      </p:sp>
      <p:sp>
        <p:nvSpPr>
          <p:cNvPr id="26" name="cw_L03"/>
          <p:cNvSpPr txBox="1"/>
          <p:nvPr/>
        </p:nvSpPr>
        <p:spPr>
          <a:xfrm>
            <a:off x="771754" y="27950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a:t>
            </a:r>
            <a:endParaRPr lang="en-US" sz="1000" dirty="0"/>
          </a:p>
        </p:txBody>
      </p:sp>
      <p:sp>
        <p:nvSpPr>
          <p:cNvPr id="27" name="cw_L04"/>
          <p:cNvSpPr txBox="1"/>
          <p:nvPr/>
        </p:nvSpPr>
        <p:spPr>
          <a:xfrm>
            <a:off x="771754" y="29982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"5"</a:t>
            </a:r>
            <a:r>
              <a:rPr lang="en-US" sz="1000" b="0" dirty="0">
                <a:solidFill>
                  <a:srgbClr val="E2E8F0"/>
                </a:solidFill>
                <a:latin typeface="Consolas"/>
                <a:ea typeface="Consolas"/>
                <a:cs typeface="Consolas"/>
              </a:rPr>
              <a:t>);</a:t>
            </a:r>
            <a:endParaRPr lang="en-US" sz="1000" dirty="0"/>
          </a:p>
        </p:txBody>
      </p:sp>
      <p:sp>
        <p:nvSpPr>
          <p:cNvPr id="28" name="cw_L06"/>
          <p:cNvSpPr txBox="1"/>
          <p:nvPr/>
        </p:nvSpPr>
        <p:spPr>
          <a:xfrm>
            <a:off x="771754" y="3404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PrintAsync()</a:t>
            </a:r>
            <a:endParaRPr lang="en-US" sz="1000" dirty="0"/>
          </a:p>
        </p:txBody>
      </p:sp>
      <p:sp>
        <p:nvSpPr>
          <p:cNvPr id="29" name="cw_L07"/>
          <p:cNvSpPr txBox="1"/>
          <p:nvPr/>
        </p:nvSpPr>
        <p:spPr>
          <a:xfrm>
            <a:off x="771754" y="36078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0" name="cw_L08"/>
          <p:cNvSpPr txBox="1"/>
          <p:nvPr/>
        </p:nvSpPr>
        <p:spPr>
          <a:xfrm>
            <a:off x="771754" y="38110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"2"</a:t>
            </a:r>
            <a:r>
              <a:rPr lang="en-US" sz="1000" b="0" dirty="0">
                <a:solidFill>
                  <a:srgbClr val="E2E8F0"/>
                </a:solidFill>
                <a:latin typeface="Consolas"/>
                <a:ea typeface="Consolas"/>
                <a:cs typeface="Consolas"/>
              </a:rPr>
              <a:t>);</a:t>
            </a:r>
            <a:endParaRPr lang="en-US" sz="1000" dirty="0"/>
          </a:p>
        </p:txBody>
      </p:sp>
      <p:sp>
        <p:nvSpPr>
          <p:cNvPr id="31" name="cw_L09"/>
          <p:cNvSpPr txBox="1"/>
          <p:nvPr/>
        </p:nvSpPr>
        <p:spPr>
          <a:xfrm>
            <a:off x="771754" y="40142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Task.Delay(100);</a:t>
            </a:r>
            <a:endParaRPr lang="en-US" sz="1000" dirty="0"/>
          </a:p>
        </p:txBody>
      </p:sp>
      <p:sp>
        <p:nvSpPr>
          <p:cNvPr id="32" name="cw_L10"/>
          <p:cNvSpPr txBox="1"/>
          <p:nvPr/>
        </p:nvSpPr>
        <p:spPr>
          <a:xfrm>
            <a:off x="771754" y="42174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"4"</a:t>
            </a:r>
            <a:r>
              <a:rPr lang="en-US" sz="1000" b="0" dirty="0">
                <a:solidFill>
                  <a:srgbClr val="E2E8F0"/>
                </a:solidFill>
                <a:latin typeface="Consolas"/>
                <a:ea typeface="Consolas"/>
                <a:cs typeface="Consolas"/>
              </a:rPr>
              <a:t>);</a:t>
            </a:r>
            <a:endParaRPr lang="en-US" sz="1000" dirty="0"/>
          </a:p>
        </p:txBody>
      </p:sp>
      <p:sp>
        <p:nvSpPr>
          <p:cNvPr id="33" name="cw_L11"/>
          <p:cNvSpPr txBox="1"/>
          <p:nvPr/>
        </p:nvSpPr>
        <p:spPr>
          <a:xfrm>
            <a:off x="771754" y="4420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1 3 2 4 5</a:t>
            </a:r>
            <a:endParaRPr lang="en-US" sz="1400" dirty="0"/>
          </a:p>
        </p:txBody>
      </p:sp>
      <p:sp>
        <p:nvSpPr>
          <p:cNvPr id="35"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1 2 3 4 5</a:t>
            </a:r>
            <a:endParaRPr lang="en-US" sz="1400" dirty="0"/>
          </a:p>
        </p:txBody>
      </p:sp>
      <p:sp>
        <p:nvSpPr>
          <p:cNvPr id="36"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1 2 4 3 5</a:t>
            </a:r>
            <a:endParaRPr lang="en-US" sz="1400" dirty="0"/>
          </a:p>
        </p:txBody>
      </p:sp>
      <p:sp>
        <p:nvSpPr>
          <p:cNvPr id="37"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1 3 5 2 4</a:t>
            </a:r>
            <a:endParaRPr lang="en-US" sz="1400" dirty="0"/>
          </a:p>
        </p:txBody>
      </p:sp>
      <p:sp>
        <p:nvSpPr>
          <p:cNvPr id="38"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1 2 3 4 5</a:t>
            </a:r>
            <a:endParaRPr lang="en-US" sz="1400" dirty="0"/>
          </a:p>
        </p:txBody>
      </p:sp>
      <p:sp>
        <p:nvSpPr>
          <p:cNvPr id="39"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PrintAsync runs synchronously until its first await: it prints 2 before returning to the caller, which prints 3, then waits.</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5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25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25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25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25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25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animBg="1"/>
      <p:bldP spid="38" grpId="0" animBg="1"/>
      <p:bldP spid="3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SLEEP VS DELAY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Thread.Sleep vs await Task.Delay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95</a:t>
            </a:r>
            <a:endParaRPr lang="en-US" sz="850" dirty="0"/>
          </a:p>
        </p:txBody>
      </p:sp>
      <p:sp>
        <p:nvSpPr>
          <p:cNvPr id="15" name="cw_win"/>
          <p:cNvSpPr/>
          <p:nvPr/>
        </p:nvSpPr>
        <p:spPr>
          <a:xfrm>
            <a:off x="543154" y="1572768"/>
            <a:ext cx="512064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1206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void</a:t>
            </a:r>
            <a:r>
              <a:rPr lang="en-US" sz="1150" b="0" dirty="0">
                <a:solidFill>
                  <a:srgbClr val="E2E8F0"/>
                </a:solidFill>
                <a:latin typeface="Consolas"/>
                <a:ea typeface="Consolas"/>
                <a:cs typeface="Consolas"/>
              </a:rPr>
              <a:t> CookBlocking()</a:t>
            </a:r>
            <a:endParaRPr lang="en-US" sz="1150" dirty="0"/>
          </a:p>
        </p:txBody>
      </p:sp>
      <p:sp>
        <p:nvSpPr>
          <p:cNvPr id="23" name="cw_L01"/>
          <p:cNvSpPr txBox="1"/>
          <p:nvPr/>
        </p:nvSpPr>
        <p:spPr>
          <a:xfrm>
            <a:off x="771754" y="228193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47365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Thread.Sleep(3000);       </a:t>
            </a:r>
            <a:r>
              <a:rPr lang="en-US" sz="1150" b="0" dirty="0">
                <a:solidFill>
                  <a:srgbClr val="6FAE7A"/>
                </a:solidFill>
                <a:latin typeface="Consolas"/>
                <a:ea typeface="Consolas"/>
                <a:cs typeface="Consolas"/>
              </a:rPr>
              <a:t>// thread held for 3 s</a:t>
            </a:r>
            <a:endParaRPr lang="en-US" sz="1150" dirty="0"/>
          </a:p>
        </p:txBody>
      </p:sp>
      <p:sp>
        <p:nvSpPr>
          <p:cNvPr id="25" name="cw_L03"/>
          <p:cNvSpPr txBox="1"/>
          <p:nvPr/>
        </p:nvSpPr>
        <p:spPr>
          <a:xfrm>
            <a:off x="771754" y="274929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6" name="cw_L05"/>
          <p:cNvSpPr txBox="1"/>
          <p:nvPr/>
        </p:nvSpPr>
        <p:spPr>
          <a:xfrm>
            <a:off x="771754" y="321665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Task CookAsync()</a:t>
            </a:r>
            <a:endParaRPr lang="en-US" sz="1150" dirty="0"/>
          </a:p>
        </p:txBody>
      </p:sp>
      <p:sp>
        <p:nvSpPr>
          <p:cNvPr id="27" name="cw_L06"/>
          <p:cNvSpPr txBox="1"/>
          <p:nvPr/>
        </p:nvSpPr>
        <p:spPr>
          <a:xfrm>
            <a:off x="771754" y="345033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8" name="cw_L07"/>
          <p:cNvSpPr txBox="1"/>
          <p:nvPr/>
        </p:nvSpPr>
        <p:spPr>
          <a:xfrm>
            <a:off x="771754" y="3684016"/>
            <a:ext cx="473659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Task.Delay(3000);   </a:t>
            </a:r>
            <a:r>
              <a:rPr lang="en-US" sz="1150" b="0" dirty="0">
                <a:solidFill>
                  <a:srgbClr val="6FAE7A"/>
                </a:solidFill>
                <a:latin typeface="Consolas"/>
                <a:ea typeface="Consolas"/>
                <a:cs typeface="Consolas"/>
              </a:rPr>
              <a:t>// thread free for 3 s</a:t>
            </a:r>
            <a:endParaRPr lang="en-US" sz="1150" dirty="0"/>
          </a:p>
        </p:txBody>
      </p:sp>
      <p:sp>
        <p:nvSpPr>
          <p:cNvPr id="29" name="cw_L08"/>
          <p:cNvSpPr txBox="1"/>
          <p:nvPr/>
        </p:nvSpPr>
        <p:spPr>
          <a:xfrm>
            <a:off x="771754" y="3917696"/>
            <a:ext cx="47365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30" name="cmark"/>
          <p:cNvSpPr/>
          <p:nvPr/>
        </p:nvSpPr>
        <p:spPr>
          <a:xfrm>
            <a:off x="676656" y="2497328"/>
            <a:ext cx="4853635" cy="270256"/>
          </a:xfrm>
          <a:prstGeom prst="rect">
            <a:avLst/>
          </a:prstGeom>
          <a:solidFill>
            <a:srgbClr val="F87171">
              <a:alpha val="16000"/>
            </a:srgbClr>
          </a:solidFill>
          <a:ln w="15875">
            <a:solidFill>
              <a:srgbClr val="F87171"/>
            </a:solidFill>
            <a:prstDash val="solid"/>
          </a:ln>
        </p:spPr>
        <p:txBody>
          <a:bodyPr/>
          <a:lstStyle/>
          <a:p>
            <a:endParaRPr lang="en-US"/>
          </a:p>
        </p:txBody>
      </p:sp>
      <p:sp>
        <p:nvSpPr>
          <p:cNvPr id="31" name="cmark"/>
          <p:cNvSpPr/>
          <p:nvPr/>
        </p:nvSpPr>
        <p:spPr>
          <a:xfrm>
            <a:off x="676656" y="3665728"/>
            <a:ext cx="4853635" cy="270256"/>
          </a:xfrm>
          <a:prstGeom prst="rect">
            <a:avLst/>
          </a:prstGeom>
          <a:solidFill>
            <a:srgbClr val="34D399">
              <a:alpha val="16000"/>
            </a:srgbClr>
          </a:solidFill>
          <a:ln w="15875">
            <a:solidFill>
              <a:srgbClr val="34D399"/>
            </a:solidFill>
            <a:prstDash val="solid"/>
          </a:ln>
        </p:spPr>
        <p:txBody>
          <a:bodyPr/>
          <a:lstStyle/>
          <a:p>
            <a:endParaRPr lang="en-US"/>
          </a:p>
        </p:txBody>
      </p:sp>
      <p:sp>
        <p:nvSpPr>
          <p:cNvPr id="32" name="lab"/>
          <p:cNvSpPr txBox="1"/>
          <p:nvPr/>
        </p:nvSpPr>
        <p:spPr>
          <a:xfrm>
            <a:off x="5938114" y="1572768"/>
            <a:ext cx="56921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F87171"/>
                </a:solidFill>
                <a:latin typeface="Consolas"/>
                <a:ea typeface="Consolas"/>
                <a:cs typeface="Consolas"/>
              </a:rPr>
              <a:t>Thread.Sleep(3000)</a:t>
            </a:r>
            <a:endParaRPr lang="en-US" sz="1200" dirty="0"/>
          </a:p>
        </p:txBody>
      </p:sp>
      <p:sp>
        <p:nvSpPr>
          <p:cNvPr id="33" name="lab"/>
          <p:cNvSpPr txBox="1"/>
          <p:nvPr/>
        </p:nvSpPr>
        <p:spPr>
          <a:xfrm>
            <a:off x="5938114" y="1892808"/>
            <a:ext cx="8229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Thread</a:t>
            </a:r>
            <a:endParaRPr lang="en-US" sz="1100" dirty="0"/>
          </a:p>
        </p:txBody>
      </p:sp>
      <p:sp>
        <p:nvSpPr>
          <p:cNvPr id="34" name="lane"/>
          <p:cNvSpPr/>
          <p:nvPr/>
        </p:nvSpPr>
        <p:spPr>
          <a:xfrm>
            <a:off x="6852514" y="2331720"/>
            <a:ext cx="4777740" cy="18288"/>
          </a:xfrm>
          <a:prstGeom prst="rect">
            <a:avLst/>
          </a:prstGeom>
          <a:solidFill>
            <a:srgbClr val="1E3A5F"/>
          </a:solidFill>
          <a:ln w="12700">
            <a:solidFill>
              <a:srgbClr val="1E3A5F"/>
            </a:solidFill>
            <a:prstDash val="solid"/>
          </a:ln>
        </p:spPr>
        <p:txBody>
          <a:bodyPr/>
          <a:lstStyle/>
          <a:p>
            <a:endParaRPr lang="en-US"/>
          </a:p>
        </p:txBody>
      </p:sp>
      <p:sp>
        <p:nvSpPr>
          <p:cNvPr id="35" name="bar"/>
          <p:cNvSpPr/>
          <p:nvPr/>
        </p:nvSpPr>
        <p:spPr>
          <a:xfrm>
            <a:off x="6898234" y="1920240"/>
            <a:ext cx="4686300" cy="384048"/>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BLOCKED for 3 s: nobody else can use it</a:t>
            </a:r>
            <a:endParaRPr lang="en-US" sz="1000" dirty="0"/>
          </a:p>
        </p:txBody>
      </p:sp>
      <p:sp>
        <p:nvSpPr>
          <p:cNvPr id="36" name="lab"/>
          <p:cNvSpPr txBox="1"/>
          <p:nvPr/>
        </p:nvSpPr>
        <p:spPr>
          <a:xfrm>
            <a:off x="5938114" y="2715768"/>
            <a:ext cx="56921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34D399"/>
                </a:solidFill>
                <a:latin typeface="Consolas"/>
                <a:ea typeface="Consolas"/>
                <a:cs typeface="Consolas"/>
              </a:rPr>
              <a:t>await Task.Delay(3000)</a:t>
            </a:r>
            <a:endParaRPr lang="en-US" sz="1200" dirty="0"/>
          </a:p>
        </p:txBody>
      </p:sp>
      <p:sp>
        <p:nvSpPr>
          <p:cNvPr id="37" name="lab"/>
          <p:cNvSpPr txBox="1"/>
          <p:nvPr/>
        </p:nvSpPr>
        <p:spPr>
          <a:xfrm>
            <a:off x="5938114" y="3035808"/>
            <a:ext cx="8229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Thread</a:t>
            </a:r>
            <a:endParaRPr lang="en-US" sz="1100" dirty="0"/>
          </a:p>
        </p:txBody>
      </p:sp>
      <p:sp>
        <p:nvSpPr>
          <p:cNvPr id="38" name="lane"/>
          <p:cNvSpPr/>
          <p:nvPr/>
        </p:nvSpPr>
        <p:spPr>
          <a:xfrm>
            <a:off x="6852514" y="3474720"/>
            <a:ext cx="4777740" cy="18288"/>
          </a:xfrm>
          <a:prstGeom prst="rect">
            <a:avLst/>
          </a:prstGeom>
          <a:solidFill>
            <a:srgbClr val="1E3A5F"/>
          </a:solidFill>
          <a:ln w="12700">
            <a:solidFill>
              <a:srgbClr val="1E3A5F"/>
            </a:solidFill>
            <a:prstDash val="solid"/>
          </a:ln>
        </p:spPr>
        <p:txBody>
          <a:bodyPr/>
          <a:lstStyle/>
          <a:p>
            <a:endParaRPr lang="en-US"/>
          </a:p>
        </p:txBody>
      </p:sp>
      <p:sp>
        <p:nvSpPr>
          <p:cNvPr id="39" name="bar"/>
          <p:cNvSpPr/>
          <p:nvPr/>
        </p:nvSpPr>
        <p:spPr>
          <a:xfrm>
            <a:off x="6898234" y="3063240"/>
            <a:ext cx="468630"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start</a:t>
            </a:r>
            <a:endParaRPr lang="en-US" sz="900" dirty="0"/>
          </a:p>
        </p:txBody>
      </p:sp>
      <p:sp>
        <p:nvSpPr>
          <p:cNvPr id="40" name="bar"/>
          <p:cNvSpPr/>
          <p:nvPr/>
        </p:nvSpPr>
        <p:spPr>
          <a:xfrm>
            <a:off x="7460590" y="3063240"/>
            <a:ext cx="1124712" cy="384048"/>
          </a:xfrm>
          <a:prstGeom prst="roundRect">
            <a:avLst>
              <a:gd name="adj" fmla="val 20000"/>
            </a:avLst>
          </a:prstGeom>
          <a:solidFill>
            <a:srgbClr val="64748B">
              <a:alpha val="28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serves user A</a:t>
            </a:r>
            <a:endParaRPr lang="en-US" sz="900" dirty="0"/>
          </a:p>
        </p:txBody>
      </p:sp>
      <p:sp>
        <p:nvSpPr>
          <p:cNvPr id="41" name="bar"/>
          <p:cNvSpPr/>
          <p:nvPr/>
        </p:nvSpPr>
        <p:spPr>
          <a:xfrm>
            <a:off x="8679028" y="3063240"/>
            <a:ext cx="1124712" cy="384048"/>
          </a:xfrm>
          <a:prstGeom prst="roundRect">
            <a:avLst>
              <a:gd name="adj" fmla="val 20000"/>
            </a:avLst>
          </a:prstGeom>
          <a:solidFill>
            <a:srgbClr val="64748B">
              <a:alpha val="28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serves user B</a:t>
            </a:r>
            <a:endParaRPr lang="en-US" sz="900" dirty="0"/>
          </a:p>
        </p:txBody>
      </p:sp>
      <p:sp>
        <p:nvSpPr>
          <p:cNvPr id="42" name="bar"/>
          <p:cNvSpPr/>
          <p:nvPr/>
        </p:nvSpPr>
        <p:spPr>
          <a:xfrm>
            <a:off x="9897466" y="3063240"/>
            <a:ext cx="1124712" cy="384048"/>
          </a:xfrm>
          <a:prstGeom prst="roundRect">
            <a:avLst>
              <a:gd name="adj" fmla="val 20000"/>
            </a:avLst>
          </a:prstGeom>
          <a:solidFill>
            <a:srgbClr val="64748B">
              <a:alpha val="28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serves user C</a:t>
            </a:r>
            <a:endParaRPr lang="en-US" sz="900" dirty="0"/>
          </a:p>
        </p:txBody>
      </p:sp>
      <p:sp>
        <p:nvSpPr>
          <p:cNvPr id="43" name="bar"/>
          <p:cNvSpPr/>
          <p:nvPr/>
        </p:nvSpPr>
        <p:spPr>
          <a:xfrm>
            <a:off x="11115904" y="3063240"/>
            <a:ext cx="468630"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go</a:t>
            </a:r>
            <a:endParaRPr lang="en-US" sz="900" dirty="0"/>
          </a:p>
        </p:txBody>
      </p:sp>
      <p:sp>
        <p:nvSpPr>
          <p:cNvPr id="44" name="lab"/>
          <p:cNvSpPr txBox="1"/>
          <p:nvPr/>
        </p:nvSpPr>
        <p:spPr>
          <a:xfrm>
            <a:off x="5938114" y="3538728"/>
            <a:ext cx="8229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Timer</a:t>
            </a:r>
            <a:endParaRPr lang="en-US" sz="1100" dirty="0"/>
          </a:p>
        </p:txBody>
      </p:sp>
      <p:sp>
        <p:nvSpPr>
          <p:cNvPr id="45" name="lane"/>
          <p:cNvSpPr/>
          <p:nvPr/>
        </p:nvSpPr>
        <p:spPr>
          <a:xfrm>
            <a:off x="6852514" y="3977640"/>
            <a:ext cx="4777740" cy="18288"/>
          </a:xfrm>
          <a:prstGeom prst="rect">
            <a:avLst/>
          </a:prstGeom>
          <a:solidFill>
            <a:srgbClr val="1E3A5F"/>
          </a:solidFill>
          <a:ln w="12700">
            <a:solidFill>
              <a:srgbClr val="1E3A5F"/>
            </a:solidFill>
            <a:prstDash val="solid"/>
          </a:ln>
        </p:spPr>
        <p:txBody>
          <a:bodyPr/>
          <a:lstStyle/>
          <a:p>
            <a:endParaRPr lang="en-US"/>
          </a:p>
        </p:txBody>
      </p:sp>
      <p:sp>
        <p:nvSpPr>
          <p:cNvPr id="46" name="bar"/>
          <p:cNvSpPr/>
          <p:nvPr/>
        </p:nvSpPr>
        <p:spPr>
          <a:xfrm>
            <a:off x="7366864" y="3566160"/>
            <a:ext cx="3749040"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a timer counts 3 s: no thread involved</a:t>
            </a:r>
            <a:endParaRPr lang="en-US" sz="950" dirty="0"/>
          </a:p>
        </p:txBody>
      </p:sp>
      <p:sp>
        <p:nvSpPr>
          <p:cNvPr id="47" name="card"/>
          <p:cNvSpPr/>
          <p:nvPr/>
        </p:nvSpPr>
        <p:spPr>
          <a:xfrm>
            <a:off x="5938114" y="4178808"/>
            <a:ext cx="5692140" cy="704088"/>
          </a:xfrm>
          <a:prstGeom prst="roundRect">
            <a:avLst>
              <a:gd name="adj" fmla="val 11688"/>
            </a:avLst>
          </a:prstGeom>
          <a:solidFill>
            <a:srgbClr val="111B2E"/>
          </a:solidFill>
          <a:ln w="12700">
            <a:solidFill>
              <a:srgbClr val="34D399"/>
            </a:solidFill>
            <a:prstDash val="solid"/>
          </a:ln>
        </p:spPr>
        <p:txBody>
          <a:bodyPr wrap="square" lIns="182880" tIns="18288" rIns="137160" bIns="18288" rtlCol="0" anchor="ctr">
            <a:noAutofit/>
          </a:bodyPr>
          <a:lstStyle/>
          <a:p>
            <a:pPr marL="0" indent="0" algn="l">
              <a:spcBef>
                <a:spcPts val="0"/>
              </a:spcBef>
              <a:spcAft>
                <a:spcPts val="0"/>
              </a:spcAft>
              <a:buNone/>
            </a:pPr>
            <a:r>
              <a:rPr lang="en-US" sz="1250" b="0" dirty="0">
                <a:solidFill>
                  <a:srgbClr val="FFFFFF"/>
                </a:solidFill>
                <a:latin typeface="Segoe UI"/>
                <a:ea typeface="Segoe UI"/>
                <a:cs typeface="Segoe UI"/>
              </a:rPr>
              <a:t>In async code: await Task.Delay, never Thread.Sleep.</a:t>
            </a:r>
            <a:endParaRPr lang="en-US" sz="1250" dirty="0"/>
          </a:p>
        </p:txBody>
      </p:sp>
      <p:sp>
        <p:nvSpPr>
          <p:cNvPr id="48" name="banner"/>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Thread.Sleep blocks a thread. await Task.Delay waits without one.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25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25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50"/>
                                        <p:tgtEl>
                                          <p:spTgt spid="3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25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25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2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2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25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25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25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25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25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25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2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animBg="1"/>
      <p:bldP spid="31" grpId="0" animBg="1"/>
      <p:bldP spid="32" grpId="0"/>
      <p:bldP spid="33" grpId="0"/>
      <p:bldP spid="34" grpId="0" animBg="1"/>
      <p:bldP spid="35" grpId="0" animBg="1"/>
      <p:bldP spid="36" grpId="0"/>
      <p:bldP spid="37" grpId="0"/>
      <p:bldP spid="38" grpId="0" animBg="1"/>
      <p:bldP spid="39" grpId="0" animBg="1"/>
      <p:bldP spid="40" grpId="0" animBg="1"/>
      <p:bldP spid="41" grpId="0" animBg="1"/>
      <p:bldP spid="42" grpId="0" animBg="1"/>
      <p:bldP spid="43" grpId="0" animBg="1"/>
      <p:bldP spid="44" grpId="0"/>
      <p:bldP spid="45" grpId="0" animBg="1"/>
      <p:bldP spid="46" grpId="0" animBg="1"/>
      <p:bldP spid="47" grpId="0" animBg="1"/>
      <p:bldP spid="48"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NOT MAGIC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Adding async Is Not Magic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96</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Task PrepareOrderAsync()</a:t>
            </a:r>
            <a:endParaRPr lang="en-US" sz="1150" dirty="0"/>
          </a:p>
        </p:txBody>
      </p:sp>
      <p:sp>
        <p:nvSpPr>
          <p:cNvPr id="23" name="cwb_L01"/>
          <p:cNvSpPr txBox="1"/>
          <p:nvPr/>
        </p:nvSpPr>
        <p:spPr>
          <a:xfrm>
            <a:off x="771754" y="228193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b_L02"/>
          <p:cNvSpPr txBox="1"/>
          <p:nvPr/>
        </p:nvSpPr>
        <p:spPr>
          <a:xfrm>
            <a:off x="771754" y="251561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"Cooking..."</a:t>
            </a:r>
            <a:r>
              <a:rPr lang="en-US" sz="1150" b="0" dirty="0">
                <a:solidFill>
                  <a:srgbClr val="E2E8F0"/>
                </a:solidFill>
                <a:latin typeface="Consolas"/>
                <a:ea typeface="Consolas"/>
                <a:cs typeface="Consolas"/>
              </a:rPr>
              <a:t>);</a:t>
            </a:r>
            <a:endParaRPr lang="en-US" sz="1150" dirty="0"/>
          </a:p>
        </p:txBody>
      </p:sp>
      <p:sp>
        <p:nvSpPr>
          <p:cNvPr id="25" name="cwb_hl03"/>
          <p:cNvSpPr/>
          <p:nvPr/>
        </p:nvSpPr>
        <p:spPr>
          <a:xfrm>
            <a:off x="676656" y="2731008"/>
            <a:ext cx="5173675" cy="270256"/>
          </a:xfrm>
          <a:prstGeom prst="rect">
            <a:avLst/>
          </a:prstGeom>
          <a:solidFill>
            <a:srgbClr val="F87171">
              <a:alpha val="15000"/>
            </a:srgbClr>
          </a:solidFill>
          <a:ln w="12700">
            <a:solidFill>
              <a:srgbClr val="F87171"/>
            </a:solidFill>
            <a:prstDash val="solid"/>
          </a:ln>
        </p:spPr>
        <p:txBody>
          <a:bodyPr/>
          <a:lstStyle/>
          <a:p>
            <a:endParaRPr lang="en-US"/>
          </a:p>
        </p:txBody>
      </p:sp>
      <p:sp>
        <p:nvSpPr>
          <p:cNvPr id="26" name="cwb_L03"/>
          <p:cNvSpPr txBox="1"/>
          <p:nvPr/>
        </p:nvSpPr>
        <p:spPr>
          <a:xfrm>
            <a:off x="771754" y="274929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Thread.Sleep(5000);       </a:t>
            </a:r>
            <a:r>
              <a:rPr lang="en-US" sz="1150" b="0" dirty="0">
                <a:solidFill>
                  <a:srgbClr val="6FAE7A"/>
                </a:solidFill>
                <a:latin typeface="Consolas"/>
                <a:ea typeface="Consolas"/>
                <a:cs typeface="Consolas"/>
              </a:rPr>
              <a:t>// still blocking!</a:t>
            </a:r>
            <a:endParaRPr lang="en-US" sz="1150" dirty="0"/>
          </a:p>
        </p:txBody>
      </p:sp>
      <p:sp>
        <p:nvSpPr>
          <p:cNvPr id="27" name="cwb_L04"/>
          <p:cNvSpPr txBox="1"/>
          <p:nvPr/>
        </p:nvSpPr>
        <p:spPr>
          <a:xfrm>
            <a:off x="771754" y="298297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"Ready"</a:t>
            </a:r>
            <a:r>
              <a:rPr lang="en-US" sz="1150" b="0" dirty="0">
                <a:solidFill>
                  <a:srgbClr val="E2E8F0"/>
                </a:solidFill>
                <a:latin typeface="Consolas"/>
                <a:ea typeface="Consolas"/>
                <a:cs typeface="Consolas"/>
              </a:rPr>
              <a:t>);</a:t>
            </a:r>
            <a:endParaRPr lang="en-US" sz="1150" dirty="0"/>
          </a:p>
        </p:txBody>
      </p:sp>
      <p:sp>
        <p:nvSpPr>
          <p:cNvPr id="28" name="cwb_L05"/>
          <p:cNvSpPr txBox="1"/>
          <p:nvPr/>
        </p:nvSpPr>
        <p:spPr>
          <a:xfrm>
            <a:off x="771754" y="32166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9" name="cwb_L06"/>
          <p:cNvSpPr txBox="1"/>
          <p:nvPr/>
        </p:nvSpPr>
        <p:spPr>
          <a:xfrm>
            <a:off x="771754" y="345033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FAE7A"/>
                </a:solidFill>
                <a:latin typeface="Consolas"/>
                <a:ea typeface="Consolas"/>
                <a:cs typeface="Consolas"/>
              </a:rPr>
              <a:t>// warning: this async method lacks 'await'</a:t>
            </a:r>
            <a:endParaRPr lang="en-US" sz="1150" dirty="0"/>
          </a:p>
        </p:txBody>
      </p:sp>
      <p:sp>
        <p:nvSpPr>
          <p:cNvPr id="30" name="cwb_L07"/>
          <p:cNvSpPr txBox="1"/>
          <p:nvPr/>
        </p:nvSpPr>
        <p:spPr>
          <a:xfrm>
            <a:off x="771754" y="368401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FAE7A"/>
                </a:solidFill>
                <a:latin typeface="Consolas"/>
                <a:ea typeface="Consolas"/>
                <a:cs typeface="Consolas"/>
              </a:rPr>
              <a:t>// and will run synchronously</a:t>
            </a:r>
            <a:endParaRPr lang="en-US" sz="1150" dirty="0"/>
          </a:p>
        </p:txBody>
      </p:sp>
      <p:sp>
        <p:nvSpPr>
          <p:cNvPr id="31"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2"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3"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4"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5"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6"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7"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38" name="cwa_L00"/>
          <p:cNvSpPr txBox="1"/>
          <p:nvPr/>
        </p:nvSpPr>
        <p:spPr>
          <a:xfrm>
            <a:off x="6418174" y="20482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Task PrepareOrderAsync()</a:t>
            </a:r>
            <a:endParaRPr lang="en-US" sz="1150" dirty="0"/>
          </a:p>
        </p:txBody>
      </p:sp>
      <p:sp>
        <p:nvSpPr>
          <p:cNvPr id="39" name="cwa_L01"/>
          <p:cNvSpPr txBox="1"/>
          <p:nvPr/>
        </p:nvSpPr>
        <p:spPr>
          <a:xfrm>
            <a:off x="6418174" y="228193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40" name="cwa_L02"/>
          <p:cNvSpPr txBox="1"/>
          <p:nvPr/>
        </p:nvSpPr>
        <p:spPr>
          <a:xfrm>
            <a:off x="6418174" y="251561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"Cooking..."</a:t>
            </a:r>
            <a:r>
              <a:rPr lang="en-US" sz="1150" b="0" dirty="0">
                <a:solidFill>
                  <a:srgbClr val="E2E8F0"/>
                </a:solidFill>
                <a:latin typeface="Consolas"/>
                <a:ea typeface="Consolas"/>
                <a:cs typeface="Consolas"/>
              </a:rPr>
              <a:t>);</a:t>
            </a:r>
            <a:endParaRPr lang="en-US" sz="1150" dirty="0"/>
          </a:p>
        </p:txBody>
      </p:sp>
      <p:sp>
        <p:nvSpPr>
          <p:cNvPr id="41" name="cwa_hl03"/>
          <p:cNvSpPr/>
          <p:nvPr/>
        </p:nvSpPr>
        <p:spPr>
          <a:xfrm>
            <a:off x="6323076" y="2731008"/>
            <a:ext cx="5173675" cy="270256"/>
          </a:xfrm>
          <a:prstGeom prst="rect">
            <a:avLst/>
          </a:prstGeom>
          <a:solidFill>
            <a:srgbClr val="34D399">
              <a:alpha val="15000"/>
            </a:srgbClr>
          </a:solidFill>
          <a:ln w="12700">
            <a:solidFill>
              <a:srgbClr val="34D399"/>
            </a:solidFill>
            <a:prstDash val="solid"/>
          </a:ln>
        </p:spPr>
        <p:txBody>
          <a:bodyPr/>
          <a:lstStyle/>
          <a:p>
            <a:endParaRPr lang="en-US"/>
          </a:p>
        </p:txBody>
      </p:sp>
      <p:sp>
        <p:nvSpPr>
          <p:cNvPr id="42" name="cwa_L03"/>
          <p:cNvSpPr txBox="1"/>
          <p:nvPr/>
        </p:nvSpPr>
        <p:spPr>
          <a:xfrm>
            <a:off x="6418174" y="274929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Task.Delay(5000);   </a:t>
            </a:r>
            <a:r>
              <a:rPr lang="en-US" sz="1150" b="0" dirty="0">
                <a:solidFill>
                  <a:srgbClr val="6FAE7A"/>
                </a:solidFill>
                <a:latin typeface="Consolas"/>
                <a:ea typeface="Consolas"/>
                <a:cs typeface="Consolas"/>
              </a:rPr>
              <a:t>// really asynchronous</a:t>
            </a:r>
            <a:endParaRPr lang="en-US" sz="1150" dirty="0"/>
          </a:p>
        </p:txBody>
      </p:sp>
      <p:sp>
        <p:nvSpPr>
          <p:cNvPr id="43" name="cwa_L04"/>
          <p:cNvSpPr txBox="1"/>
          <p:nvPr/>
        </p:nvSpPr>
        <p:spPr>
          <a:xfrm>
            <a:off x="6418174" y="2982976"/>
            <a:ext cx="505663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"Ready"</a:t>
            </a:r>
            <a:r>
              <a:rPr lang="en-US" sz="1150" b="0" dirty="0">
                <a:solidFill>
                  <a:srgbClr val="E2E8F0"/>
                </a:solidFill>
                <a:latin typeface="Consolas"/>
                <a:ea typeface="Consolas"/>
                <a:cs typeface="Consolas"/>
              </a:rPr>
              <a:t>);</a:t>
            </a:r>
            <a:endParaRPr lang="en-US" sz="1150" dirty="0"/>
          </a:p>
        </p:txBody>
      </p:sp>
      <p:sp>
        <p:nvSpPr>
          <p:cNvPr id="44" name="cwa_L05"/>
          <p:cNvSpPr txBox="1"/>
          <p:nvPr/>
        </p:nvSpPr>
        <p:spPr>
          <a:xfrm>
            <a:off x="6418174" y="3216656"/>
            <a:ext cx="505663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45"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BEFORE</a:t>
            </a:r>
            <a:endParaRPr lang="en-US" sz="900" dirty="0"/>
          </a:p>
        </p:txBody>
      </p:sp>
      <p:sp>
        <p:nvSpPr>
          <p:cNvPr id="46"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AFTER</a:t>
            </a:r>
            <a:endParaRPr lang="en-US" sz="900" dirty="0"/>
          </a:p>
        </p:txBody>
      </p:sp>
      <p:cxnSp>
        <p:nvCxnSpPr>
          <p:cNvPr id="47" name="arrow"/>
          <p:cNvCxnSpPr/>
          <p:nvPr/>
        </p:nvCxnSpPr>
        <p:spPr>
          <a:xfrm>
            <a:off x="6011266" y="3227832"/>
            <a:ext cx="150876" cy="0"/>
          </a:xfrm>
          <a:prstGeom prst="line">
            <a:avLst/>
          </a:prstGeom>
          <a:ln w="28575">
            <a:solidFill>
              <a:srgbClr val="13D0F7"/>
            </a:solidFill>
            <a:tailEnd type="triangle" w="med" len="med"/>
          </a:ln>
        </p:spPr>
      </p:cxnSp>
      <p:sp>
        <p:nvSpPr>
          <p:cNvPr id="48"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keyword async does not change what Thread.Sleep does. The method blocks exactly as before; the compiler even warns that there is no await.</a:t>
            </a:r>
            <a:endParaRPr lang="en-US" sz="1250" dirty="0"/>
          </a:p>
        </p:txBody>
      </p:sp>
      <p:sp>
        <p:nvSpPr>
          <p:cNvPr id="49"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Call the asynchronous version of the operation and await it: Task.Delay, File.ReadAllTextAsync, httpClient.GetStringAsync ...</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25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250"/>
                                        <p:tgtEl>
                                          <p:spTgt spid="4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25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5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25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250"/>
                                        <p:tgtEl>
                                          <p:spTgt spid="46"/>
                                        </p:tgtEl>
                                      </p:cBhvr>
                                    </p:animEffect>
                                  </p:childTnLst>
                                </p:cTn>
                              </p:par>
                              <p:par>
                                <p:cTn id="66" presetID="10" presetClass="entr" presetSubtype="0" fill="hold"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fade">
                                      <p:cBhvr>
                                        <p:cTn id="68" dur="25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fade">
                                      <p:cBhvr>
                                        <p:cTn id="73" dur="2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animBg="1"/>
      <p:bldP spid="26" grpId="0"/>
      <p:bldP spid="27" grpId="0"/>
      <p:bldP spid="28" grpId="0"/>
      <p:bldP spid="29" grpId="0"/>
      <p:bldP spid="30" grpId="0"/>
      <p:bldP spid="38" grpId="0"/>
      <p:bldP spid="39" grpId="0"/>
      <p:bldP spid="40" grpId="0"/>
      <p:bldP spid="41" grpId="0" animBg="1"/>
      <p:bldP spid="42" grpId="0"/>
      <p:bldP spid="43" grpId="0"/>
      <p:bldP spid="44" grpId="0"/>
      <p:bldP spid="45" grpId="0" animBg="1"/>
      <p:bldP spid="46" grpId="0" animBg="1"/>
      <p:bldP spid="48" grpId="0" animBg="1"/>
      <p:bldP spid="4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ASYNC VOID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async void Is Dangerous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94</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23"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4"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25"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SendReceipt();      </a:t>
            </a:r>
            <a:r>
              <a:rPr lang="en-US" sz="950" b="0" dirty="0">
                <a:solidFill>
                  <a:srgbClr val="6FAE7A"/>
                </a:solidFill>
                <a:latin typeface="Consolas"/>
                <a:ea typeface="Consolas"/>
                <a:cs typeface="Consolas"/>
              </a:rPr>
              <a:t>// cannot be awaited</a:t>
            </a:r>
            <a:endParaRPr lang="en-US" sz="950" dirty="0"/>
          </a:p>
        </p:txBody>
      </p:sp>
      <p:sp>
        <p:nvSpPr>
          <p:cNvPr id="26"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7"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a:t>
            </a:r>
            <a:endParaRPr lang="en-US" sz="950" dirty="0"/>
          </a:p>
        </p:txBody>
      </p:sp>
      <p:sp>
        <p:nvSpPr>
          <p:cNvPr id="28"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"Never reached"</a:t>
            </a:r>
            <a:r>
              <a:rPr lang="en-US" sz="950" b="0" dirty="0">
                <a:solidFill>
                  <a:srgbClr val="E2E8F0"/>
                </a:solidFill>
                <a:latin typeface="Consolas"/>
                <a:ea typeface="Consolas"/>
                <a:cs typeface="Consolas"/>
              </a:rPr>
              <a:t>);</a:t>
            </a:r>
            <a:endParaRPr lang="en-US" sz="950" dirty="0"/>
          </a:p>
        </p:txBody>
      </p:sp>
      <p:sp>
        <p:nvSpPr>
          <p:cNvPr id="30"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1" name="cwb_hl09"/>
          <p:cNvSpPr/>
          <p:nvPr/>
        </p:nvSpPr>
        <p:spPr>
          <a:xfrm>
            <a:off x="676656" y="376732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32"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SendReceipt()</a:t>
            </a:r>
            <a:endParaRPr lang="en-US" sz="950" dirty="0"/>
          </a:p>
        </p:txBody>
      </p:sp>
      <p:sp>
        <p:nvSpPr>
          <p:cNvPr id="33"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4"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a:t>
            </a:r>
            <a:endParaRPr lang="en-US" sz="950" dirty="0"/>
          </a:p>
        </p:txBody>
      </p:sp>
      <p:sp>
        <p:nvSpPr>
          <p:cNvPr id="35" name="cwb_L12"/>
          <p:cNvSpPr txBox="1"/>
          <p:nvPr/>
        </p:nvSpPr>
        <p:spPr>
          <a:xfrm>
            <a:off x="77175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r>
              <a:rPr lang="en-US" sz="950" b="0" dirty="0">
                <a:solidFill>
                  <a:srgbClr val="F0A98B"/>
                </a:solidFill>
                <a:latin typeface="Consolas"/>
                <a:ea typeface="Consolas"/>
                <a:cs typeface="Consolas"/>
              </a:rPr>
              <a:t>"SMTP down"</a:t>
            </a:r>
            <a:r>
              <a:rPr lang="en-US" sz="950" b="0" dirty="0">
                <a:solidFill>
                  <a:srgbClr val="E2E8F0"/>
                </a:solidFill>
                <a:latin typeface="Consolas"/>
                <a:ea typeface="Consolas"/>
                <a:cs typeface="Consolas"/>
              </a:rPr>
              <a:t>);</a:t>
            </a:r>
            <a:endParaRPr lang="en-US" sz="950" dirty="0"/>
          </a:p>
        </p:txBody>
      </p:sp>
      <p:sp>
        <p:nvSpPr>
          <p:cNvPr id="36" name="cwb_L13"/>
          <p:cNvSpPr txBox="1"/>
          <p:nvPr/>
        </p:nvSpPr>
        <p:spPr>
          <a:xfrm>
            <a:off x="77175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7"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8"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9"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40"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1"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2"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3"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44"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45"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6" name="cwa_hl02"/>
          <p:cNvSpPr/>
          <p:nvPr/>
        </p:nvSpPr>
        <p:spPr>
          <a:xfrm>
            <a:off x="6323076" y="24160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47"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SendReceiptAsync();</a:t>
            </a:r>
            <a:endParaRPr lang="en-US" sz="950" dirty="0"/>
          </a:p>
        </p:txBody>
      </p:sp>
      <p:sp>
        <p:nvSpPr>
          <p:cNvPr id="48"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9"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 ex)</a:t>
            </a:r>
            <a:endParaRPr lang="en-US" sz="950" dirty="0"/>
          </a:p>
        </p:txBody>
      </p:sp>
      <p:sp>
        <p:nvSpPr>
          <p:cNvPr id="50"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1"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$"Receipt failed: {ex.Message}"</a:t>
            </a:r>
            <a:r>
              <a:rPr lang="en-US" sz="950" b="0" dirty="0">
                <a:solidFill>
                  <a:srgbClr val="E2E8F0"/>
                </a:solidFill>
                <a:latin typeface="Consolas"/>
                <a:ea typeface="Consolas"/>
                <a:cs typeface="Consolas"/>
              </a:rPr>
              <a:t>);</a:t>
            </a:r>
            <a:endParaRPr lang="en-US" sz="950" dirty="0"/>
          </a:p>
        </p:txBody>
      </p:sp>
      <p:sp>
        <p:nvSpPr>
          <p:cNvPr id="52"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3" name="cwa_hl09"/>
          <p:cNvSpPr/>
          <p:nvPr/>
        </p:nvSpPr>
        <p:spPr>
          <a:xfrm>
            <a:off x="6323076" y="376732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54"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SendReceiptAsync()</a:t>
            </a:r>
            <a:endParaRPr lang="en-US" sz="950" dirty="0"/>
          </a:p>
        </p:txBody>
      </p:sp>
      <p:sp>
        <p:nvSpPr>
          <p:cNvPr id="55"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6"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a:t>
            </a:r>
            <a:endParaRPr lang="en-US" sz="950" dirty="0"/>
          </a:p>
        </p:txBody>
      </p:sp>
      <p:sp>
        <p:nvSpPr>
          <p:cNvPr id="57"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r>
              <a:rPr lang="en-US" sz="950" b="0" dirty="0">
                <a:solidFill>
                  <a:srgbClr val="F0A98B"/>
                </a:solidFill>
                <a:latin typeface="Consolas"/>
                <a:ea typeface="Consolas"/>
                <a:cs typeface="Consolas"/>
              </a:rPr>
              <a:t>"SMTP down"</a:t>
            </a:r>
            <a:r>
              <a:rPr lang="en-US" sz="950" b="0" dirty="0">
                <a:solidFill>
                  <a:srgbClr val="E2E8F0"/>
                </a:solidFill>
                <a:latin typeface="Consolas"/>
                <a:ea typeface="Consolas"/>
                <a:cs typeface="Consolas"/>
              </a:rPr>
              <a:t>);</a:t>
            </a:r>
            <a:endParaRPr lang="en-US" sz="950" dirty="0"/>
          </a:p>
        </p:txBody>
      </p:sp>
      <p:sp>
        <p:nvSpPr>
          <p:cNvPr id="58"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9"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BEFORE</a:t>
            </a:r>
            <a:endParaRPr lang="en-US" sz="900" dirty="0"/>
          </a:p>
        </p:txBody>
      </p:sp>
      <p:sp>
        <p:nvSpPr>
          <p:cNvPr id="60"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AFTER</a:t>
            </a:r>
            <a:endParaRPr lang="en-US" sz="900" dirty="0"/>
          </a:p>
        </p:txBody>
      </p:sp>
      <p:cxnSp>
        <p:nvCxnSpPr>
          <p:cNvPr id="61" name="arrow"/>
          <p:cNvCxnSpPr/>
          <p:nvPr/>
        </p:nvCxnSpPr>
        <p:spPr>
          <a:xfrm>
            <a:off x="6011266" y="3227832"/>
            <a:ext cx="150876" cy="0"/>
          </a:xfrm>
          <a:prstGeom prst="line">
            <a:avLst/>
          </a:prstGeom>
          <a:ln w="28575">
            <a:solidFill>
              <a:srgbClr val="13D0F7"/>
            </a:solidFill>
            <a:tailEnd type="triangle" w="med" len="med"/>
          </a:ln>
        </p:spPr>
      </p:cxnSp>
      <p:sp>
        <p:nvSpPr>
          <p:cNvPr id="62"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caller cannot await async void, so it cannot know when it ends or catch its exception. Here the exception escapes and crashes the process.</a:t>
            </a:r>
            <a:endParaRPr lang="en-US" sz="1250" dirty="0"/>
          </a:p>
        </p:txBody>
      </p:sp>
      <p:sp>
        <p:nvSpPr>
          <p:cNvPr id="63"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Return Task and await it: the exception arrives at the await and the normal try/catch works.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250"/>
                                        <p:tgtEl>
                                          <p:spTgt spid="5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fade">
                                      <p:cBhvr>
                                        <p:cTn id="57" dur="250"/>
                                        <p:tgtEl>
                                          <p:spTgt spid="6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250"/>
                                        <p:tgtEl>
                                          <p:spTgt spid="5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fade">
                                      <p:cBhvr>
                                        <p:cTn id="86" dur="250"/>
                                        <p:tgtEl>
                                          <p:spTgt spid="5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fade">
                                      <p:cBhvr>
                                        <p:cTn id="89" dur="250"/>
                                        <p:tgtEl>
                                          <p:spTgt spid="5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fade">
                                      <p:cBhvr>
                                        <p:cTn id="92" dur="250"/>
                                        <p:tgtEl>
                                          <p:spTgt spid="5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fade">
                                      <p:cBhvr>
                                        <p:cTn id="95" dur="250"/>
                                        <p:tgtEl>
                                          <p:spTgt spid="5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250"/>
                                        <p:tgtEl>
                                          <p:spTgt spid="5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7"/>
                                        </p:tgtEl>
                                        <p:attrNameLst>
                                          <p:attrName>style.visibility</p:attrName>
                                        </p:attrNameLst>
                                      </p:cBhvr>
                                      <p:to>
                                        <p:strVal val="visible"/>
                                      </p:to>
                                    </p:set>
                                    <p:animEffect transition="in" filter="fade">
                                      <p:cBhvr>
                                        <p:cTn id="101" dur="250"/>
                                        <p:tgtEl>
                                          <p:spTgt spid="5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fade">
                                      <p:cBhvr>
                                        <p:cTn id="104" dur="250"/>
                                        <p:tgtEl>
                                          <p:spTgt spid="5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0"/>
                                        </p:tgtEl>
                                        <p:attrNameLst>
                                          <p:attrName>style.visibility</p:attrName>
                                        </p:attrNameLst>
                                      </p:cBhvr>
                                      <p:to>
                                        <p:strVal val="visible"/>
                                      </p:to>
                                    </p:set>
                                    <p:animEffect transition="in" filter="fade">
                                      <p:cBhvr>
                                        <p:cTn id="107" dur="250"/>
                                        <p:tgtEl>
                                          <p:spTgt spid="60"/>
                                        </p:tgtEl>
                                      </p:cBhvr>
                                    </p:animEffect>
                                  </p:childTnLst>
                                </p:cTn>
                              </p:par>
                              <p:par>
                                <p:cTn id="108" presetID="10" presetClass="entr" presetSubtype="0" fill="hold" nodeType="withEffect">
                                  <p:stCondLst>
                                    <p:cond delay="0"/>
                                  </p:stCondLst>
                                  <p:childTnLst>
                                    <p:set>
                                      <p:cBhvr>
                                        <p:cTn id="109" dur="1" fill="hold">
                                          <p:stCondLst>
                                            <p:cond delay="0"/>
                                          </p:stCondLst>
                                        </p:cTn>
                                        <p:tgtEl>
                                          <p:spTgt spid="61"/>
                                        </p:tgtEl>
                                        <p:attrNameLst>
                                          <p:attrName>style.visibility</p:attrName>
                                        </p:attrNameLst>
                                      </p:cBhvr>
                                      <p:to>
                                        <p:strVal val="visible"/>
                                      </p:to>
                                    </p:set>
                                    <p:animEffect transition="in" filter="fade">
                                      <p:cBhvr>
                                        <p:cTn id="110" dur="250"/>
                                        <p:tgtEl>
                                          <p:spTgt spid="6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63"/>
                                        </p:tgtEl>
                                        <p:attrNameLst>
                                          <p:attrName>style.visibility</p:attrName>
                                        </p:attrNameLst>
                                      </p:cBhvr>
                                      <p:to>
                                        <p:strVal val="visible"/>
                                      </p:to>
                                    </p:set>
                                    <p:animEffect transition="in" filter="fade">
                                      <p:cBhvr>
                                        <p:cTn id="115" dur="2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25" grpId="0"/>
      <p:bldP spid="26" grpId="0"/>
      <p:bldP spid="27" grpId="0"/>
      <p:bldP spid="28" grpId="0"/>
      <p:bldP spid="29" grpId="0"/>
      <p:bldP spid="30" grpId="0"/>
      <p:bldP spid="31" grpId="0" animBg="1"/>
      <p:bldP spid="32" grpId="0"/>
      <p:bldP spid="33" grpId="0"/>
      <p:bldP spid="34" grpId="0"/>
      <p:bldP spid="35" grpId="0"/>
      <p:bldP spid="36" grpId="0"/>
      <p:bldP spid="44" grpId="0"/>
      <p:bldP spid="45" grpId="0"/>
      <p:bldP spid="46" grpId="0" animBg="1"/>
      <p:bldP spid="47" grpId="0"/>
      <p:bldP spid="48" grpId="0"/>
      <p:bldP spid="49" grpId="0"/>
      <p:bldP spid="50" grpId="0"/>
      <p:bldP spid="51" grpId="0"/>
      <p:bldP spid="52" grpId="0"/>
      <p:bldP spid="53" grpId="0" animBg="1"/>
      <p:bldP spid="54" grpId="0"/>
      <p:bldP spid="55" grpId="0"/>
      <p:bldP spid="56" grpId="0"/>
      <p:bldP spid="57" grpId="0"/>
      <p:bldP spid="58" grpId="0"/>
      <p:bldP spid="59" grpId="0" animBg="1"/>
      <p:bldP spid="60" grpId="0" animBg="1"/>
      <p:bldP spid="62" grpId="0" animBg="1"/>
      <p:bldP spid="63"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ASYNC VOID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void vs async Task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95</a:t>
            </a:r>
            <a:endParaRPr lang="en-US" sz="850" dirty="0"/>
          </a:p>
        </p:txBody>
      </p:sp>
      <p:sp>
        <p:nvSpPr>
          <p:cNvPr id="15" name="hdr"/>
          <p:cNvSpPr/>
          <p:nvPr/>
        </p:nvSpPr>
        <p:spPr>
          <a:xfrm>
            <a:off x="543154" y="1572768"/>
            <a:ext cx="5474970" cy="520000"/>
          </a:xfrm>
          <a:prstGeom prst="roundRect">
            <a:avLst>
              <a:gd name="adj" fmla="val 15000"/>
            </a:avLst>
          </a:prstGeom>
          <a:solidFill>
            <a:srgbClr val="2A1215"/>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500" b="1" dirty="0">
                <a:solidFill>
                  <a:srgbClr val="F87171"/>
                </a:solidFill>
                <a:latin typeface="Consolas"/>
                <a:ea typeface="Consolas"/>
                <a:cs typeface="Consolas"/>
              </a:rPr>
              <a:t>async void</a:t>
            </a:r>
            <a:endParaRPr lang="en-US" sz="1500" dirty="0"/>
          </a:p>
        </p:txBody>
      </p:sp>
      <p:sp>
        <p:nvSpPr>
          <p:cNvPr id="16" name="hdr"/>
          <p:cNvSpPr/>
          <p:nvPr/>
        </p:nvSpPr>
        <p:spPr>
          <a:xfrm>
            <a:off x="6155284" y="1572768"/>
            <a:ext cx="5474970" cy="520000"/>
          </a:xfrm>
          <a:prstGeom prst="roundRect">
            <a:avLst>
              <a:gd name="adj" fmla="val 15000"/>
            </a:avLst>
          </a:prstGeom>
          <a:solidFill>
            <a:srgbClr val="0E2A26"/>
          </a:solidFill>
          <a:ln w="1905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500" b="1" dirty="0">
                <a:solidFill>
                  <a:srgbClr val="34D399"/>
                </a:solidFill>
                <a:latin typeface="Consolas"/>
                <a:ea typeface="Consolas"/>
                <a:cs typeface="Consolas"/>
              </a:rPr>
              <a:t>async Task</a:t>
            </a:r>
            <a:endParaRPr lang="en-US" sz="1500" dirty="0"/>
          </a:p>
        </p:txBody>
      </p:sp>
      <p:sp>
        <p:nvSpPr>
          <p:cNvPr id="17" name="row"/>
          <p:cNvSpPr/>
          <p:nvPr/>
        </p:nvSpPr>
        <p:spPr>
          <a:xfrm>
            <a:off x="543154" y="220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  </a:t>
            </a:r>
            <a:r>
              <a:rPr lang="en-US" sz="1200" b="0" dirty="0">
                <a:solidFill>
                  <a:srgbClr val="CBD5E1"/>
                </a:solidFill>
                <a:latin typeface="Segoe UI"/>
                <a:ea typeface="Segoe UI"/>
                <a:cs typeface="Segoe UI"/>
              </a:rPr>
              <a:t>Does not return a Task</a:t>
            </a:r>
            <a:endParaRPr lang="en-US" sz="1200" dirty="0"/>
          </a:p>
        </p:txBody>
      </p:sp>
      <p:sp>
        <p:nvSpPr>
          <p:cNvPr id="18" name="row"/>
          <p:cNvSpPr/>
          <p:nvPr/>
        </p:nvSpPr>
        <p:spPr>
          <a:xfrm>
            <a:off x="6155284" y="220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  </a:t>
            </a:r>
            <a:r>
              <a:rPr lang="en-US" sz="1200" b="0" dirty="0">
                <a:solidFill>
                  <a:srgbClr val="CBD5E1"/>
                </a:solidFill>
                <a:latin typeface="Segoe UI"/>
                <a:ea typeface="Segoe UI"/>
                <a:cs typeface="Segoe UI"/>
              </a:rPr>
              <a:t>Returns a Task</a:t>
            </a:r>
            <a:endParaRPr lang="en-US" sz="1200" dirty="0"/>
          </a:p>
        </p:txBody>
      </p:sp>
      <p:sp>
        <p:nvSpPr>
          <p:cNvPr id="19" name="row"/>
          <p:cNvSpPr/>
          <p:nvPr/>
        </p:nvSpPr>
        <p:spPr>
          <a:xfrm>
            <a:off x="543154" y="272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  </a:t>
            </a:r>
            <a:r>
              <a:rPr lang="en-US" sz="1200" b="0" dirty="0">
                <a:solidFill>
                  <a:srgbClr val="CBD5E1"/>
                </a:solidFill>
                <a:latin typeface="Segoe UI"/>
                <a:ea typeface="Segoe UI"/>
                <a:cs typeface="Segoe UI"/>
              </a:rPr>
              <a:t>You cannot await it</a:t>
            </a:r>
            <a:endParaRPr lang="en-US" sz="1200" dirty="0"/>
          </a:p>
        </p:txBody>
      </p:sp>
      <p:sp>
        <p:nvSpPr>
          <p:cNvPr id="20" name="row"/>
          <p:cNvSpPr/>
          <p:nvPr/>
        </p:nvSpPr>
        <p:spPr>
          <a:xfrm>
            <a:off x="6155284" y="272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  </a:t>
            </a:r>
            <a:r>
              <a:rPr lang="en-US" sz="1200" b="0" dirty="0">
                <a:solidFill>
                  <a:srgbClr val="CBD5E1"/>
                </a:solidFill>
                <a:latin typeface="Segoe UI"/>
                <a:ea typeface="Segoe UI"/>
                <a:cs typeface="Segoe UI"/>
              </a:rPr>
              <a:t>You can await it</a:t>
            </a:r>
            <a:endParaRPr lang="en-US" sz="1200" dirty="0"/>
          </a:p>
        </p:txBody>
      </p:sp>
      <p:sp>
        <p:nvSpPr>
          <p:cNvPr id="21" name="row"/>
          <p:cNvSpPr/>
          <p:nvPr/>
        </p:nvSpPr>
        <p:spPr>
          <a:xfrm>
            <a:off x="543154" y="324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  </a:t>
            </a:r>
            <a:r>
              <a:rPr lang="en-US" sz="1200" b="0" dirty="0">
                <a:solidFill>
                  <a:srgbClr val="CBD5E1"/>
                </a:solidFill>
                <a:latin typeface="Segoe UI"/>
                <a:ea typeface="Segoe UI"/>
                <a:cs typeface="Segoe UI"/>
              </a:rPr>
              <a:t>You cannot directly track when it completes</a:t>
            </a:r>
            <a:endParaRPr lang="en-US" sz="1200" dirty="0"/>
          </a:p>
        </p:txBody>
      </p:sp>
      <p:sp>
        <p:nvSpPr>
          <p:cNvPr id="22" name="row"/>
          <p:cNvSpPr/>
          <p:nvPr/>
        </p:nvSpPr>
        <p:spPr>
          <a:xfrm>
            <a:off x="6155284" y="324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  </a:t>
            </a:r>
            <a:r>
              <a:rPr lang="en-US" sz="1200" b="0" dirty="0">
                <a:solidFill>
                  <a:srgbClr val="CBD5E1"/>
                </a:solidFill>
                <a:latin typeface="Segoe UI"/>
                <a:ea typeface="Segoe UI"/>
                <a:cs typeface="Segoe UI"/>
              </a:rPr>
              <a:t>You can track when it completes</a:t>
            </a:r>
            <a:endParaRPr lang="en-US" sz="1200" dirty="0"/>
          </a:p>
        </p:txBody>
      </p:sp>
      <p:sp>
        <p:nvSpPr>
          <p:cNvPr id="23" name="row"/>
          <p:cNvSpPr/>
          <p:nvPr/>
        </p:nvSpPr>
        <p:spPr>
          <a:xfrm>
            <a:off x="543154" y="376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  </a:t>
            </a:r>
            <a:r>
              <a:rPr lang="en-US" sz="1200" b="0" dirty="0">
                <a:solidFill>
                  <a:srgbClr val="CBD5E1"/>
                </a:solidFill>
                <a:latin typeface="Segoe UI"/>
                <a:ea typeface="Segoe UI"/>
                <a:cs typeface="Segoe UI"/>
              </a:rPr>
              <a:t>Its exception is not stored in a returned Task</a:t>
            </a:r>
            <a:endParaRPr lang="en-US" sz="1200" dirty="0"/>
          </a:p>
        </p:txBody>
      </p:sp>
      <p:sp>
        <p:nvSpPr>
          <p:cNvPr id="24" name="row"/>
          <p:cNvSpPr/>
          <p:nvPr/>
        </p:nvSpPr>
        <p:spPr>
          <a:xfrm>
            <a:off x="6155284" y="3762768"/>
            <a:ext cx="5474970" cy="460000"/>
          </a:xfrm>
          <a:prstGeom prst="roundRect">
            <a:avLst>
              <a:gd name="adj" fmla="val 15000"/>
            </a:avLst>
          </a:prstGeom>
          <a:solidFill>
            <a:srgbClr val="111B2E"/>
          </a:solidFill>
          <a:ln w="15875">
            <a:solidFill>
              <a:srgbClr val="1E3A5F"/>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  </a:t>
            </a:r>
            <a:r>
              <a:rPr lang="en-US" sz="1200" b="0" dirty="0">
                <a:solidFill>
                  <a:srgbClr val="CBD5E1"/>
                </a:solidFill>
                <a:latin typeface="Segoe UI"/>
                <a:ea typeface="Segoe UI"/>
                <a:cs typeface="Segoe UI"/>
              </a:rPr>
              <a:t>Its exception is stored in the Task</a:t>
            </a:r>
            <a:endParaRPr lang="en-US" sz="1200" dirty="0"/>
          </a:p>
        </p:txBody>
      </p:sp>
      <p:sp>
        <p:nvSpPr>
          <p:cNvPr id="25" name="row"/>
          <p:cNvSpPr/>
          <p:nvPr/>
        </p:nvSpPr>
        <p:spPr>
          <a:xfrm>
            <a:off x="543154" y="4282768"/>
            <a:ext cx="5474970" cy="460000"/>
          </a:xfrm>
          <a:prstGeom prst="roundRect">
            <a:avLst>
              <a:gd name="adj" fmla="val 15000"/>
            </a:avLst>
          </a:prstGeom>
          <a:solidFill>
            <a:srgbClr val="111B2E"/>
          </a:solidFill>
          <a:ln w="15875">
            <a:solidFill>
              <a:srgbClr val="F87171"/>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  </a:t>
            </a:r>
            <a:r>
              <a:rPr lang="en-US" sz="1200" b="1" dirty="0">
                <a:solidFill>
                  <a:srgbClr val="FFFFFF"/>
                </a:solidFill>
                <a:latin typeface="Segoe UI"/>
                <a:ea typeface="Segoe UI"/>
                <a:cs typeface="Segoe UI"/>
              </a:rPr>
              <a:t>Can crash the application</a:t>
            </a:r>
            <a:endParaRPr lang="en-US" sz="1200" dirty="0"/>
          </a:p>
        </p:txBody>
      </p:sp>
      <p:sp>
        <p:nvSpPr>
          <p:cNvPr id="26" name="row"/>
          <p:cNvSpPr/>
          <p:nvPr/>
        </p:nvSpPr>
        <p:spPr>
          <a:xfrm>
            <a:off x="6155284" y="4282768"/>
            <a:ext cx="5474970" cy="460000"/>
          </a:xfrm>
          <a:prstGeom prst="roundRect">
            <a:avLst>
              <a:gd name="adj" fmla="val 15000"/>
            </a:avLst>
          </a:prstGeom>
          <a:solidFill>
            <a:srgbClr val="111B2E"/>
          </a:solidFill>
          <a:ln w="15875">
            <a:solidFill>
              <a:srgbClr val="34D399"/>
            </a:solidFill>
            <a:prstDash val="solid"/>
          </a:ln>
        </p:spPr>
        <p:txBody>
          <a:bodyPr wrap="square" lIns="182880" tIns="0" rIns="9144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  </a:t>
            </a:r>
            <a:r>
              <a:rPr lang="en-US" sz="1200" b="1" dirty="0">
                <a:solidFill>
                  <a:srgbClr val="FFFFFF"/>
                </a:solidFill>
                <a:latin typeface="Segoe UI"/>
                <a:ea typeface="Segoe UI"/>
                <a:cs typeface="Segoe UI"/>
              </a:rPr>
              <a:t>Handle errors with await and try/catch</a:t>
            </a:r>
            <a:endParaRPr lang="en-US" sz="1200" dirty="0"/>
          </a:p>
        </p:txBody>
      </p:sp>
      <p:sp>
        <p:nvSpPr>
          <p:cNvPr id="27"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Use async Task everywhere. Keep async void only for event handlers, where the signature forces it.</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00"/>
                                        <p:tgtEl>
                                          <p:spTgt spid="17"/>
                                        </p:tgtEl>
                                      </p:cBhvr>
                                    </p:animEffect>
                                  </p:childTnLst>
                                </p:cTn>
                              </p:par>
                              <p:par>
                                <p:cTn id="16" presetID="10" presetClass="entr" presetSubtype="0" fill="hold" grpId="0" nodeType="withEffect">
                                  <p:stCondLst>
                                    <p:cond delay="4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00"/>
                                        <p:tgtEl>
                                          <p:spTgt spid="19"/>
                                        </p:tgtEl>
                                      </p:cBhvr>
                                    </p:animEffect>
                                  </p:childTnLst>
                                </p:cTn>
                              </p:par>
                              <p:par>
                                <p:cTn id="24" presetID="10" presetClass="entr" presetSubtype="0" fill="hold" grpId="0" nodeType="withEffect">
                                  <p:stCondLst>
                                    <p:cond delay="40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300"/>
                                        <p:tgtEl>
                                          <p:spTgt spid="21"/>
                                        </p:tgtEl>
                                      </p:cBhvr>
                                    </p:animEffect>
                                  </p:childTnLst>
                                </p:cTn>
                              </p:par>
                              <p:par>
                                <p:cTn id="32" presetID="10" presetClass="entr" presetSubtype="0" fill="hold" grpId="0" nodeType="withEffect">
                                  <p:stCondLst>
                                    <p:cond delay="40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3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300"/>
                                        <p:tgtEl>
                                          <p:spTgt spid="23"/>
                                        </p:tgtEl>
                                      </p:cBhvr>
                                    </p:animEffect>
                                  </p:childTnLst>
                                </p:cTn>
                              </p:par>
                              <p:par>
                                <p:cTn id="40" presetID="10" presetClass="entr" presetSubtype="0" fill="hold" grpId="0" nodeType="withEffect">
                                  <p:stCondLst>
                                    <p:cond delay="4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3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300"/>
                                        <p:tgtEl>
                                          <p:spTgt spid="25"/>
                                        </p:tgtEl>
                                      </p:cBhvr>
                                    </p:animEffect>
                                  </p:childTnLst>
                                </p:cTn>
                              </p:par>
                              <p:par>
                                <p:cTn id="48" presetID="10" presetClass="entr" presetSubtype="0" fill="hold" grpId="0" nodeType="withEffect">
                                  <p:stCondLst>
                                    <p:cond delay="4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3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SEQUENTIAL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Does Not Mean Parallel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97</a:t>
            </a:r>
            <a:endParaRPr lang="en-US" sz="850" dirty="0"/>
          </a:p>
        </p:txBody>
      </p:sp>
      <p:sp>
        <p:nvSpPr>
          <p:cNvPr id="15" name="cw_win"/>
          <p:cNvSpPr/>
          <p:nvPr/>
        </p:nvSpPr>
        <p:spPr>
          <a:xfrm>
            <a:off x="543154" y="1572768"/>
            <a:ext cx="603504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System.Diagnostics;</a:t>
            </a:r>
            <a:endParaRPr lang="en-US" sz="1000" dirty="0"/>
          </a:p>
        </p:txBody>
      </p:sp>
      <p:sp>
        <p:nvSpPr>
          <p:cNvPr id="23" name="cw_L02"/>
          <p:cNvSpPr txBox="1"/>
          <p:nvPr/>
        </p:nvSpPr>
        <p:spPr>
          <a:xfrm>
            <a:off x="771754" y="24546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watch = Stopwatch.StartNew();</a:t>
            </a:r>
            <a:endParaRPr lang="en-US" sz="1000" dirty="0"/>
          </a:p>
        </p:txBody>
      </p:sp>
      <p:sp>
        <p:nvSpPr>
          <p:cNvPr id="24" name="cw_L04"/>
          <p:cNvSpPr txBox="1"/>
          <p:nvPr/>
        </p:nvSpPr>
        <p:spPr>
          <a:xfrm>
            <a:off x="771754" y="28610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restaurant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LoadAsync(</a:t>
            </a:r>
            <a:r>
              <a:rPr lang="en-US" sz="1000" b="0" dirty="0">
                <a:solidFill>
                  <a:srgbClr val="F0A98B"/>
                </a:solidFill>
                <a:latin typeface="Consolas"/>
                <a:ea typeface="Consolas"/>
                <a:cs typeface="Consolas"/>
              </a:rPr>
              <a:t>"Zooba"</a:t>
            </a:r>
            <a:r>
              <a:rPr lang="en-US" sz="1000" b="0" dirty="0">
                <a:solidFill>
                  <a:srgbClr val="E2E8F0"/>
                </a:solidFill>
                <a:latin typeface="Consolas"/>
                <a:ea typeface="Consolas"/>
                <a:cs typeface="Consolas"/>
              </a:rPr>
              <a:t>);</a:t>
            </a:r>
            <a:endParaRPr lang="en-US" sz="1000" dirty="0"/>
          </a:p>
        </p:txBody>
      </p:sp>
      <p:sp>
        <p:nvSpPr>
          <p:cNvPr id="25" name="cw_L05"/>
          <p:cNvSpPr txBox="1"/>
          <p:nvPr/>
        </p:nvSpPr>
        <p:spPr>
          <a:xfrm>
            <a:off x="771754" y="30642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reviews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LoadAsync(</a:t>
            </a:r>
            <a:r>
              <a:rPr lang="en-US" sz="1000" b="0" dirty="0">
                <a:solidFill>
                  <a:srgbClr val="F0A98B"/>
                </a:solidFill>
                <a:latin typeface="Consolas"/>
                <a:ea typeface="Consolas"/>
                <a:cs typeface="Consolas"/>
              </a:rPr>
              <a:t>"4.8 stars"</a:t>
            </a:r>
            <a:r>
              <a:rPr lang="en-US" sz="1000" b="0" dirty="0">
                <a:solidFill>
                  <a:srgbClr val="E2E8F0"/>
                </a:solidFill>
                <a:latin typeface="Consolas"/>
                <a:ea typeface="Consolas"/>
                <a:cs typeface="Consolas"/>
              </a:rPr>
              <a:t>);</a:t>
            </a:r>
            <a:endParaRPr lang="en-US" sz="1000" dirty="0"/>
          </a:p>
        </p:txBody>
      </p:sp>
      <p:sp>
        <p:nvSpPr>
          <p:cNvPr id="26" name="cw_L06"/>
          <p:cNvSpPr txBox="1"/>
          <p:nvPr/>
        </p:nvSpPr>
        <p:spPr>
          <a:xfrm>
            <a:off x="771754" y="32674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offers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LoadAsync(</a:t>
            </a:r>
            <a:r>
              <a:rPr lang="en-US" sz="1000" b="0" dirty="0">
                <a:solidFill>
                  <a:srgbClr val="F0A98B"/>
                </a:solidFill>
                <a:latin typeface="Consolas"/>
                <a:ea typeface="Consolas"/>
                <a:cs typeface="Consolas"/>
              </a:rPr>
              <a:t>"20% off"</a:t>
            </a:r>
            <a:r>
              <a:rPr lang="en-US" sz="1000" b="0" dirty="0">
                <a:solidFill>
                  <a:srgbClr val="E2E8F0"/>
                </a:solidFill>
                <a:latin typeface="Consolas"/>
                <a:ea typeface="Consolas"/>
                <a:cs typeface="Consolas"/>
              </a:rPr>
              <a:t>);</a:t>
            </a:r>
            <a:endParaRPr lang="en-US" sz="1000" dirty="0"/>
          </a:p>
        </p:txBody>
      </p:sp>
      <p:sp>
        <p:nvSpPr>
          <p:cNvPr id="27" name="cw_L08"/>
          <p:cNvSpPr txBox="1"/>
          <p:nvPr/>
        </p:nvSpPr>
        <p:spPr>
          <a:xfrm>
            <a:off x="771754" y="36738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$"Loaded in {watch.Elapsed.TotalSeconds:F1} s"</a:t>
            </a:r>
            <a:r>
              <a:rPr lang="en-US" sz="1000" b="0" dirty="0">
                <a:solidFill>
                  <a:srgbClr val="E2E8F0"/>
                </a:solidFill>
                <a:latin typeface="Consolas"/>
                <a:ea typeface="Consolas"/>
                <a:cs typeface="Consolas"/>
              </a:rPr>
              <a:t>);</a:t>
            </a:r>
            <a:endParaRPr lang="en-US" sz="1000" dirty="0"/>
          </a:p>
        </p:txBody>
      </p:sp>
      <p:sp>
        <p:nvSpPr>
          <p:cNvPr id="28" name="cw_L10"/>
          <p:cNvSpPr txBox="1"/>
          <p:nvPr/>
        </p:nvSpPr>
        <p:spPr>
          <a:xfrm>
            <a:off x="771754" y="40802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LoadAsync(</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data)</a:t>
            </a:r>
            <a:endParaRPr lang="en-US" sz="1000" dirty="0"/>
          </a:p>
        </p:txBody>
      </p:sp>
      <p:sp>
        <p:nvSpPr>
          <p:cNvPr id="29" name="cw_L11"/>
          <p:cNvSpPr txBox="1"/>
          <p:nvPr/>
        </p:nvSpPr>
        <p:spPr>
          <a:xfrm>
            <a:off x="771754" y="42834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0" name="cw_L12"/>
          <p:cNvSpPr txBox="1"/>
          <p:nvPr/>
        </p:nvSpPr>
        <p:spPr>
          <a:xfrm>
            <a:off x="771754" y="4486656"/>
            <a:ext cx="56509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Task.Delay(1000);   </a:t>
            </a:r>
            <a:r>
              <a:rPr lang="en-US" sz="1000" b="0" dirty="0">
                <a:solidFill>
                  <a:srgbClr val="6FAE7A"/>
                </a:solidFill>
                <a:latin typeface="Consolas"/>
                <a:ea typeface="Consolas"/>
                <a:cs typeface="Consolas"/>
              </a:rPr>
              <a:t>// each call takes 1 s</a:t>
            </a:r>
            <a:endParaRPr lang="en-US" sz="1000" dirty="0"/>
          </a:p>
        </p:txBody>
      </p:sp>
      <p:sp>
        <p:nvSpPr>
          <p:cNvPr id="31" name="cw_L13"/>
          <p:cNvSpPr txBox="1"/>
          <p:nvPr/>
        </p:nvSpPr>
        <p:spPr>
          <a:xfrm>
            <a:off x="771754" y="4689856"/>
            <a:ext cx="56509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data;</a:t>
            </a:r>
            <a:endParaRPr lang="en-US" sz="1000" dirty="0"/>
          </a:p>
        </p:txBody>
      </p:sp>
      <p:sp>
        <p:nvSpPr>
          <p:cNvPr id="32" name="cw_L14"/>
          <p:cNvSpPr txBox="1"/>
          <p:nvPr/>
        </p:nvSpPr>
        <p:spPr>
          <a:xfrm>
            <a:off x="771754" y="4893056"/>
            <a:ext cx="56509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mark"/>
          <p:cNvSpPr/>
          <p:nvPr/>
        </p:nvSpPr>
        <p:spPr>
          <a:xfrm>
            <a:off x="676656" y="2842768"/>
            <a:ext cx="5768035" cy="239776"/>
          </a:xfrm>
          <a:prstGeom prst="rect">
            <a:avLst/>
          </a:prstGeom>
          <a:solidFill>
            <a:srgbClr val="4D91F0">
              <a:alpha val="16000"/>
            </a:srgbClr>
          </a:solidFill>
          <a:ln w="15875">
            <a:solidFill>
              <a:srgbClr val="4D91F0"/>
            </a:solidFill>
            <a:prstDash val="solid"/>
          </a:ln>
        </p:spPr>
        <p:txBody>
          <a:bodyPr/>
          <a:lstStyle/>
          <a:p>
            <a:endParaRPr lang="en-US"/>
          </a:p>
        </p:txBody>
      </p:sp>
      <p:sp>
        <p:nvSpPr>
          <p:cNvPr id="34" name="lab"/>
          <p:cNvSpPr txBox="1"/>
          <p:nvPr/>
        </p:nvSpPr>
        <p:spPr>
          <a:xfrm>
            <a:off x="6852514" y="170992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restaurant</a:t>
            </a:r>
            <a:endParaRPr lang="en-US" sz="1100" dirty="0"/>
          </a:p>
        </p:txBody>
      </p:sp>
      <p:sp>
        <p:nvSpPr>
          <p:cNvPr id="35" name="lane"/>
          <p:cNvSpPr/>
          <p:nvPr/>
        </p:nvSpPr>
        <p:spPr>
          <a:xfrm>
            <a:off x="8041234" y="2148840"/>
            <a:ext cx="3589020" cy="18288"/>
          </a:xfrm>
          <a:prstGeom prst="rect">
            <a:avLst/>
          </a:prstGeom>
          <a:solidFill>
            <a:srgbClr val="1E3A5F"/>
          </a:solidFill>
          <a:ln w="12700">
            <a:solidFill>
              <a:srgbClr val="1E3A5F"/>
            </a:solidFill>
            <a:prstDash val="solid"/>
          </a:ln>
        </p:spPr>
        <p:txBody>
          <a:bodyPr/>
          <a:lstStyle/>
          <a:p>
            <a:endParaRPr lang="en-US"/>
          </a:p>
        </p:txBody>
      </p:sp>
      <p:sp>
        <p:nvSpPr>
          <p:cNvPr id="36" name="bar"/>
          <p:cNvSpPr/>
          <p:nvPr/>
        </p:nvSpPr>
        <p:spPr>
          <a:xfrm>
            <a:off x="8041234" y="1737360"/>
            <a:ext cx="1075849"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37" name="cmark"/>
          <p:cNvSpPr/>
          <p:nvPr/>
        </p:nvSpPr>
        <p:spPr>
          <a:xfrm>
            <a:off x="676656" y="3045968"/>
            <a:ext cx="5768035" cy="239776"/>
          </a:xfrm>
          <a:prstGeom prst="rect">
            <a:avLst/>
          </a:prstGeom>
          <a:solidFill>
            <a:srgbClr val="34D399">
              <a:alpha val="16000"/>
            </a:srgbClr>
          </a:solidFill>
          <a:ln w="15875">
            <a:solidFill>
              <a:srgbClr val="34D399"/>
            </a:solidFill>
            <a:prstDash val="solid"/>
          </a:ln>
        </p:spPr>
        <p:txBody>
          <a:bodyPr/>
          <a:lstStyle/>
          <a:p>
            <a:endParaRPr lang="en-US"/>
          </a:p>
        </p:txBody>
      </p:sp>
      <p:sp>
        <p:nvSpPr>
          <p:cNvPr id="38" name="lab"/>
          <p:cNvSpPr txBox="1"/>
          <p:nvPr/>
        </p:nvSpPr>
        <p:spPr>
          <a:xfrm>
            <a:off x="6852514" y="225856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reviews</a:t>
            </a:r>
            <a:endParaRPr lang="en-US" sz="1100" dirty="0"/>
          </a:p>
        </p:txBody>
      </p:sp>
      <p:sp>
        <p:nvSpPr>
          <p:cNvPr id="39" name="lane"/>
          <p:cNvSpPr/>
          <p:nvPr/>
        </p:nvSpPr>
        <p:spPr>
          <a:xfrm>
            <a:off x="8041234" y="2697480"/>
            <a:ext cx="3589020" cy="18288"/>
          </a:xfrm>
          <a:prstGeom prst="rect">
            <a:avLst/>
          </a:prstGeom>
          <a:solidFill>
            <a:srgbClr val="1E3A5F"/>
          </a:solidFill>
          <a:ln w="12700">
            <a:solidFill>
              <a:srgbClr val="1E3A5F"/>
            </a:solidFill>
            <a:prstDash val="solid"/>
          </a:ln>
        </p:spPr>
        <p:txBody>
          <a:bodyPr/>
          <a:lstStyle/>
          <a:p>
            <a:endParaRPr lang="en-US"/>
          </a:p>
        </p:txBody>
      </p:sp>
      <p:sp>
        <p:nvSpPr>
          <p:cNvPr id="40" name="bar"/>
          <p:cNvSpPr/>
          <p:nvPr/>
        </p:nvSpPr>
        <p:spPr>
          <a:xfrm>
            <a:off x="9162802" y="2286000"/>
            <a:ext cx="1075849"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41" name="cmark"/>
          <p:cNvSpPr/>
          <p:nvPr/>
        </p:nvSpPr>
        <p:spPr>
          <a:xfrm>
            <a:off x="676656" y="3249168"/>
            <a:ext cx="5768035" cy="239776"/>
          </a:xfrm>
          <a:prstGeom prst="rect">
            <a:avLst/>
          </a:prstGeom>
          <a:solidFill>
            <a:srgbClr val="FBBF24">
              <a:alpha val="16000"/>
            </a:srgbClr>
          </a:solidFill>
          <a:ln w="15875">
            <a:solidFill>
              <a:srgbClr val="FBBF24"/>
            </a:solidFill>
            <a:prstDash val="solid"/>
          </a:ln>
        </p:spPr>
        <p:txBody>
          <a:bodyPr/>
          <a:lstStyle/>
          <a:p>
            <a:endParaRPr lang="en-US"/>
          </a:p>
        </p:txBody>
      </p:sp>
      <p:sp>
        <p:nvSpPr>
          <p:cNvPr id="42" name="lab"/>
          <p:cNvSpPr txBox="1"/>
          <p:nvPr/>
        </p:nvSpPr>
        <p:spPr>
          <a:xfrm>
            <a:off x="6852514" y="280720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offers</a:t>
            </a:r>
            <a:endParaRPr lang="en-US" sz="1100" dirty="0"/>
          </a:p>
        </p:txBody>
      </p:sp>
      <p:sp>
        <p:nvSpPr>
          <p:cNvPr id="43" name="lane"/>
          <p:cNvSpPr/>
          <p:nvPr/>
        </p:nvSpPr>
        <p:spPr>
          <a:xfrm>
            <a:off x="8041234" y="3246120"/>
            <a:ext cx="3589020" cy="18288"/>
          </a:xfrm>
          <a:prstGeom prst="rect">
            <a:avLst/>
          </a:prstGeom>
          <a:solidFill>
            <a:srgbClr val="1E3A5F"/>
          </a:solidFill>
          <a:ln w="12700">
            <a:solidFill>
              <a:srgbClr val="1E3A5F"/>
            </a:solidFill>
            <a:prstDash val="solid"/>
          </a:ln>
        </p:spPr>
        <p:txBody>
          <a:bodyPr/>
          <a:lstStyle/>
          <a:p>
            <a:endParaRPr lang="en-US"/>
          </a:p>
        </p:txBody>
      </p:sp>
      <p:sp>
        <p:nvSpPr>
          <p:cNvPr id="44" name="bar"/>
          <p:cNvSpPr/>
          <p:nvPr/>
        </p:nvSpPr>
        <p:spPr>
          <a:xfrm>
            <a:off x="10284371" y="2834640"/>
            <a:ext cx="1075849"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45" name="lab"/>
          <p:cNvSpPr txBox="1"/>
          <p:nvPr/>
        </p:nvSpPr>
        <p:spPr>
          <a:xfrm>
            <a:off x="7766914"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0s</a:t>
            </a:r>
            <a:endParaRPr lang="en-US" sz="950" dirty="0"/>
          </a:p>
        </p:txBody>
      </p:sp>
      <p:sp>
        <p:nvSpPr>
          <p:cNvPr id="46" name="lab"/>
          <p:cNvSpPr txBox="1"/>
          <p:nvPr/>
        </p:nvSpPr>
        <p:spPr>
          <a:xfrm>
            <a:off x="8888482"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1s</a:t>
            </a:r>
            <a:endParaRPr lang="en-US" sz="950" dirty="0"/>
          </a:p>
        </p:txBody>
      </p:sp>
      <p:sp>
        <p:nvSpPr>
          <p:cNvPr id="47" name="lab"/>
          <p:cNvSpPr txBox="1"/>
          <p:nvPr/>
        </p:nvSpPr>
        <p:spPr>
          <a:xfrm>
            <a:off x="10010051"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2s</a:t>
            </a:r>
            <a:endParaRPr lang="en-US" sz="950" dirty="0"/>
          </a:p>
        </p:txBody>
      </p:sp>
      <p:sp>
        <p:nvSpPr>
          <p:cNvPr id="48" name="lab"/>
          <p:cNvSpPr txBox="1"/>
          <p:nvPr/>
        </p:nvSpPr>
        <p:spPr>
          <a:xfrm>
            <a:off x="11131620"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3s</a:t>
            </a:r>
            <a:endParaRPr lang="en-US" sz="950" dirty="0"/>
          </a:p>
        </p:txBody>
      </p:sp>
      <p:sp>
        <p:nvSpPr>
          <p:cNvPr id="49" name="out_win"/>
          <p:cNvSpPr/>
          <p:nvPr/>
        </p:nvSpPr>
        <p:spPr>
          <a:xfrm>
            <a:off x="6852514" y="3813048"/>
            <a:ext cx="4777740" cy="822960"/>
          </a:xfrm>
          <a:prstGeom prst="roundRect">
            <a:avLst>
              <a:gd name="adj" fmla="val 8333"/>
            </a:avLst>
          </a:prstGeom>
          <a:solidFill>
            <a:srgbClr val="060D18"/>
          </a:solidFill>
          <a:ln w="12700">
            <a:solidFill>
              <a:srgbClr val="1E3A5F"/>
            </a:solidFill>
            <a:prstDash val="solid"/>
          </a:ln>
        </p:spPr>
        <p:txBody>
          <a:bodyPr/>
          <a:lstStyle/>
          <a:p>
            <a:endParaRPr lang="en-US"/>
          </a:p>
        </p:txBody>
      </p:sp>
      <p:sp>
        <p:nvSpPr>
          <p:cNvPr id="50" name="out_bar"/>
          <p:cNvSpPr/>
          <p:nvPr/>
        </p:nvSpPr>
        <p:spPr>
          <a:xfrm>
            <a:off x="6852514" y="381304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1" name="out_barfill"/>
          <p:cNvSpPr/>
          <p:nvPr/>
        </p:nvSpPr>
        <p:spPr>
          <a:xfrm>
            <a:off x="6852514" y="3984498"/>
            <a:ext cx="4777740" cy="171450"/>
          </a:xfrm>
          <a:prstGeom prst="rect">
            <a:avLst/>
          </a:prstGeom>
          <a:solidFill>
            <a:srgbClr val="0A1220"/>
          </a:solidFill>
          <a:ln w="12700">
            <a:solidFill>
              <a:srgbClr val="0A1220"/>
            </a:solidFill>
            <a:prstDash val="solid"/>
          </a:ln>
        </p:spPr>
        <p:txBody>
          <a:bodyPr/>
          <a:lstStyle/>
          <a:p>
            <a:endParaRPr lang="en-US"/>
          </a:p>
        </p:txBody>
      </p:sp>
      <p:sp>
        <p:nvSpPr>
          <p:cNvPr id="52" name="out_dot0"/>
          <p:cNvSpPr/>
          <p:nvPr/>
        </p:nvSpPr>
        <p:spPr>
          <a:xfrm>
            <a:off x="7014362" y="3936858"/>
            <a:ext cx="95098" cy="95098"/>
          </a:xfrm>
          <a:prstGeom prst="ellipse">
            <a:avLst/>
          </a:prstGeom>
          <a:solidFill>
            <a:srgbClr val="F87171"/>
          </a:solidFill>
          <a:ln w="12700">
            <a:solidFill>
              <a:srgbClr val="F87171"/>
            </a:solidFill>
            <a:prstDash val="solid"/>
          </a:ln>
        </p:spPr>
        <p:txBody>
          <a:bodyPr/>
          <a:lstStyle/>
          <a:p>
            <a:endParaRPr lang="en-US"/>
          </a:p>
        </p:txBody>
      </p:sp>
      <p:sp>
        <p:nvSpPr>
          <p:cNvPr id="53" name="out_dot1"/>
          <p:cNvSpPr/>
          <p:nvPr/>
        </p:nvSpPr>
        <p:spPr>
          <a:xfrm>
            <a:off x="7199986" y="3936858"/>
            <a:ext cx="95098" cy="95098"/>
          </a:xfrm>
          <a:prstGeom prst="ellipse">
            <a:avLst/>
          </a:prstGeom>
          <a:solidFill>
            <a:srgbClr val="FBBF24"/>
          </a:solidFill>
          <a:ln w="12700">
            <a:solidFill>
              <a:srgbClr val="FBBF24"/>
            </a:solidFill>
            <a:prstDash val="solid"/>
          </a:ln>
        </p:spPr>
        <p:txBody>
          <a:bodyPr/>
          <a:lstStyle/>
          <a:p>
            <a:endParaRPr lang="en-US"/>
          </a:p>
        </p:txBody>
      </p:sp>
      <p:sp>
        <p:nvSpPr>
          <p:cNvPr id="54" name="out_dot2"/>
          <p:cNvSpPr/>
          <p:nvPr/>
        </p:nvSpPr>
        <p:spPr>
          <a:xfrm>
            <a:off x="7385609" y="3936858"/>
            <a:ext cx="95098" cy="95098"/>
          </a:xfrm>
          <a:prstGeom prst="ellipse">
            <a:avLst/>
          </a:prstGeom>
          <a:solidFill>
            <a:srgbClr val="34D399"/>
          </a:solidFill>
          <a:ln w="12700">
            <a:solidFill>
              <a:srgbClr val="34D399"/>
            </a:solidFill>
            <a:prstDash val="solid"/>
          </a:ln>
        </p:spPr>
        <p:txBody>
          <a:bodyPr/>
          <a:lstStyle/>
          <a:p>
            <a:endParaRPr lang="en-US"/>
          </a:p>
        </p:txBody>
      </p:sp>
      <p:sp>
        <p:nvSpPr>
          <p:cNvPr id="55" name="out_tab"/>
          <p:cNvSpPr/>
          <p:nvPr/>
        </p:nvSpPr>
        <p:spPr>
          <a:xfrm>
            <a:off x="7633411" y="386059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6" name="out_L00"/>
          <p:cNvSpPr txBox="1"/>
          <p:nvPr/>
        </p:nvSpPr>
        <p:spPr>
          <a:xfrm>
            <a:off x="7081114" y="4288536"/>
            <a:ext cx="43936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Loaded in 3.0 s</a:t>
            </a:r>
            <a:endParaRPr lang="en-US" sz="1150" dirty="0"/>
          </a:p>
        </p:txBody>
      </p:sp>
      <p:sp>
        <p:nvSpPr>
          <p:cNvPr id="57" name="card"/>
          <p:cNvSpPr/>
          <p:nvPr/>
        </p:nvSpPr>
        <p:spPr>
          <a:xfrm>
            <a:off x="6852514" y="4773168"/>
            <a:ext cx="4777740" cy="1280160"/>
          </a:xfrm>
          <a:prstGeom prst="roundRect">
            <a:avLst>
              <a:gd name="adj" fmla="val 6428"/>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F87171"/>
                </a:solidFill>
                <a:latin typeface="Segoe UI"/>
                <a:ea typeface="Segoe UI"/>
                <a:cs typeface="Segoe UI"/>
              </a:rPr>
              <a:t>SEQUENTIAL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Each call waits for the previous one: 1 + 1 + 1 = 3 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250"/>
                                        <p:tgtEl>
                                          <p:spTgt spid="3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250"/>
                                        <p:tgtEl>
                                          <p:spTgt spid="3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25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25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250"/>
                                        <p:tgtEl>
                                          <p:spTgt spid="4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250"/>
                                        <p:tgtEl>
                                          <p:spTgt spid="4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250"/>
                                        <p:tgtEl>
                                          <p:spTgt spid="4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250"/>
                                        <p:tgtEl>
                                          <p:spTgt spid="4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fade">
                                      <p:cBhvr>
                                        <p:cTn id="64" dur="250"/>
                                        <p:tgtEl>
                                          <p:spTgt spid="4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250"/>
                                        <p:tgtEl>
                                          <p:spTgt spid="4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250"/>
                                        <p:tgtEl>
                                          <p:spTgt spid="3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250"/>
                                        <p:tgtEl>
                                          <p:spTgt spid="3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250"/>
                                        <p:tgtEl>
                                          <p:spTgt spid="3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250"/>
                                        <p:tgtEl>
                                          <p:spTgt spid="4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25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250"/>
                                        <p:tgtEl>
                                          <p:spTgt spid="44"/>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6"/>
                                        </p:tgtEl>
                                        <p:attrNameLst>
                                          <p:attrName>style.visibility</p:attrName>
                                        </p:attrNameLst>
                                      </p:cBhvr>
                                      <p:to>
                                        <p:strVal val="visible"/>
                                      </p:to>
                                    </p:set>
                                    <p:animEffect transition="in" filter="fade">
                                      <p:cBhvr>
                                        <p:cTn id="96" dur="250"/>
                                        <p:tgtEl>
                                          <p:spTgt spid="5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2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p:bldP spid="35" grpId="0" animBg="1"/>
      <p:bldP spid="36" grpId="0" animBg="1"/>
      <p:bldP spid="37" grpId="0" animBg="1"/>
      <p:bldP spid="38" grpId="0"/>
      <p:bldP spid="39" grpId="0" animBg="1"/>
      <p:bldP spid="40" grpId="0" animBg="1"/>
      <p:bldP spid="41" grpId="0" animBg="1"/>
      <p:bldP spid="42" grpId="0"/>
      <p:bldP spid="43" grpId="0" animBg="1"/>
      <p:bldP spid="44" grpId="0" animBg="1"/>
      <p:bldP spid="45" grpId="0"/>
      <p:bldP spid="46" grpId="0"/>
      <p:bldP spid="47" grpId="0"/>
      <p:bldP spid="48" grpId="0"/>
      <p:bldP spid="56" grpId="0"/>
      <p:bldP spid="57"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CONCURRENT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Start First, Await Later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98</a:t>
            </a:r>
            <a:endParaRPr lang="en-US" sz="850" dirty="0"/>
          </a:p>
        </p:txBody>
      </p:sp>
      <p:sp>
        <p:nvSpPr>
          <p:cNvPr id="15" name="cw_win"/>
          <p:cNvSpPr/>
          <p:nvPr/>
        </p:nvSpPr>
        <p:spPr>
          <a:xfrm>
            <a:off x="543154" y="1572768"/>
            <a:ext cx="603504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System.Diagnostics;</a:t>
            </a:r>
            <a:endParaRPr lang="en-US" sz="950" dirty="0"/>
          </a:p>
        </p:txBody>
      </p:sp>
      <p:sp>
        <p:nvSpPr>
          <p:cNvPr id="23" name="cw_L02"/>
          <p:cNvSpPr txBox="1"/>
          <p:nvPr/>
        </p:nvSpPr>
        <p:spPr>
          <a:xfrm>
            <a:off x="771754" y="24343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watch = Stopwatch.StartNew();</a:t>
            </a:r>
            <a:endParaRPr lang="en-US" sz="950" dirty="0"/>
          </a:p>
        </p:txBody>
      </p:sp>
      <p:sp>
        <p:nvSpPr>
          <p:cNvPr id="24" name="cw_L04"/>
          <p:cNvSpPr txBox="1"/>
          <p:nvPr/>
        </p:nvSpPr>
        <p:spPr>
          <a:xfrm>
            <a:off x="771754" y="28204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restaurantTask = LoadAsync(</a:t>
            </a:r>
            <a:r>
              <a:rPr lang="en-US" sz="950" b="0" dirty="0">
                <a:solidFill>
                  <a:srgbClr val="F0A98B"/>
                </a:solidFill>
                <a:latin typeface="Consolas"/>
                <a:ea typeface="Consolas"/>
                <a:cs typeface="Consolas"/>
              </a:rPr>
              <a:t>"Zooba"</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starts</a:t>
            </a:r>
            <a:endParaRPr lang="en-US" sz="950" dirty="0"/>
          </a:p>
        </p:txBody>
      </p:sp>
      <p:sp>
        <p:nvSpPr>
          <p:cNvPr id="25" name="cw_L05"/>
          <p:cNvSpPr txBox="1"/>
          <p:nvPr/>
        </p:nvSpPr>
        <p:spPr>
          <a:xfrm>
            <a:off x="771754" y="30134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reviewsTask = LoadAsync(</a:t>
            </a:r>
            <a:r>
              <a:rPr lang="en-US" sz="950" b="0" dirty="0">
                <a:solidFill>
                  <a:srgbClr val="F0A98B"/>
                </a:solidFill>
                <a:latin typeface="Consolas"/>
                <a:ea typeface="Consolas"/>
                <a:cs typeface="Consolas"/>
              </a:rPr>
              <a:t>"4.8 stars"</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starts</a:t>
            </a:r>
            <a:endParaRPr lang="en-US" sz="950" dirty="0"/>
          </a:p>
        </p:txBody>
      </p:sp>
      <p:sp>
        <p:nvSpPr>
          <p:cNvPr id="26" name="cw_L06"/>
          <p:cNvSpPr txBox="1"/>
          <p:nvPr/>
        </p:nvSpPr>
        <p:spPr>
          <a:xfrm>
            <a:off x="771754" y="32064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offersTask = LoadAsync(</a:t>
            </a:r>
            <a:r>
              <a:rPr lang="en-US" sz="950" b="0" dirty="0">
                <a:solidFill>
                  <a:srgbClr val="F0A98B"/>
                </a:solidFill>
                <a:latin typeface="Consolas"/>
                <a:ea typeface="Consolas"/>
                <a:cs typeface="Consolas"/>
              </a:rPr>
              <a:t>"20% off"</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starts</a:t>
            </a:r>
            <a:endParaRPr lang="en-US" sz="950" dirty="0"/>
          </a:p>
        </p:txBody>
      </p:sp>
      <p:sp>
        <p:nvSpPr>
          <p:cNvPr id="27" name="cw_L08"/>
          <p:cNvSpPr txBox="1"/>
          <p:nvPr/>
        </p:nvSpPr>
        <p:spPr>
          <a:xfrm>
            <a:off x="771754" y="35925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restaurant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restaurantTask;</a:t>
            </a:r>
            <a:endParaRPr lang="en-US" sz="950" dirty="0"/>
          </a:p>
        </p:txBody>
      </p:sp>
      <p:sp>
        <p:nvSpPr>
          <p:cNvPr id="28" name="cw_L09"/>
          <p:cNvSpPr txBox="1"/>
          <p:nvPr/>
        </p:nvSpPr>
        <p:spPr>
          <a:xfrm>
            <a:off x="771754" y="37856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reviews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reviewsTask;</a:t>
            </a:r>
            <a:endParaRPr lang="en-US" sz="950" dirty="0"/>
          </a:p>
        </p:txBody>
      </p:sp>
      <p:sp>
        <p:nvSpPr>
          <p:cNvPr id="29" name="cw_L10"/>
          <p:cNvSpPr txBox="1"/>
          <p:nvPr/>
        </p:nvSpPr>
        <p:spPr>
          <a:xfrm>
            <a:off x="771754" y="39786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offers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offersTask;</a:t>
            </a:r>
            <a:endParaRPr lang="en-US" sz="950" dirty="0"/>
          </a:p>
        </p:txBody>
      </p:sp>
      <p:sp>
        <p:nvSpPr>
          <p:cNvPr id="30" name="cw_L12"/>
          <p:cNvSpPr txBox="1"/>
          <p:nvPr/>
        </p:nvSpPr>
        <p:spPr>
          <a:xfrm>
            <a:off x="771754" y="43647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$"Loaded in {watch.Elapsed.TotalSeconds:F1} s"</a:t>
            </a:r>
            <a:r>
              <a:rPr lang="en-US" sz="950" b="0" dirty="0">
                <a:solidFill>
                  <a:srgbClr val="E2E8F0"/>
                </a:solidFill>
                <a:latin typeface="Consolas"/>
                <a:ea typeface="Consolas"/>
                <a:cs typeface="Consolas"/>
              </a:rPr>
              <a:t>);</a:t>
            </a:r>
            <a:endParaRPr lang="en-US" sz="950" dirty="0"/>
          </a:p>
        </p:txBody>
      </p:sp>
      <p:sp>
        <p:nvSpPr>
          <p:cNvPr id="31" name="cw_L14"/>
          <p:cNvSpPr txBox="1"/>
          <p:nvPr/>
        </p:nvSpPr>
        <p:spPr>
          <a:xfrm>
            <a:off x="771754" y="47508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LoadAsync(</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data)</a:t>
            </a:r>
            <a:endParaRPr lang="en-US" sz="950" dirty="0"/>
          </a:p>
        </p:txBody>
      </p:sp>
      <p:sp>
        <p:nvSpPr>
          <p:cNvPr id="32" name="cw_L15"/>
          <p:cNvSpPr txBox="1"/>
          <p:nvPr/>
        </p:nvSpPr>
        <p:spPr>
          <a:xfrm>
            <a:off x="771754" y="49438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_L16"/>
          <p:cNvSpPr txBox="1"/>
          <p:nvPr/>
        </p:nvSpPr>
        <p:spPr>
          <a:xfrm>
            <a:off x="771754" y="513689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Task.Delay(1000);   </a:t>
            </a:r>
            <a:r>
              <a:rPr lang="en-US" sz="950" b="0" dirty="0">
                <a:solidFill>
                  <a:srgbClr val="6FAE7A"/>
                </a:solidFill>
                <a:latin typeface="Consolas"/>
                <a:ea typeface="Consolas"/>
                <a:cs typeface="Consolas"/>
              </a:rPr>
              <a:t>// each call takes 1 s</a:t>
            </a:r>
            <a:endParaRPr lang="en-US" sz="950" dirty="0"/>
          </a:p>
        </p:txBody>
      </p:sp>
      <p:sp>
        <p:nvSpPr>
          <p:cNvPr id="34" name="cw_L17"/>
          <p:cNvSpPr txBox="1"/>
          <p:nvPr/>
        </p:nvSpPr>
        <p:spPr>
          <a:xfrm>
            <a:off x="771754" y="532993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data;</a:t>
            </a:r>
            <a:endParaRPr lang="en-US" sz="950" dirty="0"/>
          </a:p>
        </p:txBody>
      </p:sp>
      <p:sp>
        <p:nvSpPr>
          <p:cNvPr id="35" name="cw_L18"/>
          <p:cNvSpPr txBox="1"/>
          <p:nvPr/>
        </p:nvSpPr>
        <p:spPr>
          <a:xfrm>
            <a:off x="771754" y="55229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cmark"/>
          <p:cNvSpPr/>
          <p:nvPr/>
        </p:nvSpPr>
        <p:spPr>
          <a:xfrm>
            <a:off x="676656" y="2802128"/>
            <a:ext cx="5768035" cy="229616"/>
          </a:xfrm>
          <a:prstGeom prst="rect">
            <a:avLst/>
          </a:prstGeom>
          <a:solidFill>
            <a:srgbClr val="4D91F0">
              <a:alpha val="16000"/>
            </a:srgbClr>
          </a:solidFill>
          <a:ln w="15875">
            <a:solidFill>
              <a:srgbClr val="4D91F0"/>
            </a:solidFill>
            <a:prstDash val="solid"/>
          </a:ln>
        </p:spPr>
        <p:txBody>
          <a:bodyPr/>
          <a:lstStyle/>
          <a:p>
            <a:endParaRPr lang="en-US"/>
          </a:p>
        </p:txBody>
      </p:sp>
      <p:sp>
        <p:nvSpPr>
          <p:cNvPr id="37" name="cmark"/>
          <p:cNvSpPr/>
          <p:nvPr/>
        </p:nvSpPr>
        <p:spPr>
          <a:xfrm>
            <a:off x="676656" y="2995168"/>
            <a:ext cx="5768035" cy="229616"/>
          </a:xfrm>
          <a:prstGeom prst="rect">
            <a:avLst/>
          </a:prstGeom>
          <a:solidFill>
            <a:srgbClr val="34D399">
              <a:alpha val="16000"/>
            </a:srgbClr>
          </a:solidFill>
          <a:ln w="15875">
            <a:solidFill>
              <a:srgbClr val="34D399"/>
            </a:solidFill>
            <a:prstDash val="solid"/>
          </a:ln>
        </p:spPr>
        <p:txBody>
          <a:bodyPr/>
          <a:lstStyle/>
          <a:p>
            <a:endParaRPr lang="en-US"/>
          </a:p>
        </p:txBody>
      </p:sp>
      <p:sp>
        <p:nvSpPr>
          <p:cNvPr id="38" name="cmark"/>
          <p:cNvSpPr/>
          <p:nvPr/>
        </p:nvSpPr>
        <p:spPr>
          <a:xfrm>
            <a:off x="676656" y="3188208"/>
            <a:ext cx="5768035" cy="229616"/>
          </a:xfrm>
          <a:prstGeom prst="rect">
            <a:avLst/>
          </a:prstGeom>
          <a:solidFill>
            <a:srgbClr val="FBBF24">
              <a:alpha val="16000"/>
            </a:srgbClr>
          </a:solidFill>
          <a:ln w="15875">
            <a:solidFill>
              <a:srgbClr val="FBBF24"/>
            </a:solidFill>
            <a:prstDash val="solid"/>
          </a:ln>
        </p:spPr>
        <p:txBody>
          <a:bodyPr/>
          <a:lstStyle/>
          <a:p>
            <a:endParaRPr lang="en-US"/>
          </a:p>
        </p:txBody>
      </p:sp>
      <p:sp>
        <p:nvSpPr>
          <p:cNvPr id="39" name="cmark"/>
          <p:cNvSpPr/>
          <p:nvPr/>
        </p:nvSpPr>
        <p:spPr>
          <a:xfrm>
            <a:off x="676656" y="3574288"/>
            <a:ext cx="5768035" cy="229616"/>
          </a:xfrm>
          <a:prstGeom prst="rect">
            <a:avLst/>
          </a:prstGeom>
          <a:solidFill>
            <a:srgbClr val="13D0F7">
              <a:alpha val="16000"/>
            </a:srgbClr>
          </a:solidFill>
          <a:ln w="15875">
            <a:solidFill>
              <a:srgbClr val="13D0F7"/>
            </a:solidFill>
            <a:prstDash val="solid"/>
          </a:ln>
        </p:spPr>
        <p:txBody>
          <a:bodyPr/>
          <a:lstStyle/>
          <a:p>
            <a:endParaRPr lang="en-US"/>
          </a:p>
        </p:txBody>
      </p:sp>
      <p:sp>
        <p:nvSpPr>
          <p:cNvPr id="40" name="lab"/>
          <p:cNvSpPr txBox="1"/>
          <p:nvPr/>
        </p:nvSpPr>
        <p:spPr>
          <a:xfrm>
            <a:off x="6852514" y="170992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restaurant</a:t>
            </a:r>
            <a:endParaRPr lang="en-US" sz="1100" dirty="0"/>
          </a:p>
        </p:txBody>
      </p:sp>
      <p:sp>
        <p:nvSpPr>
          <p:cNvPr id="41" name="lane"/>
          <p:cNvSpPr/>
          <p:nvPr/>
        </p:nvSpPr>
        <p:spPr>
          <a:xfrm>
            <a:off x="8041234" y="2148840"/>
            <a:ext cx="3589020" cy="18288"/>
          </a:xfrm>
          <a:prstGeom prst="rect">
            <a:avLst/>
          </a:prstGeom>
          <a:solidFill>
            <a:srgbClr val="1E3A5F"/>
          </a:solidFill>
          <a:ln w="12700">
            <a:solidFill>
              <a:srgbClr val="1E3A5F"/>
            </a:solidFill>
            <a:prstDash val="solid"/>
          </a:ln>
        </p:spPr>
        <p:txBody>
          <a:bodyPr/>
          <a:lstStyle/>
          <a:p>
            <a:endParaRPr lang="en-US"/>
          </a:p>
        </p:txBody>
      </p:sp>
      <p:sp>
        <p:nvSpPr>
          <p:cNvPr id="42" name="bar"/>
          <p:cNvSpPr/>
          <p:nvPr/>
        </p:nvSpPr>
        <p:spPr>
          <a:xfrm>
            <a:off x="8041234" y="1737360"/>
            <a:ext cx="1075849" cy="384048"/>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43" name="lab"/>
          <p:cNvSpPr txBox="1"/>
          <p:nvPr/>
        </p:nvSpPr>
        <p:spPr>
          <a:xfrm>
            <a:off x="6852514" y="225856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reviews</a:t>
            </a:r>
            <a:endParaRPr lang="en-US" sz="1100" dirty="0"/>
          </a:p>
        </p:txBody>
      </p:sp>
      <p:sp>
        <p:nvSpPr>
          <p:cNvPr id="44" name="lane"/>
          <p:cNvSpPr/>
          <p:nvPr/>
        </p:nvSpPr>
        <p:spPr>
          <a:xfrm>
            <a:off x="8041234" y="2697480"/>
            <a:ext cx="3589020" cy="18288"/>
          </a:xfrm>
          <a:prstGeom prst="rect">
            <a:avLst/>
          </a:prstGeom>
          <a:solidFill>
            <a:srgbClr val="1E3A5F"/>
          </a:solidFill>
          <a:ln w="12700">
            <a:solidFill>
              <a:srgbClr val="1E3A5F"/>
            </a:solidFill>
            <a:prstDash val="solid"/>
          </a:ln>
        </p:spPr>
        <p:txBody>
          <a:bodyPr/>
          <a:lstStyle/>
          <a:p>
            <a:endParaRPr lang="en-US"/>
          </a:p>
        </p:txBody>
      </p:sp>
      <p:sp>
        <p:nvSpPr>
          <p:cNvPr id="45" name="bar"/>
          <p:cNvSpPr/>
          <p:nvPr/>
        </p:nvSpPr>
        <p:spPr>
          <a:xfrm>
            <a:off x="8041234" y="2286000"/>
            <a:ext cx="1075849" cy="384048"/>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46" name="lab"/>
          <p:cNvSpPr txBox="1"/>
          <p:nvPr/>
        </p:nvSpPr>
        <p:spPr>
          <a:xfrm>
            <a:off x="6852514" y="2807208"/>
            <a:ext cx="10972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offers</a:t>
            </a:r>
            <a:endParaRPr lang="en-US" sz="1100" dirty="0"/>
          </a:p>
        </p:txBody>
      </p:sp>
      <p:sp>
        <p:nvSpPr>
          <p:cNvPr id="47" name="lane"/>
          <p:cNvSpPr/>
          <p:nvPr/>
        </p:nvSpPr>
        <p:spPr>
          <a:xfrm>
            <a:off x="8041234" y="3246120"/>
            <a:ext cx="3589020" cy="18288"/>
          </a:xfrm>
          <a:prstGeom prst="rect">
            <a:avLst/>
          </a:prstGeom>
          <a:solidFill>
            <a:srgbClr val="1E3A5F"/>
          </a:solidFill>
          <a:ln w="12700">
            <a:solidFill>
              <a:srgbClr val="1E3A5F"/>
            </a:solidFill>
            <a:prstDash val="solid"/>
          </a:ln>
        </p:spPr>
        <p:txBody>
          <a:bodyPr/>
          <a:lstStyle/>
          <a:p>
            <a:endParaRPr lang="en-US"/>
          </a:p>
        </p:txBody>
      </p:sp>
      <p:sp>
        <p:nvSpPr>
          <p:cNvPr id="48" name="bar"/>
          <p:cNvSpPr/>
          <p:nvPr/>
        </p:nvSpPr>
        <p:spPr>
          <a:xfrm>
            <a:off x="8041234" y="2834640"/>
            <a:ext cx="1075849" cy="384048"/>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1 s</a:t>
            </a:r>
            <a:endParaRPr lang="en-US" sz="1000" dirty="0"/>
          </a:p>
        </p:txBody>
      </p:sp>
      <p:sp>
        <p:nvSpPr>
          <p:cNvPr id="49" name="lab"/>
          <p:cNvSpPr txBox="1"/>
          <p:nvPr/>
        </p:nvSpPr>
        <p:spPr>
          <a:xfrm>
            <a:off x="7766914"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0s</a:t>
            </a:r>
            <a:endParaRPr lang="en-US" sz="950" dirty="0"/>
          </a:p>
        </p:txBody>
      </p:sp>
      <p:sp>
        <p:nvSpPr>
          <p:cNvPr id="50" name="lab"/>
          <p:cNvSpPr txBox="1"/>
          <p:nvPr/>
        </p:nvSpPr>
        <p:spPr>
          <a:xfrm>
            <a:off x="8888482"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1s</a:t>
            </a:r>
            <a:endParaRPr lang="en-US" sz="950" dirty="0"/>
          </a:p>
        </p:txBody>
      </p:sp>
      <p:sp>
        <p:nvSpPr>
          <p:cNvPr id="51" name="lab"/>
          <p:cNvSpPr txBox="1"/>
          <p:nvPr/>
        </p:nvSpPr>
        <p:spPr>
          <a:xfrm>
            <a:off x="10010051"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2s</a:t>
            </a:r>
            <a:endParaRPr lang="en-US" sz="950" dirty="0"/>
          </a:p>
        </p:txBody>
      </p:sp>
      <p:sp>
        <p:nvSpPr>
          <p:cNvPr id="52" name="lab"/>
          <p:cNvSpPr txBox="1"/>
          <p:nvPr/>
        </p:nvSpPr>
        <p:spPr>
          <a:xfrm>
            <a:off x="11131620" y="3355848"/>
            <a:ext cx="54864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64748B"/>
                </a:solidFill>
                <a:latin typeface="Segoe UI"/>
                <a:ea typeface="Segoe UI"/>
                <a:cs typeface="Segoe UI"/>
              </a:rPr>
              <a:t>3s</a:t>
            </a:r>
            <a:endParaRPr lang="en-US" sz="950" dirty="0"/>
          </a:p>
        </p:txBody>
      </p:sp>
      <p:sp>
        <p:nvSpPr>
          <p:cNvPr id="53" name="out_win"/>
          <p:cNvSpPr/>
          <p:nvPr/>
        </p:nvSpPr>
        <p:spPr>
          <a:xfrm>
            <a:off x="6852514" y="3813048"/>
            <a:ext cx="4777740" cy="822960"/>
          </a:xfrm>
          <a:prstGeom prst="roundRect">
            <a:avLst>
              <a:gd name="adj" fmla="val 8333"/>
            </a:avLst>
          </a:prstGeom>
          <a:solidFill>
            <a:srgbClr val="060D18"/>
          </a:solidFill>
          <a:ln w="12700">
            <a:solidFill>
              <a:srgbClr val="1E3A5F"/>
            </a:solidFill>
            <a:prstDash val="solid"/>
          </a:ln>
        </p:spPr>
        <p:txBody>
          <a:bodyPr/>
          <a:lstStyle/>
          <a:p>
            <a:endParaRPr lang="en-US"/>
          </a:p>
        </p:txBody>
      </p:sp>
      <p:sp>
        <p:nvSpPr>
          <p:cNvPr id="54" name="out_bar"/>
          <p:cNvSpPr/>
          <p:nvPr/>
        </p:nvSpPr>
        <p:spPr>
          <a:xfrm>
            <a:off x="6852514" y="381304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5" name="out_barfill"/>
          <p:cNvSpPr/>
          <p:nvPr/>
        </p:nvSpPr>
        <p:spPr>
          <a:xfrm>
            <a:off x="6852514" y="3984498"/>
            <a:ext cx="4777740" cy="171450"/>
          </a:xfrm>
          <a:prstGeom prst="rect">
            <a:avLst/>
          </a:prstGeom>
          <a:solidFill>
            <a:srgbClr val="0A1220"/>
          </a:solidFill>
          <a:ln w="12700">
            <a:solidFill>
              <a:srgbClr val="0A1220"/>
            </a:solidFill>
            <a:prstDash val="solid"/>
          </a:ln>
        </p:spPr>
        <p:txBody>
          <a:bodyPr/>
          <a:lstStyle/>
          <a:p>
            <a:endParaRPr lang="en-US"/>
          </a:p>
        </p:txBody>
      </p:sp>
      <p:sp>
        <p:nvSpPr>
          <p:cNvPr id="56" name="out_dot0"/>
          <p:cNvSpPr/>
          <p:nvPr/>
        </p:nvSpPr>
        <p:spPr>
          <a:xfrm>
            <a:off x="7014362" y="3936858"/>
            <a:ext cx="95098" cy="95098"/>
          </a:xfrm>
          <a:prstGeom prst="ellipse">
            <a:avLst/>
          </a:prstGeom>
          <a:solidFill>
            <a:srgbClr val="F87171"/>
          </a:solidFill>
          <a:ln w="12700">
            <a:solidFill>
              <a:srgbClr val="F87171"/>
            </a:solidFill>
            <a:prstDash val="solid"/>
          </a:ln>
        </p:spPr>
        <p:txBody>
          <a:bodyPr/>
          <a:lstStyle/>
          <a:p>
            <a:endParaRPr lang="en-US"/>
          </a:p>
        </p:txBody>
      </p:sp>
      <p:sp>
        <p:nvSpPr>
          <p:cNvPr id="57" name="out_dot1"/>
          <p:cNvSpPr/>
          <p:nvPr/>
        </p:nvSpPr>
        <p:spPr>
          <a:xfrm>
            <a:off x="7199986" y="3936858"/>
            <a:ext cx="95098" cy="95098"/>
          </a:xfrm>
          <a:prstGeom prst="ellipse">
            <a:avLst/>
          </a:prstGeom>
          <a:solidFill>
            <a:srgbClr val="FBBF24"/>
          </a:solidFill>
          <a:ln w="12700">
            <a:solidFill>
              <a:srgbClr val="FBBF24"/>
            </a:solidFill>
            <a:prstDash val="solid"/>
          </a:ln>
        </p:spPr>
        <p:txBody>
          <a:bodyPr/>
          <a:lstStyle/>
          <a:p>
            <a:endParaRPr lang="en-US"/>
          </a:p>
        </p:txBody>
      </p:sp>
      <p:sp>
        <p:nvSpPr>
          <p:cNvPr id="58" name="out_dot2"/>
          <p:cNvSpPr/>
          <p:nvPr/>
        </p:nvSpPr>
        <p:spPr>
          <a:xfrm>
            <a:off x="7385609" y="3936858"/>
            <a:ext cx="95098" cy="95098"/>
          </a:xfrm>
          <a:prstGeom prst="ellipse">
            <a:avLst/>
          </a:prstGeom>
          <a:solidFill>
            <a:srgbClr val="34D399"/>
          </a:solidFill>
          <a:ln w="12700">
            <a:solidFill>
              <a:srgbClr val="34D399"/>
            </a:solidFill>
            <a:prstDash val="solid"/>
          </a:ln>
        </p:spPr>
        <p:txBody>
          <a:bodyPr/>
          <a:lstStyle/>
          <a:p>
            <a:endParaRPr lang="en-US"/>
          </a:p>
        </p:txBody>
      </p:sp>
      <p:sp>
        <p:nvSpPr>
          <p:cNvPr id="59" name="out_tab"/>
          <p:cNvSpPr/>
          <p:nvPr/>
        </p:nvSpPr>
        <p:spPr>
          <a:xfrm>
            <a:off x="7633411" y="386059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60" name="out_L00"/>
          <p:cNvSpPr txBox="1"/>
          <p:nvPr/>
        </p:nvSpPr>
        <p:spPr>
          <a:xfrm>
            <a:off x="7081114" y="4288536"/>
            <a:ext cx="439369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Loaded in 1.0 s</a:t>
            </a:r>
            <a:endParaRPr lang="en-US" sz="1150" dirty="0"/>
          </a:p>
        </p:txBody>
      </p:sp>
      <p:sp>
        <p:nvSpPr>
          <p:cNvPr id="61" name="card"/>
          <p:cNvSpPr/>
          <p:nvPr/>
        </p:nvSpPr>
        <p:spPr>
          <a:xfrm>
            <a:off x="6852514" y="4773168"/>
            <a:ext cx="4777740" cy="1280160"/>
          </a:xfrm>
          <a:prstGeom prst="roundRect">
            <a:avLst>
              <a:gd name="adj" fmla="val 6428"/>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34D399"/>
                </a:solidFill>
                <a:latin typeface="Segoe UI"/>
                <a:ea typeface="Segoe UI"/>
                <a:cs typeface="Segoe UI"/>
              </a:rPr>
              <a:t>CONCURRENT</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All three wait together: total = the slowest call.</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25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25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250"/>
                                        <p:tgtEl>
                                          <p:spTgt spid="4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250"/>
                                        <p:tgtEl>
                                          <p:spTgt spid="4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250"/>
                                        <p:tgtEl>
                                          <p:spTgt spid="4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fade">
                                      <p:cBhvr>
                                        <p:cTn id="64" dur="250"/>
                                        <p:tgtEl>
                                          <p:spTgt spid="4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250"/>
                                        <p:tgtEl>
                                          <p:spTgt spid="4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250"/>
                                        <p:tgtEl>
                                          <p:spTgt spid="5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250"/>
                                        <p:tgtEl>
                                          <p:spTgt spid="5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25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25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250"/>
                                        <p:tgtEl>
                                          <p:spTgt spid="3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250"/>
                                        <p:tgtEl>
                                          <p:spTgt spid="3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250"/>
                                        <p:tgtEl>
                                          <p:spTgt spid="4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250"/>
                                        <p:tgtEl>
                                          <p:spTgt spid="4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250"/>
                                        <p:tgtEl>
                                          <p:spTgt spid="4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250"/>
                                        <p:tgtEl>
                                          <p:spTgt spid="39"/>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fade">
                                      <p:cBhvr>
                                        <p:cTn id="106" dur="250"/>
                                        <p:tgtEl>
                                          <p:spTgt spid="60"/>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61"/>
                                        </p:tgtEl>
                                        <p:attrNameLst>
                                          <p:attrName>style.visibility</p:attrName>
                                        </p:attrNameLst>
                                      </p:cBhvr>
                                      <p:to>
                                        <p:strVal val="visible"/>
                                      </p:to>
                                    </p:set>
                                    <p:animEffect transition="in" filter="fade">
                                      <p:cBhvr>
                                        <p:cTn id="111"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animBg="1"/>
      <p:bldP spid="37" grpId="0" animBg="1"/>
      <p:bldP spid="38" grpId="0" animBg="1"/>
      <p:bldP spid="39" grpId="0" animBg="1"/>
      <p:bldP spid="40" grpId="0"/>
      <p:bldP spid="41" grpId="0" animBg="1"/>
      <p:bldP spid="42" grpId="0" animBg="1"/>
      <p:bldP spid="43" grpId="0"/>
      <p:bldP spid="44" grpId="0" animBg="1"/>
      <p:bldP spid="45" grpId="0" animBg="1"/>
      <p:bldP spid="46" grpId="0"/>
      <p:bldP spid="47" grpId="0" animBg="1"/>
      <p:bldP spid="48" grpId="0" animBg="1"/>
      <p:bldP spid="49" grpId="0"/>
      <p:bldP spid="50" grpId="0"/>
      <p:bldP spid="51" grpId="0"/>
      <p:bldP spid="52" grpId="0"/>
      <p:bldP spid="60" grpId="0"/>
      <p:bldP spid="61"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How Long Does It Take?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99</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Roughly how long until Done is printed?</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Task first = Task.Delay(2000);</a:t>
            </a:r>
            <a:endParaRPr lang="en-US" sz="1300" dirty="0"/>
          </a:p>
        </p:txBody>
      </p:sp>
      <p:sp>
        <p:nvSpPr>
          <p:cNvPr id="24" name="cw_L01"/>
          <p:cNvSpPr txBox="1"/>
          <p:nvPr/>
        </p:nvSpPr>
        <p:spPr>
          <a:xfrm>
            <a:off x="771754" y="244957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Task second = Task.Delay(3000);</a:t>
            </a:r>
            <a:endParaRPr lang="en-US" sz="1300" dirty="0"/>
          </a:p>
        </p:txBody>
      </p:sp>
      <p:sp>
        <p:nvSpPr>
          <p:cNvPr id="25" name="cw_L03"/>
          <p:cNvSpPr txBox="1"/>
          <p:nvPr/>
        </p:nvSpPr>
        <p:spPr>
          <a:xfrm>
            <a:off x="771754" y="297789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0A5FA"/>
                </a:solidFill>
                <a:latin typeface="Consolas"/>
                <a:ea typeface="Consolas"/>
                <a:cs typeface="Consolas"/>
              </a:rPr>
              <a:t>await</a:t>
            </a:r>
            <a:r>
              <a:rPr lang="en-US" sz="1300" b="0" dirty="0">
                <a:solidFill>
                  <a:srgbClr val="E2E8F0"/>
                </a:solidFill>
                <a:latin typeface="Consolas"/>
                <a:ea typeface="Consolas"/>
                <a:cs typeface="Consolas"/>
              </a:rPr>
              <a:t> first;</a:t>
            </a:r>
            <a:endParaRPr lang="en-US" sz="1300" dirty="0"/>
          </a:p>
        </p:txBody>
      </p:sp>
      <p:sp>
        <p:nvSpPr>
          <p:cNvPr id="26" name="cw_L04"/>
          <p:cNvSpPr txBox="1"/>
          <p:nvPr/>
        </p:nvSpPr>
        <p:spPr>
          <a:xfrm>
            <a:off x="771754" y="324205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0A5FA"/>
                </a:solidFill>
                <a:latin typeface="Consolas"/>
                <a:ea typeface="Consolas"/>
                <a:cs typeface="Consolas"/>
              </a:rPr>
              <a:t>await</a:t>
            </a:r>
            <a:r>
              <a:rPr lang="en-US" sz="1300" b="0" dirty="0">
                <a:solidFill>
                  <a:srgbClr val="E2E8F0"/>
                </a:solidFill>
                <a:latin typeface="Consolas"/>
                <a:ea typeface="Consolas"/>
                <a:cs typeface="Consolas"/>
              </a:rPr>
              <a:t> second;</a:t>
            </a:r>
            <a:endParaRPr lang="en-US" sz="1300" dirty="0"/>
          </a:p>
        </p:txBody>
      </p:sp>
      <p:sp>
        <p:nvSpPr>
          <p:cNvPr id="27" name="cw_L06"/>
          <p:cNvSpPr txBox="1"/>
          <p:nvPr/>
        </p:nvSpPr>
        <p:spPr>
          <a:xfrm>
            <a:off x="771754" y="377037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E2E8F0"/>
                </a:solidFill>
                <a:latin typeface="Consolas"/>
                <a:ea typeface="Consolas"/>
                <a:cs typeface="Consolas"/>
              </a:rPr>
              <a:t>Console.WriteLine(</a:t>
            </a:r>
            <a:r>
              <a:rPr lang="en-US" sz="1300" b="0" dirty="0">
                <a:solidFill>
                  <a:srgbClr val="F0A98B"/>
                </a:solidFill>
                <a:latin typeface="Consolas"/>
                <a:ea typeface="Consolas"/>
                <a:cs typeface="Consolas"/>
              </a:rPr>
              <a:t>"Done"</a:t>
            </a:r>
            <a:r>
              <a:rPr lang="en-US" sz="1300" b="0" dirty="0">
                <a:solidFill>
                  <a:srgbClr val="E2E8F0"/>
                </a:solidFill>
                <a:latin typeface="Consolas"/>
                <a:ea typeface="Consolas"/>
                <a:cs typeface="Consolas"/>
              </a:rPr>
              <a:t>);</a:t>
            </a:r>
            <a:endParaRPr lang="en-US" sz="1300" dirty="0"/>
          </a:p>
        </p:txBody>
      </p:sp>
      <p:sp>
        <p:nvSpPr>
          <p:cNvPr id="28"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2 seconds</a:t>
            </a:r>
            <a:endParaRPr lang="en-US" sz="1400" dirty="0"/>
          </a:p>
        </p:txBody>
      </p:sp>
      <p:sp>
        <p:nvSpPr>
          <p:cNvPr id="29"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3 seconds</a:t>
            </a:r>
            <a:endParaRPr lang="en-US" sz="1400" dirty="0"/>
          </a:p>
        </p:txBody>
      </p:sp>
      <p:sp>
        <p:nvSpPr>
          <p:cNvPr id="30"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5 seconds</a:t>
            </a:r>
            <a:endParaRPr lang="en-US" sz="1400" dirty="0"/>
          </a:p>
        </p:txBody>
      </p:sp>
      <p:sp>
        <p:nvSpPr>
          <p:cNvPr id="31"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Immediately</a:t>
            </a:r>
            <a:endParaRPr lang="en-US" sz="1400" dirty="0"/>
          </a:p>
        </p:txBody>
      </p:sp>
      <p:sp>
        <p:nvSpPr>
          <p:cNvPr id="32"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3 seconds</a:t>
            </a:r>
            <a:endParaRPr lang="en-US" sz="1400" dirty="0"/>
          </a:p>
        </p:txBody>
      </p:sp>
      <p:sp>
        <p:nvSpPr>
          <p:cNvPr id="33"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Both timers start immediately when Task.Delay is called. After first completes (2 s), second only has 1 s left.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25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25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animBg="1"/>
      <p:bldP spid="29" grpId="0" animBg="1"/>
      <p:bldP spid="30" grpId="0" animBg="1"/>
      <p:bldP spid="31" grpId="0" animBg="1"/>
      <p:bldP spid="32" grpId="0" animBg="1"/>
      <p:bldP spid="3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5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LAB</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A Fake Employee Database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100</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200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EmployeeRepository.cs</a:t>
            </a:r>
            <a:endParaRPr lang="en-US" sz="950" dirty="0"/>
          </a:p>
        </p:txBody>
      </p:sp>
      <p:sp>
        <p:nvSpPr>
          <p:cNvPr id="36" name="cw_hl00"/>
          <p:cNvSpPr/>
          <p:nvPr/>
        </p:nvSpPr>
        <p:spPr>
          <a:xfrm>
            <a:off x="676656" y="1982928"/>
            <a:ext cx="6082996" cy="229616"/>
          </a:xfrm>
          <a:prstGeom prst="rect">
            <a:avLst/>
          </a:prstGeom>
          <a:solidFill>
            <a:srgbClr val="A78BFA">
              <a:alpha val="15000"/>
            </a:srgbClr>
          </a:solidFill>
          <a:ln w="12700">
            <a:solidFill>
              <a:srgbClr val="A78BFA"/>
            </a:solidFill>
            <a:prstDash val="solid"/>
          </a:ln>
        </p:spPr>
        <p:txBody>
          <a:bodyPr/>
          <a:lstStyle/>
          <a:p>
            <a:endParaRPr lang="en-US"/>
          </a:p>
        </p:txBody>
      </p:sp>
      <p:sp>
        <p:nvSpPr>
          <p:cNvPr id="37" name="cw_hl03"/>
          <p:cNvSpPr/>
          <p:nvPr/>
        </p:nvSpPr>
        <p:spPr>
          <a:xfrm>
            <a:off x="676656" y="2562048"/>
            <a:ext cx="6082996" cy="1001776"/>
          </a:xfrm>
          <a:prstGeom prst="rect">
            <a:avLst/>
          </a:prstGeom>
          <a:solidFill>
            <a:srgbClr val="13D0F7">
              <a:alpha val="15000"/>
            </a:srgbClr>
          </a:solidFill>
          <a:ln w="12700">
            <a:solidFill>
              <a:srgbClr val="13D0F7"/>
            </a:solidFill>
            <a:prstDash val="solid"/>
          </a:ln>
        </p:spPr>
        <p:txBody>
          <a:bodyPr/>
          <a:lstStyle/>
          <a:p>
            <a:endParaRPr lang="en-US"/>
          </a:p>
        </p:txBody>
      </p:sp>
      <p:sp>
        <p:nvSpPr>
          <p:cNvPr id="38" name="cw_hl08"/>
          <p:cNvSpPr/>
          <p:nvPr/>
        </p:nvSpPr>
        <p:spPr>
          <a:xfrm>
            <a:off x="676656" y="3527248"/>
            <a:ext cx="6082996" cy="808736"/>
          </a:xfrm>
          <a:prstGeom prst="rect">
            <a:avLst/>
          </a:prstGeom>
          <a:solidFill>
            <a:srgbClr val="34D399">
              <a:alpha val="15000"/>
            </a:srgbClr>
          </a:solidFill>
          <a:ln w="12700">
            <a:solidFill>
              <a:srgbClr val="34D399"/>
            </a:solidFill>
            <a:prstDash val="solid"/>
          </a:ln>
        </p:spPr>
        <p:txBody>
          <a:bodyPr/>
          <a:lstStyle/>
          <a:p>
            <a:endParaRPr lang="en-US"/>
          </a:p>
        </p:txBody>
      </p:sp>
      <p:sp>
        <p:nvSpPr>
          <p:cNvPr id="22" name="cw_L00"/>
          <p:cNvSpPr txBox="1"/>
          <p:nvPr/>
        </p:nvSpPr>
        <p:spPr>
          <a:xfrm>
            <a:off x="771754" y="200121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 </a:t>
            </a:r>
            <a:r>
              <a:rPr lang="en-US" sz="950" b="0" dirty="0">
                <a:solidFill>
                  <a:srgbClr val="E2E8F0"/>
                </a:solidFill>
                <a:latin typeface="Consolas"/>
                <a:ea typeface="Consolas"/>
                <a:cs typeface="Consolas"/>
              </a:rPr>
              <a:t>record Employee(</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 </a:t>
            </a:r>
            <a:r>
              <a:rPr lang="en-US" sz="950" b="0" dirty="0">
                <a:solidFill>
                  <a:srgbClr val="60A5FA"/>
                </a:solidFill>
                <a:latin typeface="Consolas"/>
                <a:ea typeface="Consolas"/>
                <a:cs typeface="Consolas"/>
              </a:rPr>
              <a:t>string </a:t>
            </a:r>
            <a:r>
              <a:rPr lang="en-US" sz="950" b="0" dirty="0">
                <a:solidFill>
                  <a:srgbClr val="E2E8F0"/>
                </a:solidFill>
                <a:latin typeface="Consolas"/>
                <a:ea typeface="Consolas"/>
                <a:cs typeface="Consolas"/>
              </a:rPr>
              <a:t>Name, </a:t>
            </a:r>
            <a:r>
              <a:rPr lang="en-US" sz="950" b="0" dirty="0">
                <a:solidFill>
                  <a:srgbClr val="60A5FA"/>
                </a:solidFill>
                <a:latin typeface="Consolas"/>
                <a:ea typeface="Consolas"/>
                <a:cs typeface="Consolas"/>
              </a:rPr>
              <a:t>decimal </a:t>
            </a:r>
            <a:r>
              <a:rPr lang="en-US" sz="950" b="0" dirty="0">
                <a:solidFill>
                  <a:srgbClr val="E2E8F0"/>
                </a:solidFill>
                <a:latin typeface="Consolas"/>
                <a:ea typeface="Consolas"/>
                <a:cs typeface="Consolas"/>
              </a:rPr>
              <a:t>Salary);</a:t>
            </a:r>
            <a:endParaRPr lang="en-US" sz="950" dirty="0"/>
          </a:p>
        </p:txBody>
      </p:sp>
      <p:sp>
        <p:nvSpPr>
          <p:cNvPr id="23" name="cw_L01"/>
          <p:cNvSpPr txBox="1"/>
          <p:nvPr/>
        </p:nvSpPr>
        <p:spPr>
          <a:xfrm>
            <a:off x="771754" y="219425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 class </a:t>
            </a:r>
            <a:r>
              <a:rPr lang="en-US" sz="950" b="0" dirty="0">
                <a:solidFill>
                  <a:srgbClr val="E2E8F0"/>
                </a:solidFill>
                <a:latin typeface="Consolas"/>
                <a:ea typeface="Consolas"/>
                <a:cs typeface="Consolas"/>
              </a:rPr>
              <a:t>EmployeeRepository</a:t>
            </a:r>
            <a:endParaRPr lang="en-US" sz="950" dirty="0"/>
          </a:p>
        </p:txBody>
      </p:sp>
      <p:sp>
        <p:nvSpPr>
          <p:cNvPr id="24" name="cw_L02"/>
          <p:cNvSpPr txBox="1"/>
          <p:nvPr/>
        </p:nvSpPr>
        <p:spPr>
          <a:xfrm>
            <a:off x="771754" y="238729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5" name="cw_L03"/>
          <p:cNvSpPr txBox="1"/>
          <p:nvPr/>
        </p:nvSpPr>
        <p:spPr>
          <a:xfrm>
            <a:off x="771754" y="258033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private readonly </a:t>
            </a:r>
            <a:r>
              <a:rPr lang="en-US" sz="950" b="0" dirty="0">
                <a:solidFill>
                  <a:srgbClr val="E2E8F0"/>
                </a:solidFill>
                <a:latin typeface="Consolas"/>
                <a:ea typeface="Consolas"/>
                <a:cs typeface="Consolas"/>
              </a:rPr>
              <a:t>List&lt;Employee&gt; _db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26" name="cw_L04"/>
          <p:cNvSpPr txBox="1"/>
          <p:nvPr/>
        </p:nvSpPr>
        <p:spPr>
          <a:xfrm>
            <a:off x="771754" y="277337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7" name="cw_L05"/>
          <p:cNvSpPr txBox="1"/>
          <p:nvPr/>
        </p:nvSpPr>
        <p:spPr>
          <a:xfrm>
            <a:off x="771754" y="2966416"/>
            <a:ext cx="59659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Employee(1,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28" name="cw_L06"/>
          <p:cNvSpPr txBox="1"/>
          <p:nvPr/>
        </p:nvSpPr>
        <p:spPr>
          <a:xfrm>
            <a:off x="771754" y="3159456"/>
            <a:ext cx="59659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Employee(2, </a:t>
            </a:r>
            <a:r>
              <a:rPr lang="en-US" sz="950" b="0" dirty="0">
                <a:solidFill>
                  <a:srgbClr val="F0A98B"/>
                </a:solidFill>
                <a:latin typeface="Consolas"/>
                <a:ea typeface="Consolas"/>
                <a:cs typeface="Consolas"/>
              </a:rPr>
              <a:t>"Ali"</a:t>
            </a:r>
            <a:r>
              <a:rPr lang="en-US" sz="950" b="0" dirty="0">
                <a:solidFill>
                  <a:srgbClr val="E2E8F0"/>
                </a:solidFill>
                <a:latin typeface="Consolas"/>
                <a:ea typeface="Consolas"/>
                <a:cs typeface="Consolas"/>
              </a:rPr>
              <a:t>, 12000),</a:t>
            </a:r>
            <a:endParaRPr lang="en-US" sz="950" dirty="0"/>
          </a:p>
        </p:txBody>
      </p:sp>
      <p:sp>
        <p:nvSpPr>
          <p:cNvPr id="29" name="cw_L07"/>
          <p:cNvSpPr txBox="1"/>
          <p:nvPr/>
        </p:nvSpPr>
        <p:spPr>
          <a:xfrm>
            <a:off x="771754" y="335249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08"/>
          <p:cNvSpPr txBox="1"/>
          <p:nvPr/>
        </p:nvSpPr>
        <p:spPr>
          <a:xfrm>
            <a:off x="771754" y="354553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 async </a:t>
            </a:r>
            <a:r>
              <a:rPr lang="en-US" sz="950" b="0" dirty="0">
                <a:solidFill>
                  <a:srgbClr val="E2E8F0"/>
                </a:solidFill>
                <a:latin typeface="Consolas"/>
                <a:ea typeface="Consolas"/>
                <a:cs typeface="Consolas"/>
              </a:rPr>
              <a:t>Task&lt;List&lt;Employee&gt;&gt; GetAllAsync()</a:t>
            </a:r>
            <a:endParaRPr lang="en-US" sz="950" dirty="0"/>
          </a:p>
        </p:txBody>
      </p:sp>
      <p:sp>
        <p:nvSpPr>
          <p:cNvPr id="31" name="cw_L09"/>
          <p:cNvSpPr txBox="1"/>
          <p:nvPr/>
        </p:nvSpPr>
        <p:spPr>
          <a:xfrm>
            <a:off x="771754" y="373857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0"/>
          <p:cNvSpPr txBox="1"/>
          <p:nvPr/>
        </p:nvSpPr>
        <p:spPr>
          <a:xfrm>
            <a:off x="771754" y="3931616"/>
            <a:ext cx="59659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Task.Delay(500);   </a:t>
            </a:r>
            <a:r>
              <a:rPr lang="en-US" sz="950" b="0" dirty="0">
                <a:solidFill>
                  <a:srgbClr val="6FAE7A"/>
                </a:solidFill>
                <a:latin typeface="Consolas"/>
                <a:ea typeface="Consolas"/>
                <a:cs typeface="Consolas"/>
              </a:rPr>
              <a:t>// simulate the database round trip</a:t>
            </a:r>
            <a:endParaRPr lang="en-US" sz="950" dirty="0"/>
          </a:p>
        </p:txBody>
      </p:sp>
      <p:sp>
        <p:nvSpPr>
          <p:cNvPr id="33" name="cw_L11"/>
          <p:cNvSpPr txBox="1"/>
          <p:nvPr/>
        </p:nvSpPr>
        <p:spPr>
          <a:xfrm>
            <a:off x="771754" y="4124656"/>
            <a:ext cx="59659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return </a:t>
            </a:r>
            <a:r>
              <a:rPr lang="en-US" sz="950" b="0" dirty="0">
                <a:solidFill>
                  <a:srgbClr val="E2E8F0"/>
                </a:solidFill>
                <a:latin typeface="Consolas"/>
                <a:ea typeface="Consolas"/>
                <a:cs typeface="Consolas"/>
              </a:rPr>
              <a:t>_db.ToList();     </a:t>
            </a:r>
            <a:r>
              <a:rPr lang="en-US" sz="950" b="0" dirty="0">
                <a:solidFill>
                  <a:srgbClr val="6FAE7A"/>
                </a:solidFill>
                <a:latin typeface="Consolas"/>
                <a:ea typeface="Consolas"/>
                <a:cs typeface="Consolas"/>
              </a:rPr>
              <a:t>// a copy, like rows from a query</a:t>
            </a:r>
            <a:endParaRPr lang="en-US" sz="950" dirty="0"/>
          </a:p>
        </p:txBody>
      </p:sp>
      <p:sp>
        <p:nvSpPr>
          <p:cNvPr id="34" name="cw_L12"/>
          <p:cNvSpPr txBox="1"/>
          <p:nvPr/>
        </p:nvSpPr>
        <p:spPr>
          <a:xfrm>
            <a:off x="771754" y="431769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5" name="cw_L13"/>
          <p:cNvSpPr txBox="1"/>
          <p:nvPr/>
        </p:nvSpPr>
        <p:spPr>
          <a:xfrm>
            <a:off x="771754" y="451073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panel"/>
          <p:cNvSpPr/>
          <p:nvPr/>
        </p:nvSpPr>
        <p:spPr>
          <a:xfrm>
            <a:off x="7143154" y="1572768"/>
            <a:ext cx="4487100" cy="156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40" name="lab"/>
          <p:cNvSpPr txBox="1"/>
          <p:nvPr/>
        </p:nvSpPr>
        <p:spPr>
          <a:xfrm>
            <a:off x="7263154" y="1622768"/>
            <a:ext cx="42471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Employees  (our fake DB)</a:t>
            </a:r>
            <a:endParaRPr lang="en-US" sz="1050" dirty="0"/>
          </a:p>
        </p:txBody>
      </p:sp>
      <p:sp>
        <p:nvSpPr>
          <p:cNvPr id="41" name="lab"/>
          <p:cNvSpPr txBox="1"/>
          <p:nvPr/>
        </p:nvSpPr>
        <p:spPr>
          <a:xfrm>
            <a:off x="7303154" y="1952768"/>
            <a:ext cx="67306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Id</a:t>
            </a:r>
            <a:endParaRPr lang="en-US" sz="950" dirty="0"/>
          </a:p>
        </p:txBody>
      </p:sp>
      <p:sp>
        <p:nvSpPr>
          <p:cNvPr id="42" name="lab"/>
          <p:cNvSpPr txBox="1"/>
          <p:nvPr/>
        </p:nvSpPr>
        <p:spPr>
          <a:xfrm>
            <a:off x="8065961" y="1952768"/>
            <a:ext cx="179484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Name</a:t>
            </a:r>
            <a:endParaRPr lang="en-US" sz="950" dirty="0"/>
          </a:p>
        </p:txBody>
      </p:sp>
      <p:sp>
        <p:nvSpPr>
          <p:cNvPr id="43" name="lab"/>
          <p:cNvSpPr txBox="1"/>
          <p:nvPr/>
        </p:nvSpPr>
        <p:spPr>
          <a:xfrm>
            <a:off x="9995414" y="1952768"/>
            <a:ext cx="157048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Salary</a:t>
            </a:r>
            <a:endParaRPr lang="en-US" sz="950" dirty="0"/>
          </a:p>
        </p:txBody>
      </p:sp>
      <p:sp>
        <p:nvSpPr>
          <p:cNvPr id="44" name="row"/>
          <p:cNvSpPr/>
          <p:nvPr/>
        </p:nvSpPr>
        <p:spPr>
          <a:xfrm>
            <a:off x="7243154" y="225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5"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a:t>
            </a:r>
            <a:endParaRPr lang="en-US" sz="1050" dirty="0"/>
          </a:p>
        </p:txBody>
      </p:sp>
      <p:sp>
        <p:nvSpPr>
          <p:cNvPr id="46"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Mona</a:t>
            </a:r>
            <a:endParaRPr lang="en-US" sz="1050" dirty="0"/>
          </a:p>
        </p:txBody>
      </p:sp>
      <p:sp>
        <p:nvSpPr>
          <p:cNvPr id="47"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15000</a:t>
            </a:r>
            <a:endParaRPr lang="en-US" sz="1050" dirty="0"/>
          </a:p>
        </p:txBody>
      </p:sp>
      <p:sp>
        <p:nvSpPr>
          <p:cNvPr id="48" name="row"/>
          <p:cNvSpPr/>
          <p:nvPr/>
        </p:nvSpPr>
        <p:spPr>
          <a:xfrm>
            <a:off x="7243154" y="266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9" name="lab"/>
          <p:cNvSpPr txBox="1"/>
          <p:nvPr/>
        </p:nvSpPr>
        <p:spPr>
          <a:xfrm>
            <a:off x="7303154" y="266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2</a:t>
            </a:r>
            <a:endParaRPr lang="en-US" sz="1050" dirty="0"/>
          </a:p>
        </p:txBody>
      </p:sp>
      <p:sp>
        <p:nvSpPr>
          <p:cNvPr id="50" name="lab"/>
          <p:cNvSpPr txBox="1"/>
          <p:nvPr/>
        </p:nvSpPr>
        <p:spPr>
          <a:xfrm>
            <a:off x="8065961" y="266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Ali</a:t>
            </a:r>
            <a:endParaRPr lang="en-US" sz="1050" dirty="0"/>
          </a:p>
        </p:txBody>
      </p:sp>
      <p:sp>
        <p:nvSpPr>
          <p:cNvPr id="51" name="lab"/>
          <p:cNvSpPr txBox="1"/>
          <p:nvPr/>
        </p:nvSpPr>
        <p:spPr>
          <a:xfrm>
            <a:off x="9995414" y="266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12000</a:t>
            </a:r>
            <a:endParaRPr lang="en-US" sz="1050" dirty="0"/>
          </a:p>
        </p:txBody>
      </p:sp>
      <p:sp>
        <p:nvSpPr>
          <p:cNvPr id="52" name="card"/>
          <p:cNvSpPr/>
          <p:nvPr/>
        </p:nvSpPr>
        <p:spPr>
          <a:xfrm>
            <a:off x="7143154" y="3252768"/>
            <a:ext cx="4487100" cy="798616"/>
          </a:xfrm>
          <a:prstGeom prst="roundRect">
            <a:avLst>
              <a:gd name="adj" fmla="val 8132"/>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BBF24"/>
                </a:solidFill>
                <a:latin typeface="Segoe UI"/>
                <a:ea typeface="Segoe UI"/>
                <a:cs typeface="Segoe UI"/>
              </a:rPr>
              <a:t>Task.Delay(500)</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plays the role of network + database time. No thread waits during it.</a:t>
            </a:r>
            <a:endParaRPr lang="en-US" sz="1050" dirty="0"/>
          </a:p>
        </p:txBody>
      </p:sp>
      <p:sp>
        <p:nvSpPr>
          <p:cNvPr id="53" name="card"/>
          <p:cNvSpPr/>
          <p:nvPr/>
        </p:nvSpPr>
        <p:spPr>
          <a:xfrm>
            <a:off x="7143154" y="4151384"/>
            <a:ext cx="4487100" cy="798616"/>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WHY ASYNC?</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A real query (EF Core, Dapper) waits on I/O: perfect for await.</a:t>
            </a:r>
            <a:endParaRPr lang="en-US" sz="1050" dirty="0"/>
          </a:p>
        </p:txBody>
      </p:sp>
      <p:sp>
        <p:nvSpPr>
          <p:cNvPr id="54" name="banner"/>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A List plays the database, Task.Delay plays the waiting: we can practice async with nothing to install.</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30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30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300"/>
                                        <p:tgtEl>
                                          <p:spTgt spid="3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3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3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3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300"/>
                                        <p:tgtEl>
                                          <p:spTgt spid="4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3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3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3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300"/>
                                        <p:tgtEl>
                                          <p:spTgt spid="4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300"/>
                                        <p:tgtEl>
                                          <p:spTgt spid="4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300"/>
                                        <p:tgtEl>
                                          <p:spTgt spid="4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300"/>
                                        <p:tgtEl>
                                          <p:spTgt spid="4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fade">
                                      <p:cBhvr>
                                        <p:cTn id="108" dur="300"/>
                                        <p:tgtEl>
                                          <p:spTgt spid="4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0"/>
                                        </p:tgtEl>
                                        <p:attrNameLst>
                                          <p:attrName>style.visibility</p:attrName>
                                        </p:attrNameLst>
                                      </p:cBhvr>
                                      <p:to>
                                        <p:strVal val="visible"/>
                                      </p:to>
                                    </p:set>
                                    <p:animEffect transition="in" filter="fade">
                                      <p:cBhvr>
                                        <p:cTn id="111" dur="300"/>
                                        <p:tgtEl>
                                          <p:spTgt spid="5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1"/>
                                        </p:tgtEl>
                                        <p:attrNameLst>
                                          <p:attrName>style.visibility</p:attrName>
                                        </p:attrNameLst>
                                      </p:cBhvr>
                                      <p:to>
                                        <p:strVal val="visible"/>
                                      </p:to>
                                    </p:set>
                                    <p:animEffect transition="in" filter="fade">
                                      <p:cBhvr>
                                        <p:cTn id="114" dur="300"/>
                                        <p:tgtEl>
                                          <p:spTgt spid="51"/>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300"/>
                                        <p:tgtEl>
                                          <p:spTgt spid="3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300"/>
                                        <p:tgtEl>
                                          <p:spTgt spid="5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300"/>
                                        <p:tgtEl>
                                          <p:spTgt spid="53"/>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6" grpId="0" animBg="1"/>
      <p:bldP spid="37" grpId="0" animBg="1"/>
      <p:bldP spid="38"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5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GET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Get One Employee: GetByIdAsync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101</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GetById.cs</a:t>
            </a:r>
            <a:endParaRPr lang="en-US" sz="950" dirty="0"/>
          </a:p>
        </p:txBody>
      </p:sp>
      <p:sp>
        <p:nvSpPr>
          <p:cNvPr id="32" name="cw_hl00"/>
          <p:cNvSpPr/>
          <p:nvPr/>
        </p:nvSpPr>
        <p:spPr>
          <a:xfrm>
            <a:off x="676656" y="1982928"/>
            <a:ext cx="6082996" cy="1052576"/>
          </a:xfrm>
          <a:prstGeom prst="rect">
            <a:avLst/>
          </a:prstGeom>
          <a:solidFill>
            <a:srgbClr val="34D399">
              <a:alpha val="15000"/>
            </a:srgbClr>
          </a:solidFill>
          <a:ln w="12700">
            <a:solidFill>
              <a:srgbClr val="34D399"/>
            </a:solidFill>
            <a:prstDash val="solid"/>
          </a:ln>
        </p:spPr>
        <p:txBody>
          <a:bodyPr/>
          <a:lstStyle/>
          <a:p>
            <a:endParaRPr lang="en-US"/>
          </a:p>
        </p:txBody>
      </p:sp>
      <p:sp>
        <p:nvSpPr>
          <p:cNvPr id="33" name="cw_hl07"/>
          <p:cNvSpPr/>
          <p:nvPr/>
        </p:nvSpPr>
        <p:spPr>
          <a:xfrm>
            <a:off x="676656" y="3405328"/>
            <a:ext cx="6082996" cy="442976"/>
          </a:xfrm>
          <a:prstGeom prst="rect">
            <a:avLst/>
          </a:prstGeom>
          <a:solidFill>
            <a:srgbClr val="4D91F0">
              <a:alpha val="15000"/>
            </a:srgbClr>
          </a:solidFill>
          <a:ln w="12700">
            <a:solidFill>
              <a:srgbClr val="4D91F0"/>
            </a:solidFill>
            <a:prstDash val="solid"/>
          </a:ln>
        </p:spPr>
        <p:txBody>
          <a:bodyPr/>
          <a:lstStyle/>
          <a:p>
            <a:endParaRPr lang="en-US"/>
          </a:p>
        </p:txBody>
      </p:sp>
      <p:sp>
        <p:nvSpPr>
          <p:cNvPr id="34" name="cw_hl10"/>
          <p:cNvSpPr/>
          <p:nvPr/>
        </p:nvSpPr>
        <p:spPr>
          <a:xfrm>
            <a:off x="676656" y="4014928"/>
            <a:ext cx="6082996" cy="44297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public async </a:t>
            </a:r>
            <a:r>
              <a:rPr lang="en-US" sz="1000" b="0" dirty="0">
                <a:solidFill>
                  <a:srgbClr val="E2E8F0"/>
                </a:solidFill>
                <a:latin typeface="Consolas"/>
                <a:ea typeface="Consolas"/>
                <a:cs typeface="Consolas"/>
              </a:rPr>
              <a:t>Task&lt;Employee?&gt; GetByIdAsync(</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id)</a:t>
            </a:r>
            <a:endParaRPr lang="en-US" sz="1000" dirty="0"/>
          </a:p>
        </p:txBody>
      </p:sp>
      <p:sp>
        <p:nvSpPr>
          <p:cNvPr id="23" name="cw_L01"/>
          <p:cNvSpPr txBox="1"/>
          <p:nvPr/>
        </p:nvSpPr>
        <p:spPr>
          <a:xfrm>
            <a:off x="771754" y="22044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076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 </a:t>
            </a:r>
            <a:r>
              <a:rPr lang="en-US" sz="1000" b="0" dirty="0">
                <a:solidFill>
                  <a:srgbClr val="E2E8F0"/>
                </a:solidFill>
                <a:latin typeface="Consolas"/>
                <a:ea typeface="Consolas"/>
                <a:cs typeface="Consolas"/>
              </a:rPr>
              <a:t>Task.Delay(300);                        </a:t>
            </a:r>
            <a:r>
              <a:rPr lang="en-US" sz="1000" b="0" dirty="0">
                <a:solidFill>
                  <a:srgbClr val="6FAE7A"/>
                </a:solidFill>
                <a:latin typeface="Consolas"/>
                <a:ea typeface="Consolas"/>
                <a:cs typeface="Consolas"/>
              </a:rPr>
              <a:t>// the query</a:t>
            </a:r>
            <a:endParaRPr lang="en-US" sz="1000" dirty="0"/>
          </a:p>
        </p:txBody>
      </p:sp>
      <p:sp>
        <p:nvSpPr>
          <p:cNvPr id="25" name="cw_L03"/>
          <p:cNvSpPr txBox="1"/>
          <p:nvPr/>
        </p:nvSpPr>
        <p:spPr>
          <a:xfrm>
            <a:off x="771754" y="26108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 </a:t>
            </a:r>
            <a:r>
              <a:rPr lang="en-US" sz="1000" b="0" dirty="0">
                <a:solidFill>
                  <a:srgbClr val="E2E8F0"/>
                </a:solidFill>
                <a:latin typeface="Consolas"/>
                <a:ea typeface="Consolas"/>
                <a:cs typeface="Consolas"/>
              </a:rPr>
              <a:t>_db.FirstOrDefault(e =&gt; e.Id == id);   </a:t>
            </a:r>
            <a:r>
              <a:rPr lang="en-US" sz="1000" b="0" dirty="0">
                <a:solidFill>
                  <a:srgbClr val="6FAE7A"/>
                </a:solidFill>
                <a:latin typeface="Consolas"/>
                <a:ea typeface="Consolas"/>
                <a:cs typeface="Consolas"/>
              </a:rPr>
              <a:t>// null if missing</a:t>
            </a:r>
            <a:endParaRPr lang="en-US" sz="1000" dirty="0"/>
          </a:p>
        </p:txBody>
      </p:sp>
      <p:sp>
        <p:nvSpPr>
          <p:cNvPr id="26" name="cw_L04"/>
          <p:cNvSpPr txBox="1"/>
          <p:nvPr/>
        </p:nvSpPr>
        <p:spPr>
          <a:xfrm>
            <a:off x="771754" y="28140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6"/>
          <p:cNvSpPr txBox="1"/>
          <p:nvPr/>
        </p:nvSpPr>
        <p:spPr>
          <a:xfrm>
            <a:off x="771754" y="32204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Caller</a:t>
            </a:r>
            <a:endParaRPr lang="en-US" sz="1000" dirty="0"/>
          </a:p>
        </p:txBody>
      </p:sp>
      <p:sp>
        <p:nvSpPr>
          <p:cNvPr id="28" name="cw_L07"/>
          <p:cNvSpPr txBox="1"/>
          <p:nvPr/>
        </p:nvSpPr>
        <p:spPr>
          <a:xfrm>
            <a:off x="771754" y="34236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Employee? emp = </a:t>
            </a:r>
            <a:r>
              <a:rPr lang="en-US" sz="1000" b="0" dirty="0">
                <a:solidFill>
                  <a:srgbClr val="60A5FA"/>
                </a:solidFill>
                <a:latin typeface="Consolas"/>
                <a:ea typeface="Consolas"/>
                <a:cs typeface="Consolas"/>
              </a:rPr>
              <a:t>await </a:t>
            </a:r>
            <a:r>
              <a:rPr lang="en-US" sz="1000" b="0" dirty="0">
                <a:solidFill>
                  <a:srgbClr val="E2E8F0"/>
                </a:solidFill>
                <a:latin typeface="Consolas"/>
                <a:ea typeface="Consolas"/>
                <a:cs typeface="Consolas"/>
              </a:rPr>
              <a:t>repo.GetByIdAsync(2);</a:t>
            </a:r>
            <a:endParaRPr lang="en-US" sz="1000" dirty="0"/>
          </a:p>
        </p:txBody>
      </p:sp>
      <p:sp>
        <p:nvSpPr>
          <p:cNvPr id="29" name="cw_L08"/>
          <p:cNvSpPr txBox="1"/>
          <p:nvPr/>
        </p:nvSpPr>
        <p:spPr>
          <a:xfrm>
            <a:off x="771754" y="36268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Console.WriteLine(emp?.Name ?? </a:t>
            </a:r>
            <a:r>
              <a:rPr lang="en-US" sz="1000" b="0" dirty="0">
                <a:solidFill>
                  <a:srgbClr val="F0A98B"/>
                </a:solidFill>
                <a:latin typeface="Consolas"/>
                <a:ea typeface="Consolas"/>
                <a:cs typeface="Consolas"/>
              </a:rPr>
              <a:t>"Not found"</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Ali</a:t>
            </a:r>
            <a:endParaRPr lang="en-US" sz="1000" dirty="0"/>
          </a:p>
        </p:txBody>
      </p:sp>
      <p:sp>
        <p:nvSpPr>
          <p:cNvPr id="30" name="cw_L10"/>
          <p:cNvSpPr txBox="1"/>
          <p:nvPr/>
        </p:nvSpPr>
        <p:spPr>
          <a:xfrm>
            <a:off x="771754" y="40332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Employee? none = </a:t>
            </a:r>
            <a:r>
              <a:rPr lang="en-US" sz="1000" b="0" dirty="0">
                <a:solidFill>
                  <a:srgbClr val="60A5FA"/>
                </a:solidFill>
                <a:latin typeface="Consolas"/>
                <a:ea typeface="Consolas"/>
                <a:cs typeface="Consolas"/>
              </a:rPr>
              <a:t>await </a:t>
            </a:r>
            <a:r>
              <a:rPr lang="en-US" sz="1000" b="0" dirty="0">
                <a:solidFill>
                  <a:srgbClr val="E2E8F0"/>
                </a:solidFill>
                <a:latin typeface="Consolas"/>
                <a:ea typeface="Consolas"/>
                <a:cs typeface="Consolas"/>
              </a:rPr>
              <a:t>repo.GetByIdAsync(99);</a:t>
            </a:r>
            <a:endParaRPr lang="en-US" sz="1000" dirty="0"/>
          </a:p>
        </p:txBody>
      </p:sp>
      <p:sp>
        <p:nvSpPr>
          <p:cNvPr id="31" name="cw_L11"/>
          <p:cNvSpPr txBox="1"/>
          <p:nvPr/>
        </p:nvSpPr>
        <p:spPr>
          <a:xfrm>
            <a:off x="771754" y="42364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Console.WriteLine(none?.Name ?? </a:t>
            </a:r>
            <a:r>
              <a:rPr lang="en-US" sz="1000" b="0" dirty="0">
                <a:solidFill>
                  <a:srgbClr val="F0A98B"/>
                </a:solidFill>
                <a:latin typeface="Consolas"/>
                <a:ea typeface="Consolas"/>
                <a:cs typeface="Consolas"/>
              </a:rPr>
              <a:t>"Not found"</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Not found</a:t>
            </a:r>
            <a:endParaRPr lang="en-US" sz="1000" dirty="0"/>
          </a:p>
        </p:txBody>
      </p:sp>
      <p:sp>
        <p:nvSpPr>
          <p:cNvPr id="35" name="panel"/>
          <p:cNvSpPr/>
          <p:nvPr/>
        </p:nvSpPr>
        <p:spPr>
          <a:xfrm>
            <a:off x="7143154" y="1572768"/>
            <a:ext cx="4487100" cy="156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36" name="lab"/>
          <p:cNvSpPr txBox="1"/>
          <p:nvPr/>
        </p:nvSpPr>
        <p:spPr>
          <a:xfrm>
            <a:off x="7263154" y="1622768"/>
            <a:ext cx="42471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Employees table</a:t>
            </a:r>
            <a:endParaRPr lang="en-US" sz="1050" dirty="0"/>
          </a:p>
        </p:txBody>
      </p:sp>
      <p:sp>
        <p:nvSpPr>
          <p:cNvPr id="37" name="lab"/>
          <p:cNvSpPr txBox="1"/>
          <p:nvPr/>
        </p:nvSpPr>
        <p:spPr>
          <a:xfrm>
            <a:off x="7303154" y="1952768"/>
            <a:ext cx="67306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Id</a:t>
            </a:r>
            <a:endParaRPr lang="en-US" sz="950" dirty="0"/>
          </a:p>
        </p:txBody>
      </p:sp>
      <p:sp>
        <p:nvSpPr>
          <p:cNvPr id="38" name="lab"/>
          <p:cNvSpPr txBox="1"/>
          <p:nvPr/>
        </p:nvSpPr>
        <p:spPr>
          <a:xfrm>
            <a:off x="8065961" y="1952768"/>
            <a:ext cx="179484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Name</a:t>
            </a:r>
            <a:endParaRPr lang="en-US" sz="950" dirty="0"/>
          </a:p>
        </p:txBody>
      </p:sp>
      <p:sp>
        <p:nvSpPr>
          <p:cNvPr id="39" name="lab"/>
          <p:cNvSpPr txBox="1"/>
          <p:nvPr/>
        </p:nvSpPr>
        <p:spPr>
          <a:xfrm>
            <a:off x="9995414" y="1952768"/>
            <a:ext cx="157048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Salary</a:t>
            </a:r>
            <a:endParaRPr lang="en-US" sz="950" dirty="0"/>
          </a:p>
        </p:txBody>
      </p:sp>
      <p:sp>
        <p:nvSpPr>
          <p:cNvPr id="40" name="row"/>
          <p:cNvSpPr/>
          <p:nvPr/>
        </p:nvSpPr>
        <p:spPr>
          <a:xfrm>
            <a:off x="7243154" y="225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1"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a:t>
            </a:r>
            <a:endParaRPr lang="en-US" sz="1050" dirty="0"/>
          </a:p>
        </p:txBody>
      </p:sp>
      <p:sp>
        <p:nvSpPr>
          <p:cNvPr id="42"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Mona</a:t>
            </a:r>
            <a:endParaRPr lang="en-US" sz="1050" dirty="0"/>
          </a:p>
        </p:txBody>
      </p:sp>
      <p:sp>
        <p:nvSpPr>
          <p:cNvPr id="43"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15000</a:t>
            </a:r>
            <a:endParaRPr lang="en-US" sz="1050" dirty="0"/>
          </a:p>
        </p:txBody>
      </p:sp>
      <p:sp>
        <p:nvSpPr>
          <p:cNvPr id="44" name="row"/>
          <p:cNvSpPr/>
          <p:nvPr/>
        </p:nvSpPr>
        <p:spPr>
          <a:xfrm>
            <a:off x="7243154" y="266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5" name="lab"/>
          <p:cNvSpPr txBox="1"/>
          <p:nvPr/>
        </p:nvSpPr>
        <p:spPr>
          <a:xfrm>
            <a:off x="7303154" y="266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2</a:t>
            </a:r>
            <a:endParaRPr lang="en-US" sz="1050" dirty="0"/>
          </a:p>
        </p:txBody>
      </p:sp>
      <p:sp>
        <p:nvSpPr>
          <p:cNvPr id="46" name="lab"/>
          <p:cNvSpPr txBox="1"/>
          <p:nvPr/>
        </p:nvSpPr>
        <p:spPr>
          <a:xfrm>
            <a:off x="8065961" y="266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Ali</a:t>
            </a:r>
            <a:endParaRPr lang="en-US" sz="1050" dirty="0"/>
          </a:p>
        </p:txBody>
      </p:sp>
      <p:sp>
        <p:nvSpPr>
          <p:cNvPr id="47" name="lab"/>
          <p:cNvSpPr txBox="1"/>
          <p:nvPr/>
        </p:nvSpPr>
        <p:spPr>
          <a:xfrm>
            <a:off x="9995414" y="266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12000</a:t>
            </a:r>
            <a:endParaRPr lang="en-US" sz="1050" dirty="0"/>
          </a:p>
        </p:txBody>
      </p:sp>
      <p:sp>
        <p:nvSpPr>
          <p:cNvPr id="48" name="found"/>
          <p:cNvSpPr/>
          <p:nvPr/>
        </p:nvSpPr>
        <p:spPr>
          <a:xfrm>
            <a:off x="7243154" y="2662768"/>
            <a:ext cx="4287100" cy="360000"/>
          </a:xfrm>
          <a:prstGeom prst="roundRect">
            <a:avLst>
              <a:gd name="adj" fmla="val 15000"/>
            </a:avLst>
          </a:prstGeom>
          <a:solidFill>
            <a:srgbClr val="4D91F0">
              <a:alpha val="20000"/>
            </a:srgbClr>
          </a:solidFill>
          <a:ln w="25400">
            <a:solidFill>
              <a:srgbClr val="4D91F0"/>
            </a:solidFill>
            <a:prstDash val="solid"/>
          </a:ln>
        </p:spPr>
        <p:txBody>
          <a:bodyPr/>
          <a:lstStyle/>
          <a:p>
            <a:endParaRPr lang="en-US"/>
          </a:p>
        </p:txBody>
      </p:sp>
      <p:sp>
        <p:nvSpPr>
          <p:cNvPr id="49" name="lab"/>
          <p:cNvSpPr txBox="1"/>
          <p:nvPr/>
        </p:nvSpPr>
        <p:spPr>
          <a:xfrm>
            <a:off x="7143154" y="3252768"/>
            <a:ext cx="448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4D91F0"/>
                </a:solidFill>
                <a:latin typeface="Segoe UI"/>
                <a:ea typeface="Segoe UI"/>
                <a:cs typeface="Segoe UI"/>
              </a:rPr>
              <a:t>The calling thread, GetByIdAsync(2):</a:t>
            </a:r>
            <a:endParaRPr lang="en-US" sz="1000" dirty="0"/>
          </a:p>
        </p:txBody>
      </p:sp>
      <p:sp>
        <p:nvSpPr>
          <p:cNvPr id="50" name="bar"/>
          <p:cNvSpPr/>
          <p:nvPr/>
        </p:nvSpPr>
        <p:spPr>
          <a:xfrm>
            <a:off x="7143154" y="3532768"/>
            <a:ext cx="957162" cy="36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call</a:t>
            </a:r>
            <a:endParaRPr lang="en-US" sz="950" dirty="0"/>
          </a:p>
        </p:txBody>
      </p:sp>
      <p:sp>
        <p:nvSpPr>
          <p:cNvPr id="51" name="bar"/>
          <p:cNvSpPr/>
          <p:nvPr/>
        </p:nvSpPr>
        <p:spPr>
          <a:xfrm>
            <a:off x="8130316" y="3532768"/>
            <a:ext cx="2348163" cy="36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FREE (300 ms)</a:t>
            </a:r>
            <a:endParaRPr lang="en-US" sz="950" dirty="0"/>
          </a:p>
        </p:txBody>
      </p:sp>
      <p:sp>
        <p:nvSpPr>
          <p:cNvPr id="52" name="bar"/>
          <p:cNvSpPr/>
          <p:nvPr/>
        </p:nvSpPr>
        <p:spPr>
          <a:xfrm>
            <a:off x="10508479" y="3532768"/>
            <a:ext cx="1091775" cy="36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Ali</a:t>
            </a:r>
            <a:endParaRPr lang="en-US" sz="950" dirty="0"/>
          </a:p>
        </p:txBody>
      </p:sp>
      <p:sp>
        <p:nvSpPr>
          <p:cNvPr id="53" name="card"/>
          <p:cNvSpPr/>
          <p:nvPr/>
        </p:nvSpPr>
        <p:spPr>
          <a:xfrm>
            <a:off x="7143154" y="4012768"/>
            <a:ext cx="4487100" cy="937232"/>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Task&lt;Employee?&gt;</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a future employee, or null when the id does not exist.</a:t>
            </a:r>
            <a:endParaRPr lang="en-US" sz="1050" dirty="0"/>
          </a:p>
        </p:txBody>
      </p:sp>
      <p:sp>
        <p:nvSpPr>
          <p:cNvPr id="54"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await unwraps Task&lt;Employee?&gt; into Employee?. While the query runs, the thread is free.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300"/>
                                        <p:tgtEl>
                                          <p:spTgt spid="3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300"/>
                                        <p:tgtEl>
                                          <p:spTgt spid="3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300"/>
                                        <p:tgtEl>
                                          <p:spTgt spid="3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300"/>
                                        <p:tgtEl>
                                          <p:spTgt spid="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300"/>
                                        <p:tgtEl>
                                          <p:spTgt spid="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300"/>
                                        <p:tgtEl>
                                          <p:spTgt spid="4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fade">
                                      <p:cBhvr>
                                        <p:cTn id="81" dur="300"/>
                                        <p:tgtEl>
                                          <p:spTgt spid="4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300"/>
                                        <p:tgtEl>
                                          <p:spTgt spid="4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300"/>
                                        <p:tgtEl>
                                          <p:spTgt spid="4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300"/>
                                        <p:tgtEl>
                                          <p:spTgt spid="4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300"/>
                                        <p:tgtEl>
                                          <p:spTgt spid="4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300"/>
                                        <p:tgtEl>
                                          <p:spTgt spid="4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300"/>
                                        <p:tgtEl>
                                          <p:spTgt spid="4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3"/>
                                        </p:tgtEl>
                                        <p:attrNameLst>
                                          <p:attrName>style.visibility</p:attrName>
                                        </p:attrNameLst>
                                      </p:cBhvr>
                                      <p:to>
                                        <p:strVal val="visible"/>
                                      </p:to>
                                    </p:set>
                                    <p:animEffect transition="in" filter="fade">
                                      <p:cBhvr>
                                        <p:cTn id="102" dur="300"/>
                                        <p:tgtEl>
                                          <p:spTgt spid="53"/>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fade">
                                      <p:cBhvr>
                                        <p:cTn id="107" dur="300"/>
                                        <p:tgtEl>
                                          <p:spTgt spid="3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300"/>
                                        <p:tgtEl>
                                          <p:spTgt spid="49"/>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wipe(left)">
                                      <p:cBhvr>
                                        <p:cTn id="113" dur="600"/>
                                        <p:tgtEl>
                                          <p:spTgt spid="50"/>
                                        </p:tgtEl>
                                      </p:cBhvr>
                                    </p:animEffect>
                                  </p:childTnLst>
                                </p:cTn>
                              </p:par>
                              <p:par>
                                <p:cTn id="114" presetID="22" presetClass="entr" presetSubtype="8" fill="hold" grpId="0" nodeType="withEffect">
                                  <p:stCondLst>
                                    <p:cond delay="400"/>
                                  </p:stCondLst>
                                  <p:childTnLst>
                                    <p:set>
                                      <p:cBhvr>
                                        <p:cTn id="115" dur="1" fill="hold">
                                          <p:stCondLst>
                                            <p:cond delay="0"/>
                                          </p:stCondLst>
                                        </p:cTn>
                                        <p:tgtEl>
                                          <p:spTgt spid="51"/>
                                        </p:tgtEl>
                                        <p:attrNameLst>
                                          <p:attrName>style.visibility</p:attrName>
                                        </p:attrNameLst>
                                      </p:cBhvr>
                                      <p:to>
                                        <p:strVal val="visible"/>
                                      </p:to>
                                    </p:set>
                                    <p:animEffect transition="in" filter="wipe(left)">
                                      <p:cBhvr>
                                        <p:cTn id="116" dur="600"/>
                                        <p:tgtEl>
                                          <p:spTgt spid="51"/>
                                        </p:tgtEl>
                                      </p:cBhvr>
                                    </p:animEffect>
                                  </p:childTnLst>
                                </p:cTn>
                              </p:par>
                              <p:par>
                                <p:cTn id="117" presetID="10" presetClass="entr" presetSubtype="0" fill="hold" grpId="0" nodeType="withEffect">
                                  <p:stCondLst>
                                    <p:cond delay="1100"/>
                                  </p:stCondLst>
                                  <p:childTnLst>
                                    <p:set>
                                      <p:cBhvr>
                                        <p:cTn id="118" dur="1" fill="hold">
                                          <p:stCondLst>
                                            <p:cond delay="0"/>
                                          </p:stCondLst>
                                        </p:cTn>
                                        <p:tgtEl>
                                          <p:spTgt spid="48"/>
                                        </p:tgtEl>
                                        <p:attrNameLst>
                                          <p:attrName>style.visibility</p:attrName>
                                        </p:attrNameLst>
                                      </p:cBhvr>
                                      <p:to>
                                        <p:strVal val="visible"/>
                                      </p:to>
                                    </p:set>
                                    <p:animEffect transition="in" filter="fade">
                                      <p:cBhvr>
                                        <p:cTn id="119" dur="300"/>
                                        <p:tgtEl>
                                          <p:spTgt spid="48"/>
                                        </p:tgtEl>
                                      </p:cBhvr>
                                    </p:animEffect>
                                  </p:childTnLst>
                                </p:cTn>
                              </p:par>
                              <p:par>
                                <p:cTn id="120" presetID="22" presetClass="entr" presetSubtype="8" fill="hold" grpId="0" nodeType="withEffect">
                                  <p:stCondLst>
                                    <p:cond delay="1100"/>
                                  </p:stCondLst>
                                  <p:childTnLst>
                                    <p:set>
                                      <p:cBhvr>
                                        <p:cTn id="121" dur="1" fill="hold">
                                          <p:stCondLst>
                                            <p:cond delay="0"/>
                                          </p:stCondLst>
                                        </p:cTn>
                                        <p:tgtEl>
                                          <p:spTgt spid="52"/>
                                        </p:tgtEl>
                                        <p:attrNameLst>
                                          <p:attrName>style.visibility</p:attrName>
                                        </p:attrNameLst>
                                      </p:cBhvr>
                                      <p:to>
                                        <p:strVal val="visible"/>
                                      </p:to>
                                    </p:set>
                                    <p:animEffect transition="in" filter="wipe(left)">
                                      <p:cBhvr>
                                        <p:cTn id="122" dur="600"/>
                                        <p:tgtEl>
                                          <p:spTgt spid="5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300"/>
                                        <p:tgtEl>
                                          <p:spTgt spid="34"/>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2" grpId="0" animBg="1"/>
      <p:bldP spid="33" grpId="0" animBg="1"/>
      <p:bldP spid="34"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5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ADD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Add an Employee: AddAsync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102</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Add.cs</a:t>
            </a:r>
            <a:endParaRPr lang="en-US" sz="950" dirty="0"/>
          </a:p>
        </p:txBody>
      </p:sp>
      <p:sp>
        <p:nvSpPr>
          <p:cNvPr id="30" name="cw_hl00"/>
          <p:cNvSpPr/>
          <p:nvPr/>
        </p:nvSpPr>
        <p:spPr>
          <a:xfrm>
            <a:off x="676656" y="1982928"/>
            <a:ext cx="6082996" cy="1103376"/>
          </a:xfrm>
          <a:prstGeom prst="rect">
            <a:avLst/>
          </a:prstGeom>
          <a:solidFill>
            <a:srgbClr val="34D399">
              <a:alpha val="15000"/>
            </a:srgbClr>
          </a:solidFill>
          <a:ln w="12700">
            <a:solidFill>
              <a:srgbClr val="34D399"/>
            </a:solidFill>
            <a:prstDash val="solid"/>
          </a:ln>
        </p:spPr>
        <p:txBody>
          <a:bodyPr/>
          <a:lstStyle/>
          <a:p>
            <a:endParaRPr lang="en-US"/>
          </a:p>
        </p:txBody>
      </p:sp>
      <p:sp>
        <p:nvSpPr>
          <p:cNvPr id="31" name="cw_hl07"/>
          <p:cNvSpPr/>
          <p:nvPr/>
        </p:nvSpPr>
        <p:spPr>
          <a:xfrm>
            <a:off x="676656" y="3476448"/>
            <a:ext cx="6082996" cy="46329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0121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 async </a:t>
            </a:r>
            <a:r>
              <a:rPr lang="en-US" sz="1050" b="0" dirty="0">
                <a:solidFill>
                  <a:srgbClr val="E2E8F0"/>
                </a:solidFill>
                <a:latin typeface="Consolas"/>
                <a:ea typeface="Consolas"/>
                <a:cs typeface="Consolas"/>
              </a:rPr>
              <a:t>Task AddAsync(Employee employee)</a:t>
            </a:r>
            <a:endParaRPr lang="en-US" sz="1050" dirty="0"/>
          </a:p>
        </p:txBody>
      </p:sp>
      <p:sp>
        <p:nvSpPr>
          <p:cNvPr id="23" name="cw_L01"/>
          <p:cNvSpPr txBox="1"/>
          <p:nvPr/>
        </p:nvSpPr>
        <p:spPr>
          <a:xfrm>
            <a:off x="771754" y="221457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27936"/>
            <a:ext cx="59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Task.Delay(400);     </a:t>
            </a:r>
            <a:r>
              <a:rPr lang="en-US" sz="1050" b="0" dirty="0">
                <a:solidFill>
                  <a:srgbClr val="6FAE7A"/>
                </a:solidFill>
                <a:latin typeface="Consolas"/>
                <a:ea typeface="Consolas"/>
                <a:cs typeface="Consolas"/>
              </a:rPr>
              <a:t>// the INSERT takes time</a:t>
            </a:r>
            <a:endParaRPr lang="en-US" sz="1050" dirty="0"/>
          </a:p>
        </p:txBody>
      </p:sp>
      <p:sp>
        <p:nvSpPr>
          <p:cNvPr id="25" name="cw_L03"/>
          <p:cNvSpPr txBox="1"/>
          <p:nvPr/>
        </p:nvSpPr>
        <p:spPr>
          <a:xfrm>
            <a:off x="771754" y="2641296"/>
            <a:ext cx="59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_db.Add(employee);</a:t>
            </a:r>
            <a:endParaRPr lang="en-US" sz="1050" dirty="0"/>
          </a:p>
        </p:txBody>
      </p:sp>
      <p:sp>
        <p:nvSpPr>
          <p:cNvPr id="26" name="cw_L04"/>
          <p:cNvSpPr txBox="1"/>
          <p:nvPr/>
        </p:nvSpPr>
        <p:spPr>
          <a:xfrm>
            <a:off x="771754" y="285465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28137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Caller</a:t>
            </a:r>
            <a:endParaRPr lang="en-US" sz="1050" dirty="0"/>
          </a:p>
        </p:txBody>
      </p:sp>
      <p:sp>
        <p:nvSpPr>
          <p:cNvPr id="28" name="cw_L07"/>
          <p:cNvSpPr txBox="1"/>
          <p:nvPr/>
        </p:nvSpPr>
        <p:spPr>
          <a:xfrm>
            <a:off x="771754" y="349473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repo.AddAsync(</a:t>
            </a:r>
            <a:r>
              <a:rPr lang="en-US" sz="1050" b="0"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Employee(3, </a:t>
            </a:r>
            <a:r>
              <a:rPr lang="en-US" sz="1050" b="0" dirty="0">
                <a:solidFill>
                  <a:srgbClr val="F0A98B"/>
                </a:solidFill>
                <a:latin typeface="Consolas"/>
                <a:ea typeface="Consolas"/>
                <a:cs typeface="Consolas"/>
              </a:rPr>
              <a:t>"Sara"</a:t>
            </a:r>
            <a:r>
              <a:rPr lang="en-US" sz="1050" b="0" dirty="0">
                <a:solidFill>
                  <a:srgbClr val="E2E8F0"/>
                </a:solidFill>
                <a:latin typeface="Consolas"/>
                <a:ea typeface="Consolas"/>
                <a:cs typeface="Consolas"/>
              </a:rPr>
              <a:t>, 14000));</a:t>
            </a:r>
            <a:endParaRPr lang="en-US" sz="1050" dirty="0"/>
          </a:p>
        </p:txBody>
      </p:sp>
      <p:sp>
        <p:nvSpPr>
          <p:cNvPr id="29" name="cw_L08"/>
          <p:cNvSpPr txBox="1"/>
          <p:nvPr/>
        </p:nvSpPr>
        <p:spPr>
          <a:xfrm>
            <a:off x="771754" y="370809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"Saved"</a:t>
            </a:r>
            <a:r>
              <a:rPr lang="en-US" sz="1050" b="0" dirty="0">
                <a:solidFill>
                  <a:srgbClr val="E2E8F0"/>
                </a:solidFill>
                <a:latin typeface="Consolas"/>
                <a:ea typeface="Consolas"/>
                <a:cs typeface="Consolas"/>
              </a:rPr>
              <a:t>);</a:t>
            </a:r>
            <a:endParaRPr lang="en-US" sz="1050" dirty="0"/>
          </a:p>
        </p:txBody>
      </p:sp>
      <p:sp>
        <p:nvSpPr>
          <p:cNvPr id="32" name="panel"/>
          <p:cNvSpPr/>
          <p:nvPr/>
        </p:nvSpPr>
        <p:spPr>
          <a:xfrm>
            <a:off x="7143154" y="1572768"/>
            <a:ext cx="4487100" cy="197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33" name="lab"/>
          <p:cNvSpPr txBox="1"/>
          <p:nvPr/>
        </p:nvSpPr>
        <p:spPr>
          <a:xfrm>
            <a:off x="7263154" y="1622768"/>
            <a:ext cx="42471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Employees table</a:t>
            </a:r>
            <a:endParaRPr lang="en-US" sz="1050" dirty="0"/>
          </a:p>
        </p:txBody>
      </p:sp>
      <p:sp>
        <p:nvSpPr>
          <p:cNvPr id="34" name="lab"/>
          <p:cNvSpPr txBox="1"/>
          <p:nvPr/>
        </p:nvSpPr>
        <p:spPr>
          <a:xfrm>
            <a:off x="7303154" y="1952768"/>
            <a:ext cx="67306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Id</a:t>
            </a:r>
            <a:endParaRPr lang="en-US" sz="950" dirty="0"/>
          </a:p>
        </p:txBody>
      </p:sp>
      <p:sp>
        <p:nvSpPr>
          <p:cNvPr id="35" name="lab"/>
          <p:cNvSpPr txBox="1"/>
          <p:nvPr/>
        </p:nvSpPr>
        <p:spPr>
          <a:xfrm>
            <a:off x="8065961" y="1952768"/>
            <a:ext cx="179484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Name</a:t>
            </a:r>
            <a:endParaRPr lang="en-US" sz="950" dirty="0"/>
          </a:p>
        </p:txBody>
      </p:sp>
      <p:sp>
        <p:nvSpPr>
          <p:cNvPr id="36" name="lab"/>
          <p:cNvSpPr txBox="1"/>
          <p:nvPr/>
        </p:nvSpPr>
        <p:spPr>
          <a:xfrm>
            <a:off x="9995414" y="1952768"/>
            <a:ext cx="157048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Salary</a:t>
            </a:r>
            <a:endParaRPr lang="en-US" sz="950" dirty="0"/>
          </a:p>
        </p:txBody>
      </p:sp>
      <p:sp>
        <p:nvSpPr>
          <p:cNvPr id="37" name="row"/>
          <p:cNvSpPr/>
          <p:nvPr/>
        </p:nvSpPr>
        <p:spPr>
          <a:xfrm>
            <a:off x="7243154" y="225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38"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a:t>
            </a:r>
            <a:endParaRPr lang="en-US" sz="1050" dirty="0"/>
          </a:p>
        </p:txBody>
      </p:sp>
      <p:sp>
        <p:nvSpPr>
          <p:cNvPr id="39"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Mona</a:t>
            </a:r>
            <a:endParaRPr lang="en-US" sz="1050" dirty="0"/>
          </a:p>
        </p:txBody>
      </p:sp>
      <p:sp>
        <p:nvSpPr>
          <p:cNvPr id="40"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15000</a:t>
            </a:r>
            <a:endParaRPr lang="en-US" sz="1050" dirty="0"/>
          </a:p>
        </p:txBody>
      </p:sp>
      <p:sp>
        <p:nvSpPr>
          <p:cNvPr id="41" name="row"/>
          <p:cNvSpPr/>
          <p:nvPr/>
        </p:nvSpPr>
        <p:spPr>
          <a:xfrm>
            <a:off x="7243154" y="266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2" name="lab"/>
          <p:cNvSpPr txBox="1"/>
          <p:nvPr/>
        </p:nvSpPr>
        <p:spPr>
          <a:xfrm>
            <a:off x="7303154" y="266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2</a:t>
            </a:r>
            <a:endParaRPr lang="en-US" sz="1050" dirty="0"/>
          </a:p>
        </p:txBody>
      </p:sp>
      <p:sp>
        <p:nvSpPr>
          <p:cNvPr id="43" name="lab"/>
          <p:cNvSpPr txBox="1"/>
          <p:nvPr/>
        </p:nvSpPr>
        <p:spPr>
          <a:xfrm>
            <a:off x="8065961" y="266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Ali</a:t>
            </a:r>
            <a:endParaRPr lang="en-US" sz="1050" dirty="0"/>
          </a:p>
        </p:txBody>
      </p:sp>
      <p:sp>
        <p:nvSpPr>
          <p:cNvPr id="44" name="lab"/>
          <p:cNvSpPr txBox="1"/>
          <p:nvPr/>
        </p:nvSpPr>
        <p:spPr>
          <a:xfrm>
            <a:off x="9995414" y="266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12000</a:t>
            </a:r>
            <a:endParaRPr lang="en-US" sz="1050" dirty="0"/>
          </a:p>
        </p:txBody>
      </p:sp>
      <p:sp>
        <p:nvSpPr>
          <p:cNvPr id="45" name="row"/>
          <p:cNvSpPr/>
          <p:nvPr/>
        </p:nvSpPr>
        <p:spPr>
          <a:xfrm>
            <a:off x="7243154" y="3072768"/>
            <a:ext cx="4287100" cy="360000"/>
          </a:xfrm>
          <a:prstGeom prst="roundRect">
            <a:avLst>
              <a:gd name="adj" fmla="val 15000"/>
            </a:avLst>
          </a:prstGeom>
          <a:solidFill>
            <a:srgbClr val="111B2E"/>
          </a:solidFill>
          <a:ln w="15875">
            <a:solidFill>
              <a:srgbClr val="34D399"/>
            </a:solidFill>
            <a:prstDash val="solid"/>
          </a:ln>
        </p:spPr>
        <p:txBody>
          <a:bodyPr/>
          <a:lstStyle/>
          <a:p>
            <a:endParaRPr lang="en-US"/>
          </a:p>
        </p:txBody>
      </p:sp>
      <p:sp>
        <p:nvSpPr>
          <p:cNvPr id="46" name="lab"/>
          <p:cNvSpPr txBox="1"/>
          <p:nvPr/>
        </p:nvSpPr>
        <p:spPr>
          <a:xfrm>
            <a:off x="7303154" y="307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FFFFF"/>
                </a:solidFill>
                <a:latin typeface="Consolas"/>
                <a:ea typeface="Consolas"/>
                <a:cs typeface="Consolas"/>
              </a:rPr>
              <a:t>3</a:t>
            </a:r>
            <a:endParaRPr lang="en-US" sz="1050" dirty="0"/>
          </a:p>
        </p:txBody>
      </p:sp>
      <p:sp>
        <p:nvSpPr>
          <p:cNvPr id="47" name="lab"/>
          <p:cNvSpPr txBox="1"/>
          <p:nvPr/>
        </p:nvSpPr>
        <p:spPr>
          <a:xfrm>
            <a:off x="8065961" y="307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FFFFF"/>
                </a:solidFill>
                <a:latin typeface="Segoe UI"/>
                <a:ea typeface="Segoe UI"/>
                <a:cs typeface="Segoe UI"/>
              </a:rPr>
              <a:t>Sara</a:t>
            </a:r>
            <a:endParaRPr lang="en-US" sz="1050" dirty="0"/>
          </a:p>
        </p:txBody>
      </p:sp>
      <p:sp>
        <p:nvSpPr>
          <p:cNvPr id="48" name="lab"/>
          <p:cNvSpPr txBox="1"/>
          <p:nvPr/>
        </p:nvSpPr>
        <p:spPr>
          <a:xfrm>
            <a:off x="9995414" y="307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FFFFF"/>
                </a:solidFill>
                <a:latin typeface="Consolas"/>
                <a:ea typeface="Consolas"/>
                <a:cs typeface="Consolas"/>
              </a:rPr>
              <a:t>14000</a:t>
            </a:r>
            <a:endParaRPr lang="en-US" sz="1050" dirty="0"/>
          </a:p>
        </p:txBody>
      </p:sp>
      <p:sp>
        <p:nvSpPr>
          <p:cNvPr id="49" name="card"/>
          <p:cNvSpPr/>
          <p:nvPr/>
        </p:nvSpPr>
        <p:spPr>
          <a:xfrm>
            <a:off x="7143154" y="3662768"/>
            <a:ext cx="4487100" cy="593616"/>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async Task</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No result, but the caller can still await it: it knows when the save is done and can catch errors.</a:t>
            </a:r>
            <a:endParaRPr lang="en-US" sz="1050" dirty="0"/>
          </a:p>
        </p:txBody>
      </p:sp>
      <p:sp>
        <p:nvSpPr>
          <p:cNvPr id="50" name="card"/>
          <p:cNvSpPr/>
          <p:nvPr/>
        </p:nvSpPr>
        <p:spPr>
          <a:xfrm>
            <a:off x="7143154" y="4356384"/>
            <a:ext cx="4487100" cy="593616"/>
          </a:xfrm>
          <a:prstGeom prst="roundRect">
            <a:avLst>
              <a:gd name="adj" fmla="val 8132"/>
            </a:avLst>
          </a:prstGeom>
          <a:solidFill>
            <a:srgbClr val="111B2E"/>
          </a:solidFill>
          <a:ln w="12700">
            <a:solidFill>
              <a:srgbClr val="F87171"/>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F87171"/>
                </a:solidFill>
                <a:latin typeface="Segoe UI"/>
                <a:ea typeface="Segoe UI"/>
                <a:cs typeface="Segoe UI"/>
              </a:rPr>
              <a:t>FORGET THE await?</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"Saved" can print before the row exists.</a:t>
            </a:r>
            <a:endParaRPr lang="en-US" sz="1050" dirty="0"/>
          </a:p>
        </p:txBody>
      </p:sp>
      <p:sp>
        <p:nvSpPr>
          <p:cNvPr id="51"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 Task with no value still matters: await it to know the work finished.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3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3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3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3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3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3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3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3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3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300"/>
                                        <p:tgtEl>
                                          <p:spTgt spid="4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3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3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300"/>
                                        <p:tgtEl>
                                          <p:spTgt spid="4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00"/>
                                        <p:tgtEl>
                                          <p:spTgt spid="31"/>
                                        </p:tgtEl>
                                      </p:cBhvr>
                                    </p:animEffect>
                                  </p:childTnLst>
                                </p:cTn>
                              </p:par>
                              <p:par>
                                <p:cTn id="99" presetID="10" presetClass="entr" presetSubtype="0" fill="hold" grpId="0" nodeType="withEffect">
                                  <p:stCondLst>
                                    <p:cond delay="90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300"/>
                                        <p:tgtEl>
                                          <p:spTgt spid="45"/>
                                        </p:tgtEl>
                                      </p:cBhvr>
                                    </p:animEffect>
                                  </p:childTnLst>
                                </p:cTn>
                              </p:par>
                              <p:par>
                                <p:cTn id="102" presetID="10" presetClass="entr" presetSubtype="0" fill="hold" grpId="0" nodeType="withEffect">
                                  <p:stCondLst>
                                    <p:cond delay="90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300"/>
                                        <p:tgtEl>
                                          <p:spTgt spid="46"/>
                                        </p:tgtEl>
                                      </p:cBhvr>
                                    </p:animEffect>
                                  </p:childTnLst>
                                </p:cTn>
                              </p:par>
                              <p:par>
                                <p:cTn id="105" presetID="10" presetClass="entr" presetSubtype="0" fill="hold" grpId="0" nodeType="withEffect">
                                  <p:stCondLst>
                                    <p:cond delay="90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300"/>
                                        <p:tgtEl>
                                          <p:spTgt spid="47"/>
                                        </p:tgtEl>
                                      </p:cBhvr>
                                    </p:animEffect>
                                  </p:childTnLst>
                                </p:cTn>
                              </p:par>
                              <p:par>
                                <p:cTn id="108" presetID="10" presetClass="entr" presetSubtype="0" fill="hold" grpId="0" nodeType="withEffect">
                                  <p:stCondLst>
                                    <p:cond delay="90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300"/>
                                        <p:tgtEl>
                                          <p:spTgt spid="48"/>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300"/>
                                        <p:tgtEl>
                                          <p:spTgt spid="49"/>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300"/>
                                        <p:tgtEl>
                                          <p:spTgt spid="50"/>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51"/>
                                        </p:tgtEl>
                                        <p:attrNameLst>
                                          <p:attrName>style.visibility</p:attrName>
                                        </p:attrNameLst>
                                      </p:cBhvr>
                                      <p:to>
                                        <p:strVal val="visible"/>
                                      </p:to>
                                    </p:set>
                                    <p:animEffect transition="in" filter="fade">
                                      <p:cBhvr>
                                        <p:cTn id="125" dur="3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798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DELETE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Delete an Employee: DeleteAsync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103</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Delete.cs</a:t>
            </a:r>
            <a:endParaRPr lang="en-US" sz="950" dirty="0"/>
          </a:p>
        </p:txBody>
      </p:sp>
      <p:sp>
        <p:nvSpPr>
          <p:cNvPr id="30" name="cw_hl00"/>
          <p:cNvSpPr/>
          <p:nvPr/>
        </p:nvSpPr>
        <p:spPr>
          <a:xfrm>
            <a:off x="676656" y="1982928"/>
            <a:ext cx="6082996" cy="1103376"/>
          </a:xfrm>
          <a:prstGeom prst="rect">
            <a:avLst/>
          </a:prstGeom>
          <a:solidFill>
            <a:srgbClr val="34D399">
              <a:alpha val="15000"/>
            </a:srgbClr>
          </a:solidFill>
          <a:ln w="12700">
            <a:solidFill>
              <a:srgbClr val="34D399"/>
            </a:solidFill>
            <a:prstDash val="solid"/>
          </a:ln>
        </p:spPr>
        <p:txBody>
          <a:bodyPr/>
          <a:lstStyle/>
          <a:p>
            <a:endParaRPr lang="en-US"/>
          </a:p>
        </p:txBody>
      </p:sp>
      <p:sp>
        <p:nvSpPr>
          <p:cNvPr id="31" name="cw_hl07"/>
          <p:cNvSpPr/>
          <p:nvPr/>
        </p:nvSpPr>
        <p:spPr>
          <a:xfrm>
            <a:off x="676656" y="3476448"/>
            <a:ext cx="6082996" cy="46329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0121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 async </a:t>
            </a:r>
            <a:r>
              <a:rPr lang="en-US" sz="1050" b="0" dirty="0">
                <a:solidFill>
                  <a:srgbClr val="E2E8F0"/>
                </a:solidFill>
                <a:latin typeface="Consolas"/>
                <a:ea typeface="Consolas"/>
                <a:cs typeface="Consolas"/>
              </a:rPr>
              <a:t>Task&lt;</a:t>
            </a:r>
            <a:r>
              <a:rPr lang="en-US" sz="1050" b="0" dirty="0">
                <a:solidFill>
                  <a:srgbClr val="60A5FA"/>
                </a:solidFill>
                <a:latin typeface="Consolas"/>
                <a:ea typeface="Consolas"/>
                <a:cs typeface="Consolas"/>
              </a:rPr>
              <a:t>bool</a:t>
            </a:r>
            <a:r>
              <a:rPr lang="en-US" sz="1050" b="0" dirty="0">
                <a:solidFill>
                  <a:srgbClr val="E2E8F0"/>
                </a:solidFill>
                <a:latin typeface="Consolas"/>
                <a:ea typeface="Consolas"/>
                <a:cs typeface="Consolas"/>
              </a:rPr>
              <a:t>&gt; DeleteAsync(</a:t>
            </a:r>
            <a:r>
              <a:rPr lang="en-US" sz="1050" b="0" dirty="0">
                <a:solidFill>
                  <a:srgbClr val="60A5FA"/>
                </a:solidFill>
                <a:latin typeface="Consolas"/>
                <a:ea typeface="Consolas"/>
                <a:cs typeface="Consolas"/>
              </a:rPr>
              <a:t>int </a:t>
            </a:r>
            <a:r>
              <a:rPr lang="en-US" sz="1050" b="0" dirty="0">
                <a:solidFill>
                  <a:srgbClr val="E2E8F0"/>
                </a:solidFill>
                <a:latin typeface="Consolas"/>
                <a:ea typeface="Consolas"/>
                <a:cs typeface="Consolas"/>
              </a:rPr>
              <a:t>id)</a:t>
            </a:r>
            <a:endParaRPr lang="en-US" sz="1050" dirty="0"/>
          </a:p>
        </p:txBody>
      </p:sp>
      <p:sp>
        <p:nvSpPr>
          <p:cNvPr id="23" name="cw_L01"/>
          <p:cNvSpPr txBox="1"/>
          <p:nvPr/>
        </p:nvSpPr>
        <p:spPr>
          <a:xfrm>
            <a:off x="771754" y="221457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27936"/>
            <a:ext cx="59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Task.Delay(400);                      </a:t>
            </a:r>
            <a:r>
              <a:rPr lang="en-US" sz="1050" b="0" dirty="0">
                <a:solidFill>
                  <a:srgbClr val="6FAE7A"/>
                </a:solidFill>
                <a:latin typeface="Consolas"/>
                <a:ea typeface="Consolas"/>
                <a:cs typeface="Consolas"/>
              </a:rPr>
              <a:t>// the DELETE</a:t>
            </a:r>
            <a:endParaRPr lang="en-US" sz="1050" dirty="0"/>
          </a:p>
        </p:txBody>
      </p:sp>
      <p:sp>
        <p:nvSpPr>
          <p:cNvPr id="25" name="cw_L03"/>
          <p:cNvSpPr txBox="1"/>
          <p:nvPr/>
        </p:nvSpPr>
        <p:spPr>
          <a:xfrm>
            <a:off x="771754" y="2641296"/>
            <a:ext cx="59659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 </a:t>
            </a:r>
            <a:r>
              <a:rPr lang="en-US" sz="1050" b="0" dirty="0">
                <a:solidFill>
                  <a:srgbClr val="E2E8F0"/>
                </a:solidFill>
                <a:latin typeface="Consolas"/>
                <a:ea typeface="Consolas"/>
                <a:cs typeface="Consolas"/>
              </a:rPr>
              <a:t>_db.RemoveAll(e =&gt; e.Id == id) &gt; 0;   </a:t>
            </a:r>
            <a:r>
              <a:rPr lang="en-US" sz="1050" b="0" dirty="0">
                <a:solidFill>
                  <a:srgbClr val="6FAE7A"/>
                </a:solidFill>
                <a:latin typeface="Consolas"/>
                <a:ea typeface="Consolas"/>
                <a:cs typeface="Consolas"/>
              </a:rPr>
              <a:t>// removed?</a:t>
            </a:r>
            <a:endParaRPr lang="en-US" sz="1050" dirty="0"/>
          </a:p>
        </p:txBody>
      </p:sp>
      <p:sp>
        <p:nvSpPr>
          <p:cNvPr id="26" name="cw_L04"/>
          <p:cNvSpPr txBox="1"/>
          <p:nvPr/>
        </p:nvSpPr>
        <p:spPr>
          <a:xfrm>
            <a:off x="771754" y="285465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28137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Caller</a:t>
            </a:r>
            <a:endParaRPr lang="en-US" sz="1050" dirty="0"/>
          </a:p>
        </p:txBody>
      </p:sp>
      <p:sp>
        <p:nvSpPr>
          <p:cNvPr id="28" name="cw_L07"/>
          <p:cNvSpPr txBox="1"/>
          <p:nvPr/>
        </p:nvSpPr>
        <p:spPr>
          <a:xfrm>
            <a:off x="771754" y="349473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bool </a:t>
            </a:r>
            <a:r>
              <a:rPr lang="en-US" sz="1050" b="0" dirty="0">
                <a:solidFill>
                  <a:srgbClr val="E2E8F0"/>
                </a:solidFill>
                <a:latin typeface="Consolas"/>
                <a:ea typeface="Consolas"/>
                <a:cs typeface="Consolas"/>
              </a:rPr>
              <a:t>deleted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repo.DeleteAsync(1);</a:t>
            </a:r>
            <a:endParaRPr lang="en-US" sz="1050" dirty="0"/>
          </a:p>
        </p:txBody>
      </p:sp>
      <p:sp>
        <p:nvSpPr>
          <p:cNvPr id="29" name="cw_L08"/>
          <p:cNvSpPr txBox="1"/>
          <p:nvPr/>
        </p:nvSpPr>
        <p:spPr>
          <a:xfrm>
            <a:off x="771754" y="3708096"/>
            <a:ext cx="59659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Console.WriteLine(deleted ? </a:t>
            </a:r>
            <a:r>
              <a:rPr lang="en-US" sz="1050" b="0" dirty="0">
                <a:solidFill>
                  <a:srgbClr val="F0A98B"/>
                </a:solidFill>
                <a:latin typeface="Consolas"/>
                <a:ea typeface="Consolas"/>
                <a:cs typeface="Consolas"/>
              </a:rPr>
              <a:t>"Deleted" </a:t>
            </a:r>
            <a:r>
              <a:rPr lang="en-US" sz="1050" b="0" dirty="0">
                <a:solidFill>
                  <a:srgbClr val="E2E8F0"/>
                </a:solidFill>
                <a:latin typeface="Consolas"/>
                <a:ea typeface="Consolas"/>
                <a:cs typeface="Consolas"/>
              </a:rPr>
              <a:t>: </a:t>
            </a:r>
            <a:r>
              <a:rPr lang="en-US" sz="1050" b="0" dirty="0">
                <a:solidFill>
                  <a:srgbClr val="F0A98B"/>
                </a:solidFill>
                <a:latin typeface="Consolas"/>
                <a:ea typeface="Consolas"/>
                <a:cs typeface="Consolas"/>
              </a:rPr>
              <a:t>"Not found"</a:t>
            </a:r>
            <a:r>
              <a:rPr lang="en-US" sz="1050" b="0" dirty="0">
                <a:solidFill>
                  <a:srgbClr val="E2E8F0"/>
                </a:solidFill>
                <a:latin typeface="Consolas"/>
                <a:ea typeface="Consolas"/>
                <a:cs typeface="Consolas"/>
              </a:rPr>
              <a:t>);</a:t>
            </a:r>
            <a:endParaRPr lang="en-US" sz="1050" dirty="0"/>
          </a:p>
        </p:txBody>
      </p:sp>
      <p:sp>
        <p:nvSpPr>
          <p:cNvPr id="32" name="panel"/>
          <p:cNvSpPr/>
          <p:nvPr/>
        </p:nvSpPr>
        <p:spPr>
          <a:xfrm>
            <a:off x="7143154" y="1572768"/>
            <a:ext cx="4487100" cy="197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33" name="lab"/>
          <p:cNvSpPr txBox="1"/>
          <p:nvPr/>
        </p:nvSpPr>
        <p:spPr>
          <a:xfrm>
            <a:off x="7263154" y="1622768"/>
            <a:ext cx="42471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Employees table</a:t>
            </a:r>
            <a:endParaRPr lang="en-US" sz="1050" dirty="0"/>
          </a:p>
        </p:txBody>
      </p:sp>
      <p:sp>
        <p:nvSpPr>
          <p:cNvPr id="34" name="lab"/>
          <p:cNvSpPr txBox="1"/>
          <p:nvPr/>
        </p:nvSpPr>
        <p:spPr>
          <a:xfrm>
            <a:off x="7303154" y="1952768"/>
            <a:ext cx="67306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Id</a:t>
            </a:r>
            <a:endParaRPr lang="en-US" sz="950" dirty="0"/>
          </a:p>
        </p:txBody>
      </p:sp>
      <p:sp>
        <p:nvSpPr>
          <p:cNvPr id="35" name="lab"/>
          <p:cNvSpPr txBox="1"/>
          <p:nvPr/>
        </p:nvSpPr>
        <p:spPr>
          <a:xfrm>
            <a:off x="8065961" y="1952768"/>
            <a:ext cx="179484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Name</a:t>
            </a:r>
            <a:endParaRPr lang="en-US" sz="950" dirty="0"/>
          </a:p>
        </p:txBody>
      </p:sp>
      <p:sp>
        <p:nvSpPr>
          <p:cNvPr id="36" name="lab"/>
          <p:cNvSpPr txBox="1"/>
          <p:nvPr/>
        </p:nvSpPr>
        <p:spPr>
          <a:xfrm>
            <a:off x="9995414" y="1952768"/>
            <a:ext cx="157048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Salary</a:t>
            </a:r>
            <a:endParaRPr lang="en-US" sz="950" dirty="0"/>
          </a:p>
        </p:txBody>
      </p:sp>
      <p:sp>
        <p:nvSpPr>
          <p:cNvPr id="37" name="row"/>
          <p:cNvSpPr/>
          <p:nvPr/>
        </p:nvSpPr>
        <p:spPr>
          <a:xfrm>
            <a:off x="7243154" y="225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38"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a:t>
            </a:r>
            <a:endParaRPr lang="en-US" sz="1050" dirty="0"/>
          </a:p>
        </p:txBody>
      </p:sp>
      <p:sp>
        <p:nvSpPr>
          <p:cNvPr id="39"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Mona</a:t>
            </a:r>
            <a:endParaRPr lang="en-US" sz="1050" dirty="0"/>
          </a:p>
        </p:txBody>
      </p:sp>
      <p:sp>
        <p:nvSpPr>
          <p:cNvPr id="40"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15000</a:t>
            </a:r>
            <a:endParaRPr lang="en-US" sz="1050" dirty="0"/>
          </a:p>
        </p:txBody>
      </p:sp>
      <p:sp>
        <p:nvSpPr>
          <p:cNvPr id="41" name="row"/>
          <p:cNvSpPr/>
          <p:nvPr/>
        </p:nvSpPr>
        <p:spPr>
          <a:xfrm>
            <a:off x="7243154" y="266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2" name="lab"/>
          <p:cNvSpPr txBox="1"/>
          <p:nvPr/>
        </p:nvSpPr>
        <p:spPr>
          <a:xfrm>
            <a:off x="7303154" y="266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2</a:t>
            </a:r>
            <a:endParaRPr lang="en-US" sz="1050" dirty="0"/>
          </a:p>
        </p:txBody>
      </p:sp>
      <p:sp>
        <p:nvSpPr>
          <p:cNvPr id="43" name="lab"/>
          <p:cNvSpPr txBox="1"/>
          <p:nvPr/>
        </p:nvSpPr>
        <p:spPr>
          <a:xfrm>
            <a:off x="8065961" y="266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Ali</a:t>
            </a:r>
            <a:endParaRPr lang="en-US" sz="1050" dirty="0"/>
          </a:p>
        </p:txBody>
      </p:sp>
      <p:sp>
        <p:nvSpPr>
          <p:cNvPr id="44" name="lab"/>
          <p:cNvSpPr txBox="1"/>
          <p:nvPr/>
        </p:nvSpPr>
        <p:spPr>
          <a:xfrm>
            <a:off x="9995414" y="266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12000</a:t>
            </a:r>
            <a:endParaRPr lang="en-US" sz="1050" dirty="0"/>
          </a:p>
        </p:txBody>
      </p:sp>
      <p:sp>
        <p:nvSpPr>
          <p:cNvPr id="45" name="row"/>
          <p:cNvSpPr/>
          <p:nvPr/>
        </p:nvSpPr>
        <p:spPr>
          <a:xfrm>
            <a:off x="7243154" y="307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6" name="lab"/>
          <p:cNvSpPr txBox="1"/>
          <p:nvPr/>
        </p:nvSpPr>
        <p:spPr>
          <a:xfrm>
            <a:off x="7303154" y="307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3</a:t>
            </a:r>
            <a:endParaRPr lang="en-US" sz="1050" dirty="0"/>
          </a:p>
        </p:txBody>
      </p:sp>
      <p:sp>
        <p:nvSpPr>
          <p:cNvPr id="47" name="lab"/>
          <p:cNvSpPr txBox="1"/>
          <p:nvPr/>
        </p:nvSpPr>
        <p:spPr>
          <a:xfrm>
            <a:off x="8065961" y="307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Sara</a:t>
            </a:r>
            <a:endParaRPr lang="en-US" sz="1050" dirty="0"/>
          </a:p>
        </p:txBody>
      </p:sp>
      <p:sp>
        <p:nvSpPr>
          <p:cNvPr id="48" name="lab"/>
          <p:cNvSpPr txBox="1"/>
          <p:nvPr/>
        </p:nvSpPr>
        <p:spPr>
          <a:xfrm>
            <a:off x="9995414" y="307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14000</a:t>
            </a:r>
            <a:endParaRPr lang="en-US" sz="1050" dirty="0"/>
          </a:p>
        </p:txBody>
      </p:sp>
      <p:sp>
        <p:nvSpPr>
          <p:cNvPr id="49" name="found"/>
          <p:cNvSpPr/>
          <p:nvPr/>
        </p:nvSpPr>
        <p:spPr>
          <a:xfrm>
            <a:off x="7243154" y="2252768"/>
            <a:ext cx="4287100" cy="360000"/>
          </a:xfrm>
          <a:prstGeom prst="roundRect">
            <a:avLst>
              <a:gd name="adj" fmla="val 15000"/>
            </a:avLst>
          </a:prstGeom>
          <a:solidFill>
            <a:srgbClr val="F87171">
              <a:alpha val="25000"/>
            </a:srgbClr>
          </a:solidFill>
          <a:ln w="25400">
            <a:solidFill>
              <a:srgbClr val="F87171"/>
            </a:solidFill>
            <a:prstDash val="solid"/>
          </a:ln>
        </p:spPr>
        <p:txBody>
          <a:bodyPr/>
          <a:lstStyle/>
          <a:p>
            <a:endParaRPr lang="en-US"/>
          </a:p>
        </p:txBody>
      </p:sp>
      <p:sp>
        <p:nvSpPr>
          <p:cNvPr id="50" name="card"/>
          <p:cNvSpPr/>
          <p:nvPr/>
        </p:nvSpPr>
        <p:spPr>
          <a:xfrm>
            <a:off x="7143154" y="3662768"/>
            <a:ext cx="4487100" cy="52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Task&lt;bool&gt;</a:t>
            </a:r>
            <a:endParaRPr lang="en-US" sz="1000" dirty="0"/>
          </a:p>
          <a:p>
            <a:pPr marL="0" indent="0" algn="l">
              <a:spcBef>
                <a:spcPts val="0"/>
              </a:spcBef>
              <a:spcAft>
                <a:spcPts val="0"/>
              </a:spcAft>
              <a:buNone/>
            </a:pPr>
            <a:r>
              <a:rPr lang="en-US" sz="1000" b="0" dirty="0">
                <a:solidFill>
                  <a:srgbClr val="CBD5E1"/>
                </a:solidFill>
                <a:latin typeface="Segoe UI"/>
                <a:ea typeface="Segoe UI"/>
                <a:cs typeface="Segoe UI"/>
              </a:rPr>
              <a:t>tells the caller whether a row was really removed.</a:t>
            </a:r>
            <a:endParaRPr lang="en-US" sz="1000" dirty="0"/>
          </a:p>
        </p:txBody>
      </p:sp>
      <p:sp>
        <p:nvSpPr>
          <p:cNvPr id="51" name="out_win"/>
          <p:cNvSpPr/>
          <p:nvPr/>
        </p:nvSpPr>
        <p:spPr>
          <a:xfrm>
            <a:off x="7143154" y="4262768"/>
            <a:ext cx="4487100" cy="68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52" name="out_bar"/>
          <p:cNvSpPr/>
          <p:nvPr/>
        </p:nvSpPr>
        <p:spPr>
          <a:xfrm>
            <a:off x="7143154" y="4262768"/>
            <a:ext cx="44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3" name="out_barfill"/>
          <p:cNvSpPr/>
          <p:nvPr/>
        </p:nvSpPr>
        <p:spPr>
          <a:xfrm>
            <a:off x="7143154" y="4434218"/>
            <a:ext cx="4487100" cy="171450"/>
          </a:xfrm>
          <a:prstGeom prst="rect">
            <a:avLst/>
          </a:prstGeom>
          <a:solidFill>
            <a:srgbClr val="0A1220"/>
          </a:solidFill>
          <a:ln w="12700">
            <a:solidFill>
              <a:srgbClr val="0A1220"/>
            </a:solidFill>
            <a:prstDash val="solid"/>
          </a:ln>
        </p:spPr>
        <p:txBody>
          <a:bodyPr/>
          <a:lstStyle/>
          <a:p>
            <a:endParaRPr lang="en-US"/>
          </a:p>
        </p:txBody>
      </p:sp>
      <p:sp>
        <p:nvSpPr>
          <p:cNvPr id="54" name="out_dot0"/>
          <p:cNvSpPr/>
          <p:nvPr/>
        </p:nvSpPr>
        <p:spPr>
          <a:xfrm>
            <a:off x="7305002" y="4386578"/>
            <a:ext cx="95098" cy="95098"/>
          </a:xfrm>
          <a:prstGeom prst="ellipse">
            <a:avLst/>
          </a:prstGeom>
          <a:solidFill>
            <a:srgbClr val="F87171"/>
          </a:solidFill>
          <a:ln w="12700">
            <a:solidFill>
              <a:srgbClr val="F87171"/>
            </a:solidFill>
            <a:prstDash val="solid"/>
          </a:ln>
        </p:spPr>
        <p:txBody>
          <a:bodyPr/>
          <a:lstStyle/>
          <a:p>
            <a:endParaRPr lang="en-US"/>
          </a:p>
        </p:txBody>
      </p:sp>
      <p:sp>
        <p:nvSpPr>
          <p:cNvPr id="55" name="out_dot1"/>
          <p:cNvSpPr/>
          <p:nvPr/>
        </p:nvSpPr>
        <p:spPr>
          <a:xfrm>
            <a:off x="7490626" y="4386578"/>
            <a:ext cx="95098" cy="95098"/>
          </a:xfrm>
          <a:prstGeom prst="ellipse">
            <a:avLst/>
          </a:prstGeom>
          <a:solidFill>
            <a:srgbClr val="FBBF24"/>
          </a:solidFill>
          <a:ln w="12700">
            <a:solidFill>
              <a:srgbClr val="FBBF24"/>
            </a:solidFill>
            <a:prstDash val="solid"/>
          </a:ln>
        </p:spPr>
        <p:txBody>
          <a:bodyPr/>
          <a:lstStyle/>
          <a:p>
            <a:endParaRPr lang="en-US"/>
          </a:p>
        </p:txBody>
      </p:sp>
      <p:sp>
        <p:nvSpPr>
          <p:cNvPr id="56" name="out_dot2"/>
          <p:cNvSpPr/>
          <p:nvPr/>
        </p:nvSpPr>
        <p:spPr>
          <a:xfrm>
            <a:off x="7676250" y="4386578"/>
            <a:ext cx="95098" cy="95098"/>
          </a:xfrm>
          <a:prstGeom prst="ellipse">
            <a:avLst/>
          </a:prstGeom>
          <a:solidFill>
            <a:srgbClr val="34D399"/>
          </a:solidFill>
          <a:ln w="12700">
            <a:solidFill>
              <a:srgbClr val="34D399"/>
            </a:solidFill>
            <a:prstDash val="solid"/>
          </a:ln>
        </p:spPr>
        <p:txBody>
          <a:bodyPr/>
          <a:lstStyle/>
          <a:p>
            <a:endParaRPr lang="en-US"/>
          </a:p>
        </p:txBody>
      </p:sp>
      <p:sp>
        <p:nvSpPr>
          <p:cNvPr id="57" name="out_tab"/>
          <p:cNvSpPr/>
          <p:nvPr/>
        </p:nvSpPr>
        <p:spPr>
          <a:xfrm>
            <a:off x="7924051" y="431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8" name="out_L00"/>
          <p:cNvSpPr txBox="1"/>
          <p:nvPr/>
        </p:nvSpPr>
        <p:spPr>
          <a:xfrm>
            <a:off x="7371754" y="4691216"/>
            <a:ext cx="410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Deleted</a:t>
            </a:r>
            <a:endParaRPr lang="en-US" sz="1000" dirty="0"/>
          </a:p>
        </p:txBody>
      </p:sp>
      <p:sp>
        <p:nvSpPr>
          <p:cNvPr id="59"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Return Task&lt;bool&gt; when the caller needs to know if it worked: await gives a plain bool.</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3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3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3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3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3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3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3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3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3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300"/>
                                        <p:tgtEl>
                                          <p:spTgt spid="4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3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3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3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300"/>
                                        <p:tgtEl>
                                          <p:spTgt spid="4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300"/>
                                        <p:tgtEl>
                                          <p:spTgt spid="4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300"/>
                                        <p:tgtEl>
                                          <p:spTgt spid="4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300"/>
                                        <p:tgtEl>
                                          <p:spTgt spid="48"/>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300"/>
                                        <p:tgtEl>
                                          <p:spTgt spid="3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300"/>
                                        <p:tgtEl>
                                          <p:spTgt spid="49"/>
                                        </p:tgtEl>
                                      </p:cBhvr>
                                    </p:animEffect>
                                  </p:childTnLst>
                                </p:cTn>
                              </p:par>
                              <p:par>
                                <p:cTn id="114" presetID="10" presetClass="exit" presetSubtype="0" fill="hold" grpId="1" nodeType="withEffect">
                                  <p:stCondLst>
                                    <p:cond delay="900"/>
                                  </p:stCondLst>
                                  <p:childTnLst>
                                    <p:animEffect transition="out" filter="fade">
                                      <p:cBhvr>
                                        <p:cTn id="115" dur="300"/>
                                        <p:tgtEl>
                                          <p:spTgt spid="49"/>
                                        </p:tgtEl>
                                      </p:cBhvr>
                                    </p:animEffect>
                                    <p:set>
                                      <p:cBhvr>
                                        <p:cTn id="116" dur="1" fill="hold">
                                          <p:stCondLst>
                                            <p:cond delay="299"/>
                                          </p:stCondLst>
                                        </p:cTn>
                                        <p:tgtEl>
                                          <p:spTgt spid="49"/>
                                        </p:tgtEl>
                                        <p:attrNameLst>
                                          <p:attrName>style.visibility</p:attrName>
                                        </p:attrNameLst>
                                      </p:cBhvr>
                                      <p:to>
                                        <p:strVal val="hidden"/>
                                      </p:to>
                                    </p:set>
                                  </p:childTnLst>
                                </p:cTn>
                              </p:par>
                              <p:par>
                                <p:cTn id="117" presetID="10" presetClass="exit" presetSubtype="0" fill="hold" grpId="1" nodeType="withEffect">
                                  <p:stCondLst>
                                    <p:cond delay="900"/>
                                  </p:stCondLst>
                                  <p:childTnLst>
                                    <p:animEffect transition="out" filter="fade">
                                      <p:cBhvr>
                                        <p:cTn id="118" dur="300"/>
                                        <p:tgtEl>
                                          <p:spTgt spid="37"/>
                                        </p:tgtEl>
                                      </p:cBhvr>
                                    </p:animEffect>
                                    <p:set>
                                      <p:cBhvr>
                                        <p:cTn id="119" dur="1" fill="hold">
                                          <p:stCondLst>
                                            <p:cond delay="299"/>
                                          </p:stCondLst>
                                        </p:cTn>
                                        <p:tgtEl>
                                          <p:spTgt spid="37"/>
                                        </p:tgtEl>
                                        <p:attrNameLst>
                                          <p:attrName>style.visibility</p:attrName>
                                        </p:attrNameLst>
                                      </p:cBhvr>
                                      <p:to>
                                        <p:strVal val="hidden"/>
                                      </p:to>
                                    </p:set>
                                  </p:childTnLst>
                                </p:cTn>
                              </p:par>
                              <p:par>
                                <p:cTn id="120" presetID="10" presetClass="exit" presetSubtype="0" fill="hold" grpId="1" nodeType="withEffect">
                                  <p:stCondLst>
                                    <p:cond delay="900"/>
                                  </p:stCondLst>
                                  <p:childTnLst>
                                    <p:animEffect transition="out" filter="fade">
                                      <p:cBhvr>
                                        <p:cTn id="121" dur="300"/>
                                        <p:tgtEl>
                                          <p:spTgt spid="38"/>
                                        </p:tgtEl>
                                      </p:cBhvr>
                                    </p:animEffect>
                                    <p:set>
                                      <p:cBhvr>
                                        <p:cTn id="122" dur="1" fill="hold">
                                          <p:stCondLst>
                                            <p:cond delay="299"/>
                                          </p:stCondLst>
                                        </p:cTn>
                                        <p:tgtEl>
                                          <p:spTgt spid="38"/>
                                        </p:tgtEl>
                                        <p:attrNameLst>
                                          <p:attrName>style.visibility</p:attrName>
                                        </p:attrNameLst>
                                      </p:cBhvr>
                                      <p:to>
                                        <p:strVal val="hidden"/>
                                      </p:to>
                                    </p:set>
                                  </p:childTnLst>
                                </p:cTn>
                              </p:par>
                              <p:par>
                                <p:cTn id="123" presetID="10" presetClass="exit" presetSubtype="0" fill="hold" grpId="1" nodeType="withEffect">
                                  <p:stCondLst>
                                    <p:cond delay="900"/>
                                  </p:stCondLst>
                                  <p:childTnLst>
                                    <p:animEffect transition="out" filter="fade">
                                      <p:cBhvr>
                                        <p:cTn id="124" dur="300"/>
                                        <p:tgtEl>
                                          <p:spTgt spid="39"/>
                                        </p:tgtEl>
                                      </p:cBhvr>
                                    </p:animEffect>
                                    <p:set>
                                      <p:cBhvr>
                                        <p:cTn id="125" dur="1" fill="hold">
                                          <p:stCondLst>
                                            <p:cond delay="299"/>
                                          </p:stCondLst>
                                        </p:cTn>
                                        <p:tgtEl>
                                          <p:spTgt spid="39"/>
                                        </p:tgtEl>
                                        <p:attrNameLst>
                                          <p:attrName>style.visibility</p:attrName>
                                        </p:attrNameLst>
                                      </p:cBhvr>
                                      <p:to>
                                        <p:strVal val="hidden"/>
                                      </p:to>
                                    </p:set>
                                  </p:childTnLst>
                                </p:cTn>
                              </p:par>
                              <p:par>
                                <p:cTn id="126" presetID="10" presetClass="exit" presetSubtype="0" fill="hold" grpId="1" nodeType="withEffect">
                                  <p:stCondLst>
                                    <p:cond delay="900"/>
                                  </p:stCondLst>
                                  <p:childTnLst>
                                    <p:animEffect transition="out" filter="fade">
                                      <p:cBhvr>
                                        <p:cTn id="127" dur="300"/>
                                        <p:tgtEl>
                                          <p:spTgt spid="40"/>
                                        </p:tgtEl>
                                      </p:cBhvr>
                                    </p:animEffect>
                                    <p:set>
                                      <p:cBhvr>
                                        <p:cTn id="128" dur="1" fill="hold">
                                          <p:stCondLst>
                                            <p:cond delay="299"/>
                                          </p:stCondLst>
                                        </p:cTn>
                                        <p:tgtEl>
                                          <p:spTgt spid="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300"/>
                                        <p:tgtEl>
                                          <p:spTgt spid="50"/>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300"/>
                                        <p:tgtEl>
                                          <p:spTgt spid="5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3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30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300"/>
                                        <p:tgtEl>
                                          <p:spTgt spid="5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300"/>
                                        <p:tgtEl>
                                          <p:spTgt spid="5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300"/>
                                        <p:tgtEl>
                                          <p:spTgt spid="5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300"/>
                                        <p:tgtEl>
                                          <p:spTgt spid="5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9" dur="300"/>
                                        <p:tgtEl>
                                          <p:spTgt spid="58"/>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grpId="0" nodeType="clickEffect">
                                  <p:stCondLst>
                                    <p:cond delay="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4" dur="3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0" grpId="0" animBg="1"/>
      <p:bldP spid="3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7" grpId="1" animBg="1"/>
      <p:bldP spid="38" grpId="0" animBg="1"/>
      <p:bldP spid="38" grpId="1" animBg="1"/>
      <p:bldP spid="39" grpId="0" animBg="1"/>
      <p:bldP spid="39" grpId="1" animBg="1"/>
      <p:bldP spid="40" grpId="0" animBg="1"/>
      <p:bldP spid="40" grpId="1" animBg="1"/>
      <p:bldP spid="41" grpId="0" animBg="1"/>
      <p:bldP spid="42" grpId="0" animBg="1"/>
      <p:bldP spid="43" grpId="0" animBg="1"/>
      <p:bldP spid="44" grpId="0" animBg="1"/>
      <p:bldP spid="45" grpId="0" animBg="1"/>
      <p:bldP spid="46" grpId="0" animBg="1"/>
      <p:bldP spid="47" grpId="0" animBg="1"/>
      <p:bldP spid="48" grpId="0" animBg="1"/>
      <p:bldP spid="49" grpId="0" animBg="1"/>
      <p:bldP spid="49" grpId="1"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5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LAB</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Putting It Together: Get, Add, Delete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104</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0121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var </a:t>
            </a:r>
            <a:r>
              <a:rPr lang="en-US" sz="950" b="0" dirty="0">
                <a:solidFill>
                  <a:srgbClr val="E2E8F0"/>
                </a:solidFill>
                <a:latin typeface="Consolas"/>
                <a:ea typeface="Consolas"/>
                <a:cs typeface="Consolas"/>
              </a:rPr>
              <a:t>repo = </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EmployeeRepository();</a:t>
            </a:r>
            <a:endParaRPr lang="en-US" sz="950" dirty="0"/>
          </a:p>
        </p:txBody>
      </p:sp>
      <p:sp>
        <p:nvSpPr>
          <p:cNvPr id="23" name="cw_L02"/>
          <p:cNvSpPr txBox="1"/>
          <p:nvPr/>
        </p:nvSpPr>
        <p:spPr>
          <a:xfrm>
            <a:off x="771754" y="238729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repo.AddAsync(</a:t>
            </a:r>
            <a:r>
              <a:rPr lang="en-US" sz="950" b="0" dirty="0">
                <a:solidFill>
                  <a:srgbClr val="60A5FA"/>
                </a:solidFill>
                <a:latin typeface="Consolas"/>
                <a:ea typeface="Consolas"/>
                <a:cs typeface="Consolas"/>
              </a:rPr>
              <a:t>new </a:t>
            </a:r>
            <a:r>
              <a:rPr lang="en-US" sz="950" b="0" dirty="0">
                <a:solidFill>
                  <a:srgbClr val="E2E8F0"/>
                </a:solidFill>
                <a:latin typeface="Consolas"/>
                <a:ea typeface="Consolas"/>
                <a:cs typeface="Consolas"/>
              </a:rPr>
              <a:t>Employee(3, </a:t>
            </a:r>
            <a:r>
              <a:rPr lang="en-US" sz="950" b="0" dirty="0">
                <a:solidFill>
                  <a:srgbClr val="F0A98B"/>
                </a:solidFill>
                <a:latin typeface="Consolas"/>
                <a:ea typeface="Consolas"/>
                <a:cs typeface="Consolas"/>
              </a:rPr>
              <a:t>"Sara"</a:t>
            </a:r>
            <a:r>
              <a:rPr lang="en-US" sz="950" b="0" dirty="0">
                <a:solidFill>
                  <a:srgbClr val="E2E8F0"/>
                </a:solidFill>
                <a:latin typeface="Consolas"/>
                <a:ea typeface="Consolas"/>
                <a:cs typeface="Consolas"/>
              </a:rPr>
              <a:t>, 14000));   </a:t>
            </a:r>
            <a:r>
              <a:rPr lang="en-US" sz="950" b="0" dirty="0">
                <a:solidFill>
                  <a:srgbClr val="6FAE7A"/>
                </a:solidFill>
                <a:latin typeface="Consolas"/>
                <a:ea typeface="Consolas"/>
                <a:cs typeface="Consolas"/>
              </a:rPr>
              <a:t>// 400 ms</a:t>
            </a:r>
            <a:endParaRPr lang="en-US" sz="950" dirty="0"/>
          </a:p>
        </p:txBody>
      </p:sp>
      <p:sp>
        <p:nvSpPr>
          <p:cNvPr id="24" name="cw_L03"/>
          <p:cNvSpPr txBox="1"/>
          <p:nvPr/>
        </p:nvSpPr>
        <p:spPr>
          <a:xfrm>
            <a:off x="771754" y="258033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bool </a:t>
            </a:r>
            <a:r>
              <a:rPr lang="en-US" sz="950" b="0" dirty="0">
                <a:solidFill>
                  <a:srgbClr val="E2E8F0"/>
                </a:solidFill>
                <a:latin typeface="Consolas"/>
                <a:ea typeface="Consolas"/>
                <a:cs typeface="Consolas"/>
              </a:rPr>
              <a:t>deleted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repo.DeleteAsync(1);              </a:t>
            </a:r>
            <a:r>
              <a:rPr lang="en-US" sz="950" b="0" dirty="0">
                <a:solidFill>
                  <a:srgbClr val="6FAE7A"/>
                </a:solidFill>
                <a:latin typeface="Consolas"/>
                <a:ea typeface="Consolas"/>
                <a:cs typeface="Consolas"/>
              </a:rPr>
              <a:t>// 400 ms</a:t>
            </a:r>
            <a:endParaRPr lang="en-US" sz="950" dirty="0"/>
          </a:p>
        </p:txBody>
      </p:sp>
      <p:sp>
        <p:nvSpPr>
          <p:cNvPr id="25" name="cw_L04"/>
          <p:cNvSpPr txBox="1"/>
          <p:nvPr/>
        </p:nvSpPr>
        <p:spPr>
          <a:xfrm>
            <a:off x="771754" y="277337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Employee? ali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repo.GetByIdAsync(2);            </a:t>
            </a:r>
            <a:r>
              <a:rPr lang="en-US" sz="950" b="0" dirty="0">
                <a:solidFill>
                  <a:srgbClr val="6FAE7A"/>
                </a:solidFill>
                <a:latin typeface="Consolas"/>
                <a:ea typeface="Consolas"/>
                <a:cs typeface="Consolas"/>
              </a:rPr>
              <a:t>// 300 ms</a:t>
            </a:r>
            <a:endParaRPr lang="en-US" sz="950" dirty="0"/>
          </a:p>
        </p:txBody>
      </p:sp>
      <p:sp>
        <p:nvSpPr>
          <p:cNvPr id="26" name="cw_L06"/>
          <p:cNvSpPr txBox="1"/>
          <p:nvPr/>
        </p:nvSpPr>
        <p:spPr>
          <a:xfrm>
            <a:off x="771754" y="315945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List&lt;Employee&gt; all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repo.GetAllAsync();         </a:t>
            </a:r>
            <a:r>
              <a:rPr lang="en-US" sz="950" b="0" dirty="0">
                <a:solidFill>
                  <a:srgbClr val="6FAE7A"/>
                </a:solidFill>
                <a:latin typeface="Consolas"/>
                <a:ea typeface="Consolas"/>
                <a:cs typeface="Consolas"/>
              </a:rPr>
              <a:t>// 500 ms</a:t>
            </a:r>
            <a:endParaRPr lang="en-US" sz="950" dirty="0"/>
          </a:p>
        </p:txBody>
      </p:sp>
      <p:sp>
        <p:nvSpPr>
          <p:cNvPr id="27" name="cw_L07"/>
          <p:cNvSpPr txBox="1"/>
          <p:nvPr/>
        </p:nvSpPr>
        <p:spPr>
          <a:xfrm>
            <a:off x="771754" y="335249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foreach </a:t>
            </a:r>
            <a:r>
              <a:rPr lang="en-US" sz="950" b="0" dirty="0">
                <a:solidFill>
                  <a:srgbClr val="E2E8F0"/>
                </a:solidFill>
                <a:latin typeface="Consolas"/>
                <a:ea typeface="Consolas"/>
                <a:cs typeface="Consolas"/>
              </a:rPr>
              <a:t>(Employee e </a:t>
            </a:r>
            <a:r>
              <a:rPr lang="en-US" sz="950" b="0" dirty="0">
                <a:solidFill>
                  <a:srgbClr val="60A5FA"/>
                </a:solidFill>
                <a:latin typeface="Consolas"/>
                <a:ea typeface="Consolas"/>
                <a:cs typeface="Consolas"/>
              </a:rPr>
              <a:t>in </a:t>
            </a:r>
            <a:r>
              <a:rPr lang="en-US" sz="950" b="0" dirty="0">
                <a:solidFill>
                  <a:srgbClr val="E2E8F0"/>
                </a:solidFill>
                <a:latin typeface="Consolas"/>
                <a:ea typeface="Consolas"/>
                <a:cs typeface="Consolas"/>
              </a:rPr>
              <a:t>all)</a:t>
            </a:r>
            <a:endParaRPr lang="en-US" sz="950" dirty="0"/>
          </a:p>
        </p:txBody>
      </p:sp>
      <p:sp>
        <p:nvSpPr>
          <p:cNvPr id="28" name="cw_L08"/>
          <p:cNvSpPr txBox="1"/>
          <p:nvPr/>
        </p:nvSpPr>
        <p:spPr>
          <a:xfrm>
            <a:off x="771754" y="354553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$"{e.Id} {e.Name} {e.Salary}"</a:t>
            </a:r>
            <a:r>
              <a:rPr lang="en-US" sz="950" b="0" dirty="0">
                <a:solidFill>
                  <a:srgbClr val="E2E8F0"/>
                </a:solidFill>
                <a:latin typeface="Consolas"/>
                <a:ea typeface="Consolas"/>
                <a:cs typeface="Consolas"/>
              </a:rPr>
              <a:t>);</a:t>
            </a:r>
            <a:endParaRPr lang="en-US" sz="950" dirty="0"/>
          </a:p>
        </p:txBody>
      </p:sp>
      <p:sp>
        <p:nvSpPr>
          <p:cNvPr id="29" name="cw_L10"/>
          <p:cNvSpPr txBox="1"/>
          <p:nvPr/>
        </p:nvSpPr>
        <p:spPr>
          <a:xfrm>
            <a:off x="771754" y="393161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$"Deleted Mona: {deleted}, found: {ali?.Name}"</a:t>
            </a:r>
            <a:r>
              <a:rPr lang="en-US" sz="950" b="0" dirty="0">
                <a:solidFill>
                  <a:srgbClr val="E2E8F0"/>
                </a:solidFill>
                <a:latin typeface="Consolas"/>
                <a:ea typeface="Consolas"/>
                <a:cs typeface="Consolas"/>
              </a:rPr>
              <a:t>);</a:t>
            </a:r>
            <a:endParaRPr lang="en-US" sz="950" dirty="0"/>
          </a:p>
        </p:txBody>
      </p:sp>
      <p:sp>
        <p:nvSpPr>
          <p:cNvPr id="30" name="lab"/>
          <p:cNvSpPr txBox="1"/>
          <p:nvPr/>
        </p:nvSpPr>
        <p:spPr>
          <a:xfrm>
            <a:off x="7143154" y="1572768"/>
            <a:ext cx="448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BBF24"/>
                </a:solidFill>
                <a:latin typeface="Segoe UI"/>
                <a:ea typeface="Segoe UI"/>
                <a:cs typeface="Segoe UI"/>
              </a:rPr>
              <a:t>Each await waits for the previous call</a:t>
            </a:r>
            <a:endParaRPr lang="en-US" sz="1000" dirty="0"/>
          </a:p>
        </p:txBody>
      </p:sp>
      <p:sp>
        <p:nvSpPr>
          <p:cNvPr id="31" name="bar"/>
          <p:cNvSpPr/>
          <p:nvPr/>
        </p:nvSpPr>
        <p:spPr>
          <a:xfrm>
            <a:off x="7143154" y="1872768"/>
            <a:ext cx="1091775" cy="380000"/>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Add</a:t>
            </a:r>
            <a:endParaRPr lang="en-US" sz="950" dirty="0"/>
          </a:p>
        </p:txBody>
      </p:sp>
      <p:sp>
        <p:nvSpPr>
          <p:cNvPr id="32" name="bar"/>
          <p:cNvSpPr/>
          <p:nvPr/>
        </p:nvSpPr>
        <p:spPr>
          <a:xfrm>
            <a:off x="8264929" y="1872768"/>
            <a:ext cx="1091775" cy="380000"/>
          </a:xfrm>
          <a:prstGeom prst="roundRect">
            <a:avLst>
              <a:gd name="adj" fmla="val 20000"/>
            </a:avLst>
          </a:prstGeom>
          <a:solidFill>
            <a:srgbClr val="F87171">
              <a:alpha val="2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Delete</a:t>
            </a:r>
            <a:endParaRPr lang="en-US" sz="950" dirty="0"/>
          </a:p>
        </p:txBody>
      </p:sp>
      <p:sp>
        <p:nvSpPr>
          <p:cNvPr id="33" name="bar"/>
          <p:cNvSpPr/>
          <p:nvPr/>
        </p:nvSpPr>
        <p:spPr>
          <a:xfrm>
            <a:off x="9386704" y="1872768"/>
            <a:ext cx="822549" cy="38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Get</a:t>
            </a:r>
            <a:endParaRPr lang="en-US" sz="950" dirty="0"/>
          </a:p>
        </p:txBody>
      </p:sp>
      <p:sp>
        <p:nvSpPr>
          <p:cNvPr id="34" name="bar"/>
          <p:cNvSpPr/>
          <p:nvPr/>
        </p:nvSpPr>
        <p:spPr>
          <a:xfrm>
            <a:off x="10239253" y="1872768"/>
            <a:ext cx="1361001" cy="380000"/>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GetAll</a:t>
            </a:r>
            <a:endParaRPr lang="en-US" sz="950" dirty="0"/>
          </a:p>
        </p:txBody>
      </p:sp>
      <p:sp>
        <p:nvSpPr>
          <p:cNvPr id="35" name="lab"/>
          <p:cNvSpPr txBox="1"/>
          <p:nvPr/>
        </p:nvSpPr>
        <p:spPr>
          <a:xfrm>
            <a:off x="7143154" y="2292768"/>
            <a:ext cx="4487100" cy="24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0" dirty="0">
                <a:solidFill>
                  <a:srgbClr val="94A3B8"/>
                </a:solidFill>
                <a:latin typeface="Segoe UI"/>
                <a:ea typeface="Segoe UI"/>
                <a:cs typeface="Segoe UI"/>
              </a:rPr>
              <a:t>0 s                                            about 1.6 s</a:t>
            </a:r>
            <a:endParaRPr lang="en-US" sz="900" dirty="0"/>
          </a:p>
        </p:txBody>
      </p:sp>
      <p:sp>
        <p:nvSpPr>
          <p:cNvPr id="36" name="out_win"/>
          <p:cNvSpPr/>
          <p:nvPr/>
        </p:nvSpPr>
        <p:spPr>
          <a:xfrm>
            <a:off x="7143154" y="2622768"/>
            <a:ext cx="4487100" cy="105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7" name="out_bar"/>
          <p:cNvSpPr/>
          <p:nvPr/>
        </p:nvSpPr>
        <p:spPr>
          <a:xfrm>
            <a:off x="7143154" y="2622768"/>
            <a:ext cx="44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8" name="out_barfill"/>
          <p:cNvSpPr/>
          <p:nvPr/>
        </p:nvSpPr>
        <p:spPr>
          <a:xfrm>
            <a:off x="7143154" y="2794218"/>
            <a:ext cx="4487100" cy="171450"/>
          </a:xfrm>
          <a:prstGeom prst="rect">
            <a:avLst/>
          </a:prstGeom>
          <a:solidFill>
            <a:srgbClr val="0A1220"/>
          </a:solidFill>
          <a:ln w="12700">
            <a:solidFill>
              <a:srgbClr val="0A1220"/>
            </a:solidFill>
            <a:prstDash val="solid"/>
          </a:ln>
        </p:spPr>
        <p:txBody>
          <a:bodyPr/>
          <a:lstStyle/>
          <a:p>
            <a:endParaRPr lang="en-US"/>
          </a:p>
        </p:txBody>
      </p:sp>
      <p:sp>
        <p:nvSpPr>
          <p:cNvPr id="39" name="out_dot0"/>
          <p:cNvSpPr/>
          <p:nvPr/>
        </p:nvSpPr>
        <p:spPr>
          <a:xfrm>
            <a:off x="7305002" y="274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0" name="out_dot1"/>
          <p:cNvSpPr/>
          <p:nvPr/>
        </p:nvSpPr>
        <p:spPr>
          <a:xfrm>
            <a:off x="7490626" y="274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1" name="out_dot2"/>
          <p:cNvSpPr/>
          <p:nvPr/>
        </p:nvSpPr>
        <p:spPr>
          <a:xfrm>
            <a:off x="7676250" y="274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2" name="out_tab"/>
          <p:cNvSpPr/>
          <p:nvPr/>
        </p:nvSpPr>
        <p:spPr>
          <a:xfrm>
            <a:off x="7924051" y="267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43" name="out_L00"/>
          <p:cNvSpPr txBox="1"/>
          <p:nvPr/>
        </p:nvSpPr>
        <p:spPr>
          <a:xfrm>
            <a:off x="7371754" y="3051216"/>
            <a:ext cx="41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2 Ali 12000</a:t>
            </a:r>
            <a:endParaRPr lang="en-US" sz="950" dirty="0"/>
          </a:p>
        </p:txBody>
      </p:sp>
      <p:sp>
        <p:nvSpPr>
          <p:cNvPr id="44" name="out_L01"/>
          <p:cNvSpPr txBox="1"/>
          <p:nvPr/>
        </p:nvSpPr>
        <p:spPr>
          <a:xfrm>
            <a:off x="7371754" y="3244256"/>
            <a:ext cx="41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34D399"/>
                </a:solidFill>
                <a:latin typeface="Consolas"/>
                <a:ea typeface="Consolas"/>
                <a:cs typeface="Consolas"/>
              </a:rPr>
              <a:t>3 Sara 14000</a:t>
            </a:r>
            <a:endParaRPr lang="en-US" sz="950" dirty="0"/>
          </a:p>
        </p:txBody>
      </p:sp>
      <p:sp>
        <p:nvSpPr>
          <p:cNvPr id="45" name="out_L02"/>
          <p:cNvSpPr txBox="1"/>
          <p:nvPr/>
        </p:nvSpPr>
        <p:spPr>
          <a:xfrm>
            <a:off x="7371754" y="3437296"/>
            <a:ext cx="41030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Deleted Mona: True, found: Ali</a:t>
            </a:r>
            <a:endParaRPr lang="en-US" sz="950" dirty="0"/>
          </a:p>
        </p:txBody>
      </p:sp>
      <p:sp>
        <p:nvSpPr>
          <p:cNvPr id="46" name="card"/>
          <p:cNvSpPr/>
          <p:nvPr/>
        </p:nvSpPr>
        <p:spPr>
          <a:xfrm>
            <a:off x="7143154" y="3772768"/>
            <a:ext cx="4487100" cy="1177232"/>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SEQUENTIAL ON PURPOSE</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We want the list AFTER the add and delete, so waiting in order is correct here. The thread was free during every wait.</a:t>
            </a:r>
            <a:endParaRPr lang="en-US" sz="1050" dirty="0"/>
          </a:p>
        </p:txBody>
      </p:sp>
      <p:sp>
        <p:nvSpPr>
          <p:cNvPr id="47"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Real async code reads top to bottom like normal code: await each step, the thread is never blocked.</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600"/>
                                        <p:tgtEl>
                                          <p:spTgt spid="31"/>
                                        </p:tgtEl>
                                      </p:cBhvr>
                                    </p:animEffect>
                                  </p:childTnLst>
                                </p:cTn>
                              </p:par>
                              <p:par>
                                <p:cTn id="58" presetID="22" presetClass="entr" presetSubtype="8" fill="hold" grpId="0" nodeType="withEffect">
                                  <p:stCondLst>
                                    <p:cond delay="60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600"/>
                                        <p:tgtEl>
                                          <p:spTgt spid="32"/>
                                        </p:tgtEl>
                                      </p:cBhvr>
                                    </p:animEffect>
                                  </p:childTnLst>
                                </p:cTn>
                              </p:par>
                              <p:par>
                                <p:cTn id="61" presetID="22" presetClass="entr" presetSubtype="8" fill="hold" grpId="0" nodeType="withEffect">
                                  <p:stCondLst>
                                    <p:cond delay="120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600"/>
                                        <p:tgtEl>
                                          <p:spTgt spid="33"/>
                                        </p:tgtEl>
                                      </p:cBhvr>
                                    </p:animEffect>
                                  </p:childTnLst>
                                </p:cTn>
                              </p:par>
                              <p:par>
                                <p:cTn id="64" presetID="22" presetClass="entr" presetSubtype="8" fill="hold" grpId="0" nodeType="withEffect">
                                  <p:stCondLst>
                                    <p:cond delay="170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600"/>
                                        <p:tgtEl>
                                          <p:spTgt spid="34"/>
                                        </p:tgtEl>
                                      </p:cBhvr>
                                    </p:animEffect>
                                  </p:childTnLst>
                                </p:cTn>
                              </p:par>
                              <p:par>
                                <p:cTn id="67" presetID="10" presetClass="entr" presetSubtype="0" fill="hold" grpId="0" nodeType="withEffect">
                                  <p:stCondLst>
                                    <p:cond delay="230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3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3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3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3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3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3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3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3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3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300"/>
                                        <p:tgtEl>
                                          <p:spTgt spid="45"/>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fade">
                                      <p:cBhvr>
                                        <p:cTn id="106" dur="300"/>
                                        <p:tgtEl>
                                          <p:spTgt spid="4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3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Task&lt;bool&gt; Is Not bool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106</a:t>
            </a:r>
            <a:endParaRPr lang="en-US" sz="850" dirty="0"/>
          </a:p>
        </p:txBody>
      </p:sp>
      <p:sp>
        <p:nvSpPr>
          <p:cNvPr id="15" name="cw_win"/>
          <p:cNvSpPr/>
          <p:nvPr/>
        </p:nvSpPr>
        <p:spPr>
          <a:xfrm>
            <a:off x="543154" y="1572768"/>
            <a:ext cx="56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6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6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2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bool </a:t>
            </a:r>
            <a:r>
              <a:rPr lang="en-US" sz="1150" b="0" dirty="0">
                <a:solidFill>
                  <a:srgbClr val="E2E8F0"/>
                </a:solidFill>
                <a:latin typeface="Consolas"/>
                <a:ea typeface="Consolas"/>
                <a:cs typeface="Consolas"/>
              </a:rPr>
              <a:t>deleted = repo.DeleteAsync(1);</a:t>
            </a:r>
            <a:endParaRPr lang="en-US" sz="1150" dirty="0"/>
          </a:p>
        </p:txBody>
      </p:sp>
      <p:sp>
        <p:nvSpPr>
          <p:cNvPr id="23" name="cw_L02"/>
          <p:cNvSpPr txBox="1"/>
          <p:nvPr/>
        </p:nvSpPr>
        <p:spPr>
          <a:xfrm>
            <a:off x="771754" y="2515616"/>
            <a:ext cx="521595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if </a:t>
            </a:r>
            <a:r>
              <a:rPr lang="en-US" sz="1150" b="0" dirty="0">
                <a:solidFill>
                  <a:srgbClr val="E2E8F0"/>
                </a:solidFill>
                <a:latin typeface="Consolas"/>
                <a:ea typeface="Consolas"/>
                <a:cs typeface="Consolas"/>
              </a:rPr>
              <a:t>(deleted)</a:t>
            </a:r>
            <a:endParaRPr lang="en-US" sz="1150" dirty="0"/>
          </a:p>
        </p:txBody>
      </p:sp>
      <p:sp>
        <p:nvSpPr>
          <p:cNvPr id="24" name="cw_L03"/>
          <p:cNvSpPr txBox="1"/>
          <p:nvPr/>
        </p:nvSpPr>
        <p:spPr>
          <a:xfrm>
            <a:off x="771754" y="2749296"/>
            <a:ext cx="521595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"Deleted"</a:t>
            </a:r>
            <a:r>
              <a:rPr lang="en-US" sz="1150" b="0" dirty="0">
                <a:solidFill>
                  <a:srgbClr val="E2E8F0"/>
                </a:solidFill>
                <a:latin typeface="Consolas"/>
                <a:ea typeface="Consolas"/>
                <a:cs typeface="Consolas"/>
              </a:rPr>
              <a:t>);</a:t>
            </a:r>
            <a:endParaRPr lang="en-US" sz="1150" dirty="0"/>
          </a:p>
        </p:txBody>
      </p:sp>
      <p:sp>
        <p:nvSpPr>
          <p:cNvPr id="25" name="caption"/>
          <p:cNvSpPr/>
          <p:nvPr/>
        </p:nvSpPr>
        <p:spPr>
          <a:xfrm>
            <a:off x="6393154" y="1572768"/>
            <a:ext cx="5237100" cy="64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What happens?</a:t>
            </a:r>
            <a:endParaRPr lang="en-US" sz="1150" dirty="0"/>
          </a:p>
        </p:txBody>
      </p:sp>
      <p:sp>
        <p:nvSpPr>
          <p:cNvPr id="26" name="card"/>
          <p:cNvSpPr/>
          <p:nvPr/>
        </p:nvSpPr>
        <p:spPr>
          <a:xfrm>
            <a:off x="6393154" y="233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  </a:t>
            </a:r>
            <a:r>
              <a:rPr lang="en-US" sz="1100" b="0" dirty="0">
                <a:solidFill>
                  <a:srgbClr val="CBD5E1"/>
                </a:solidFill>
                <a:latin typeface="Segoe UI"/>
                <a:ea typeface="Segoe UI"/>
                <a:cs typeface="Segoe UI"/>
              </a:rPr>
              <a:t>It prints "Deleted"</a:t>
            </a:r>
            <a:endParaRPr lang="en-US" sz="1100" dirty="0"/>
          </a:p>
        </p:txBody>
      </p:sp>
      <p:sp>
        <p:nvSpPr>
          <p:cNvPr id="27" name="card"/>
          <p:cNvSpPr/>
          <p:nvPr/>
        </p:nvSpPr>
        <p:spPr>
          <a:xfrm>
            <a:off x="6393154" y="294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B  </a:t>
            </a:r>
            <a:r>
              <a:rPr lang="en-US" sz="1100" b="0" dirty="0">
                <a:solidFill>
                  <a:srgbClr val="CBD5E1"/>
                </a:solidFill>
                <a:latin typeface="Segoe UI"/>
                <a:ea typeface="Segoe UI"/>
                <a:cs typeface="Segoe UI"/>
              </a:rPr>
              <a:t>Compile error: cannot convert Task&lt;bool&gt; to bool</a:t>
            </a:r>
            <a:endParaRPr lang="en-US" sz="1100" dirty="0"/>
          </a:p>
        </p:txBody>
      </p:sp>
      <p:sp>
        <p:nvSpPr>
          <p:cNvPr id="28" name="card"/>
          <p:cNvSpPr/>
          <p:nvPr/>
        </p:nvSpPr>
        <p:spPr>
          <a:xfrm>
            <a:off x="6393154" y="355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C  </a:t>
            </a:r>
            <a:r>
              <a:rPr lang="en-US" sz="1100" b="0" dirty="0">
                <a:solidFill>
                  <a:srgbClr val="CBD5E1"/>
                </a:solidFill>
                <a:latin typeface="Segoe UI"/>
                <a:ea typeface="Segoe UI"/>
                <a:cs typeface="Segoe UI"/>
              </a:rPr>
              <a:t>A runtime exception</a:t>
            </a:r>
            <a:endParaRPr lang="en-US" sz="1100" dirty="0"/>
          </a:p>
        </p:txBody>
      </p:sp>
      <p:sp>
        <p:nvSpPr>
          <p:cNvPr id="29" name="card"/>
          <p:cNvSpPr/>
          <p:nvPr/>
        </p:nvSpPr>
        <p:spPr>
          <a:xfrm>
            <a:off x="6393154" y="416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D  </a:t>
            </a:r>
            <a:r>
              <a:rPr lang="en-US" sz="1100" b="0" dirty="0">
                <a:solidFill>
                  <a:srgbClr val="CBD5E1"/>
                </a:solidFill>
                <a:latin typeface="Segoe UI"/>
                <a:ea typeface="Segoe UI"/>
                <a:cs typeface="Segoe UI"/>
              </a:rPr>
              <a:t>It deletes, but prints nothing</a:t>
            </a:r>
            <a:endParaRPr lang="en-US" sz="1100" dirty="0"/>
          </a:p>
        </p:txBody>
      </p:sp>
      <p:sp>
        <p:nvSpPr>
          <p:cNvPr id="30" name="answer_mark"/>
          <p:cNvSpPr/>
          <p:nvPr/>
        </p:nvSpPr>
        <p:spPr>
          <a:xfrm>
            <a:off x="6393154" y="2942768"/>
            <a:ext cx="5237100" cy="520000"/>
          </a:xfrm>
          <a:prstGeom prst="roundRect">
            <a:avLst>
              <a:gd name="adj" fmla="val 15000"/>
            </a:avLst>
          </a:prstGeom>
          <a:solidFill>
            <a:srgbClr val="0E2A26"/>
          </a:solidFill>
          <a:ln w="25400">
            <a:solidFill>
              <a:srgbClr val="34D399"/>
            </a:solidFill>
            <a:prstDash val="solid"/>
          </a:ln>
        </p:spPr>
        <p:txBody>
          <a:bodyPr wrap="square" lIns="182880" tIns="64008" rIns="137160" bIns="64008"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B  Compile error: cannot convert Task&lt;bool&gt; to bool</a:t>
            </a:r>
            <a:endParaRPr lang="en-US" sz="1100" dirty="0"/>
          </a:p>
        </p:txBody>
      </p:sp>
      <p:sp>
        <p:nvSpPr>
          <p:cNvPr id="31" name="banner"/>
          <p:cNvSpPr/>
          <p:nvPr/>
        </p:nvSpPr>
        <p:spPr>
          <a:xfrm>
            <a:off x="543154" y="5074920"/>
            <a:ext cx="11087100" cy="749808"/>
          </a:xfrm>
          <a:prstGeom prst="roundRect">
            <a:avLst>
              <a:gd name="adj" fmla="val 10975"/>
            </a:avLst>
          </a:prstGeom>
          <a:solidFill>
            <a:srgbClr val="0E2A26"/>
          </a:solidFill>
          <a:ln w="12700">
            <a:solidFill>
              <a:srgbClr val="34D399"/>
            </a:solidFill>
            <a:prstDash val="solid"/>
          </a:ln>
        </p:spPr>
        <p:txBody>
          <a:bodyPr wrap="square" lIns="209398" tIns="75895" rIns="209398" bIns="75895" rtlCol="0" anchor="ctr">
            <a:noAutofit/>
          </a:bodyPr>
          <a:lstStyle/>
          <a:p>
            <a:pPr marL="0" indent="0" algn="l">
              <a:spcBef>
                <a:spcPts val="0"/>
              </a:spcBef>
              <a:spcAft>
                <a:spcPts val="0"/>
              </a:spcAft>
              <a:buNone/>
            </a:pPr>
            <a:r>
              <a:rPr lang="en-US" sz="1250" b="1" dirty="0">
                <a:solidFill>
                  <a:srgbClr val="34D399"/>
                </a:solidFill>
                <a:latin typeface="Segoe UI"/>
                <a:ea typeface="Segoe UI"/>
                <a:cs typeface="Segoe UI"/>
              </a:rPr>
              <a:t>ANSWER B   </a:t>
            </a:r>
            <a:r>
              <a:rPr lang="en-US" sz="1250" b="0" dirty="0">
                <a:solidFill>
                  <a:srgbClr val="FFFFFF"/>
                </a:solidFill>
                <a:latin typeface="Segoe UI"/>
                <a:ea typeface="Segoe UI"/>
                <a:cs typeface="Segoe UI"/>
              </a:rPr>
              <a:t>DeleteAsync returns Task&lt;bool&gt;, not bool. Fix: bool deleted = await repo.DeleteAsync(1);</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3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3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Blocking in Disguise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108</a:t>
            </a:r>
            <a:endParaRPr lang="en-US" sz="850" dirty="0"/>
          </a:p>
        </p:txBody>
      </p:sp>
      <p:sp>
        <p:nvSpPr>
          <p:cNvPr id="15" name="cw_win"/>
          <p:cNvSpPr/>
          <p:nvPr/>
        </p:nvSpPr>
        <p:spPr>
          <a:xfrm>
            <a:off x="543154" y="1572768"/>
            <a:ext cx="560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60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60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01216"/>
            <a:ext cx="52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app.MapGet(</a:t>
            </a:r>
            <a:r>
              <a:rPr lang="en-US" sz="1000" b="0" dirty="0">
                <a:solidFill>
                  <a:srgbClr val="F0A98B"/>
                </a:solidFill>
                <a:latin typeface="Consolas"/>
                <a:ea typeface="Consolas"/>
                <a:cs typeface="Consolas"/>
              </a:rPr>
              <a:t>"/employees"</a:t>
            </a:r>
            <a:r>
              <a:rPr lang="en-US" sz="1000" b="0" dirty="0">
                <a:solidFill>
                  <a:srgbClr val="E2E8F0"/>
                </a:solidFill>
                <a:latin typeface="Consolas"/>
                <a:ea typeface="Consolas"/>
                <a:cs typeface="Consolas"/>
              </a:rPr>
              <a:t>, (EmployeeRepository repo) =&gt;</a:t>
            </a:r>
            <a:endParaRPr lang="en-US" sz="1000" dirty="0"/>
          </a:p>
        </p:txBody>
      </p:sp>
      <p:sp>
        <p:nvSpPr>
          <p:cNvPr id="23" name="cw_L01"/>
          <p:cNvSpPr txBox="1"/>
          <p:nvPr/>
        </p:nvSpPr>
        <p:spPr>
          <a:xfrm>
            <a:off x="771754" y="2204416"/>
            <a:ext cx="52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07616"/>
            <a:ext cx="52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List&lt;Employee&gt; all = repo.GetAllAsync().Result;</a:t>
            </a:r>
            <a:endParaRPr lang="en-US" sz="1000" dirty="0"/>
          </a:p>
        </p:txBody>
      </p:sp>
      <p:sp>
        <p:nvSpPr>
          <p:cNvPr id="25" name="cw_L03"/>
          <p:cNvSpPr txBox="1"/>
          <p:nvPr/>
        </p:nvSpPr>
        <p:spPr>
          <a:xfrm>
            <a:off x="771754" y="2610816"/>
            <a:ext cx="521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 </a:t>
            </a:r>
            <a:r>
              <a:rPr lang="en-US" sz="1000" b="0" dirty="0">
                <a:solidFill>
                  <a:srgbClr val="E2E8F0"/>
                </a:solidFill>
                <a:latin typeface="Consolas"/>
                <a:ea typeface="Consolas"/>
                <a:cs typeface="Consolas"/>
              </a:rPr>
              <a:t>Results.Ok(all);</a:t>
            </a:r>
            <a:endParaRPr lang="en-US" sz="1000" dirty="0"/>
          </a:p>
        </p:txBody>
      </p:sp>
      <p:sp>
        <p:nvSpPr>
          <p:cNvPr id="26" name="cw_L04"/>
          <p:cNvSpPr txBox="1"/>
          <p:nvPr/>
        </p:nvSpPr>
        <p:spPr>
          <a:xfrm>
            <a:off x="771754" y="2814016"/>
            <a:ext cx="521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aption"/>
          <p:cNvSpPr/>
          <p:nvPr/>
        </p:nvSpPr>
        <p:spPr>
          <a:xfrm>
            <a:off x="6393154" y="1572768"/>
            <a:ext cx="5237100" cy="64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It works. What is the problem when many users call it?</a:t>
            </a:r>
            <a:endParaRPr lang="en-US" sz="1150" dirty="0"/>
          </a:p>
        </p:txBody>
      </p:sp>
      <p:sp>
        <p:nvSpPr>
          <p:cNvPr id="28" name="card"/>
          <p:cNvSpPr/>
          <p:nvPr/>
        </p:nvSpPr>
        <p:spPr>
          <a:xfrm>
            <a:off x="6393154" y="233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  </a:t>
            </a:r>
            <a:r>
              <a:rPr lang="en-US" sz="1100" b="0" dirty="0">
                <a:solidFill>
                  <a:srgbClr val="CBD5E1"/>
                </a:solidFill>
                <a:latin typeface="Segoe UI"/>
                <a:ea typeface="Segoe UI"/>
                <a:cs typeface="Segoe UI"/>
              </a:rPr>
              <a:t>Nothing, it is fine</a:t>
            </a:r>
            <a:endParaRPr lang="en-US" sz="1100" dirty="0"/>
          </a:p>
        </p:txBody>
      </p:sp>
      <p:sp>
        <p:nvSpPr>
          <p:cNvPr id="29" name="card"/>
          <p:cNvSpPr/>
          <p:nvPr/>
        </p:nvSpPr>
        <p:spPr>
          <a:xfrm>
            <a:off x="6393154" y="294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B  </a:t>
            </a:r>
            <a:r>
              <a:rPr lang="en-US" sz="1100" b="0" dirty="0">
                <a:solidFill>
                  <a:srgbClr val="CBD5E1"/>
                </a:solidFill>
                <a:latin typeface="Segoe UI"/>
                <a:ea typeface="Segoe UI"/>
                <a:cs typeface="Segoe UI"/>
              </a:rPr>
              <a:t>Each call blocks a request thread for 500 ms</a:t>
            </a:r>
            <a:endParaRPr lang="en-US" sz="1100" dirty="0"/>
          </a:p>
        </p:txBody>
      </p:sp>
      <p:sp>
        <p:nvSpPr>
          <p:cNvPr id="30" name="card"/>
          <p:cNvSpPr/>
          <p:nvPr/>
        </p:nvSpPr>
        <p:spPr>
          <a:xfrm>
            <a:off x="6393154" y="355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C  </a:t>
            </a:r>
            <a:r>
              <a:rPr lang="en-US" sz="1100" b="0" dirty="0">
                <a:solidFill>
                  <a:srgbClr val="CBD5E1"/>
                </a:solidFill>
                <a:latin typeface="Segoe UI"/>
                <a:ea typeface="Segoe UI"/>
                <a:cs typeface="Segoe UI"/>
              </a:rPr>
              <a:t>The query runs twice</a:t>
            </a:r>
            <a:endParaRPr lang="en-US" sz="1100" dirty="0"/>
          </a:p>
        </p:txBody>
      </p:sp>
      <p:sp>
        <p:nvSpPr>
          <p:cNvPr id="31" name="card"/>
          <p:cNvSpPr/>
          <p:nvPr/>
        </p:nvSpPr>
        <p:spPr>
          <a:xfrm>
            <a:off x="6393154" y="4162768"/>
            <a:ext cx="5237100" cy="520000"/>
          </a:xfrm>
          <a:prstGeom prst="roundRect">
            <a:avLst>
              <a:gd name="adj" fmla="val 15000"/>
            </a:avLst>
          </a:prstGeom>
          <a:solidFill>
            <a:srgbClr val="111B2E"/>
          </a:solidFill>
          <a:ln w="12700">
            <a:solidFill>
              <a:srgbClr val="FBBF24"/>
            </a:solidFill>
            <a:prstDash val="solid"/>
          </a:ln>
        </p:spPr>
        <p:txBody>
          <a:bodyPr wrap="square" lIns="182880" tIns="64008" rIns="137160" bIns="64008"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D  </a:t>
            </a:r>
            <a:r>
              <a:rPr lang="en-US" sz="1100" b="0" dirty="0">
                <a:solidFill>
                  <a:srgbClr val="CBD5E1"/>
                </a:solidFill>
                <a:latin typeface="Segoe UI"/>
                <a:ea typeface="Segoe UI"/>
                <a:cs typeface="Segoe UI"/>
              </a:rPr>
              <a:t>It deletes data</a:t>
            </a:r>
            <a:endParaRPr lang="en-US" sz="1100" dirty="0"/>
          </a:p>
        </p:txBody>
      </p:sp>
      <p:sp>
        <p:nvSpPr>
          <p:cNvPr id="32" name="answer_mark"/>
          <p:cNvSpPr/>
          <p:nvPr/>
        </p:nvSpPr>
        <p:spPr>
          <a:xfrm>
            <a:off x="6393154" y="2942768"/>
            <a:ext cx="5237100" cy="520000"/>
          </a:xfrm>
          <a:prstGeom prst="roundRect">
            <a:avLst>
              <a:gd name="adj" fmla="val 15000"/>
            </a:avLst>
          </a:prstGeom>
          <a:solidFill>
            <a:srgbClr val="0E2A26"/>
          </a:solidFill>
          <a:ln w="25400">
            <a:solidFill>
              <a:srgbClr val="34D399"/>
            </a:solidFill>
            <a:prstDash val="solid"/>
          </a:ln>
        </p:spPr>
        <p:txBody>
          <a:bodyPr wrap="square" lIns="182880" tIns="64008" rIns="137160" bIns="64008"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B  Each call blocks a request thread for 500 ms</a:t>
            </a:r>
            <a:endParaRPr lang="en-US" sz="1100" dirty="0"/>
          </a:p>
        </p:txBody>
      </p:sp>
      <p:sp>
        <p:nvSpPr>
          <p:cNvPr id="33" name="banner"/>
          <p:cNvSpPr/>
          <p:nvPr/>
        </p:nvSpPr>
        <p:spPr>
          <a:xfrm>
            <a:off x="543154" y="5074920"/>
            <a:ext cx="11087100" cy="749808"/>
          </a:xfrm>
          <a:prstGeom prst="roundRect">
            <a:avLst>
              <a:gd name="adj" fmla="val 10975"/>
            </a:avLst>
          </a:prstGeom>
          <a:solidFill>
            <a:srgbClr val="0E2A26"/>
          </a:solidFill>
          <a:ln w="12700">
            <a:solidFill>
              <a:srgbClr val="34D399"/>
            </a:solidFill>
            <a:prstDash val="solid"/>
          </a:ln>
        </p:spPr>
        <p:txBody>
          <a:bodyPr wrap="square" lIns="209398" tIns="75895" rIns="209398" bIns="75895" rtlCol="0" anchor="ctr">
            <a:noAutofit/>
          </a:bodyPr>
          <a:lstStyle/>
          <a:p>
            <a:pPr marL="0" indent="0" algn="l">
              <a:spcBef>
                <a:spcPts val="0"/>
              </a:spcBef>
              <a:spcAft>
                <a:spcPts val="0"/>
              </a:spcAft>
              <a:buNone/>
            </a:pPr>
            <a:r>
              <a:rPr lang="en-US" sz="1250" b="1" dirty="0">
                <a:solidFill>
                  <a:srgbClr val="34D399"/>
                </a:solidFill>
                <a:latin typeface="Segoe UI"/>
                <a:ea typeface="Segoe UI"/>
                <a:cs typeface="Segoe UI"/>
              </a:rPr>
              <a:t>ANSWER B   </a:t>
            </a:r>
            <a:r>
              <a:rPr lang="en-US" sz="1250" b="0" dirty="0">
                <a:solidFill>
                  <a:srgbClr val="FFFFFF"/>
                </a:solidFill>
                <a:latin typeface="Segoe UI"/>
                <a:ea typeface="Segoe UI"/>
                <a:cs typeface="Segoe UI"/>
              </a:rPr>
              <a:t>.Result blocks the request thread while the database works. Make the lambda async and write: await repo.GetAllAsync();</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3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3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300"/>
                                        <p:tgtEl>
                                          <p:spTgt spid="3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3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3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54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EXERCISE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Exercise: UpdateSalaryAsync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109</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YourTurn.cs</a:t>
            </a:r>
            <a:endParaRPr lang="en-US" sz="950" dirty="0"/>
          </a:p>
        </p:txBody>
      </p:sp>
      <p:sp>
        <p:nvSpPr>
          <p:cNvPr id="33" name="cw_hl01"/>
          <p:cNvSpPr/>
          <p:nvPr/>
        </p:nvSpPr>
        <p:spPr>
          <a:xfrm>
            <a:off x="676656" y="2175968"/>
            <a:ext cx="6082996" cy="229616"/>
          </a:xfrm>
          <a:prstGeom prst="rect">
            <a:avLst/>
          </a:prstGeom>
          <a:solidFill>
            <a:srgbClr val="FBBF24">
              <a:alpha val="15000"/>
            </a:srgbClr>
          </a:solidFill>
          <a:ln w="12700">
            <a:solidFill>
              <a:srgbClr val="FBBF24"/>
            </a:solidFill>
            <a:prstDash val="solid"/>
          </a:ln>
        </p:spPr>
        <p:txBody>
          <a:bodyPr/>
          <a:lstStyle/>
          <a:p>
            <a:endParaRPr lang="en-US"/>
          </a:p>
        </p:txBody>
      </p:sp>
      <p:sp>
        <p:nvSpPr>
          <p:cNvPr id="22" name="cw_L00"/>
          <p:cNvSpPr txBox="1"/>
          <p:nvPr/>
        </p:nvSpPr>
        <p:spPr>
          <a:xfrm>
            <a:off x="771754" y="200121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TODO: add this method to EmployeeRepository</a:t>
            </a:r>
            <a:endParaRPr lang="en-US" sz="950" dirty="0"/>
          </a:p>
        </p:txBody>
      </p:sp>
      <p:sp>
        <p:nvSpPr>
          <p:cNvPr id="23" name="cw_L01"/>
          <p:cNvSpPr txBox="1"/>
          <p:nvPr/>
        </p:nvSpPr>
        <p:spPr>
          <a:xfrm>
            <a:off x="771754" y="219425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 async </a:t>
            </a: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&gt; UpdateSalaryAsync(</a:t>
            </a:r>
            <a:r>
              <a:rPr lang="en-US" sz="950" b="0" dirty="0">
                <a:solidFill>
                  <a:srgbClr val="60A5FA"/>
                </a:solidFill>
                <a:latin typeface="Consolas"/>
                <a:ea typeface="Consolas"/>
                <a:cs typeface="Consolas"/>
              </a:rPr>
              <a:t>int </a:t>
            </a:r>
            <a:r>
              <a:rPr lang="en-US" sz="950" b="0" dirty="0">
                <a:solidFill>
                  <a:srgbClr val="E2E8F0"/>
                </a:solidFill>
                <a:latin typeface="Consolas"/>
                <a:ea typeface="Consolas"/>
                <a:cs typeface="Consolas"/>
              </a:rPr>
              <a:t>id, </a:t>
            </a:r>
            <a:r>
              <a:rPr lang="en-US" sz="950" b="0" dirty="0">
                <a:solidFill>
                  <a:srgbClr val="60A5FA"/>
                </a:solidFill>
                <a:latin typeface="Consolas"/>
                <a:ea typeface="Consolas"/>
                <a:cs typeface="Consolas"/>
              </a:rPr>
              <a:t>decimal </a:t>
            </a:r>
            <a:r>
              <a:rPr lang="en-US" sz="950" b="0" dirty="0">
                <a:solidFill>
                  <a:srgbClr val="E2E8F0"/>
                </a:solidFill>
                <a:latin typeface="Consolas"/>
                <a:ea typeface="Consolas"/>
                <a:cs typeface="Consolas"/>
              </a:rPr>
              <a:t>newSalary)</a:t>
            </a:r>
            <a:endParaRPr lang="en-US" sz="950" dirty="0"/>
          </a:p>
        </p:txBody>
      </p:sp>
      <p:sp>
        <p:nvSpPr>
          <p:cNvPr id="24" name="cw_L02"/>
          <p:cNvSpPr txBox="1"/>
          <p:nvPr/>
        </p:nvSpPr>
        <p:spPr>
          <a:xfrm>
            <a:off x="771754" y="238729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5" name="cw_L03"/>
          <p:cNvSpPr txBox="1"/>
          <p:nvPr/>
        </p:nvSpPr>
        <p:spPr>
          <a:xfrm>
            <a:off x="771754" y="258033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FAE7A"/>
                </a:solidFill>
                <a:latin typeface="Consolas"/>
                <a:ea typeface="Consolas"/>
                <a:cs typeface="Consolas"/>
              </a:rPr>
              <a:t>// 1. simulate the UPDATE: wait 400 ms</a:t>
            </a:r>
            <a:endParaRPr lang="en-US" sz="950" dirty="0"/>
          </a:p>
        </p:txBody>
      </p:sp>
      <p:sp>
        <p:nvSpPr>
          <p:cNvPr id="26" name="cw_L04"/>
          <p:cNvSpPr txBox="1"/>
          <p:nvPr/>
        </p:nvSpPr>
        <p:spPr>
          <a:xfrm>
            <a:off x="771754" y="277337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FAE7A"/>
                </a:solidFill>
                <a:latin typeface="Consolas"/>
                <a:ea typeface="Consolas"/>
                <a:cs typeface="Consolas"/>
              </a:rPr>
              <a:t>// 2. find the employee; return false if missing</a:t>
            </a:r>
            <a:endParaRPr lang="en-US" sz="950" dirty="0"/>
          </a:p>
        </p:txBody>
      </p:sp>
      <p:sp>
        <p:nvSpPr>
          <p:cNvPr id="27" name="cw_L05"/>
          <p:cNvSpPr txBox="1"/>
          <p:nvPr/>
        </p:nvSpPr>
        <p:spPr>
          <a:xfrm>
            <a:off x="771754" y="2966416"/>
            <a:ext cx="59659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FAE7A"/>
                </a:solidFill>
                <a:latin typeface="Consolas"/>
                <a:ea typeface="Consolas"/>
                <a:cs typeface="Consolas"/>
              </a:rPr>
              <a:t>// 3. store a copy with the new salary; return true</a:t>
            </a:r>
            <a:endParaRPr lang="en-US" sz="950" dirty="0"/>
          </a:p>
        </p:txBody>
      </p:sp>
      <p:sp>
        <p:nvSpPr>
          <p:cNvPr id="28" name="cw_L06"/>
          <p:cNvSpPr txBox="1"/>
          <p:nvPr/>
        </p:nvSpPr>
        <p:spPr>
          <a:xfrm>
            <a:off x="771754" y="315945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_L08"/>
          <p:cNvSpPr txBox="1"/>
          <p:nvPr/>
        </p:nvSpPr>
        <p:spPr>
          <a:xfrm>
            <a:off x="771754" y="354553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Test it</a:t>
            </a:r>
            <a:endParaRPr lang="en-US" sz="950" dirty="0"/>
          </a:p>
        </p:txBody>
      </p:sp>
      <p:sp>
        <p:nvSpPr>
          <p:cNvPr id="30" name="cw_L09"/>
          <p:cNvSpPr txBox="1"/>
          <p:nvPr/>
        </p:nvSpPr>
        <p:spPr>
          <a:xfrm>
            <a:off x="771754" y="373857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bool </a:t>
            </a:r>
            <a:r>
              <a:rPr lang="en-US" sz="950" b="0" dirty="0">
                <a:solidFill>
                  <a:srgbClr val="E2E8F0"/>
                </a:solidFill>
                <a:latin typeface="Consolas"/>
                <a:ea typeface="Consolas"/>
                <a:cs typeface="Consolas"/>
              </a:rPr>
              <a:t>ok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repo.UpdateSalaryAsync(2, 13500);</a:t>
            </a:r>
            <a:endParaRPr lang="en-US" sz="950" dirty="0"/>
          </a:p>
        </p:txBody>
      </p:sp>
      <p:sp>
        <p:nvSpPr>
          <p:cNvPr id="31" name="cw_L10"/>
          <p:cNvSpPr txBox="1"/>
          <p:nvPr/>
        </p:nvSpPr>
        <p:spPr>
          <a:xfrm>
            <a:off x="771754" y="393161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bool </a:t>
            </a:r>
            <a:r>
              <a:rPr lang="en-US" sz="950" b="0" dirty="0">
                <a:solidFill>
                  <a:srgbClr val="E2E8F0"/>
                </a:solidFill>
                <a:latin typeface="Consolas"/>
                <a:ea typeface="Consolas"/>
                <a:cs typeface="Consolas"/>
              </a:rPr>
              <a:t>missing = </a:t>
            </a:r>
            <a:r>
              <a:rPr lang="en-US" sz="950" b="0" dirty="0">
                <a:solidFill>
                  <a:srgbClr val="60A5FA"/>
                </a:solidFill>
                <a:latin typeface="Consolas"/>
                <a:ea typeface="Consolas"/>
                <a:cs typeface="Consolas"/>
              </a:rPr>
              <a:t>await </a:t>
            </a:r>
            <a:r>
              <a:rPr lang="en-US" sz="950" b="0" dirty="0">
                <a:solidFill>
                  <a:srgbClr val="E2E8F0"/>
                </a:solidFill>
                <a:latin typeface="Consolas"/>
                <a:ea typeface="Consolas"/>
                <a:cs typeface="Consolas"/>
              </a:rPr>
              <a:t>repo.UpdateSalaryAsync(99, 1);</a:t>
            </a:r>
            <a:endParaRPr lang="en-US" sz="950" dirty="0"/>
          </a:p>
        </p:txBody>
      </p:sp>
      <p:sp>
        <p:nvSpPr>
          <p:cNvPr id="32" name="cw_L11"/>
          <p:cNvSpPr txBox="1"/>
          <p:nvPr/>
        </p:nvSpPr>
        <p:spPr>
          <a:xfrm>
            <a:off x="771754" y="4124656"/>
            <a:ext cx="59659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$"{ok} {missing}"</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True False</a:t>
            </a:r>
            <a:endParaRPr lang="en-US" sz="950" dirty="0"/>
          </a:p>
        </p:txBody>
      </p:sp>
      <p:sp>
        <p:nvSpPr>
          <p:cNvPr id="34" name="caption"/>
          <p:cNvSpPr/>
          <p:nvPr/>
        </p:nvSpPr>
        <p:spPr>
          <a:xfrm>
            <a:off x="7143154" y="1572768"/>
            <a:ext cx="4487100" cy="64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200" b="1" dirty="0">
                <a:solidFill>
                  <a:srgbClr val="FFFFFF"/>
                </a:solidFill>
                <a:latin typeface="Segoe UI"/>
                <a:ea typeface="Segoe UI"/>
                <a:cs typeface="Segoe UI"/>
              </a:rPr>
              <a:t>Your turn: 10 minutes</a:t>
            </a:r>
            <a:endParaRPr lang="en-US" sz="1150" dirty="0"/>
          </a:p>
        </p:txBody>
      </p:sp>
      <p:sp>
        <p:nvSpPr>
          <p:cNvPr id="35" name="card"/>
          <p:cNvSpPr/>
          <p:nvPr/>
        </p:nvSpPr>
        <p:spPr>
          <a:xfrm>
            <a:off x="7143154" y="2332768"/>
            <a:ext cx="4487100" cy="820000"/>
          </a:xfrm>
          <a:prstGeom prst="roundRect">
            <a:avLst>
              <a:gd name="adj" fmla="val 8132"/>
            </a:avLst>
          </a:prstGeom>
          <a:solidFill>
            <a:srgbClr val="111B2E"/>
          </a:solidFill>
          <a:ln w="12700">
            <a:solidFill>
              <a:srgbClr val="4D91F0"/>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4D91F0"/>
                </a:solidFill>
                <a:latin typeface="Segoe UI"/>
                <a:ea typeface="Segoe UI"/>
                <a:cs typeface="Segoe UI"/>
              </a:rPr>
              <a:t>HINT 1</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FindIndex(e =&gt; e.Id == id) gives the position, or -1.</a:t>
            </a:r>
            <a:endParaRPr lang="en-US" sz="1050" dirty="0"/>
          </a:p>
        </p:txBody>
      </p:sp>
      <p:sp>
        <p:nvSpPr>
          <p:cNvPr id="36" name="card"/>
          <p:cNvSpPr/>
          <p:nvPr/>
        </p:nvSpPr>
        <p:spPr>
          <a:xfrm>
            <a:off x="7143154" y="3232768"/>
            <a:ext cx="4487100" cy="820000"/>
          </a:xfrm>
          <a:prstGeom prst="roundRect">
            <a:avLst>
              <a:gd name="adj" fmla="val 8132"/>
            </a:avLst>
          </a:prstGeom>
          <a:solidFill>
            <a:srgbClr val="111B2E"/>
          </a:solidFill>
          <a:ln w="12700">
            <a:solidFill>
              <a:srgbClr val="A78BFA"/>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A78BFA"/>
                </a:solidFill>
                <a:latin typeface="Segoe UI"/>
                <a:ea typeface="Segoe UI"/>
                <a:cs typeface="Segoe UI"/>
              </a:rPr>
              <a:t>HINT 2</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Employee is a record: make a changed copy with: emp with { Salary = newSalary }</a:t>
            </a:r>
            <a:endParaRPr lang="en-US" sz="1050" dirty="0"/>
          </a:p>
        </p:txBody>
      </p:sp>
      <p:sp>
        <p:nvSpPr>
          <p:cNvPr id="37" name="card"/>
          <p:cNvSpPr/>
          <p:nvPr/>
        </p:nvSpPr>
        <p:spPr>
          <a:xfrm>
            <a:off x="7143154" y="4132768"/>
            <a:ext cx="4487100" cy="820000"/>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00" b="1" dirty="0">
                <a:solidFill>
                  <a:srgbClr val="34D399"/>
                </a:solidFill>
                <a:latin typeface="Segoe UI"/>
                <a:ea typeface="Segoe UI"/>
                <a:cs typeface="Segoe UI"/>
              </a:rPr>
              <a:t>HINT 3</a:t>
            </a:r>
            <a:endParaRPr lang="en-US" sz="1000" dirty="0"/>
          </a:p>
          <a:p>
            <a:pPr marL="0" indent="0" algn="l">
              <a:spcBef>
                <a:spcPts val="0"/>
              </a:spcBef>
              <a:spcAft>
                <a:spcPts val="0"/>
              </a:spcAft>
              <a:buNone/>
            </a:pPr>
            <a:r>
              <a:rPr lang="en-US" sz="1050" b="0" dirty="0">
                <a:solidFill>
                  <a:srgbClr val="CBD5E1"/>
                </a:solidFill>
                <a:latin typeface="Segoe UI"/>
                <a:ea typeface="Segoe UI"/>
                <a:cs typeface="Segoe UI"/>
              </a:rPr>
              <a:t>Replace the item in the list at that index.</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300"/>
                                        <p:tgtEl>
                                          <p:spTgt spid="3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3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300"/>
                                        <p:tgtEl>
                                          <p:spTgt spid="3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3"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54000" cy="285750"/>
          </a:xfrm>
          <a:prstGeom prst="roundRect">
            <a:avLst>
              <a:gd name="adj" fmla="val 23333"/>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SOLUTION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Solution: UpdateSalaryAsync</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110</a:t>
            </a:r>
            <a:endParaRPr lang="en-US" sz="850" dirty="0"/>
          </a:p>
        </p:txBody>
      </p:sp>
      <p:sp>
        <p:nvSpPr>
          <p:cNvPr id="15" name="cw_win"/>
          <p:cNvSpPr/>
          <p:nvPr/>
        </p:nvSpPr>
        <p:spPr>
          <a:xfrm>
            <a:off x="543154" y="1572768"/>
            <a:ext cx="6350000" cy="337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50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500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Solution.cs</a:t>
            </a:r>
            <a:endParaRPr lang="en-US" sz="950" dirty="0"/>
          </a:p>
        </p:txBody>
      </p:sp>
      <p:sp>
        <p:nvSpPr>
          <p:cNvPr id="31" name="cw_hl02"/>
          <p:cNvSpPr/>
          <p:nvPr/>
        </p:nvSpPr>
        <p:spPr>
          <a:xfrm>
            <a:off x="676656" y="2389328"/>
            <a:ext cx="6082996"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32" name="cw_hl04"/>
          <p:cNvSpPr/>
          <p:nvPr/>
        </p:nvSpPr>
        <p:spPr>
          <a:xfrm>
            <a:off x="676656" y="2795728"/>
            <a:ext cx="6082996" cy="646176"/>
          </a:xfrm>
          <a:prstGeom prst="rect">
            <a:avLst/>
          </a:prstGeom>
          <a:solidFill>
            <a:srgbClr val="FBBF24">
              <a:alpha val="15000"/>
            </a:srgbClr>
          </a:solidFill>
          <a:ln w="12700">
            <a:solidFill>
              <a:srgbClr val="FBBF24"/>
            </a:solidFill>
            <a:prstDash val="solid"/>
          </a:ln>
        </p:spPr>
        <p:txBody>
          <a:bodyPr/>
          <a:lstStyle/>
          <a:p>
            <a:endParaRPr lang="en-US"/>
          </a:p>
        </p:txBody>
      </p:sp>
      <p:sp>
        <p:nvSpPr>
          <p:cNvPr id="33" name="cw_hl08"/>
          <p:cNvSpPr/>
          <p:nvPr/>
        </p:nvSpPr>
        <p:spPr>
          <a:xfrm>
            <a:off x="676656" y="3608528"/>
            <a:ext cx="6082996" cy="442976"/>
          </a:xfrm>
          <a:prstGeom prst="rect">
            <a:avLst/>
          </a:prstGeom>
          <a:solidFill>
            <a:srgbClr val="4D91F0">
              <a:alpha val="15000"/>
            </a:srgbClr>
          </a:solidFill>
          <a:ln w="12700">
            <a:solidFill>
              <a:srgbClr val="4D91F0"/>
            </a:solidFill>
            <a:prstDash val="solid"/>
          </a:ln>
        </p:spPr>
        <p:txBody>
          <a:bodyPr/>
          <a:lstStyle/>
          <a:p>
            <a:endParaRPr lang="en-US"/>
          </a:p>
        </p:txBody>
      </p:sp>
      <p:sp>
        <p:nvSpPr>
          <p:cNvPr id="22" name="cw_L00"/>
          <p:cNvSpPr txBox="1"/>
          <p:nvPr/>
        </p:nvSpPr>
        <p:spPr>
          <a:xfrm>
            <a:off x="771754" y="20012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public async </a:t>
            </a:r>
            <a:r>
              <a:rPr lang="en-US" sz="1000" b="0" dirty="0">
                <a:solidFill>
                  <a:srgbClr val="E2E8F0"/>
                </a:solidFill>
                <a:latin typeface="Consolas"/>
                <a:ea typeface="Consolas"/>
                <a:cs typeface="Consolas"/>
              </a:rPr>
              <a:t>Task&lt;</a:t>
            </a:r>
            <a:r>
              <a:rPr lang="en-US" sz="1000" b="0" dirty="0">
                <a:solidFill>
                  <a:srgbClr val="60A5FA"/>
                </a:solidFill>
                <a:latin typeface="Consolas"/>
                <a:ea typeface="Consolas"/>
                <a:cs typeface="Consolas"/>
              </a:rPr>
              <a:t>bool</a:t>
            </a:r>
            <a:r>
              <a:rPr lang="en-US" sz="1000" b="0" dirty="0">
                <a:solidFill>
                  <a:srgbClr val="E2E8F0"/>
                </a:solidFill>
                <a:latin typeface="Consolas"/>
                <a:ea typeface="Consolas"/>
                <a:cs typeface="Consolas"/>
              </a:rPr>
              <a:t>&gt; UpdateSalaryAsync(</a:t>
            </a: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id, </a:t>
            </a:r>
            <a:r>
              <a:rPr lang="en-US" sz="1000" b="0" dirty="0">
                <a:solidFill>
                  <a:srgbClr val="60A5FA"/>
                </a:solidFill>
                <a:latin typeface="Consolas"/>
                <a:ea typeface="Consolas"/>
                <a:cs typeface="Consolas"/>
              </a:rPr>
              <a:t>decimal </a:t>
            </a:r>
            <a:r>
              <a:rPr lang="en-US" sz="1000" b="0" dirty="0">
                <a:solidFill>
                  <a:srgbClr val="E2E8F0"/>
                </a:solidFill>
                <a:latin typeface="Consolas"/>
                <a:ea typeface="Consolas"/>
                <a:cs typeface="Consolas"/>
              </a:rPr>
              <a:t>newSalary)</a:t>
            </a:r>
            <a:endParaRPr lang="en-US" sz="1000" dirty="0"/>
          </a:p>
        </p:txBody>
      </p:sp>
      <p:sp>
        <p:nvSpPr>
          <p:cNvPr id="23" name="cw_L01"/>
          <p:cNvSpPr txBox="1"/>
          <p:nvPr/>
        </p:nvSpPr>
        <p:spPr>
          <a:xfrm>
            <a:off x="771754" y="22044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076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 </a:t>
            </a:r>
            <a:r>
              <a:rPr lang="en-US" sz="1000" b="0" dirty="0">
                <a:solidFill>
                  <a:srgbClr val="E2E8F0"/>
                </a:solidFill>
                <a:latin typeface="Consolas"/>
                <a:ea typeface="Consolas"/>
                <a:cs typeface="Consolas"/>
              </a:rPr>
              <a:t>Task.Delay(400);                   </a:t>
            </a:r>
            <a:r>
              <a:rPr lang="en-US" sz="1000" b="0" dirty="0">
                <a:solidFill>
                  <a:srgbClr val="6FAE7A"/>
                </a:solidFill>
                <a:latin typeface="Consolas"/>
                <a:ea typeface="Consolas"/>
                <a:cs typeface="Consolas"/>
              </a:rPr>
              <a:t>// the UPDATE</a:t>
            </a:r>
            <a:endParaRPr lang="en-US" sz="1000" dirty="0"/>
          </a:p>
        </p:txBody>
      </p:sp>
      <p:sp>
        <p:nvSpPr>
          <p:cNvPr id="25" name="cw_L04"/>
          <p:cNvSpPr txBox="1"/>
          <p:nvPr/>
        </p:nvSpPr>
        <p:spPr>
          <a:xfrm>
            <a:off x="771754" y="28140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int </a:t>
            </a:r>
            <a:r>
              <a:rPr lang="en-US" sz="1000" b="0" dirty="0">
                <a:solidFill>
                  <a:srgbClr val="E2E8F0"/>
                </a:solidFill>
                <a:latin typeface="Consolas"/>
                <a:ea typeface="Consolas"/>
                <a:cs typeface="Consolas"/>
              </a:rPr>
              <a:t>index = _db.FindIndex(e =&gt; e.Id == id);</a:t>
            </a:r>
            <a:endParaRPr lang="en-US" sz="1000" dirty="0"/>
          </a:p>
        </p:txBody>
      </p:sp>
      <p:sp>
        <p:nvSpPr>
          <p:cNvPr id="26" name="cw_L05"/>
          <p:cNvSpPr txBox="1"/>
          <p:nvPr/>
        </p:nvSpPr>
        <p:spPr>
          <a:xfrm>
            <a:off x="771754" y="30172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if </a:t>
            </a:r>
            <a:r>
              <a:rPr lang="en-US" sz="1000" b="0" dirty="0">
                <a:solidFill>
                  <a:srgbClr val="E2E8F0"/>
                </a:solidFill>
                <a:latin typeface="Consolas"/>
                <a:ea typeface="Consolas"/>
                <a:cs typeface="Consolas"/>
              </a:rPr>
              <a:t>(index &lt; 0)</a:t>
            </a:r>
            <a:endParaRPr lang="en-US" sz="1000" dirty="0"/>
          </a:p>
        </p:txBody>
      </p:sp>
      <p:sp>
        <p:nvSpPr>
          <p:cNvPr id="27" name="cw_L06"/>
          <p:cNvSpPr txBox="1"/>
          <p:nvPr/>
        </p:nvSpPr>
        <p:spPr>
          <a:xfrm>
            <a:off x="771754" y="3220416"/>
            <a:ext cx="59659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return false</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not found</a:t>
            </a:r>
            <a:endParaRPr lang="en-US" sz="1000" dirty="0"/>
          </a:p>
        </p:txBody>
      </p:sp>
      <p:sp>
        <p:nvSpPr>
          <p:cNvPr id="28" name="cw_L08"/>
          <p:cNvSpPr txBox="1"/>
          <p:nvPr/>
        </p:nvSpPr>
        <p:spPr>
          <a:xfrm>
            <a:off x="771754" y="36268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_db[index] = _db[index] with { Salary = newSalary };</a:t>
            </a:r>
            <a:endParaRPr lang="en-US" sz="1000" dirty="0"/>
          </a:p>
        </p:txBody>
      </p:sp>
      <p:sp>
        <p:nvSpPr>
          <p:cNvPr id="29" name="cw_L09"/>
          <p:cNvSpPr txBox="1"/>
          <p:nvPr/>
        </p:nvSpPr>
        <p:spPr>
          <a:xfrm>
            <a:off x="771754" y="3830016"/>
            <a:ext cx="59659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 true</a:t>
            </a:r>
            <a:r>
              <a:rPr lang="en-US" sz="1000" b="0" dirty="0">
                <a:solidFill>
                  <a:srgbClr val="E2E8F0"/>
                </a:solidFill>
                <a:latin typeface="Consolas"/>
                <a:ea typeface="Consolas"/>
                <a:cs typeface="Consolas"/>
              </a:rPr>
              <a:t>;</a:t>
            </a:r>
            <a:endParaRPr lang="en-US" sz="1000" dirty="0"/>
          </a:p>
        </p:txBody>
      </p:sp>
      <p:sp>
        <p:nvSpPr>
          <p:cNvPr id="30" name="cw_L10"/>
          <p:cNvSpPr txBox="1"/>
          <p:nvPr/>
        </p:nvSpPr>
        <p:spPr>
          <a:xfrm>
            <a:off x="771754" y="4033216"/>
            <a:ext cx="59659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panel"/>
          <p:cNvSpPr/>
          <p:nvPr/>
        </p:nvSpPr>
        <p:spPr>
          <a:xfrm>
            <a:off x="7143154" y="1572768"/>
            <a:ext cx="4487100" cy="1560000"/>
          </a:xfrm>
          <a:prstGeom prst="roundRect">
            <a:avLst>
              <a:gd name="adj" fmla="val 6000"/>
            </a:avLst>
          </a:prstGeom>
          <a:solidFill>
            <a:srgbClr val="0C1628"/>
          </a:solidFill>
          <a:ln w="12700">
            <a:solidFill>
              <a:srgbClr val="1E3A5F"/>
            </a:solidFill>
            <a:prstDash val="solid"/>
          </a:ln>
        </p:spPr>
        <p:txBody>
          <a:bodyPr/>
          <a:lstStyle/>
          <a:p>
            <a:endParaRPr lang="en-US"/>
          </a:p>
        </p:txBody>
      </p:sp>
      <p:sp>
        <p:nvSpPr>
          <p:cNvPr id="35" name="lab"/>
          <p:cNvSpPr txBox="1"/>
          <p:nvPr/>
        </p:nvSpPr>
        <p:spPr>
          <a:xfrm>
            <a:off x="7263154" y="1622768"/>
            <a:ext cx="42471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Employees table</a:t>
            </a:r>
            <a:endParaRPr lang="en-US" sz="1050" dirty="0"/>
          </a:p>
        </p:txBody>
      </p:sp>
      <p:sp>
        <p:nvSpPr>
          <p:cNvPr id="36" name="lab"/>
          <p:cNvSpPr txBox="1"/>
          <p:nvPr/>
        </p:nvSpPr>
        <p:spPr>
          <a:xfrm>
            <a:off x="7303154" y="1952768"/>
            <a:ext cx="67306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Id</a:t>
            </a:r>
            <a:endParaRPr lang="en-US" sz="950" dirty="0"/>
          </a:p>
        </p:txBody>
      </p:sp>
      <p:sp>
        <p:nvSpPr>
          <p:cNvPr id="37" name="lab"/>
          <p:cNvSpPr txBox="1"/>
          <p:nvPr/>
        </p:nvSpPr>
        <p:spPr>
          <a:xfrm>
            <a:off x="8065961" y="1952768"/>
            <a:ext cx="179484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Name</a:t>
            </a:r>
            <a:endParaRPr lang="en-US" sz="950" dirty="0"/>
          </a:p>
        </p:txBody>
      </p:sp>
      <p:sp>
        <p:nvSpPr>
          <p:cNvPr id="38" name="lab"/>
          <p:cNvSpPr txBox="1"/>
          <p:nvPr/>
        </p:nvSpPr>
        <p:spPr>
          <a:xfrm>
            <a:off x="9995414" y="1952768"/>
            <a:ext cx="1570485"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Salary</a:t>
            </a:r>
            <a:endParaRPr lang="en-US" sz="950" dirty="0"/>
          </a:p>
        </p:txBody>
      </p:sp>
      <p:sp>
        <p:nvSpPr>
          <p:cNvPr id="39" name="row"/>
          <p:cNvSpPr/>
          <p:nvPr/>
        </p:nvSpPr>
        <p:spPr>
          <a:xfrm>
            <a:off x="7243154" y="225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0"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2</a:t>
            </a:r>
            <a:endParaRPr lang="en-US" sz="1050" dirty="0"/>
          </a:p>
        </p:txBody>
      </p:sp>
      <p:sp>
        <p:nvSpPr>
          <p:cNvPr id="41"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Ali</a:t>
            </a:r>
            <a:endParaRPr lang="en-US" sz="1050" dirty="0"/>
          </a:p>
        </p:txBody>
      </p:sp>
      <p:sp>
        <p:nvSpPr>
          <p:cNvPr id="42"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12000</a:t>
            </a:r>
            <a:endParaRPr lang="en-US" sz="1050" dirty="0"/>
          </a:p>
        </p:txBody>
      </p:sp>
      <p:sp>
        <p:nvSpPr>
          <p:cNvPr id="43" name="row"/>
          <p:cNvSpPr/>
          <p:nvPr/>
        </p:nvSpPr>
        <p:spPr>
          <a:xfrm>
            <a:off x="7243154" y="2662768"/>
            <a:ext cx="4287100" cy="360000"/>
          </a:xfrm>
          <a:prstGeom prst="roundRect">
            <a:avLst>
              <a:gd name="adj" fmla="val 15000"/>
            </a:avLst>
          </a:prstGeom>
          <a:solidFill>
            <a:srgbClr val="111B2E"/>
          </a:solidFill>
          <a:ln w="15875">
            <a:solidFill>
              <a:srgbClr val="1E3A5F"/>
            </a:solidFill>
            <a:prstDash val="solid"/>
          </a:ln>
        </p:spPr>
        <p:txBody>
          <a:bodyPr/>
          <a:lstStyle/>
          <a:p>
            <a:endParaRPr lang="en-US"/>
          </a:p>
        </p:txBody>
      </p:sp>
      <p:sp>
        <p:nvSpPr>
          <p:cNvPr id="44" name="lab"/>
          <p:cNvSpPr txBox="1"/>
          <p:nvPr/>
        </p:nvSpPr>
        <p:spPr>
          <a:xfrm>
            <a:off x="7303154" y="266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3</a:t>
            </a:r>
            <a:endParaRPr lang="en-US" sz="1050" dirty="0"/>
          </a:p>
        </p:txBody>
      </p:sp>
      <p:sp>
        <p:nvSpPr>
          <p:cNvPr id="45" name="lab"/>
          <p:cNvSpPr txBox="1"/>
          <p:nvPr/>
        </p:nvSpPr>
        <p:spPr>
          <a:xfrm>
            <a:off x="8065961" y="266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Sara</a:t>
            </a:r>
            <a:endParaRPr lang="en-US" sz="1050" dirty="0"/>
          </a:p>
        </p:txBody>
      </p:sp>
      <p:sp>
        <p:nvSpPr>
          <p:cNvPr id="46" name="lab"/>
          <p:cNvSpPr txBox="1"/>
          <p:nvPr/>
        </p:nvSpPr>
        <p:spPr>
          <a:xfrm>
            <a:off x="9995414" y="266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Consolas"/>
                <a:ea typeface="Consolas"/>
                <a:cs typeface="Consolas"/>
              </a:rPr>
              <a:t>14000</a:t>
            </a:r>
            <a:endParaRPr lang="en-US" sz="1050" dirty="0"/>
          </a:p>
        </p:txBody>
      </p:sp>
      <p:sp>
        <p:nvSpPr>
          <p:cNvPr id="47" name="row"/>
          <p:cNvSpPr/>
          <p:nvPr/>
        </p:nvSpPr>
        <p:spPr>
          <a:xfrm>
            <a:off x="7243154" y="2252768"/>
            <a:ext cx="4287100" cy="360000"/>
          </a:xfrm>
          <a:prstGeom prst="roundRect">
            <a:avLst>
              <a:gd name="adj" fmla="val 15000"/>
            </a:avLst>
          </a:prstGeom>
          <a:solidFill>
            <a:srgbClr val="111B2E"/>
          </a:solidFill>
          <a:ln w="15875">
            <a:solidFill>
              <a:srgbClr val="34D399"/>
            </a:solidFill>
            <a:prstDash val="solid"/>
          </a:ln>
        </p:spPr>
        <p:txBody>
          <a:bodyPr/>
          <a:lstStyle/>
          <a:p>
            <a:endParaRPr lang="en-US"/>
          </a:p>
        </p:txBody>
      </p:sp>
      <p:sp>
        <p:nvSpPr>
          <p:cNvPr id="48" name="lab"/>
          <p:cNvSpPr txBox="1"/>
          <p:nvPr/>
        </p:nvSpPr>
        <p:spPr>
          <a:xfrm>
            <a:off x="7303154" y="2252768"/>
            <a:ext cx="67306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2</a:t>
            </a:r>
            <a:endParaRPr lang="en-US" sz="1050" dirty="0"/>
          </a:p>
        </p:txBody>
      </p:sp>
      <p:sp>
        <p:nvSpPr>
          <p:cNvPr id="49" name="lab"/>
          <p:cNvSpPr txBox="1"/>
          <p:nvPr/>
        </p:nvSpPr>
        <p:spPr>
          <a:xfrm>
            <a:off x="8065961" y="2252768"/>
            <a:ext cx="1794840"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Ali</a:t>
            </a:r>
            <a:endParaRPr lang="en-US" sz="1050" dirty="0"/>
          </a:p>
        </p:txBody>
      </p:sp>
      <p:sp>
        <p:nvSpPr>
          <p:cNvPr id="50" name="lab"/>
          <p:cNvSpPr txBox="1"/>
          <p:nvPr/>
        </p:nvSpPr>
        <p:spPr>
          <a:xfrm>
            <a:off x="9995414" y="2252768"/>
            <a:ext cx="1570485" cy="3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13500</a:t>
            </a:r>
            <a:endParaRPr lang="en-US" sz="1050" dirty="0"/>
          </a:p>
        </p:txBody>
      </p:sp>
      <p:sp>
        <p:nvSpPr>
          <p:cNvPr id="51" name="out_win"/>
          <p:cNvSpPr/>
          <p:nvPr/>
        </p:nvSpPr>
        <p:spPr>
          <a:xfrm>
            <a:off x="7143154" y="3252768"/>
            <a:ext cx="4487100" cy="1697232"/>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52" name="out_bar"/>
          <p:cNvSpPr/>
          <p:nvPr/>
        </p:nvSpPr>
        <p:spPr>
          <a:xfrm>
            <a:off x="7143154" y="3252768"/>
            <a:ext cx="44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3" name="out_barfill"/>
          <p:cNvSpPr/>
          <p:nvPr/>
        </p:nvSpPr>
        <p:spPr>
          <a:xfrm>
            <a:off x="7143154" y="3424218"/>
            <a:ext cx="4487100" cy="171450"/>
          </a:xfrm>
          <a:prstGeom prst="rect">
            <a:avLst/>
          </a:prstGeom>
          <a:solidFill>
            <a:srgbClr val="0A1220"/>
          </a:solidFill>
          <a:ln w="12700">
            <a:solidFill>
              <a:srgbClr val="0A1220"/>
            </a:solidFill>
            <a:prstDash val="solid"/>
          </a:ln>
        </p:spPr>
        <p:txBody>
          <a:bodyPr/>
          <a:lstStyle/>
          <a:p>
            <a:endParaRPr lang="en-US"/>
          </a:p>
        </p:txBody>
      </p:sp>
      <p:sp>
        <p:nvSpPr>
          <p:cNvPr id="54" name="out_dot0"/>
          <p:cNvSpPr/>
          <p:nvPr/>
        </p:nvSpPr>
        <p:spPr>
          <a:xfrm>
            <a:off x="7305002" y="3376578"/>
            <a:ext cx="95098" cy="95098"/>
          </a:xfrm>
          <a:prstGeom prst="ellipse">
            <a:avLst/>
          </a:prstGeom>
          <a:solidFill>
            <a:srgbClr val="F87171"/>
          </a:solidFill>
          <a:ln w="12700">
            <a:solidFill>
              <a:srgbClr val="F87171"/>
            </a:solidFill>
            <a:prstDash val="solid"/>
          </a:ln>
        </p:spPr>
        <p:txBody>
          <a:bodyPr/>
          <a:lstStyle/>
          <a:p>
            <a:endParaRPr lang="en-US"/>
          </a:p>
        </p:txBody>
      </p:sp>
      <p:sp>
        <p:nvSpPr>
          <p:cNvPr id="55" name="out_dot1"/>
          <p:cNvSpPr/>
          <p:nvPr/>
        </p:nvSpPr>
        <p:spPr>
          <a:xfrm>
            <a:off x="7490626" y="3376578"/>
            <a:ext cx="95098" cy="95098"/>
          </a:xfrm>
          <a:prstGeom prst="ellipse">
            <a:avLst/>
          </a:prstGeom>
          <a:solidFill>
            <a:srgbClr val="FBBF24"/>
          </a:solidFill>
          <a:ln w="12700">
            <a:solidFill>
              <a:srgbClr val="FBBF24"/>
            </a:solidFill>
            <a:prstDash val="solid"/>
          </a:ln>
        </p:spPr>
        <p:txBody>
          <a:bodyPr/>
          <a:lstStyle/>
          <a:p>
            <a:endParaRPr lang="en-US"/>
          </a:p>
        </p:txBody>
      </p:sp>
      <p:sp>
        <p:nvSpPr>
          <p:cNvPr id="56" name="out_dot2"/>
          <p:cNvSpPr/>
          <p:nvPr/>
        </p:nvSpPr>
        <p:spPr>
          <a:xfrm>
            <a:off x="7676250" y="3376578"/>
            <a:ext cx="95098" cy="95098"/>
          </a:xfrm>
          <a:prstGeom prst="ellipse">
            <a:avLst/>
          </a:prstGeom>
          <a:solidFill>
            <a:srgbClr val="34D399"/>
          </a:solidFill>
          <a:ln w="12700">
            <a:solidFill>
              <a:srgbClr val="34D399"/>
            </a:solidFill>
            <a:prstDash val="solid"/>
          </a:ln>
        </p:spPr>
        <p:txBody>
          <a:bodyPr/>
          <a:lstStyle/>
          <a:p>
            <a:endParaRPr lang="en-US"/>
          </a:p>
        </p:txBody>
      </p:sp>
      <p:sp>
        <p:nvSpPr>
          <p:cNvPr id="57" name="out_tab"/>
          <p:cNvSpPr/>
          <p:nvPr/>
        </p:nvSpPr>
        <p:spPr>
          <a:xfrm>
            <a:off x="7924051" y="330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8" name="out_L00"/>
          <p:cNvSpPr txBox="1"/>
          <p:nvPr/>
        </p:nvSpPr>
        <p:spPr>
          <a:xfrm>
            <a:off x="7371754" y="3681216"/>
            <a:ext cx="41030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True False</a:t>
            </a:r>
            <a:endParaRPr lang="en-US" sz="1000" dirty="0"/>
          </a:p>
        </p:txBody>
      </p:sp>
      <p:sp>
        <p:nvSpPr>
          <p:cNvPr id="59" name="banner"/>
          <p:cNvSpPr/>
          <p:nvPr/>
        </p:nvSpPr>
        <p:spPr>
          <a:xfrm>
            <a:off x="543154" y="5074920"/>
            <a:ext cx="11087100" cy="74980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Same pattern for every database call: await the I/O, then work with the result.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300"/>
                                        <p:tgtEl>
                                          <p:spTgt spid="3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3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3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300"/>
                                        <p:tgtEl>
                                          <p:spTgt spid="3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300"/>
                                        <p:tgtEl>
                                          <p:spTgt spid="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300"/>
                                        <p:tgtEl>
                                          <p:spTgt spid="3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300"/>
                                        <p:tgtEl>
                                          <p:spTgt spid="4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3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300"/>
                                        <p:tgtEl>
                                          <p:spTgt spid="4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300"/>
                                        <p:tgtEl>
                                          <p:spTgt spid="4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300"/>
                                        <p:tgtEl>
                                          <p:spTgt spid="4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300"/>
                                        <p:tgtEl>
                                          <p:spTgt spid="4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fade">
                                      <p:cBhvr>
                                        <p:cTn id="91" dur="300"/>
                                        <p:tgtEl>
                                          <p:spTgt spid="46"/>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300"/>
                                        <p:tgtEl>
                                          <p:spTgt spid="31"/>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00"/>
                                        <p:tgtEl>
                                          <p:spTgt spid="32"/>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6" dur="300"/>
                                        <p:tgtEl>
                                          <p:spTgt spid="33"/>
                                        </p:tgtEl>
                                      </p:cBhvr>
                                    </p:animEffect>
                                  </p:childTnLst>
                                </p:cTn>
                              </p:par>
                              <p:par>
                                <p:cTn id="107" presetID="10" presetClass="entr" presetSubtype="0" fill="hold" grpId="0" nodeType="withEffect">
                                  <p:stCondLst>
                                    <p:cond delay="50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300"/>
                                        <p:tgtEl>
                                          <p:spTgt spid="47"/>
                                        </p:tgtEl>
                                      </p:cBhvr>
                                    </p:animEffect>
                                  </p:childTnLst>
                                </p:cTn>
                              </p:par>
                              <p:par>
                                <p:cTn id="110" presetID="10" presetClass="entr" presetSubtype="0" fill="hold" grpId="0" nodeType="withEffect">
                                  <p:stCondLst>
                                    <p:cond delay="50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300"/>
                                        <p:tgtEl>
                                          <p:spTgt spid="48"/>
                                        </p:tgtEl>
                                      </p:cBhvr>
                                    </p:animEffect>
                                  </p:childTnLst>
                                </p:cTn>
                              </p:par>
                              <p:par>
                                <p:cTn id="113" presetID="10" presetClass="entr" presetSubtype="0" fill="hold" grpId="0" nodeType="withEffect">
                                  <p:stCondLst>
                                    <p:cond delay="50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300"/>
                                        <p:tgtEl>
                                          <p:spTgt spid="49"/>
                                        </p:tgtEl>
                                      </p:cBhvr>
                                    </p:animEffect>
                                  </p:childTnLst>
                                </p:cTn>
                              </p:par>
                              <p:par>
                                <p:cTn id="116" presetID="10" presetClass="entr" presetSubtype="0" fill="hold" grpId="0" nodeType="withEffect">
                                  <p:stCondLst>
                                    <p:cond delay="500"/>
                                  </p:stCondLst>
                                  <p:childTnLst>
                                    <p:set>
                                      <p:cBhvr>
                                        <p:cTn id="117" dur="1" fill="hold">
                                          <p:stCondLst>
                                            <p:cond delay="0"/>
                                          </p:stCondLst>
                                        </p:cTn>
                                        <p:tgtEl>
                                          <p:spTgt spid="50"/>
                                        </p:tgtEl>
                                        <p:attrNameLst>
                                          <p:attrName>style.visibility</p:attrName>
                                        </p:attrNameLst>
                                      </p:cBhvr>
                                      <p:to>
                                        <p:strVal val="visible"/>
                                      </p:to>
                                    </p:set>
                                    <p:animEffect transition="in" filter="fade">
                                      <p:cBhvr>
                                        <p:cTn id="118" dur="300"/>
                                        <p:tgtEl>
                                          <p:spTgt spid="5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3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3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3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300"/>
                                        <p:tgtEl>
                                          <p:spTgt spid="54"/>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3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300"/>
                                        <p:tgtEl>
                                          <p:spTgt spid="5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3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300"/>
                                        <p:tgtEl>
                                          <p:spTgt spid="58"/>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59"/>
                                        </p:tgtEl>
                                        <p:attrNameLst>
                                          <p:attrName>style.visibility</p:attrName>
                                        </p:attrNameLst>
                                      </p:cBhvr>
                                      <p:to>
                                        <p:strVal val="visible"/>
                                      </p:to>
                                    </p:set>
                                    <p:animEffect transition="in" filter="fade">
                                      <p:cBhvr>
                                        <p:cTn id="149" dur="3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31" grpId="0" animBg="1"/>
      <p:bldP spid="32" grpId="0" animBg="1"/>
      <p:bldP spid="33" grpId="0" animBg="1"/>
      <p:bldP spid="22" grpId="0" animBg="1"/>
      <p:bldP spid="23" grpId="0" animBg="1"/>
      <p:bldP spid="24" grpId="0" animBg="1"/>
      <p:bldP spid="25" grpId="0" animBg="1"/>
      <p:bldP spid="26" grpId="0" animBg="1"/>
      <p:bldP spid="27" grpId="0" animBg="1"/>
      <p:bldP spid="28" grpId="0" animBg="1"/>
      <p:bldP spid="29" grpId="0" animBg="1"/>
      <p:bldP spid="30"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SEQUENTIAL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Zooba Page: Loading It Sequentially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01</a:t>
            </a:r>
            <a:endParaRPr lang="en-US" sz="850" dirty="0"/>
          </a:p>
        </p:txBody>
      </p:sp>
      <p:sp>
        <p:nvSpPr>
          <p:cNvPr id="15" name="tbl_head"/>
          <p:cNvSpPr/>
          <p:nvPr/>
        </p:nvSpPr>
        <p:spPr>
          <a:xfrm>
            <a:off x="543154" y="1572768"/>
            <a:ext cx="53000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16" name="tbl_h"/>
          <p:cNvSpPr txBox="1"/>
          <p:nvPr/>
        </p:nvSpPr>
        <p:spPr>
          <a:xfrm>
            <a:off x="671170" y="1572768"/>
            <a:ext cx="19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DATA</a:t>
            </a:r>
            <a:endParaRPr lang="en-US" sz="1000" dirty="0"/>
          </a:p>
        </p:txBody>
      </p:sp>
      <p:sp>
        <p:nvSpPr>
          <p:cNvPr id="17" name="tbl_h"/>
          <p:cNvSpPr txBox="1"/>
          <p:nvPr/>
        </p:nvSpPr>
        <p:spPr>
          <a:xfrm>
            <a:off x="2593154" y="1572768"/>
            <a:ext cx="19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18" name="tbl_h"/>
          <p:cNvSpPr txBox="1"/>
          <p:nvPr/>
        </p:nvSpPr>
        <p:spPr>
          <a:xfrm>
            <a:off x="4563154" y="1572768"/>
            <a:ext cx="12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TIME</a:t>
            </a:r>
            <a:endParaRPr lang="en-US" sz="1000" dirty="0"/>
          </a:p>
        </p:txBody>
      </p:sp>
      <p:sp>
        <p:nvSpPr>
          <p:cNvPr id="19" name="tbl_row"/>
          <p:cNvSpPr/>
          <p:nvPr/>
        </p:nvSpPr>
        <p:spPr>
          <a:xfrm>
            <a:off x="543154" y="1920240"/>
            <a:ext cx="5300000" cy="42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20" name="tbl_c"/>
          <p:cNvSpPr txBox="1"/>
          <p:nvPr/>
        </p:nvSpPr>
        <p:spPr>
          <a:xfrm>
            <a:off x="671170" y="192024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Restaurant info</a:t>
            </a:r>
            <a:endParaRPr lang="en-US" sz="1100" dirty="0"/>
          </a:p>
        </p:txBody>
      </p:sp>
      <p:sp>
        <p:nvSpPr>
          <p:cNvPr id="21" name="tbl_c"/>
          <p:cNvSpPr txBox="1"/>
          <p:nvPr/>
        </p:nvSpPr>
        <p:spPr>
          <a:xfrm>
            <a:off x="2593154" y="192024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GetInfoAsync()</a:t>
            </a:r>
            <a:endParaRPr lang="en-US" sz="1100" dirty="0"/>
          </a:p>
        </p:txBody>
      </p:sp>
      <p:sp>
        <p:nvSpPr>
          <p:cNvPr id="22" name="tbl_c"/>
          <p:cNvSpPr txBox="1"/>
          <p:nvPr/>
        </p:nvSpPr>
        <p:spPr>
          <a:xfrm>
            <a:off x="4563154" y="192024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Consolas"/>
                <a:ea typeface="Consolas"/>
                <a:cs typeface="Consolas"/>
              </a:rPr>
              <a:t>800 ms</a:t>
            </a:r>
            <a:endParaRPr lang="en-US" sz="1100" dirty="0"/>
          </a:p>
        </p:txBody>
      </p:sp>
      <p:sp>
        <p:nvSpPr>
          <p:cNvPr id="23" name="tbl_row"/>
          <p:cNvSpPr/>
          <p:nvPr/>
        </p:nvSpPr>
        <p:spPr>
          <a:xfrm>
            <a:off x="543154" y="2385960"/>
            <a:ext cx="5300000" cy="42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24" name="tbl_c"/>
          <p:cNvSpPr txBox="1"/>
          <p:nvPr/>
        </p:nvSpPr>
        <p:spPr>
          <a:xfrm>
            <a:off x="671170" y="238596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Menu</a:t>
            </a:r>
            <a:endParaRPr lang="en-US" sz="1100" dirty="0"/>
          </a:p>
        </p:txBody>
      </p:sp>
      <p:sp>
        <p:nvSpPr>
          <p:cNvPr id="25" name="tbl_c"/>
          <p:cNvSpPr txBox="1"/>
          <p:nvPr/>
        </p:nvSpPr>
        <p:spPr>
          <a:xfrm>
            <a:off x="2593154" y="238596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GetMenuAsync()</a:t>
            </a:r>
            <a:endParaRPr lang="en-US" sz="1100" dirty="0"/>
          </a:p>
        </p:txBody>
      </p:sp>
      <p:sp>
        <p:nvSpPr>
          <p:cNvPr id="26" name="tbl_c"/>
          <p:cNvSpPr txBox="1"/>
          <p:nvPr/>
        </p:nvSpPr>
        <p:spPr>
          <a:xfrm>
            <a:off x="4563154" y="238596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1200 ms</a:t>
            </a:r>
            <a:endParaRPr lang="en-US" sz="1100" dirty="0"/>
          </a:p>
        </p:txBody>
      </p:sp>
      <p:sp>
        <p:nvSpPr>
          <p:cNvPr id="27" name="tbl_row"/>
          <p:cNvSpPr/>
          <p:nvPr/>
        </p:nvSpPr>
        <p:spPr>
          <a:xfrm>
            <a:off x="543154" y="2851680"/>
            <a:ext cx="5300000" cy="42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28" name="tbl_c"/>
          <p:cNvSpPr txBox="1"/>
          <p:nvPr/>
        </p:nvSpPr>
        <p:spPr>
          <a:xfrm>
            <a:off x="671170" y="285168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Reviews</a:t>
            </a:r>
            <a:endParaRPr lang="en-US" sz="1100" dirty="0"/>
          </a:p>
        </p:txBody>
      </p:sp>
      <p:sp>
        <p:nvSpPr>
          <p:cNvPr id="29" name="tbl_c"/>
          <p:cNvSpPr txBox="1"/>
          <p:nvPr/>
        </p:nvSpPr>
        <p:spPr>
          <a:xfrm>
            <a:off x="2593154" y="285168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GetReviewsAsync()</a:t>
            </a:r>
            <a:endParaRPr lang="en-US" sz="1100" dirty="0"/>
          </a:p>
        </p:txBody>
      </p:sp>
      <p:sp>
        <p:nvSpPr>
          <p:cNvPr id="30" name="tbl_c"/>
          <p:cNvSpPr txBox="1"/>
          <p:nvPr/>
        </p:nvSpPr>
        <p:spPr>
          <a:xfrm>
            <a:off x="4563154" y="285168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1000 ms</a:t>
            </a:r>
            <a:endParaRPr lang="en-US" sz="1100" dirty="0"/>
          </a:p>
        </p:txBody>
      </p:sp>
      <p:sp>
        <p:nvSpPr>
          <p:cNvPr id="31" name="lab"/>
          <p:cNvSpPr txBox="1"/>
          <p:nvPr/>
        </p:nvSpPr>
        <p:spPr>
          <a:xfrm>
            <a:off x="543154" y="3292768"/>
            <a:ext cx="53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Each comes from a different service; each takes time.</a:t>
            </a:r>
            <a:endParaRPr lang="en-US" sz="1050" dirty="0"/>
          </a:p>
        </p:txBody>
      </p:sp>
      <p:sp>
        <p:nvSpPr>
          <p:cNvPr id="32" name="caption"/>
          <p:cNvSpPr/>
          <p:nvPr/>
        </p:nvSpPr>
        <p:spPr>
          <a:xfrm>
            <a:off x="543154" y="3652768"/>
            <a:ext cx="5300000" cy="62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Must we get Info first, then Menu, then Reviews?</a:t>
            </a:r>
            <a:endParaRPr lang="en-US" sz="1150" dirty="0"/>
          </a:p>
        </p:txBody>
      </p:sp>
      <p:sp>
        <p:nvSpPr>
          <p:cNvPr id="33" name="card"/>
          <p:cNvSpPr/>
          <p:nvPr/>
        </p:nvSpPr>
        <p:spPr>
          <a:xfrm>
            <a:off x="543154" y="4372768"/>
            <a:ext cx="5300000" cy="5772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NO</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The three calls are independent: none needs another one's result.</a:t>
            </a:r>
            <a:endParaRPr lang="en-US" sz="1100" dirty="0"/>
          </a:p>
        </p:txBody>
      </p:sp>
      <p:sp>
        <p:nvSpPr>
          <p:cNvPr id="34" name="cw_win"/>
          <p:cNvSpPr/>
          <p:nvPr/>
        </p:nvSpPr>
        <p:spPr>
          <a:xfrm>
            <a:off x="6093154" y="1572768"/>
            <a:ext cx="5537100" cy="110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5" name="cw_bar"/>
          <p:cNvSpPr/>
          <p:nvPr/>
        </p:nvSpPr>
        <p:spPr>
          <a:xfrm>
            <a:off x="6093154" y="1572768"/>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cw_barfill"/>
          <p:cNvSpPr/>
          <p:nvPr/>
        </p:nvSpPr>
        <p:spPr>
          <a:xfrm>
            <a:off x="6093154" y="1744218"/>
            <a:ext cx="5537100" cy="171450"/>
          </a:xfrm>
          <a:prstGeom prst="rect">
            <a:avLst/>
          </a:prstGeom>
          <a:solidFill>
            <a:srgbClr val="0A1220"/>
          </a:solidFill>
          <a:ln w="12700">
            <a:solidFill>
              <a:srgbClr val="0A1220"/>
            </a:solidFill>
            <a:prstDash val="solid"/>
          </a:ln>
        </p:spPr>
        <p:txBody>
          <a:bodyPr/>
          <a:lstStyle/>
          <a:p>
            <a:endParaRPr lang="en-US"/>
          </a:p>
        </p:txBody>
      </p:sp>
      <p:sp>
        <p:nvSpPr>
          <p:cNvPr id="37" name="cw_dot0"/>
          <p:cNvSpPr/>
          <p:nvPr/>
        </p:nvSpPr>
        <p:spPr>
          <a:xfrm>
            <a:off x="625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cw_dot1"/>
          <p:cNvSpPr/>
          <p:nvPr/>
        </p:nvSpPr>
        <p:spPr>
          <a:xfrm>
            <a:off x="644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cw_dot2"/>
          <p:cNvSpPr/>
          <p:nvPr/>
        </p:nvSpPr>
        <p:spPr>
          <a:xfrm>
            <a:off x="662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cw_tab"/>
          <p:cNvSpPr/>
          <p:nvPr/>
        </p:nvSpPr>
        <p:spPr>
          <a:xfrm>
            <a:off x="687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ZoobaPage.cs</a:t>
            </a:r>
            <a:endParaRPr lang="en-US" sz="950" dirty="0"/>
          </a:p>
        </p:txBody>
      </p:sp>
      <p:sp>
        <p:nvSpPr>
          <p:cNvPr id="44" name="cw_hl00"/>
          <p:cNvSpPr/>
          <p:nvPr/>
        </p:nvSpPr>
        <p:spPr>
          <a:xfrm>
            <a:off x="6226656" y="1982928"/>
            <a:ext cx="5270096" cy="249936"/>
          </a:xfrm>
          <a:prstGeom prst="rect">
            <a:avLst/>
          </a:prstGeom>
          <a:solidFill>
            <a:srgbClr val="4D91F0">
              <a:alpha val="15000"/>
            </a:srgbClr>
          </a:solidFill>
          <a:ln w="12700">
            <a:solidFill>
              <a:srgbClr val="4D91F0"/>
            </a:solidFill>
            <a:prstDash val="solid"/>
          </a:ln>
        </p:spPr>
        <p:txBody>
          <a:bodyPr/>
          <a:lstStyle/>
          <a:p>
            <a:endParaRPr lang="en-US"/>
          </a:p>
        </p:txBody>
      </p:sp>
      <p:sp>
        <p:nvSpPr>
          <p:cNvPr id="45" name="cw_hl01"/>
          <p:cNvSpPr/>
          <p:nvPr/>
        </p:nvSpPr>
        <p:spPr>
          <a:xfrm>
            <a:off x="6226656" y="2196288"/>
            <a:ext cx="527009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46" name="cw_hl02"/>
          <p:cNvSpPr/>
          <p:nvPr/>
        </p:nvSpPr>
        <p:spPr>
          <a:xfrm>
            <a:off x="6226656" y="2409648"/>
            <a:ext cx="5270096" cy="249936"/>
          </a:xfrm>
          <a:prstGeom prst="rect">
            <a:avLst/>
          </a:prstGeom>
          <a:solidFill>
            <a:srgbClr val="A78BFA">
              <a:alpha val="15000"/>
            </a:srgbClr>
          </a:solidFill>
          <a:ln w="12700">
            <a:solidFill>
              <a:srgbClr val="A78BFA"/>
            </a:solidFill>
            <a:prstDash val="solid"/>
          </a:ln>
        </p:spPr>
        <p:txBody>
          <a:bodyPr/>
          <a:lstStyle/>
          <a:p>
            <a:endParaRPr lang="en-US"/>
          </a:p>
        </p:txBody>
      </p:sp>
      <p:sp>
        <p:nvSpPr>
          <p:cNvPr id="41" name="cw_L00"/>
          <p:cNvSpPr txBox="1"/>
          <p:nvPr/>
        </p:nvSpPr>
        <p:spPr>
          <a:xfrm>
            <a:off x="6321754" y="200121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info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GetInfoAsync(42);</a:t>
            </a:r>
            <a:endParaRPr lang="en-US" sz="1050" dirty="0"/>
          </a:p>
        </p:txBody>
      </p:sp>
      <p:sp>
        <p:nvSpPr>
          <p:cNvPr id="42" name="cw_L01"/>
          <p:cNvSpPr txBox="1"/>
          <p:nvPr/>
        </p:nvSpPr>
        <p:spPr>
          <a:xfrm>
            <a:off x="6321754" y="221457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menu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GetMenuAsync(42);</a:t>
            </a:r>
            <a:endParaRPr lang="en-US" sz="1050" dirty="0"/>
          </a:p>
        </p:txBody>
      </p:sp>
      <p:sp>
        <p:nvSpPr>
          <p:cNvPr id="43" name="cw_L02"/>
          <p:cNvSpPr txBox="1"/>
          <p:nvPr/>
        </p:nvSpPr>
        <p:spPr>
          <a:xfrm>
            <a:off x="6321754" y="242793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reviews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GetReviewsAsync(42);</a:t>
            </a:r>
            <a:endParaRPr lang="en-US" sz="1050" dirty="0"/>
          </a:p>
        </p:txBody>
      </p:sp>
      <p:sp>
        <p:nvSpPr>
          <p:cNvPr id="47" name="lab"/>
          <p:cNvSpPr txBox="1"/>
          <p:nvPr/>
        </p:nvSpPr>
        <p:spPr>
          <a:xfrm>
            <a:off x="6093154" y="2792768"/>
            <a:ext cx="553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Sequential execution: start, wait, then the next</a:t>
            </a:r>
            <a:endParaRPr lang="en-US" sz="1050" dirty="0"/>
          </a:p>
        </p:txBody>
      </p:sp>
      <p:sp>
        <p:nvSpPr>
          <p:cNvPr id="48" name="bar"/>
          <p:cNvSpPr/>
          <p:nvPr/>
        </p:nvSpPr>
        <p:spPr>
          <a:xfrm>
            <a:off x="6093154" y="3092768"/>
            <a:ext cx="1456560" cy="32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Info 800 ms</a:t>
            </a:r>
            <a:endParaRPr lang="en-US" sz="950" dirty="0"/>
          </a:p>
        </p:txBody>
      </p:sp>
      <p:sp>
        <p:nvSpPr>
          <p:cNvPr id="49" name="bar"/>
          <p:cNvSpPr/>
          <p:nvPr/>
        </p:nvSpPr>
        <p:spPr>
          <a:xfrm>
            <a:off x="7569714" y="3472768"/>
            <a:ext cx="2194840" cy="320000"/>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1200 ms</a:t>
            </a:r>
            <a:endParaRPr lang="en-US" sz="950" dirty="0"/>
          </a:p>
        </p:txBody>
      </p:sp>
      <p:sp>
        <p:nvSpPr>
          <p:cNvPr id="50" name="bar"/>
          <p:cNvSpPr/>
          <p:nvPr/>
        </p:nvSpPr>
        <p:spPr>
          <a:xfrm>
            <a:off x="9784554" y="3852768"/>
            <a:ext cx="1825700" cy="320000"/>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Reviews 1000 ms</a:t>
            </a:r>
            <a:endParaRPr lang="en-US" sz="950" dirty="0"/>
          </a:p>
        </p:txBody>
      </p:sp>
      <p:sp>
        <p:nvSpPr>
          <p:cNvPr id="51" name="lab"/>
          <p:cNvSpPr txBox="1"/>
          <p:nvPr/>
        </p:nvSpPr>
        <p:spPr>
          <a:xfrm>
            <a:off x="6093154" y="4212768"/>
            <a:ext cx="800000" cy="2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0" dirty="0">
                <a:solidFill>
                  <a:srgbClr val="94A3B8"/>
                </a:solidFill>
                <a:latin typeface="Segoe UI"/>
                <a:ea typeface="Segoe UI"/>
                <a:cs typeface="Segoe UI"/>
              </a:rPr>
              <a:t>0 s</a:t>
            </a:r>
            <a:endParaRPr lang="en-US" sz="900" dirty="0"/>
          </a:p>
        </p:txBody>
      </p:sp>
      <p:sp>
        <p:nvSpPr>
          <p:cNvPr id="52" name="lab"/>
          <p:cNvSpPr txBox="1"/>
          <p:nvPr/>
        </p:nvSpPr>
        <p:spPr>
          <a:xfrm>
            <a:off x="10830254" y="4212768"/>
            <a:ext cx="800000" cy="22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900" b="0" dirty="0">
                <a:solidFill>
                  <a:srgbClr val="94A3B8"/>
                </a:solidFill>
                <a:latin typeface="Segoe UI"/>
                <a:ea typeface="Segoe UI"/>
                <a:cs typeface="Segoe UI"/>
              </a:rPr>
              <a:t>3.0 s</a:t>
            </a:r>
            <a:endParaRPr lang="en-US" sz="900" dirty="0"/>
          </a:p>
        </p:txBody>
      </p:sp>
      <p:sp>
        <p:nvSpPr>
          <p:cNvPr id="53" name="total"/>
          <p:cNvSpPr/>
          <p:nvPr/>
        </p:nvSpPr>
        <p:spPr>
          <a:xfrm>
            <a:off x="6093154" y="4472768"/>
            <a:ext cx="5537100" cy="477232"/>
          </a:xfrm>
          <a:prstGeom prst="roundRect">
            <a:avLst>
              <a:gd name="adj" fmla="val 15000"/>
            </a:avLst>
          </a:prstGeom>
          <a:solidFill>
            <a:srgbClr val="2A1215"/>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250" b="1" dirty="0">
                <a:solidFill>
                  <a:srgbClr val="F87171"/>
                </a:solidFill>
                <a:latin typeface="Consolas"/>
                <a:ea typeface="Consolas"/>
                <a:cs typeface="Consolas"/>
              </a:rPr>
              <a:t>Total ≈ 800 + 1200 + 1000 = 3000 ms</a:t>
            </a:r>
            <a:endParaRPr lang="en-US" sz="1250" dirty="0"/>
          </a:p>
        </p:txBody>
      </p:sp>
      <p:sp>
        <p:nvSpPr>
          <p:cNvPr id="54"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Sequential: each call waits for the previous one, even though none of them needs the others' result.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300"/>
                                        <p:tgtEl>
                                          <p:spTgt spid="3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3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3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30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3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300"/>
                                        <p:tgtEl>
                                          <p:spTgt spid="3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300"/>
                                        <p:tgtEl>
                                          <p:spTgt spid="3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300"/>
                                        <p:tgtEl>
                                          <p:spTgt spid="4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300"/>
                                        <p:tgtEl>
                                          <p:spTgt spid="4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3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300"/>
                                        <p:tgtEl>
                                          <p:spTgt spid="4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300"/>
                                        <p:tgtEl>
                                          <p:spTgt spid="5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fade">
                                      <p:cBhvr>
                                        <p:cTn id="106" dur="300"/>
                                        <p:tgtEl>
                                          <p:spTgt spid="5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300"/>
                                        <p:tgtEl>
                                          <p:spTgt spid="44"/>
                                        </p:tgtEl>
                                      </p:cBhvr>
                                    </p:animEffect>
                                  </p:childTnLst>
                                </p:cTn>
                              </p:par>
                              <p:par>
                                <p:cTn id="112" presetID="22" presetClass="entr" presetSubtype="8" fill="hold" grpId="0" nodeType="withEffect">
                                  <p:stCondLst>
                                    <p:cond delay="200"/>
                                  </p:stCondLst>
                                  <p:childTnLst>
                                    <p:set>
                                      <p:cBhvr>
                                        <p:cTn id="113" dur="1" fill="hold">
                                          <p:stCondLst>
                                            <p:cond delay="0"/>
                                          </p:stCondLst>
                                        </p:cTn>
                                        <p:tgtEl>
                                          <p:spTgt spid="48"/>
                                        </p:tgtEl>
                                        <p:attrNameLst>
                                          <p:attrName>style.visibility</p:attrName>
                                        </p:attrNameLst>
                                      </p:cBhvr>
                                      <p:to>
                                        <p:strVal val="visible"/>
                                      </p:to>
                                    </p:set>
                                    <p:animEffect transition="in" filter="wipe(left)">
                                      <p:cBhvr>
                                        <p:cTn id="114" dur="600"/>
                                        <p:tgtEl>
                                          <p:spTgt spid="48"/>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300"/>
                                        <p:tgtEl>
                                          <p:spTgt spid="45"/>
                                        </p:tgtEl>
                                      </p:cBhvr>
                                    </p:animEffect>
                                  </p:childTnLst>
                                </p:cTn>
                              </p:par>
                              <p:par>
                                <p:cTn id="120" presetID="22" presetClass="entr" presetSubtype="8" fill="hold" grpId="0" nodeType="withEffect">
                                  <p:stCondLst>
                                    <p:cond delay="200"/>
                                  </p:stCondLst>
                                  <p:childTnLst>
                                    <p:set>
                                      <p:cBhvr>
                                        <p:cTn id="121" dur="1" fill="hold">
                                          <p:stCondLst>
                                            <p:cond delay="0"/>
                                          </p:stCondLst>
                                        </p:cTn>
                                        <p:tgtEl>
                                          <p:spTgt spid="49"/>
                                        </p:tgtEl>
                                        <p:attrNameLst>
                                          <p:attrName>style.visibility</p:attrName>
                                        </p:attrNameLst>
                                      </p:cBhvr>
                                      <p:to>
                                        <p:strVal val="visible"/>
                                      </p:to>
                                    </p:set>
                                    <p:animEffect transition="in" filter="wipe(left)">
                                      <p:cBhvr>
                                        <p:cTn id="122" dur="600"/>
                                        <p:tgtEl>
                                          <p:spTgt spid="4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300"/>
                                        <p:tgtEl>
                                          <p:spTgt spid="46"/>
                                        </p:tgtEl>
                                      </p:cBhvr>
                                    </p:animEffect>
                                  </p:childTnLst>
                                </p:cTn>
                              </p:par>
                              <p:par>
                                <p:cTn id="128" presetID="22" presetClass="entr" presetSubtype="8" fill="hold" grpId="0" nodeType="withEffect">
                                  <p:stCondLst>
                                    <p:cond delay="200"/>
                                  </p:stCondLst>
                                  <p:childTnLst>
                                    <p:set>
                                      <p:cBhvr>
                                        <p:cTn id="129" dur="1" fill="hold">
                                          <p:stCondLst>
                                            <p:cond delay="0"/>
                                          </p:stCondLst>
                                        </p:cTn>
                                        <p:tgtEl>
                                          <p:spTgt spid="50"/>
                                        </p:tgtEl>
                                        <p:attrNameLst>
                                          <p:attrName>style.visibility</p:attrName>
                                        </p:attrNameLst>
                                      </p:cBhvr>
                                      <p:to>
                                        <p:strVal val="visible"/>
                                      </p:to>
                                    </p:set>
                                    <p:animEffect transition="in" filter="wipe(left)">
                                      <p:cBhvr>
                                        <p:cTn id="130" dur="600"/>
                                        <p:tgtEl>
                                          <p:spTgt spid="50"/>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53"/>
                                        </p:tgtEl>
                                        <p:attrNameLst>
                                          <p:attrName>style.visibility</p:attrName>
                                        </p:attrNameLst>
                                      </p:cBhvr>
                                      <p:to>
                                        <p:strVal val="visible"/>
                                      </p:to>
                                    </p:set>
                                    <p:animEffect transition="in" filter="fade">
                                      <p:cBhvr>
                                        <p:cTn id="135" dur="300"/>
                                        <p:tgtEl>
                                          <p:spTgt spid="5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4" grpId="0" animBg="1"/>
      <p:bldP spid="45" grpId="0" animBg="1"/>
      <p:bldP spid="46" grpId="0" animBg="1"/>
      <p:bldP spid="41" grpId="0" animBg="1"/>
      <p:bldP spid="42" grpId="0" animBg="1"/>
      <p:bldP spid="43"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Real Example: Restaurant Page with WhenAll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112</a:t>
            </a:r>
            <a:endParaRPr lang="en-US" sz="850" dirty="0"/>
          </a:p>
        </p:txBody>
      </p:sp>
      <p:sp>
        <p:nvSpPr>
          <p:cNvPr id="15" name="cw_win"/>
          <p:cNvSpPr/>
          <p:nvPr/>
        </p:nvSpPr>
        <p:spPr>
          <a:xfrm>
            <a:off x="543154" y="1572768"/>
            <a:ext cx="5760720" cy="2340864"/>
          </a:xfrm>
          <a:prstGeom prst="roundRect">
            <a:avLst>
              <a:gd name="adj" fmla="val 2929"/>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7607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infoTask = GetInfoAsync(42);</a:t>
            </a:r>
            <a:endParaRPr lang="en-US" sz="950" dirty="0"/>
          </a:p>
        </p:txBody>
      </p:sp>
      <p:sp>
        <p:nvSpPr>
          <p:cNvPr id="23" name="cw_L01"/>
          <p:cNvSpPr txBox="1"/>
          <p:nvPr/>
        </p:nvSpPr>
        <p:spPr>
          <a:xfrm>
            <a:off x="771754" y="22412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menuTask = GetMenuAsync(42);</a:t>
            </a:r>
            <a:endParaRPr lang="en-US" sz="950" dirty="0"/>
          </a:p>
        </p:txBody>
      </p:sp>
      <p:sp>
        <p:nvSpPr>
          <p:cNvPr id="24" name="cw_L02"/>
          <p:cNvSpPr txBox="1"/>
          <p:nvPr/>
        </p:nvSpPr>
        <p:spPr>
          <a:xfrm>
            <a:off x="771754" y="24343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reviewsTask = GetReviewsAsync(42);</a:t>
            </a:r>
            <a:endParaRPr lang="en-US" sz="950" dirty="0"/>
          </a:p>
        </p:txBody>
      </p:sp>
      <p:sp>
        <p:nvSpPr>
          <p:cNvPr id="25" name="cw_L04"/>
          <p:cNvSpPr txBox="1"/>
          <p:nvPr/>
        </p:nvSpPr>
        <p:spPr>
          <a:xfrm>
            <a:off x="771754" y="28204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Task.WhenAll(infoTask, menuTask, reviewsTask);</a:t>
            </a:r>
            <a:endParaRPr lang="en-US" sz="950" dirty="0"/>
          </a:p>
        </p:txBody>
      </p:sp>
      <p:sp>
        <p:nvSpPr>
          <p:cNvPr id="26" name="cw_L06"/>
          <p:cNvSpPr txBox="1"/>
          <p:nvPr/>
        </p:nvSpPr>
        <p:spPr>
          <a:xfrm>
            <a:off x="771754" y="32064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infoTask);</a:t>
            </a:r>
            <a:endParaRPr lang="en-US" sz="950" dirty="0"/>
          </a:p>
        </p:txBody>
      </p:sp>
      <p:sp>
        <p:nvSpPr>
          <p:cNvPr id="27" name="cw_L07"/>
          <p:cNvSpPr txBox="1"/>
          <p:nvPr/>
        </p:nvSpPr>
        <p:spPr>
          <a:xfrm>
            <a:off x="771754" y="33995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menuTask);</a:t>
            </a:r>
            <a:endParaRPr lang="en-US" sz="950" dirty="0"/>
          </a:p>
        </p:txBody>
      </p:sp>
      <p:sp>
        <p:nvSpPr>
          <p:cNvPr id="28" name="cw_L08"/>
          <p:cNvSpPr txBox="1"/>
          <p:nvPr/>
        </p:nvSpPr>
        <p:spPr>
          <a:xfrm>
            <a:off x="771754" y="359257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reviewsTask);</a:t>
            </a:r>
            <a:endParaRPr lang="en-US" sz="950" dirty="0"/>
          </a:p>
        </p:txBody>
      </p:sp>
      <p:sp>
        <p:nvSpPr>
          <p:cNvPr id="29" name="cmark"/>
          <p:cNvSpPr/>
          <p:nvPr/>
        </p:nvSpPr>
        <p:spPr>
          <a:xfrm>
            <a:off x="676656" y="2802128"/>
            <a:ext cx="5493715" cy="229616"/>
          </a:xfrm>
          <a:prstGeom prst="rect">
            <a:avLst/>
          </a:prstGeom>
          <a:solidFill>
            <a:srgbClr val="13D0F7">
              <a:alpha val="16000"/>
            </a:srgbClr>
          </a:solidFill>
          <a:ln w="15875">
            <a:solidFill>
              <a:srgbClr val="13D0F7"/>
            </a:solidFill>
            <a:prstDash val="solid"/>
          </a:ln>
        </p:spPr>
        <p:txBody>
          <a:bodyPr/>
          <a:lstStyle/>
          <a:p>
            <a:endParaRPr lang="en-US"/>
          </a:p>
        </p:txBody>
      </p:sp>
      <p:sp>
        <p:nvSpPr>
          <p:cNvPr id="30" name="cw2_win"/>
          <p:cNvSpPr/>
          <p:nvPr/>
        </p:nvSpPr>
        <p:spPr>
          <a:xfrm>
            <a:off x="6532474" y="1572768"/>
            <a:ext cx="5097780" cy="3520440"/>
          </a:xfrm>
          <a:prstGeom prst="roundRect">
            <a:avLst>
              <a:gd name="adj" fmla="val 1948"/>
            </a:avLst>
          </a:prstGeom>
          <a:solidFill>
            <a:srgbClr val="060D18"/>
          </a:solidFill>
          <a:ln w="12700">
            <a:solidFill>
              <a:srgbClr val="1E3A5F"/>
            </a:solidFill>
            <a:prstDash val="solid"/>
          </a:ln>
        </p:spPr>
        <p:txBody>
          <a:bodyPr/>
          <a:lstStyle/>
          <a:p>
            <a:endParaRPr lang="en-US"/>
          </a:p>
        </p:txBody>
      </p:sp>
      <p:sp>
        <p:nvSpPr>
          <p:cNvPr id="31" name="cw2_bar"/>
          <p:cNvSpPr/>
          <p:nvPr/>
        </p:nvSpPr>
        <p:spPr>
          <a:xfrm>
            <a:off x="6532474" y="1572768"/>
            <a:ext cx="50977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cw2_barfill"/>
          <p:cNvSpPr/>
          <p:nvPr/>
        </p:nvSpPr>
        <p:spPr>
          <a:xfrm>
            <a:off x="6532474" y="1744218"/>
            <a:ext cx="5097780" cy="171450"/>
          </a:xfrm>
          <a:prstGeom prst="rect">
            <a:avLst/>
          </a:prstGeom>
          <a:solidFill>
            <a:srgbClr val="0A1220"/>
          </a:solidFill>
          <a:ln w="12700">
            <a:solidFill>
              <a:srgbClr val="0A1220"/>
            </a:solidFill>
            <a:prstDash val="solid"/>
          </a:ln>
        </p:spPr>
        <p:txBody>
          <a:bodyPr/>
          <a:lstStyle/>
          <a:p>
            <a:endParaRPr lang="en-US"/>
          </a:p>
        </p:txBody>
      </p:sp>
      <p:sp>
        <p:nvSpPr>
          <p:cNvPr id="33" name="cw2_dot0"/>
          <p:cNvSpPr/>
          <p:nvPr/>
        </p:nvSpPr>
        <p:spPr>
          <a:xfrm>
            <a:off x="66943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cw2_dot1"/>
          <p:cNvSpPr/>
          <p:nvPr/>
        </p:nvSpPr>
        <p:spPr>
          <a:xfrm>
            <a:off x="68799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cw2_dot2"/>
          <p:cNvSpPr/>
          <p:nvPr/>
        </p:nvSpPr>
        <p:spPr>
          <a:xfrm>
            <a:off x="70655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cw2_tab"/>
          <p:cNvSpPr/>
          <p:nvPr/>
        </p:nvSpPr>
        <p:spPr>
          <a:xfrm>
            <a:off x="731337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Services.cs</a:t>
            </a:r>
            <a:endParaRPr lang="en-US" sz="950" dirty="0"/>
          </a:p>
        </p:txBody>
      </p:sp>
      <p:sp>
        <p:nvSpPr>
          <p:cNvPr id="37" name="cw2_L00"/>
          <p:cNvSpPr txBox="1"/>
          <p:nvPr/>
        </p:nvSpPr>
        <p:spPr>
          <a:xfrm>
            <a:off x="6761074" y="20482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GetInfoAsync(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38" name="cw2_L01"/>
          <p:cNvSpPr txBox="1"/>
          <p:nvPr/>
        </p:nvSpPr>
        <p:spPr>
          <a:xfrm>
            <a:off x="6761074" y="22412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2_L02"/>
          <p:cNvSpPr txBox="1"/>
          <p:nvPr/>
        </p:nvSpPr>
        <p:spPr>
          <a:xfrm>
            <a:off x="6761074" y="24343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Task.Delay(800);</a:t>
            </a:r>
            <a:endParaRPr lang="en-US" sz="950" dirty="0"/>
          </a:p>
        </p:txBody>
      </p:sp>
      <p:sp>
        <p:nvSpPr>
          <p:cNvPr id="40" name="cw2_L03"/>
          <p:cNvSpPr txBox="1"/>
          <p:nvPr/>
        </p:nvSpPr>
        <p:spPr>
          <a:xfrm>
            <a:off x="6761074" y="26273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"Zooba · Zamalek · open now"</a:t>
            </a:r>
            <a:r>
              <a:rPr lang="en-US" sz="950" b="0" dirty="0">
                <a:solidFill>
                  <a:srgbClr val="E2E8F0"/>
                </a:solidFill>
                <a:latin typeface="Consolas"/>
                <a:ea typeface="Consolas"/>
                <a:cs typeface="Consolas"/>
              </a:rPr>
              <a:t>;</a:t>
            </a:r>
            <a:endParaRPr lang="en-US" sz="950" dirty="0"/>
          </a:p>
        </p:txBody>
      </p:sp>
      <p:sp>
        <p:nvSpPr>
          <p:cNvPr id="41" name="cw2_L04"/>
          <p:cNvSpPr txBox="1"/>
          <p:nvPr/>
        </p:nvSpPr>
        <p:spPr>
          <a:xfrm>
            <a:off x="6761074" y="28204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2" name="cw2_L05"/>
          <p:cNvSpPr txBox="1"/>
          <p:nvPr/>
        </p:nvSpPr>
        <p:spPr>
          <a:xfrm>
            <a:off x="6761074" y="30134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GetMenuAsync(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43" name="cw2_L06"/>
          <p:cNvSpPr txBox="1"/>
          <p:nvPr/>
        </p:nvSpPr>
        <p:spPr>
          <a:xfrm>
            <a:off x="6761074" y="32064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4" name="cw2_L07"/>
          <p:cNvSpPr txBox="1"/>
          <p:nvPr/>
        </p:nvSpPr>
        <p:spPr>
          <a:xfrm>
            <a:off x="6761074" y="33995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Task.Delay(1200);</a:t>
            </a:r>
            <a:endParaRPr lang="en-US" sz="950" dirty="0"/>
          </a:p>
        </p:txBody>
      </p:sp>
      <p:sp>
        <p:nvSpPr>
          <p:cNvPr id="45" name="cw2_L08"/>
          <p:cNvSpPr txBox="1"/>
          <p:nvPr/>
        </p:nvSpPr>
        <p:spPr>
          <a:xfrm>
            <a:off x="6761074" y="35925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"Menu: 24 dishes"</a:t>
            </a:r>
            <a:r>
              <a:rPr lang="en-US" sz="950" b="0" dirty="0">
                <a:solidFill>
                  <a:srgbClr val="E2E8F0"/>
                </a:solidFill>
                <a:latin typeface="Consolas"/>
                <a:ea typeface="Consolas"/>
                <a:cs typeface="Consolas"/>
              </a:rPr>
              <a:t>;</a:t>
            </a:r>
            <a:endParaRPr lang="en-US" sz="950" dirty="0"/>
          </a:p>
        </p:txBody>
      </p:sp>
      <p:sp>
        <p:nvSpPr>
          <p:cNvPr id="46" name="cw2_L09"/>
          <p:cNvSpPr txBox="1"/>
          <p:nvPr/>
        </p:nvSpPr>
        <p:spPr>
          <a:xfrm>
            <a:off x="6761074" y="37856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7" name="cw2_L10"/>
          <p:cNvSpPr txBox="1"/>
          <p:nvPr/>
        </p:nvSpPr>
        <p:spPr>
          <a:xfrm>
            <a:off x="6761074" y="39786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GetReviewsAsync(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48" name="cw2_L11"/>
          <p:cNvSpPr txBox="1"/>
          <p:nvPr/>
        </p:nvSpPr>
        <p:spPr>
          <a:xfrm>
            <a:off x="6761074" y="41716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9" name="cw2_L12"/>
          <p:cNvSpPr txBox="1"/>
          <p:nvPr/>
        </p:nvSpPr>
        <p:spPr>
          <a:xfrm>
            <a:off x="6761074" y="43647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Task.Delay(1000);</a:t>
            </a:r>
            <a:endParaRPr lang="en-US" sz="950" dirty="0"/>
          </a:p>
        </p:txBody>
      </p:sp>
      <p:sp>
        <p:nvSpPr>
          <p:cNvPr id="50" name="cw2_L13"/>
          <p:cNvSpPr txBox="1"/>
          <p:nvPr/>
        </p:nvSpPr>
        <p:spPr>
          <a:xfrm>
            <a:off x="6761074" y="45577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"Reviews: 4.8 (1,240)"</a:t>
            </a:r>
            <a:r>
              <a:rPr lang="en-US" sz="950" b="0" dirty="0">
                <a:solidFill>
                  <a:srgbClr val="E2E8F0"/>
                </a:solidFill>
                <a:latin typeface="Consolas"/>
                <a:ea typeface="Consolas"/>
                <a:cs typeface="Consolas"/>
              </a:rPr>
              <a:t>;</a:t>
            </a:r>
            <a:endParaRPr lang="en-US" sz="950" dirty="0"/>
          </a:p>
        </p:txBody>
      </p:sp>
      <p:sp>
        <p:nvSpPr>
          <p:cNvPr id="51" name="cw2_L14"/>
          <p:cNvSpPr txBox="1"/>
          <p:nvPr/>
        </p:nvSpPr>
        <p:spPr>
          <a:xfrm>
            <a:off x="6761074" y="47508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2" name="lab"/>
          <p:cNvSpPr txBox="1"/>
          <p:nvPr/>
        </p:nvSpPr>
        <p:spPr>
          <a:xfrm>
            <a:off x="543154" y="4041648"/>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3" name="lane"/>
          <p:cNvSpPr/>
          <p:nvPr/>
        </p:nvSpPr>
        <p:spPr>
          <a:xfrm>
            <a:off x="634594" y="4224528"/>
            <a:ext cx="5669280" cy="18288"/>
          </a:xfrm>
          <a:prstGeom prst="rect">
            <a:avLst/>
          </a:prstGeom>
          <a:solidFill>
            <a:srgbClr val="1E3A5F"/>
          </a:solidFill>
          <a:ln w="12700">
            <a:solidFill>
              <a:srgbClr val="1E3A5F"/>
            </a:solidFill>
            <a:prstDash val="solid"/>
          </a:ln>
        </p:spPr>
        <p:txBody>
          <a:bodyPr/>
          <a:lstStyle/>
          <a:p>
            <a:endParaRPr lang="en-US"/>
          </a:p>
        </p:txBody>
      </p:sp>
      <p:sp>
        <p:nvSpPr>
          <p:cNvPr id="54" name="bar"/>
          <p:cNvSpPr/>
          <p:nvPr/>
        </p:nvSpPr>
        <p:spPr>
          <a:xfrm>
            <a:off x="634594" y="4041648"/>
            <a:ext cx="2804160" cy="192024"/>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info 800 ms</a:t>
            </a:r>
            <a:endParaRPr lang="en-US" sz="850" dirty="0"/>
          </a:p>
        </p:txBody>
      </p:sp>
      <p:sp>
        <p:nvSpPr>
          <p:cNvPr id="55" name="lab"/>
          <p:cNvSpPr txBox="1"/>
          <p:nvPr/>
        </p:nvSpPr>
        <p:spPr>
          <a:xfrm>
            <a:off x="543154" y="4261104"/>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6" name="lane"/>
          <p:cNvSpPr/>
          <p:nvPr/>
        </p:nvSpPr>
        <p:spPr>
          <a:xfrm>
            <a:off x="634594" y="4443984"/>
            <a:ext cx="5669280" cy="18288"/>
          </a:xfrm>
          <a:prstGeom prst="rect">
            <a:avLst/>
          </a:prstGeom>
          <a:solidFill>
            <a:srgbClr val="1E3A5F"/>
          </a:solidFill>
          <a:ln w="12700">
            <a:solidFill>
              <a:srgbClr val="1E3A5F"/>
            </a:solidFill>
            <a:prstDash val="solid"/>
          </a:ln>
        </p:spPr>
        <p:txBody>
          <a:bodyPr/>
          <a:lstStyle/>
          <a:p>
            <a:endParaRPr lang="en-US"/>
          </a:p>
        </p:txBody>
      </p:sp>
      <p:sp>
        <p:nvSpPr>
          <p:cNvPr id="57" name="bar"/>
          <p:cNvSpPr/>
          <p:nvPr/>
        </p:nvSpPr>
        <p:spPr>
          <a:xfrm>
            <a:off x="634594" y="4261104"/>
            <a:ext cx="4206240" cy="192024"/>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menu 1200 ms</a:t>
            </a:r>
            <a:endParaRPr lang="en-US" sz="850" dirty="0"/>
          </a:p>
        </p:txBody>
      </p:sp>
      <p:sp>
        <p:nvSpPr>
          <p:cNvPr id="58" name="lab"/>
          <p:cNvSpPr txBox="1"/>
          <p:nvPr/>
        </p:nvSpPr>
        <p:spPr>
          <a:xfrm>
            <a:off x="543154" y="4480560"/>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9" name="lane"/>
          <p:cNvSpPr/>
          <p:nvPr/>
        </p:nvSpPr>
        <p:spPr>
          <a:xfrm>
            <a:off x="634594" y="4663440"/>
            <a:ext cx="5669280" cy="18288"/>
          </a:xfrm>
          <a:prstGeom prst="rect">
            <a:avLst/>
          </a:prstGeom>
          <a:solidFill>
            <a:srgbClr val="1E3A5F"/>
          </a:solidFill>
          <a:ln w="12700">
            <a:solidFill>
              <a:srgbClr val="1E3A5F"/>
            </a:solidFill>
            <a:prstDash val="solid"/>
          </a:ln>
        </p:spPr>
        <p:txBody>
          <a:bodyPr/>
          <a:lstStyle/>
          <a:p>
            <a:endParaRPr lang="en-US"/>
          </a:p>
        </p:txBody>
      </p:sp>
      <p:sp>
        <p:nvSpPr>
          <p:cNvPr id="60" name="bar"/>
          <p:cNvSpPr/>
          <p:nvPr/>
        </p:nvSpPr>
        <p:spPr>
          <a:xfrm>
            <a:off x="634594" y="4480560"/>
            <a:ext cx="3505200" cy="192024"/>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reviews 1000 ms</a:t>
            </a:r>
            <a:endParaRPr lang="en-US" sz="850" dirty="0"/>
          </a:p>
        </p:txBody>
      </p:sp>
      <p:sp>
        <p:nvSpPr>
          <p:cNvPr id="61" name="lab"/>
          <p:cNvSpPr txBox="1"/>
          <p:nvPr/>
        </p:nvSpPr>
        <p:spPr>
          <a:xfrm>
            <a:off x="4977994" y="4178808"/>
            <a:ext cx="13716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 1.2 s</a:t>
            </a:r>
            <a:endParaRPr lang="en-US" sz="1200" dirty="0"/>
          </a:p>
        </p:txBody>
      </p:sp>
      <p:sp>
        <p:nvSpPr>
          <p:cNvPr id="62" name="out_win"/>
          <p:cNvSpPr/>
          <p:nvPr/>
        </p:nvSpPr>
        <p:spPr>
          <a:xfrm>
            <a:off x="543154" y="4818888"/>
            <a:ext cx="5760720" cy="1188720"/>
          </a:xfrm>
          <a:prstGeom prst="roundRect">
            <a:avLst>
              <a:gd name="adj" fmla="val 5769"/>
            </a:avLst>
          </a:prstGeom>
          <a:solidFill>
            <a:srgbClr val="060D18"/>
          </a:solidFill>
          <a:ln w="12700">
            <a:solidFill>
              <a:srgbClr val="1E3A5F"/>
            </a:solidFill>
            <a:prstDash val="solid"/>
          </a:ln>
        </p:spPr>
        <p:txBody>
          <a:bodyPr/>
          <a:lstStyle/>
          <a:p>
            <a:endParaRPr lang="en-US"/>
          </a:p>
        </p:txBody>
      </p:sp>
      <p:sp>
        <p:nvSpPr>
          <p:cNvPr id="63" name="out_bar"/>
          <p:cNvSpPr/>
          <p:nvPr/>
        </p:nvSpPr>
        <p:spPr>
          <a:xfrm>
            <a:off x="543154" y="481888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64" name="out_barfill"/>
          <p:cNvSpPr/>
          <p:nvPr/>
        </p:nvSpPr>
        <p:spPr>
          <a:xfrm>
            <a:off x="543154" y="4990338"/>
            <a:ext cx="5760720" cy="171450"/>
          </a:xfrm>
          <a:prstGeom prst="rect">
            <a:avLst/>
          </a:prstGeom>
          <a:solidFill>
            <a:srgbClr val="0A1220"/>
          </a:solidFill>
          <a:ln w="12700">
            <a:solidFill>
              <a:srgbClr val="0A1220"/>
            </a:solidFill>
            <a:prstDash val="solid"/>
          </a:ln>
        </p:spPr>
        <p:txBody>
          <a:bodyPr/>
          <a:lstStyle/>
          <a:p>
            <a:endParaRPr lang="en-US"/>
          </a:p>
        </p:txBody>
      </p:sp>
      <p:sp>
        <p:nvSpPr>
          <p:cNvPr id="65" name="out_dot0"/>
          <p:cNvSpPr/>
          <p:nvPr/>
        </p:nvSpPr>
        <p:spPr>
          <a:xfrm>
            <a:off x="705002" y="4942698"/>
            <a:ext cx="95098" cy="95098"/>
          </a:xfrm>
          <a:prstGeom prst="ellipse">
            <a:avLst/>
          </a:prstGeom>
          <a:solidFill>
            <a:srgbClr val="F87171"/>
          </a:solidFill>
          <a:ln w="12700">
            <a:solidFill>
              <a:srgbClr val="F87171"/>
            </a:solidFill>
            <a:prstDash val="solid"/>
          </a:ln>
        </p:spPr>
        <p:txBody>
          <a:bodyPr/>
          <a:lstStyle/>
          <a:p>
            <a:endParaRPr lang="en-US"/>
          </a:p>
        </p:txBody>
      </p:sp>
      <p:sp>
        <p:nvSpPr>
          <p:cNvPr id="66" name="out_dot1"/>
          <p:cNvSpPr/>
          <p:nvPr/>
        </p:nvSpPr>
        <p:spPr>
          <a:xfrm>
            <a:off x="890626" y="4942698"/>
            <a:ext cx="95098" cy="95098"/>
          </a:xfrm>
          <a:prstGeom prst="ellipse">
            <a:avLst/>
          </a:prstGeom>
          <a:solidFill>
            <a:srgbClr val="FBBF24"/>
          </a:solidFill>
          <a:ln w="12700">
            <a:solidFill>
              <a:srgbClr val="FBBF24"/>
            </a:solidFill>
            <a:prstDash val="solid"/>
          </a:ln>
        </p:spPr>
        <p:txBody>
          <a:bodyPr/>
          <a:lstStyle/>
          <a:p>
            <a:endParaRPr lang="en-US"/>
          </a:p>
        </p:txBody>
      </p:sp>
      <p:sp>
        <p:nvSpPr>
          <p:cNvPr id="67" name="out_dot2"/>
          <p:cNvSpPr/>
          <p:nvPr/>
        </p:nvSpPr>
        <p:spPr>
          <a:xfrm>
            <a:off x="1076249" y="4942698"/>
            <a:ext cx="95098" cy="95098"/>
          </a:xfrm>
          <a:prstGeom prst="ellipse">
            <a:avLst/>
          </a:prstGeom>
          <a:solidFill>
            <a:srgbClr val="34D399"/>
          </a:solidFill>
          <a:ln w="12700">
            <a:solidFill>
              <a:srgbClr val="34D399"/>
            </a:solidFill>
            <a:prstDash val="solid"/>
          </a:ln>
        </p:spPr>
        <p:txBody>
          <a:bodyPr/>
          <a:lstStyle/>
          <a:p>
            <a:endParaRPr lang="en-US"/>
          </a:p>
        </p:txBody>
      </p:sp>
      <p:sp>
        <p:nvSpPr>
          <p:cNvPr id="68" name="out_tab"/>
          <p:cNvSpPr/>
          <p:nvPr/>
        </p:nvSpPr>
        <p:spPr>
          <a:xfrm>
            <a:off x="1324051" y="486643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69" name="out_L00"/>
          <p:cNvSpPr txBox="1"/>
          <p:nvPr/>
        </p:nvSpPr>
        <p:spPr>
          <a:xfrm>
            <a:off x="771754" y="529437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Zooba · Zamalek · open now</a:t>
            </a:r>
            <a:endParaRPr lang="en-US" sz="950" dirty="0"/>
          </a:p>
        </p:txBody>
      </p:sp>
      <p:sp>
        <p:nvSpPr>
          <p:cNvPr id="70" name="out_L01"/>
          <p:cNvSpPr txBox="1"/>
          <p:nvPr/>
        </p:nvSpPr>
        <p:spPr>
          <a:xfrm>
            <a:off x="771754" y="54874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Menu: 24 dishes</a:t>
            </a:r>
            <a:endParaRPr lang="en-US" sz="950" dirty="0"/>
          </a:p>
        </p:txBody>
      </p:sp>
      <p:sp>
        <p:nvSpPr>
          <p:cNvPr id="71" name="out_L02"/>
          <p:cNvSpPr txBox="1"/>
          <p:nvPr/>
        </p:nvSpPr>
        <p:spPr>
          <a:xfrm>
            <a:off x="771754" y="56804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Reviews: 4.8 (1,240)</a:t>
            </a:r>
            <a:endParaRPr lang="en-US" sz="950" dirty="0"/>
          </a:p>
        </p:txBody>
      </p:sp>
      <p:sp>
        <p:nvSpPr>
          <p:cNvPr id="72" name="card"/>
          <p:cNvSpPr/>
          <p:nvPr/>
        </p:nvSpPr>
        <p:spPr>
          <a:xfrm>
            <a:off x="6532474" y="5230368"/>
            <a:ext cx="5097780" cy="822960"/>
          </a:xfrm>
          <a:prstGeom prst="roundRect">
            <a:avLst>
              <a:gd name="adj" fmla="val 10000"/>
            </a:avLst>
          </a:prstGeom>
          <a:solidFill>
            <a:srgbClr val="111B2E"/>
          </a:solidFill>
          <a:ln w="12700">
            <a:solidFill>
              <a:srgbClr val="13D0F7"/>
            </a:solidFill>
            <a:prstDash val="solid"/>
          </a:ln>
        </p:spPr>
        <p:txBody>
          <a:bodyPr wrap="square" lIns="182880" tIns="27432" rIns="137160" bIns="27432" rtlCol="0" anchor="ctr">
            <a:noAutofit/>
          </a:bodyPr>
          <a:lstStyle/>
          <a:p>
            <a:pPr marL="0" indent="0" algn="l">
              <a:spcBef>
                <a:spcPts val="0"/>
              </a:spcBef>
              <a:spcAft>
                <a:spcPts val="0"/>
              </a:spcAft>
              <a:buNone/>
            </a:pPr>
            <a:r>
              <a:rPr lang="en-US" sz="1200" b="0" dirty="0">
                <a:solidFill>
                  <a:srgbClr val="FFFFFF"/>
                </a:solidFill>
                <a:latin typeface="Segoe UI"/>
                <a:ea typeface="Segoe UI"/>
                <a:cs typeface="Segoe UI"/>
              </a:rPr>
              <a:t>Note : one task represent all tasks! , but the tasks already started!  </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250"/>
                                        <p:tgtEl>
                                          <p:spTgt spid="3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250"/>
                                        <p:tgtEl>
                                          <p:spTgt spid="3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250"/>
                                        <p:tgtEl>
                                          <p:spTgt spid="3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250"/>
                                        <p:tgtEl>
                                          <p:spTgt spid="4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250"/>
                                        <p:tgtEl>
                                          <p:spTgt spid="4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250"/>
                                        <p:tgtEl>
                                          <p:spTgt spid="4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250"/>
                                        <p:tgtEl>
                                          <p:spTgt spid="4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250"/>
                                        <p:tgtEl>
                                          <p:spTgt spid="4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fade">
                                      <p:cBhvr>
                                        <p:cTn id="54" dur="250"/>
                                        <p:tgtEl>
                                          <p:spTgt spid="4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250"/>
                                        <p:tgtEl>
                                          <p:spTgt spid="4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fade">
                                      <p:cBhvr>
                                        <p:cTn id="60" dur="250"/>
                                        <p:tgtEl>
                                          <p:spTgt spid="4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250"/>
                                        <p:tgtEl>
                                          <p:spTgt spid="4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9"/>
                                        </p:tgtEl>
                                        <p:attrNameLst>
                                          <p:attrName>style.visibility</p:attrName>
                                        </p:attrNameLst>
                                      </p:cBhvr>
                                      <p:to>
                                        <p:strVal val="visible"/>
                                      </p:to>
                                    </p:set>
                                    <p:animEffect transition="in" filter="fade">
                                      <p:cBhvr>
                                        <p:cTn id="66" dur="250"/>
                                        <p:tgtEl>
                                          <p:spTgt spid="4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250"/>
                                        <p:tgtEl>
                                          <p:spTgt spid="5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2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fade">
                                      <p:cBhvr>
                                        <p:cTn id="80" dur="250"/>
                                        <p:tgtEl>
                                          <p:spTgt spid="5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250"/>
                                        <p:tgtEl>
                                          <p:spTgt spid="5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fade">
                                      <p:cBhvr>
                                        <p:cTn id="86" dur="250"/>
                                        <p:tgtEl>
                                          <p:spTgt spid="5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fade">
                                      <p:cBhvr>
                                        <p:cTn id="89" dur="250"/>
                                        <p:tgtEl>
                                          <p:spTgt spid="5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250"/>
                                        <p:tgtEl>
                                          <p:spTgt spid="5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250"/>
                                        <p:tgtEl>
                                          <p:spTgt spid="5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250"/>
                                        <p:tgtEl>
                                          <p:spTgt spid="5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250"/>
                                        <p:tgtEl>
                                          <p:spTgt spid="5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250"/>
                                        <p:tgtEl>
                                          <p:spTgt spid="6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250"/>
                                        <p:tgtEl>
                                          <p:spTgt spid="61"/>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fade">
                                      <p:cBhvr>
                                        <p:cTn id="115" dur="250"/>
                                        <p:tgtEl>
                                          <p:spTgt spid="7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fade">
                                      <p:cBhvr>
                                        <p:cTn id="118" dur="250"/>
                                        <p:tgtEl>
                                          <p:spTgt spid="7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72"/>
                                        </p:tgtEl>
                                        <p:attrNameLst>
                                          <p:attrName>style.visibility</p:attrName>
                                        </p:attrNameLst>
                                      </p:cBhvr>
                                      <p:to>
                                        <p:strVal val="visible"/>
                                      </p:to>
                                    </p:set>
                                    <p:animEffect transition="in" filter="fade">
                                      <p:cBhvr>
                                        <p:cTn id="123" dur="25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animBg="1"/>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animBg="1"/>
      <p:bldP spid="54" grpId="0" animBg="1"/>
      <p:bldP spid="55" grpId="0"/>
      <p:bldP spid="56" grpId="0" animBg="1"/>
      <p:bldP spid="57" grpId="0" animBg="1"/>
      <p:bldP spid="58" grpId="0"/>
      <p:bldP spid="59" grpId="0" animBg="1"/>
      <p:bldP spid="60" grpId="0" animBg="1"/>
      <p:bldP spid="61" grpId="0"/>
      <p:bldP spid="69" grpId="0"/>
      <p:bldP spid="70" grpId="0"/>
      <p:bldP spid="71" grpId="0"/>
      <p:bldP spid="7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THREAD SAFETY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Concurrent Tasks Must Not Share Unsafe Objects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117</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Shared.cs</a:t>
            </a:r>
            <a:endParaRPr lang="en-US" sz="950" dirty="0"/>
          </a:p>
        </p:txBody>
      </p:sp>
      <p:sp>
        <p:nvSpPr>
          <p:cNvPr id="22" name="cwb_hl00"/>
          <p:cNvSpPr/>
          <p:nvPr/>
        </p:nvSpPr>
        <p:spPr>
          <a:xfrm>
            <a:off x="676656" y="202996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3" name="cwb_L00"/>
          <p:cNvSpPr txBox="1"/>
          <p:nvPr/>
        </p:nvSpPr>
        <p:spPr>
          <a:xfrm>
            <a:off x="77175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List&lt;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log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not thread-safe</a:t>
            </a:r>
            <a:endParaRPr lang="en-US" sz="1050" dirty="0"/>
          </a:p>
        </p:txBody>
      </p:sp>
      <p:sp>
        <p:nvSpPr>
          <p:cNvPr id="24" name="cwb_L02"/>
          <p:cNvSpPr txBox="1"/>
          <p:nvPr/>
        </p:nvSpPr>
        <p:spPr>
          <a:xfrm>
            <a:off x="771754" y="24749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Task.WhenAll(</a:t>
            </a:r>
            <a:endParaRPr lang="en-US" sz="1050" dirty="0"/>
          </a:p>
        </p:txBody>
      </p:sp>
      <p:sp>
        <p:nvSpPr>
          <p:cNvPr id="25" name="cwb_L03"/>
          <p:cNvSpPr txBox="1"/>
          <p:nvPr/>
        </p:nvSpPr>
        <p:spPr>
          <a:xfrm>
            <a:off x="771754" y="268833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"menu"</a:t>
            </a:r>
            <a:r>
              <a:rPr lang="en-US" sz="1050" b="0" dirty="0">
                <a:solidFill>
                  <a:srgbClr val="E2E8F0"/>
                </a:solidFill>
                <a:latin typeface="Consolas"/>
                <a:ea typeface="Consolas"/>
                <a:cs typeface="Consolas"/>
              </a:rPr>
              <a:t>, log),</a:t>
            </a:r>
            <a:endParaRPr lang="en-US" sz="1050" dirty="0"/>
          </a:p>
        </p:txBody>
      </p:sp>
      <p:sp>
        <p:nvSpPr>
          <p:cNvPr id="26" name="cwb_L04"/>
          <p:cNvSpPr txBox="1"/>
          <p:nvPr/>
        </p:nvSpPr>
        <p:spPr>
          <a:xfrm>
            <a:off x="771754" y="29016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"reviews"</a:t>
            </a:r>
            <a:r>
              <a:rPr lang="en-US" sz="1050" b="0" dirty="0">
                <a:solidFill>
                  <a:srgbClr val="E2E8F0"/>
                </a:solidFill>
                <a:latin typeface="Consolas"/>
                <a:ea typeface="Consolas"/>
                <a:cs typeface="Consolas"/>
              </a:rPr>
              <a:t>, log),</a:t>
            </a:r>
            <a:endParaRPr lang="en-US" sz="1050" dirty="0"/>
          </a:p>
        </p:txBody>
      </p:sp>
      <p:sp>
        <p:nvSpPr>
          <p:cNvPr id="27" name="cwb_L05"/>
          <p:cNvSpPr txBox="1"/>
          <p:nvPr/>
        </p:nvSpPr>
        <p:spPr>
          <a:xfrm>
            <a:off x="771754" y="31150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"offers"</a:t>
            </a:r>
            <a:r>
              <a:rPr lang="en-US" sz="1050" b="0" dirty="0">
                <a:solidFill>
                  <a:srgbClr val="E2E8F0"/>
                </a:solidFill>
                <a:latin typeface="Consolas"/>
                <a:ea typeface="Consolas"/>
                <a:cs typeface="Consolas"/>
              </a:rPr>
              <a:t>, log));</a:t>
            </a:r>
            <a:endParaRPr lang="en-US" sz="1050" dirty="0"/>
          </a:p>
        </p:txBody>
      </p:sp>
      <p:sp>
        <p:nvSpPr>
          <p:cNvPr id="28" name="cwb_L07"/>
          <p:cNvSpPr txBox="1"/>
          <p:nvPr/>
        </p:nvSpPr>
        <p:spPr>
          <a:xfrm>
            <a:off x="771754" y="35417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Task LoadAsync(</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part, List&lt;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log)</a:t>
            </a:r>
            <a:endParaRPr lang="en-US" sz="1050" dirty="0"/>
          </a:p>
        </p:txBody>
      </p:sp>
      <p:sp>
        <p:nvSpPr>
          <p:cNvPr id="29" name="cwb_L08"/>
          <p:cNvSpPr txBox="1"/>
          <p:nvPr/>
        </p:nvSpPr>
        <p:spPr>
          <a:xfrm>
            <a:off x="771754" y="37551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0" name="cwb_L09"/>
          <p:cNvSpPr txBox="1"/>
          <p:nvPr/>
        </p:nvSpPr>
        <p:spPr>
          <a:xfrm>
            <a:off x="771754" y="39684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Task.Delay(500);</a:t>
            </a:r>
            <a:endParaRPr lang="en-US" sz="1050" dirty="0"/>
          </a:p>
        </p:txBody>
      </p:sp>
      <p:sp>
        <p:nvSpPr>
          <p:cNvPr id="31" name="cwb_hl10"/>
          <p:cNvSpPr/>
          <p:nvPr/>
        </p:nvSpPr>
        <p:spPr>
          <a:xfrm>
            <a:off x="676656" y="416356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32" name="cwb_L10"/>
          <p:cNvSpPr txBox="1"/>
          <p:nvPr/>
        </p:nvSpPr>
        <p:spPr>
          <a:xfrm>
            <a:off x="771754" y="41818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log.Add(</a:t>
            </a:r>
            <a:r>
              <a:rPr lang="en-US" sz="1050" b="0" dirty="0">
                <a:solidFill>
                  <a:srgbClr val="F0A98B"/>
                </a:solidFill>
                <a:latin typeface="Consolas"/>
                <a:ea typeface="Consolas"/>
                <a:cs typeface="Consolas"/>
              </a:rPr>
              <a:t>$"{part} loaded"</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may run at the same time!</a:t>
            </a:r>
            <a:endParaRPr lang="en-US" sz="1050" dirty="0"/>
          </a:p>
        </p:txBody>
      </p:sp>
      <p:sp>
        <p:nvSpPr>
          <p:cNvPr id="33" name="cwb_L11"/>
          <p:cNvSpPr txBox="1"/>
          <p:nvPr/>
        </p:nvSpPr>
        <p:spPr>
          <a:xfrm>
            <a:off x="771754" y="43952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5"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7"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Results.cs</a:t>
            </a:r>
            <a:endParaRPr lang="en-US" sz="950" dirty="0"/>
          </a:p>
        </p:txBody>
      </p:sp>
      <p:sp>
        <p:nvSpPr>
          <p:cNvPr id="41" name="cwa_hl00"/>
          <p:cNvSpPr/>
          <p:nvPr/>
        </p:nvSpPr>
        <p:spPr>
          <a:xfrm>
            <a:off x="6323076" y="20299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42" name="cwa_L00"/>
          <p:cNvSpPr txBox="1"/>
          <p:nvPr/>
        </p:nvSpPr>
        <p:spPr>
          <a:xfrm>
            <a:off x="6418174" y="2048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parts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Task.WhenAll(</a:t>
            </a:r>
            <a:endParaRPr lang="en-US" sz="1000" dirty="0"/>
          </a:p>
        </p:txBody>
      </p:sp>
      <p:sp>
        <p:nvSpPr>
          <p:cNvPr id="43" name="cwa_L01"/>
          <p:cNvSpPr txBox="1"/>
          <p:nvPr/>
        </p:nvSpPr>
        <p:spPr>
          <a:xfrm>
            <a:off x="6418174" y="2251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"menu"</a:t>
            </a:r>
            <a:r>
              <a:rPr lang="en-US" sz="1000" b="0" dirty="0">
                <a:solidFill>
                  <a:srgbClr val="E2E8F0"/>
                </a:solidFill>
                <a:latin typeface="Consolas"/>
                <a:ea typeface="Consolas"/>
                <a:cs typeface="Consolas"/>
              </a:rPr>
              <a:t>),</a:t>
            </a:r>
            <a:endParaRPr lang="en-US" sz="1000" dirty="0"/>
          </a:p>
        </p:txBody>
      </p:sp>
      <p:sp>
        <p:nvSpPr>
          <p:cNvPr id="44" name="cwa_L02"/>
          <p:cNvSpPr txBox="1"/>
          <p:nvPr/>
        </p:nvSpPr>
        <p:spPr>
          <a:xfrm>
            <a:off x="6418174" y="24546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"reviews"</a:t>
            </a:r>
            <a:r>
              <a:rPr lang="en-US" sz="1000" b="0" dirty="0">
                <a:solidFill>
                  <a:srgbClr val="E2E8F0"/>
                </a:solidFill>
                <a:latin typeface="Consolas"/>
                <a:ea typeface="Consolas"/>
                <a:cs typeface="Consolas"/>
              </a:rPr>
              <a:t>),</a:t>
            </a:r>
            <a:endParaRPr lang="en-US" sz="1000" dirty="0"/>
          </a:p>
        </p:txBody>
      </p:sp>
      <p:sp>
        <p:nvSpPr>
          <p:cNvPr id="45" name="cwa_L03"/>
          <p:cNvSpPr txBox="1"/>
          <p:nvPr/>
        </p:nvSpPr>
        <p:spPr>
          <a:xfrm>
            <a:off x="6418174" y="26578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"offers"</a:t>
            </a:r>
            <a:r>
              <a:rPr lang="en-US" sz="1000" b="0" dirty="0">
                <a:solidFill>
                  <a:srgbClr val="E2E8F0"/>
                </a:solidFill>
                <a:latin typeface="Consolas"/>
                <a:ea typeface="Consolas"/>
                <a:cs typeface="Consolas"/>
              </a:rPr>
              <a:t>));</a:t>
            </a:r>
            <a:endParaRPr lang="en-US" sz="1000" dirty="0"/>
          </a:p>
        </p:txBody>
      </p:sp>
      <p:sp>
        <p:nvSpPr>
          <p:cNvPr id="46" name="cwa_L05"/>
          <p:cNvSpPr txBox="1"/>
          <p:nvPr/>
        </p:nvSpPr>
        <p:spPr>
          <a:xfrm>
            <a:off x="6418174" y="3064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foreach</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 </a:t>
            </a:r>
            <a:r>
              <a:rPr lang="en-US" sz="1000" b="0" dirty="0">
                <a:solidFill>
                  <a:srgbClr val="60A5FA"/>
                </a:solidFill>
                <a:latin typeface="Consolas"/>
                <a:ea typeface="Consolas"/>
                <a:cs typeface="Consolas"/>
              </a:rPr>
              <a:t>in</a:t>
            </a:r>
            <a:r>
              <a:rPr lang="en-US" sz="1000" b="0" dirty="0">
                <a:solidFill>
                  <a:srgbClr val="E2E8F0"/>
                </a:solidFill>
                <a:latin typeface="Consolas"/>
                <a:ea typeface="Consolas"/>
                <a:cs typeface="Consolas"/>
              </a:rPr>
              <a:t> parts)</a:t>
            </a:r>
            <a:endParaRPr lang="en-US" sz="1000" dirty="0"/>
          </a:p>
        </p:txBody>
      </p:sp>
      <p:sp>
        <p:nvSpPr>
          <p:cNvPr id="47" name="cwa_L06"/>
          <p:cNvSpPr txBox="1"/>
          <p:nvPr/>
        </p:nvSpPr>
        <p:spPr>
          <a:xfrm>
            <a:off x="6418174" y="3267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Console.WriteLine(part);</a:t>
            </a:r>
            <a:endParaRPr lang="en-US" sz="1000" dirty="0"/>
          </a:p>
        </p:txBody>
      </p:sp>
      <p:sp>
        <p:nvSpPr>
          <p:cNvPr id="48" name="cwa_L08"/>
          <p:cNvSpPr txBox="1"/>
          <p:nvPr/>
        </p:nvSpPr>
        <p:spPr>
          <a:xfrm>
            <a:off x="6418174" y="3673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LoadAsync(</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a:t>
            </a:r>
            <a:endParaRPr lang="en-US" sz="1000" dirty="0"/>
          </a:p>
        </p:txBody>
      </p:sp>
      <p:sp>
        <p:nvSpPr>
          <p:cNvPr id="49" name="cwa_L09"/>
          <p:cNvSpPr txBox="1"/>
          <p:nvPr/>
        </p:nvSpPr>
        <p:spPr>
          <a:xfrm>
            <a:off x="6418174" y="38770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0" name="cwa_hl10"/>
          <p:cNvSpPr/>
          <p:nvPr/>
        </p:nvSpPr>
        <p:spPr>
          <a:xfrm>
            <a:off x="6323076" y="40619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51" name="cwa_L10"/>
          <p:cNvSpPr txBox="1"/>
          <p:nvPr/>
        </p:nvSpPr>
        <p:spPr>
          <a:xfrm>
            <a:off x="6418174" y="40802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a:t>
            </a:r>
            <a:endParaRPr lang="en-US" sz="1000" dirty="0"/>
          </a:p>
        </p:txBody>
      </p:sp>
      <p:sp>
        <p:nvSpPr>
          <p:cNvPr id="52" name="cwa_L11"/>
          <p:cNvSpPr txBox="1"/>
          <p:nvPr/>
        </p:nvSpPr>
        <p:spPr>
          <a:xfrm>
            <a:off x="6418174" y="4283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$"{part} loaded"</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nothing shared</a:t>
            </a:r>
            <a:endParaRPr lang="en-US" sz="1000" dirty="0"/>
          </a:p>
        </p:txBody>
      </p:sp>
      <p:sp>
        <p:nvSpPr>
          <p:cNvPr id="53" name="cwa_L12"/>
          <p:cNvSpPr txBox="1"/>
          <p:nvPr/>
        </p:nvSpPr>
        <p:spPr>
          <a:xfrm>
            <a:off x="6418174" y="4486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4"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SHARED</a:t>
            </a:r>
            <a:endParaRPr lang="en-US" sz="900" dirty="0"/>
          </a:p>
        </p:txBody>
      </p:sp>
      <p:sp>
        <p:nvSpPr>
          <p:cNvPr id="55"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SAFE</a:t>
            </a:r>
            <a:endParaRPr lang="en-US" sz="900" dirty="0"/>
          </a:p>
        </p:txBody>
      </p:sp>
      <p:cxnSp>
        <p:nvCxnSpPr>
          <p:cNvPr id="56" name="arrow"/>
          <p:cNvCxnSpPr/>
          <p:nvPr/>
        </p:nvCxnSpPr>
        <p:spPr>
          <a:xfrm>
            <a:off x="6011266" y="3227832"/>
            <a:ext cx="150876" cy="0"/>
          </a:xfrm>
          <a:prstGeom prst="line">
            <a:avLst/>
          </a:prstGeom>
          <a:ln w="28575">
            <a:solidFill>
              <a:srgbClr val="13D0F7"/>
            </a:solidFill>
            <a:tailEnd type="triangle" w="med" len="med"/>
          </a:ln>
        </p:spPr>
      </p:cxnSp>
      <p:sp>
        <p:nvSpPr>
          <p:cNvPr id="57"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After the await, the three continuations can run at the same moment on different pool threads. List&lt;T&gt; is not thread-safe, so Add can lose items or throw. WhenAll, WhenAny, WhenEach and Parallel all run work concurrently.</a:t>
            </a:r>
            <a:endParaRPr lang="en-US" sz="1250" dirty="0"/>
          </a:p>
        </p:txBody>
      </p:sp>
      <p:sp>
        <p:nvSpPr>
          <p:cNvPr id="58"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Let each task return its result and combine after WhenAll, or use a thread-safe type. Note for later: EF Core's DbContext is NOT thread-safe, so never run two queries on the same DbContext with WhenAll.</a:t>
            </a:r>
            <a:endParaRPr lang="en-US" sz="1250" dirty="0"/>
          </a:p>
        </p:txBody>
      </p:sp>
    </p:spTree>
    <p:extLst>
      <p:ext uri="{BB962C8B-B14F-4D97-AF65-F5344CB8AC3E}">
        <p14:creationId xmlns:p14="http://schemas.microsoft.com/office/powerpoint/2010/main" val="425563236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25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fade">
                                      <p:cBhvr>
                                        <p:cTn id="48" dur="250"/>
                                        <p:tgtEl>
                                          <p:spTgt spid="5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250"/>
                                        <p:tgtEl>
                                          <p:spTgt spid="5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fade">
                                      <p:cBhvr>
                                        <p:cTn id="86" dur="250"/>
                                        <p:tgtEl>
                                          <p:spTgt spid="5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fade">
                                      <p:cBhvr>
                                        <p:cTn id="89" dur="250"/>
                                        <p:tgtEl>
                                          <p:spTgt spid="5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fade">
                                      <p:cBhvr>
                                        <p:cTn id="92" dur="250"/>
                                        <p:tgtEl>
                                          <p:spTgt spid="55"/>
                                        </p:tgtEl>
                                      </p:cBhvr>
                                    </p:animEffect>
                                  </p:childTnLst>
                                </p:cTn>
                              </p:par>
                              <p:par>
                                <p:cTn id="93" presetID="10"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250"/>
                                        <p:tgtEl>
                                          <p:spTgt spid="56"/>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2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p:bldP spid="25" grpId="0"/>
      <p:bldP spid="26" grpId="0"/>
      <p:bldP spid="27" grpId="0"/>
      <p:bldP spid="28" grpId="0"/>
      <p:bldP spid="29" grpId="0"/>
      <p:bldP spid="30" grpId="0"/>
      <p:bldP spid="31" grpId="0" animBg="1"/>
      <p:bldP spid="32" grpId="0"/>
      <p:bldP spid="33" grpId="0"/>
      <p:bldP spid="41" grpId="0" animBg="1"/>
      <p:bldP spid="42" grpId="0"/>
      <p:bldP spid="43" grpId="0"/>
      <p:bldP spid="44" grpId="0"/>
      <p:bldP spid="45" grpId="0"/>
      <p:bldP spid="46" grpId="0"/>
      <p:bldP spid="47" grpId="0"/>
      <p:bldP spid="48" grpId="0"/>
      <p:bldP spid="49" grpId="0"/>
      <p:bldP spid="50" grpId="0" animBg="1"/>
      <p:bldP spid="51" grpId="0"/>
      <p:bldP spid="52" grpId="0"/>
      <p:bldP spid="53" grpId="0"/>
      <p:bldP spid="54" grpId="0" animBg="1"/>
      <p:bldP spid="55" grpId="0" animBg="1"/>
      <p:bldP spid="57" grpId="0" animBg="1"/>
      <p:bldP spid="58"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TIMEOUT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WhenAny for a Timeout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114</a:t>
            </a:r>
            <a:endParaRPr lang="en-US" sz="850" dirty="0"/>
          </a:p>
        </p:txBody>
      </p:sp>
      <p:sp>
        <p:nvSpPr>
          <p:cNvPr id="15" name="cw_win"/>
          <p:cNvSpPr/>
          <p:nvPr/>
        </p:nvSpPr>
        <p:spPr>
          <a:xfrm>
            <a:off x="543154" y="1572768"/>
            <a:ext cx="649224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92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922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menuTask = GetMenuAsync();</a:t>
            </a:r>
            <a:endParaRPr lang="en-US" sz="1000" dirty="0"/>
          </a:p>
        </p:txBody>
      </p:sp>
      <p:sp>
        <p:nvSpPr>
          <p:cNvPr id="23" name="cw_L01"/>
          <p:cNvSpPr txBox="1"/>
          <p:nvPr/>
        </p:nvSpPr>
        <p:spPr>
          <a:xfrm>
            <a:off x="771754" y="22514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timeout = Task.Delay(2000);</a:t>
            </a:r>
            <a:endParaRPr lang="en-US" sz="1000" dirty="0"/>
          </a:p>
        </p:txBody>
      </p:sp>
      <p:sp>
        <p:nvSpPr>
          <p:cNvPr id="24" name="cw_L03"/>
          <p:cNvSpPr txBox="1"/>
          <p:nvPr/>
        </p:nvSpPr>
        <p:spPr>
          <a:xfrm>
            <a:off x="771754" y="26578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finished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Task.WhenAny(menuTask, timeout);</a:t>
            </a:r>
            <a:endParaRPr lang="en-US" sz="1000" dirty="0"/>
          </a:p>
        </p:txBody>
      </p:sp>
      <p:sp>
        <p:nvSpPr>
          <p:cNvPr id="25" name="cw_L05"/>
          <p:cNvSpPr txBox="1"/>
          <p:nvPr/>
        </p:nvSpPr>
        <p:spPr>
          <a:xfrm>
            <a:off x="771754" y="3064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if</a:t>
            </a:r>
            <a:r>
              <a:rPr lang="en-US" sz="1000" b="0" dirty="0">
                <a:solidFill>
                  <a:srgbClr val="E2E8F0"/>
                </a:solidFill>
                <a:latin typeface="Consolas"/>
                <a:ea typeface="Consolas"/>
                <a:cs typeface="Consolas"/>
              </a:rPr>
              <a:t> (finished == timeout)</a:t>
            </a:r>
            <a:endParaRPr lang="en-US" sz="1000" dirty="0"/>
          </a:p>
        </p:txBody>
      </p:sp>
      <p:sp>
        <p:nvSpPr>
          <p:cNvPr id="26" name="cw_L06"/>
          <p:cNvSpPr txBox="1"/>
          <p:nvPr/>
        </p:nvSpPr>
        <p:spPr>
          <a:xfrm>
            <a:off x="771754" y="32674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"Menu is slow: showing the cached menu"</a:t>
            </a:r>
            <a:r>
              <a:rPr lang="en-US" sz="1000" b="0" dirty="0">
                <a:solidFill>
                  <a:srgbClr val="E2E8F0"/>
                </a:solidFill>
                <a:latin typeface="Consolas"/>
                <a:ea typeface="Consolas"/>
                <a:cs typeface="Consolas"/>
              </a:rPr>
              <a:t>);</a:t>
            </a:r>
            <a:endParaRPr lang="en-US" sz="1000" dirty="0"/>
          </a:p>
        </p:txBody>
      </p:sp>
      <p:sp>
        <p:nvSpPr>
          <p:cNvPr id="27" name="cw_L07"/>
          <p:cNvSpPr txBox="1"/>
          <p:nvPr/>
        </p:nvSpPr>
        <p:spPr>
          <a:xfrm>
            <a:off x="771754" y="34706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else</a:t>
            </a:r>
            <a:endParaRPr lang="en-US" sz="1000" dirty="0"/>
          </a:p>
        </p:txBody>
      </p:sp>
      <p:sp>
        <p:nvSpPr>
          <p:cNvPr id="28" name="cw_L08"/>
          <p:cNvSpPr txBox="1"/>
          <p:nvPr/>
        </p:nvSpPr>
        <p:spPr>
          <a:xfrm>
            <a:off x="771754" y="36738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menuTask);</a:t>
            </a:r>
            <a:endParaRPr lang="en-US" sz="1000" dirty="0"/>
          </a:p>
        </p:txBody>
      </p:sp>
      <p:sp>
        <p:nvSpPr>
          <p:cNvPr id="29" name="cw_L10"/>
          <p:cNvSpPr txBox="1"/>
          <p:nvPr/>
        </p:nvSpPr>
        <p:spPr>
          <a:xfrm>
            <a:off x="771754" y="4080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GetMenuAsync()</a:t>
            </a:r>
            <a:endParaRPr lang="en-US" sz="1000" dirty="0"/>
          </a:p>
        </p:txBody>
      </p:sp>
      <p:sp>
        <p:nvSpPr>
          <p:cNvPr id="30" name="cw_L11"/>
          <p:cNvSpPr txBox="1"/>
          <p:nvPr/>
        </p:nvSpPr>
        <p:spPr>
          <a:xfrm>
            <a:off x="771754" y="42834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2"/>
          <p:cNvSpPr txBox="1"/>
          <p:nvPr/>
        </p:nvSpPr>
        <p:spPr>
          <a:xfrm>
            <a:off x="771754" y="44866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Task.Delay(5000);   </a:t>
            </a:r>
            <a:r>
              <a:rPr lang="en-US" sz="1000" b="0" dirty="0">
                <a:solidFill>
                  <a:srgbClr val="6FAE7A"/>
                </a:solidFill>
                <a:latin typeface="Consolas"/>
                <a:ea typeface="Consolas"/>
                <a:cs typeface="Consolas"/>
              </a:rPr>
              <a:t>// the server is slow today</a:t>
            </a:r>
            <a:endParaRPr lang="en-US" sz="1000" dirty="0"/>
          </a:p>
        </p:txBody>
      </p:sp>
      <p:sp>
        <p:nvSpPr>
          <p:cNvPr id="32" name="cw_L13"/>
          <p:cNvSpPr txBox="1"/>
          <p:nvPr/>
        </p:nvSpPr>
        <p:spPr>
          <a:xfrm>
            <a:off x="771754" y="46898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"Fresh menu"</a:t>
            </a:r>
            <a:r>
              <a:rPr lang="en-US" sz="1000" b="0" dirty="0">
                <a:solidFill>
                  <a:srgbClr val="E2E8F0"/>
                </a:solidFill>
                <a:latin typeface="Consolas"/>
                <a:ea typeface="Consolas"/>
                <a:cs typeface="Consolas"/>
              </a:rPr>
              <a:t>;</a:t>
            </a:r>
            <a:endParaRPr lang="en-US" sz="1000" dirty="0"/>
          </a:p>
        </p:txBody>
      </p:sp>
      <p:sp>
        <p:nvSpPr>
          <p:cNvPr id="33" name="cw_L14"/>
          <p:cNvSpPr txBox="1"/>
          <p:nvPr/>
        </p:nvSpPr>
        <p:spPr>
          <a:xfrm>
            <a:off x="771754" y="48930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ard"/>
          <p:cNvSpPr/>
          <p:nvPr/>
        </p:nvSpPr>
        <p:spPr>
          <a:xfrm>
            <a:off x="7263994" y="1572768"/>
            <a:ext cx="436626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RACE A TIMER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Task.Delay(2000) is the deadline.</a:t>
            </a:r>
            <a:endParaRPr lang="en-US" sz="1250" dirty="0"/>
          </a:p>
        </p:txBody>
      </p:sp>
      <p:sp>
        <p:nvSpPr>
          <p:cNvPr id="35" name="card"/>
          <p:cNvSpPr/>
          <p:nvPr/>
        </p:nvSpPr>
        <p:spPr>
          <a:xfrm>
            <a:off x="7263994" y="3112008"/>
            <a:ext cx="436626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COMPARE THE WINNER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If the winner is the timer, the call was too slow.</a:t>
            </a:r>
            <a:endParaRPr lang="en-US" sz="1250" dirty="0"/>
          </a:p>
        </p:txBody>
      </p:sp>
      <p:sp>
        <p:nvSpPr>
          <p:cNvPr id="36" name="card"/>
          <p:cNvSpPr/>
          <p:nvPr/>
        </p:nvSpPr>
        <p:spPr>
          <a:xfrm>
            <a:off x="7263994" y="4651248"/>
            <a:ext cx="4366260" cy="1402080"/>
          </a:xfrm>
          <a:prstGeom prst="roundRect">
            <a:avLst>
              <a:gd name="adj" fmla="val 5869"/>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NEXT</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menuTask still runs; cancellation (Part 7) can stop it.</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25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41832"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WHENEACH</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WhenEach: Handle Results as They Complete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115</a:t>
            </a:r>
            <a:endParaRPr lang="en-US" sz="850" dirty="0"/>
          </a:p>
        </p:txBody>
      </p:sp>
      <p:sp>
        <p:nvSpPr>
          <p:cNvPr id="15" name="cw_win"/>
          <p:cNvSpPr/>
          <p:nvPr/>
        </p:nvSpPr>
        <p:spPr>
          <a:xfrm>
            <a:off x="543154" y="1572768"/>
            <a:ext cx="640080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dishes =</a:t>
            </a:r>
            <a:endParaRPr lang="en-US" sz="1050" dirty="0"/>
          </a:p>
        </p:txBody>
      </p:sp>
      <p:sp>
        <p:nvSpPr>
          <p:cNvPr id="23" name="cw_L01"/>
          <p:cNvSpPr txBox="1"/>
          <p:nvPr/>
        </p:nvSpPr>
        <p:spPr>
          <a:xfrm>
            <a:off x="771754" y="226161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7497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"Pizza"</a:t>
            </a:r>
            <a:r>
              <a:rPr lang="en-US" sz="1050" b="0" dirty="0">
                <a:solidFill>
                  <a:srgbClr val="E2E8F0"/>
                </a:solidFill>
                <a:latin typeface="Consolas"/>
                <a:ea typeface="Consolas"/>
                <a:cs typeface="Consolas"/>
              </a:rPr>
              <a:t>, 3000),</a:t>
            </a:r>
            <a:endParaRPr lang="en-US" sz="1050" dirty="0"/>
          </a:p>
        </p:txBody>
      </p:sp>
      <p:sp>
        <p:nvSpPr>
          <p:cNvPr id="25" name="cw_L03"/>
          <p:cNvSpPr txBox="1"/>
          <p:nvPr/>
        </p:nvSpPr>
        <p:spPr>
          <a:xfrm>
            <a:off x="771754" y="268833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"Shawarma"</a:t>
            </a:r>
            <a:r>
              <a:rPr lang="en-US" sz="1050" b="0" dirty="0">
                <a:solidFill>
                  <a:srgbClr val="E2E8F0"/>
                </a:solidFill>
                <a:latin typeface="Consolas"/>
                <a:ea typeface="Consolas"/>
                <a:cs typeface="Consolas"/>
              </a:rPr>
              <a:t>, 1000),</a:t>
            </a:r>
            <a:endParaRPr lang="en-US" sz="1050" dirty="0"/>
          </a:p>
        </p:txBody>
      </p:sp>
      <p:sp>
        <p:nvSpPr>
          <p:cNvPr id="26" name="cw_L04"/>
          <p:cNvSpPr txBox="1"/>
          <p:nvPr/>
        </p:nvSpPr>
        <p:spPr>
          <a:xfrm>
            <a:off x="771754" y="29016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"Salad"</a:t>
            </a:r>
            <a:r>
              <a:rPr lang="en-US" sz="1050" b="0" dirty="0">
                <a:solidFill>
                  <a:srgbClr val="E2E8F0"/>
                </a:solidFill>
                <a:latin typeface="Consolas"/>
                <a:ea typeface="Consolas"/>
                <a:cs typeface="Consolas"/>
              </a:rPr>
              <a:t>, 2000)</a:t>
            </a:r>
            <a:endParaRPr lang="en-US" sz="1050" dirty="0"/>
          </a:p>
        </p:txBody>
      </p:sp>
      <p:sp>
        <p:nvSpPr>
          <p:cNvPr id="27" name="cw_L05"/>
          <p:cNvSpPr txBox="1"/>
          <p:nvPr/>
        </p:nvSpPr>
        <p:spPr>
          <a:xfrm>
            <a:off x="771754" y="31150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7"/>
          <p:cNvSpPr txBox="1"/>
          <p:nvPr/>
        </p:nvSpPr>
        <p:spPr>
          <a:xfrm>
            <a:off x="771754" y="354177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foreach</a:t>
            </a:r>
            <a:r>
              <a:rPr lang="en-US" sz="1050" b="0" dirty="0">
                <a:solidFill>
                  <a:srgbClr val="E2E8F0"/>
                </a:solidFill>
                <a:latin typeface="Consolas"/>
                <a:ea typeface="Consolas"/>
                <a:cs typeface="Consolas"/>
              </a:rPr>
              <a:t> (Task&lt;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done </a:t>
            </a:r>
            <a:r>
              <a:rPr lang="en-US" sz="1050" b="0" dirty="0">
                <a:solidFill>
                  <a:srgbClr val="60A5FA"/>
                </a:solidFill>
                <a:latin typeface="Consolas"/>
                <a:ea typeface="Consolas"/>
                <a:cs typeface="Consolas"/>
              </a:rPr>
              <a:t>in</a:t>
            </a:r>
            <a:r>
              <a:rPr lang="en-US" sz="1050" b="0" dirty="0">
                <a:solidFill>
                  <a:srgbClr val="E2E8F0"/>
                </a:solidFill>
                <a:latin typeface="Consolas"/>
                <a:ea typeface="Consolas"/>
                <a:cs typeface="Consolas"/>
              </a:rPr>
              <a:t> Task.WhenEach(dishes))</a:t>
            </a:r>
            <a:endParaRPr lang="en-US" sz="1050" dirty="0"/>
          </a:p>
        </p:txBody>
      </p:sp>
      <p:sp>
        <p:nvSpPr>
          <p:cNvPr id="29" name="cw_L08"/>
          <p:cNvSpPr txBox="1"/>
          <p:nvPr/>
        </p:nvSpPr>
        <p:spPr>
          <a:xfrm>
            <a:off x="771754" y="375513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0" name="cw_L09"/>
          <p:cNvSpPr txBox="1"/>
          <p:nvPr/>
        </p:nvSpPr>
        <p:spPr>
          <a:xfrm>
            <a:off x="771754" y="39684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$"Ready: {await done}"</a:t>
            </a:r>
            <a:r>
              <a:rPr lang="en-US" sz="1050" b="0" dirty="0">
                <a:solidFill>
                  <a:srgbClr val="E2E8F0"/>
                </a:solidFill>
                <a:latin typeface="Consolas"/>
                <a:ea typeface="Consolas"/>
                <a:cs typeface="Consolas"/>
              </a:rPr>
              <a:t>);</a:t>
            </a:r>
            <a:endParaRPr lang="en-US" sz="1050" dirty="0"/>
          </a:p>
        </p:txBody>
      </p:sp>
      <p:sp>
        <p:nvSpPr>
          <p:cNvPr id="31" name="cw_L10"/>
          <p:cNvSpPr txBox="1"/>
          <p:nvPr/>
        </p:nvSpPr>
        <p:spPr>
          <a:xfrm>
            <a:off x="771754" y="41818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2" name="cw_L12"/>
          <p:cNvSpPr txBox="1"/>
          <p:nvPr/>
        </p:nvSpPr>
        <p:spPr>
          <a:xfrm>
            <a:off x="771754" y="460857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PrepareAsync(</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dish,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ms)</a:t>
            </a:r>
            <a:endParaRPr lang="en-US" sz="1050" dirty="0"/>
          </a:p>
        </p:txBody>
      </p:sp>
      <p:sp>
        <p:nvSpPr>
          <p:cNvPr id="33" name="cw_L13"/>
          <p:cNvSpPr txBox="1"/>
          <p:nvPr/>
        </p:nvSpPr>
        <p:spPr>
          <a:xfrm>
            <a:off x="771754" y="482193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cw_L14"/>
          <p:cNvSpPr txBox="1"/>
          <p:nvPr/>
        </p:nvSpPr>
        <p:spPr>
          <a:xfrm>
            <a:off x="771754" y="50352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Task.Delay(ms);</a:t>
            </a:r>
            <a:endParaRPr lang="en-US" sz="1050" dirty="0"/>
          </a:p>
        </p:txBody>
      </p:sp>
      <p:sp>
        <p:nvSpPr>
          <p:cNvPr id="35" name="cw_L15"/>
          <p:cNvSpPr txBox="1"/>
          <p:nvPr/>
        </p:nvSpPr>
        <p:spPr>
          <a:xfrm>
            <a:off x="771754" y="524865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a:t>
            </a:r>
            <a:r>
              <a:rPr lang="en-US" sz="1050" b="0" dirty="0">
                <a:solidFill>
                  <a:srgbClr val="E2E8F0"/>
                </a:solidFill>
                <a:latin typeface="Consolas"/>
                <a:ea typeface="Consolas"/>
                <a:cs typeface="Consolas"/>
              </a:rPr>
              <a:t> dish;</a:t>
            </a:r>
            <a:endParaRPr lang="en-US" sz="1050" dirty="0"/>
          </a:p>
        </p:txBody>
      </p:sp>
      <p:sp>
        <p:nvSpPr>
          <p:cNvPr id="36" name="cw_L16"/>
          <p:cNvSpPr txBox="1"/>
          <p:nvPr/>
        </p:nvSpPr>
        <p:spPr>
          <a:xfrm>
            <a:off x="771754" y="546201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7" name="card"/>
          <p:cNvSpPr/>
          <p:nvPr/>
        </p:nvSpPr>
        <p:spPr>
          <a:xfrm>
            <a:off x="7172554" y="1572768"/>
            <a:ext cx="4457700" cy="1402080"/>
          </a:xfrm>
          <a:prstGeom prst="roundRect">
            <a:avLst>
              <a:gd name="adj" fmla="val 5869"/>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IN COMPLETION ORDER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Ready: Shawarma, Ready: Salad, Ready: Pizza.</a:t>
            </a:r>
            <a:endParaRPr lang="en-US" sz="1250" dirty="0"/>
          </a:p>
        </p:txBody>
      </p:sp>
      <p:sp>
        <p:nvSpPr>
          <p:cNvPr id="38" name="card"/>
          <p:cNvSpPr/>
          <p:nvPr/>
        </p:nvSpPr>
        <p:spPr>
          <a:xfrm>
            <a:off x="7172554" y="3112008"/>
            <a:ext cx="445770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NO WAITING FOR ALL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Show each dish the moment it is ready.</a:t>
            </a:r>
            <a:endParaRPr lang="en-US" sz="1250" dirty="0"/>
          </a:p>
        </p:txBody>
      </p:sp>
      <p:sp>
        <p:nvSpPr>
          <p:cNvPr id="39" name="card"/>
          <p:cNvSpPr/>
          <p:nvPr/>
        </p:nvSpPr>
        <p:spPr>
          <a:xfrm>
            <a:off x="7172554" y="4651248"/>
            <a:ext cx="445770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.NET 9+</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Task.WhenEach is new; on older versions use a WhenAny loop.</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animBg="1"/>
      <p:bldP spid="39"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COMBINATORS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WhenAll vs WhenAny vs WhenEach</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116</a:t>
            </a:r>
            <a:endParaRPr lang="en-US" sz="850" dirty="0"/>
          </a:p>
        </p:txBody>
      </p:sp>
      <p:sp>
        <p:nvSpPr>
          <p:cNvPr id="15" name="tbl_head"/>
          <p:cNvSpPr/>
          <p:nvPr/>
        </p:nvSpPr>
        <p:spPr>
          <a:xfrm>
            <a:off x="543154" y="1572768"/>
            <a:ext cx="1108710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16" name="tbl_h"/>
          <p:cNvSpPr txBox="1"/>
          <p:nvPr/>
        </p:nvSpPr>
        <p:spPr>
          <a:xfrm>
            <a:off x="671170" y="1572768"/>
            <a:ext cx="2256282"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COMBINATOR</a:t>
            </a:r>
            <a:endParaRPr lang="en-US" sz="1000" dirty="0"/>
          </a:p>
        </p:txBody>
      </p:sp>
      <p:sp>
        <p:nvSpPr>
          <p:cNvPr id="17" name="tbl_h"/>
          <p:cNvSpPr txBox="1"/>
          <p:nvPr/>
        </p:nvSpPr>
        <p:spPr>
          <a:xfrm>
            <a:off x="3110332" y="1572768"/>
            <a:ext cx="4030218"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GIVES YOU</a:t>
            </a:r>
            <a:endParaRPr lang="en-US" sz="1000" dirty="0"/>
          </a:p>
        </p:txBody>
      </p:sp>
      <p:sp>
        <p:nvSpPr>
          <p:cNvPr id="18" name="tbl_h"/>
          <p:cNvSpPr txBox="1"/>
          <p:nvPr/>
        </p:nvSpPr>
        <p:spPr>
          <a:xfrm>
            <a:off x="7323430" y="1572768"/>
            <a:ext cx="425196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SWIFTBITE EXAMPLE</a:t>
            </a:r>
            <a:endParaRPr lang="en-US" sz="1000" dirty="0"/>
          </a:p>
        </p:txBody>
      </p:sp>
      <p:sp>
        <p:nvSpPr>
          <p:cNvPr id="19" name="tbl_row"/>
          <p:cNvSpPr/>
          <p:nvPr/>
        </p:nvSpPr>
        <p:spPr>
          <a:xfrm>
            <a:off x="543154" y="1965960"/>
            <a:ext cx="11087100" cy="685800"/>
          </a:xfrm>
          <a:prstGeom prst="roundRect">
            <a:avLst>
              <a:gd name="adj" fmla="val 10666"/>
            </a:avLst>
          </a:prstGeom>
          <a:solidFill>
            <a:srgbClr val="111B2E"/>
          </a:solidFill>
          <a:ln w="12700">
            <a:solidFill>
              <a:srgbClr val="34D399"/>
            </a:solidFill>
            <a:prstDash val="solid"/>
          </a:ln>
        </p:spPr>
        <p:txBody>
          <a:bodyPr/>
          <a:lstStyle/>
          <a:p>
            <a:endParaRPr lang="en-US"/>
          </a:p>
        </p:txBody>
      </p:sp>
      <p:sp>
        <p:nvSpPr>
          <p:cNvPr id="20" name="tbl_c"/>
          <p:cNvSpPr txBox="1"/>
          <p:nvPr/>
        </p:nvSpPr>
        <p:spPr>
          <a:xfrm>
            <a:off x="671170" y="1965960"/>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34D399"/>
                </a:solidFill>
                <a:latin typeface="Consolas"/>
                <a:ea typeface="Consolas"/>
                <a:cs typeface="Consolas"/>
              </a:rPr>
              <a:t>Task.WhenAll</a:t>
            </a:r>
            <a:endParaRPr lang="en-US" sz="1350" dirty="0"/>
          </a:p>
        </p:txBody>
      </p:sp>
      <p:sp>
        <p:nvSpPr>
          <p:cNvPr id="21" name="tbl_c"/>
          <p:cNvSpPr txBox="1"/>
          <p:nvPr/>
        </p:nvSpPr>
        <p:spPr>
          <a:xfrm>
            <a:off x="3110332" y="1965960"/>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one task: all finished</a:t>
            </a:r>
            <a:endParaRPr lang="en-US" sz="1350" dirty="0"/>
          </a:p>
        </p:txBody>
      </p:sp>
      <p:sp>
        <p:nvSpPr>
          <p:cNvPr id="22" name="tbl_c"/>
          <p:cNvSpPr txBox="1"/>
          <p:nvPr/>
        </p:nvSpPr>
        <p:spPr>
          <a:xfrm>
            <a:off x="7323430" y="1965960"/>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restaurant page: info + menu + reviews</a:t>
            </a:r>
            <a:endParaRPr lang="en-US" sz="1350" dirty="0"/>
          </a:p>
        </p:txBody>
      </p:sp>
      <p:sp>
        <p:nvSpPr>
          <p:cNvPr id="23" name="tbl_row"/>
          <p:cNvSpPr/>
          <p:nvPr/>
        </p:nvSpPr>
        <p:spPr>
          <a:xfrm>
            <a:off x="543154" y="2715768"/>
            <a:ext cx="11087100" cy="685800"/>
          </a:xfrm>
          <a:prstGeom prst="roundRect">
            <a:avLst>
              <a:gd name="adj" fmla="val 10666"/>
            </a:avLst>
          </a:prstGeom>
          <a:solidFill>
            <a:srgbClr val="111B2E"/>
          </a:solidFill>
          <a:ln w="12700">
            <a:solidFill>
              <a:srgbClr val="13D0F7"/>
            </a:solidFill>
            <a:prstDash val="solid"/>
          </a:ln>
        </p:spPr>
        <p:txBody>
          <a:bodyPr/>
          <a:lstStyle/>
          <a:p>
            <a:endParaRPr lang="en-US"/>
          </a:p>
        </p:txBody>
      </p:sp>
      <p:sp>
        <p:nvSpPr>
          <p:cNvPr id="24" name="tbl_c"/>
          <p:cNvSpPr txBox="1"/>
          <p:nvPr/>
        </p:nvSpPr>
        <p:spPr>
          <a:xfrm>
            <a:off x="671170" y="2715768"/>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13D0F7"/>
                </a:solidFill>
                <a:latin typeface="Consolas"/>
                <a:ea typeface="Consolas"/>
                <a:cs typeface="Consolas"/>
              </a:rPr>
              <a:t>Task.WhenAny</a:t>
            </a:r>
            <a:endParaRPr lang="en-US" sz="1350" dirty="0"/>
          </a:p>
        </p:txBody>
      </p:sp>
      <p:sp>
        <p:nvSpPr>
          <p:cNvPr id="25" name="tbl_c"/>
          <p:cNvSpPr txBox="1"/>
          <p:nvPr/>
        </p:nvSpPr>
        <p:spPr>
          <a:xfrm>
            <a:off x="3110332" y="2715768"/>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the first task to finish</a:t>
            </a:r>
            <a:endParaRPr lang="en-US" sz="1350" dirty="0"/>
          </a:p>
        </p:txBody>
      </p:sp>
      <p:sp>
        <p:nvSpPr>
          <p:cNvPr id="26" name="tbl_c"/>
          <p:cNvSpPr txBox="1"/>
          <p:nvPr/>
        </p:nvSpPr>
        <p:spPr>
          <a:xfrm>
            <a:off x="7323430" y="2715768"/>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fastest courier quote, timeout</a:t>
            </a:r>
            <a:endParaRPr lang="en-US" sz="1350" dirty="0"/>
          </a:p>
        </p:txBody>
      </p:sp>
      <p:sp>
        <p:nvSpPr>
          <p:cNvPr id="27" name="tbl_row"/>
          <p:cNvSpPr/>
          <p:nvPr/>
        </p:nvSpPr>
        <p:spPr>
          <a:xfrm>
            <a:off x="543154" y="3465576"/>
            <a:ext cx="11087100" cy="685800"/>
          </a:xfrm>
          <a:prstGeom prst="roundRect">
            <a:avLst>
              <a:gd name="adj" fmla="val 10666"/>
            </a:avLst>
          </a:prstGeom>
          <a:solidFill>
            <a:srgbClr val="111B2E"/>
          </a:solidFill>
          <a:ln w="12700">
            <a:solidFill>
              <a:srgbClr val="FBBF24"/>
            </a:solidFill>
            <a:prstDash val="solid"/>
          </a:ln>
        </p:spPr>
        <p:txBody>
          <a:bodyPr/>
          <a:lstStyle/>
          <a:p>
            <a:endParaRPr lang="en-US"/>
          </a:p>
        </p:txBody>
      </p:sp>
      <p:sp>
        <p:nvSpPr>
          <p:cNvPr id="28" name="tbl_c"/>
          <p:cNvSpPr txBox="1"/>
          <p:nvPr/>
        </p:nvSpPr>
        <p:spPr>
          <a:xfrm>
            <a:off x="671170" y="3465576"/>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FBBF24"/>
                </a:solidFill>
                <a:latin typeface="Consolas"/>
                <a:ea typeface="Consolas"/>
                <a:cs typeface="Consolas"/>
              </a:rPr>
              <a:t>Task.WhenEach</a:t>
            </a:r>
            <a:endParaRPr lang="en-US" sz="1350" dirty="0"/>
          </a:p>
        </p:txBody>
      </p:sp>
      <p:sp>
        <p:nvSpPr>
          <p:cNvPr id="29" name="tbl_c"/>
          <p:cNvSpPr txBox="1"/>
          <p:nvPr/>
        </p:nvSpPr>
        <p:spPr>
          <a:xfrm>
            <a:off x="3110332" y="3465576"/>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each task, as it finishes</a:t>
            </a:r>
            <a:endParaRPr lang="en-US" sz="1350" dirty="0"/>
          </a:p>
        </p:txBody>
      </p:sp>
      <p:sp>
        <p:nvSpPr>
          <p:cNvPr id="30" name="tbl_c"/>
          <p:cNvSpPr txBox="1"/>
          <p:nvPr/>
        </p:nvSpPr>
        <p:spPr>
          <a:xfrm>
            <a:off x="7323430" y="3465576"/>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show dishes the moment they are ready</a:t>
            </a:r>
            <a:endParaRPr lang="en-US" sz="1350" dirty="0"/>
          </a:p>
        </p:txBody>
      </p:sp>
      <p:sp>
        <p:nvSpPr>
          <p:cNvPr id="31" name="banner"/>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All three run tasks concurrently: anything the tasks share must be thread-safe.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5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25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25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5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25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25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5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25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animBg="1"/>
      <p:bldP spid="20" grpId="0"/>
      <p:bldP spid="21" grpId="0"/>
      <p:bldP spid="22" grpId="0"/>
      <p:bldP spid="23" grpId="0" animBg="1"/>
      <p:bldP spid="24" grpId="0"/>
      <p:bldP spid="25" grpId="0"/>
      <p:bldP spid="26" grpId="0"/>
      <p:bldP spid="27" grpId="0" animBg="1"/>
      <p:bldP spid="28" grpId="0"/>
      <p:bldP spid="29" grpId="0"/>
      <p:bldP spid="30" grpId="0"/>
      <p:bldP spid="31"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EXCEPTIONS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Exceptions in Async Code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119</a:t>
            </a:r>
            <a:endParaRPr lang="en-US" sz="850" dirty="0"/>
          </a:p>
        </p:txBody>
      </p:sp>
      <p:sp>
        <p:nvSpPr>
          <p:cNvPr id="15" name="cw_win"/>
          <p:cNvSpPr/>
          <p:nvPr/>
        </p:nvSpPr>
        <p:spPr>
          <a:xfrm>
            <a:off x="543154" y="1572768"/>
            <a:ext cx="658368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5836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try</a:t>
            </a:r>
            <a:endParaRPr lang="en-US" sz="1000" dirty="0"/>
          </a:p>
        </p:txBody>
      </p:sp>
      <p:sp>
        <p:nvSpPr>
          <p:cNvPr id="23" name="cw_L01"/>
          <p:cNvSpPr txBox="1"/>
          <p:nvPr/>
        </p:nvSpPr>
        <p:spPr>
          <a:xfrm>
            <a:off x="771754" y="22514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4" name="cw_L02"/>
          <p:cNvSpPr txBox="1"/>
          <p:nvPr/>
        </p:nvSpPr>
        <p:spPr>
          <a:xfrm>
            <a:off x="771754" y="2454656"/>
            <a:ext cx="6199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menu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LoadMenuAsync();</a:t>
            </a:r>
            <a:endParaRPr lang="en-US" sz="1000" dirty="0"/>
          </a:p>
        </p:txBody>
      </p:sp>
      <p:sp>
        <p:nvSpPr>
          <p:cNvPr id="25" name="cw_L03"/>
          <p:cNvSpPr txBox="1"/>
          <p:nvPr/>
        </p:nvSpPr>
        <p:spPr>
          <a:xfrm>
            <a:off x="771754" y="2657856"/>
            <a:ext cx="6199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Console.WriteLine(menu);</a:t>
            </a:r>
            <a:endParaRPr lang="en-US" sz="1000" dirty="0"/>
          </a:p>
        </p:txBody>
      </p:sp>
      <p:sp>
        <p:nvSpPr>
          <p:cNvPr id="26" name="cw_L04"/>
          <p:cNvSpPr txBox="1"/>
          <p:nvPr/>
        </p:nvSpPr>
        <p:spPr>
          <a:xfrm>
            <a:off x="771754" y="28610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0642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catch</a:t>
            </a:r>
            <a:r>
              <a:rPr lang="en-US" sz="1000" b="0" dirty="0">
                <a:solidFill>
                  <a:srgbClr val="E2E8F0"/>
                </a:solidFill>
                <a:latin typeface="Consolas"/>
                <a:ea typeface="Consolas"/>
                <a:cs typeface="Consolas"/>
              </a:rPr>
              <a:t> (Exception ex)</a:t>
            </a:r>
            <a:endParaRPr lang="en-US" sz="1000" dirty="0"/>
          </a:p>
        </p:txBody>
      </p:sp>
      <p:sp>
        <p:nvSpPr>
          <p:cNvPr id="28" name="cw_L06"/>
          <p:cNvSpPr txBox="1"/>
          <p:nvPr/>
        </p:nvSpPr>
        <p:spPr>
          <a:xfrm>
            <a:off x="771754" y="32674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9" name="cw_L07"/>
          <p:cNvSpPr txBox="1"/>
          <p:nvPr/>
        </p:nvSpPr>
        <p:spPr>
          <a:xfrm>
            <a:off x="771754" y="3470656"/>
            <a:ext cx="6199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$"Could not load menu: {ex.Message}"</a:t>
            </a:r>
            <a:r>
              <a:rPr lang="en-US" sz="1000" b="0" dirty="0">
                <a:solidFill>
                  <a:srgbClr val="E2E8F0"/>
                </a:solidFill>
                <a:latin typeface="Consolas"/>
                <a:ea typeface="Consolas"/>
                <a:cs typeface="Consolas"/>
              </a:rPr>
              <a:t>);</a:t>
            </a:r>
            <a:endParaRPr lang="en-US" sz="1000" dirty="0"/>
          </a:p>
        </p:txBody>
      </p:sp>
      <p:sp>
        <p:nvSpPr>
          <p:cNvPr id="30" name="cw_L08"/>
          <p:cNvSpPr txBox="1"/>
          <p:nvPr/>
        </p:nvSpPr>
        <p:spPr>
          <a:xfrm>
            <a:off x="771754" y="36738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LoadMenuAsync()</a:t>
            </a:r>
            <a:endParaRPr lang="en-US" sz="1000" dirty="0"/>
          </a:p>
        </p:txBody>
      </p:sp>
      <p:sp>
        <p:nvSpPr>
          <p:cNvPr id="32" name="cw_L11"/>
          <p:cNvSpPr txBox="1"/>
          <p:nvPr/>
        </p:nvSpPr>
        <p:spPr>
          <a:xfrm>
            <a:off x="771754" y="42834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2"/>
          <p:cNvSpPr txBox="1"/>
          <p:nvPr/>
        </p:nvSpPr>
        <p:spPr>
          <a:xfrm>
            <a:off x="771754" y="4486656"/>
            <a:ext cx="6199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a:t>
            </a:r>
            <a:endParaRPr lang="en-US" sz="1000" dirty="0"/>
          </a:p>
        </p:txBody>
      </p:sp>
      <p:sp>
        <p:nvSpPr>
          <p:cNvPr id="34" name="cw_L13"/>
          <p:cNvSpPr txBox="1"/>
          <p:nvPr/>
        </p:nvSpPr>
        <p:spPr>
          <a:xfrm>
            <a:off x="771754" y="4689856"/>
            <a:ext cx="6199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throw</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InvalidOperationException(</a:t>
            </a:r>
            <a:r>
              <a:rPr lang="en-US" sz="1000" b="0" dirty="0">
                <a:solidFill>
                  <a:srgbClr val="F0A98B"/>
                </a:solidFill>
                <a:latin typeface="Consolas"/>
                <a:ea typeface="Consolas"/>
                <a:cs typeface="Consolas"/>
              </a:rPr>
              <a:t>"Restaurant server is down"</a:t>
            </a:r>
            <a:r>
              <a:rPr lang="en-US" sz="1000" b="0" dirty="0">
                <a:solidFill>
                  <a:srgbClr val="E2E8F0"/>
                </a:solidFill>
                <a:latin typeface="Consolas"/>
                <a:ea typeface="Consolas"/>
                <a:cs typeface="Consolas"/>
              </a:rPr>
              <a:t>);</a:t>
            </a:r>
            <a:endParaRPr lang="en-US" sz="1000" dirty="0"/>
          </a:p>
        </p:txBody>
      </p:sp>
      <p:sp>
        <p:nvSpPr>
          <p:cNvPr id="35" name="cw_L14"/>
          <p:cNvSpPr txBox="1"/>
          <p:nvPr/>
        </p:nvSpPr>
        <p:spPr>
          <a:xfrm>
            <a:off x="771754" y="48930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6" name="cw_L16"/>
          <p:cNvSpPr txBox="1"/>
          <p:nvPr/>
        </p:nvSpPr>
        <p:spPr>
          <a:xfrm>
            <a:off x="771754" y="5299456"/>
            <a:ext cx="6199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Could not load menu: Restaurant server is down</a:t>
            </a:r>
            <a:endParaRPr lang="en-US" sz="1000" dirty="0"/>
          </a:p>
        </p:txBody>
      </p:sp>
      <p:sp>
        <p:nvSpPr>
          <p:cNvPr id="37" name="card"/>
          <p:cNvSpPr/>
          <p:nvPr/>
        </p:nvSpPr>
        <p:spPr>
          <a:xfrm>
            <a:off x="7355434" y="1572768"/>
            <a:ext cx="4274820" cy="1402080"/>
          </a:xfrm>
          <a:prstGeom prst="roundRect">
            <a:avLst>
              <a:gd name="adj" fmla="val 5869"/>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STORED IN THE TASK</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exception makes the task Faulted.</a:t>
            </a:r>
            <a:endParaRPr lang="en-US" sz="1250" dirty="0"/>
          </a:p>
        </p:txBody>
      </p:sp>
      <p:sp>
        <p:nvSpPr>
          <p:cNvPr id="38" name="card"/>
          <p:cNvSpPr/>
          <p:nvPr/>
        </p:nvSpPr>
        <p:spPr>
          <a:xfrm>
            <a:off x="7355434" y="3112008"/>
            <a:ext cx="427482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RETHROWN AT AWAIT</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await throws it again in your method.</a:t>
            </a:r>
            <a:endParaRPr lang="en-US" sz="1250" dirty="0"/>
          </a:p>
        </p:txBody>
      </p:sp>
      <p:sp>
        <p:nvSpPr>
          <p:cNvPr id="39" name="card"/>
          <p:cNvSpPr/>
          <p:nvPr/>
        </p:nvSpPr>
        <p:spPr>
          <a:xfrm>
            <a:off x="7355434" y="4651248"/>
            <a:ext cx="4274820" cy="1402080"/>
          </a:xfrm>
          <a:prstGeom prst="roundRect">
            <a:avLst>
              <a:gd name="adj" fmla="val 5869"/>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NORMAL TRY / CATCH</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Exactly like synchronous code. That's the big win.</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animBg="1"/>
      <p:bldP spid="3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 ERRORS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Exceptions with WhenAll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120</a:t>
            </a:r>
            <a:endParaRPr lang="en-US" sz="850" dirty="0"/>
          </a:p>
        </p:txBody>
      </p:sp>
      <p:sp>
        <p:nvSpPr>
          <p:cNvPr id="15" name="cw_win"/>
          <p:cNvSpPr/>
          <p:nvPr/>
        </p:nvSpPr>
        <p:spPr>
          <a:xfrm>
            <a:off x="543154" y="1572768"/>
            <a:ext cx="658368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5836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payment = FailAsync(</a:t>
            </a:r>
            <a:r>
              <a:rPr lang="en-US" sz="950" b="0" dirty="0">
                <a:solidFill>
                  <a:srgbClr val="F0A98B"/>
                </a:solidFill>
                <a:latin typeface="Consolas"/>
                <a:ea typeface="Consolas"/>
                <a:cs typeface="Consolas"/>
              </a:rPr>
              <a:t>"Payment service down"</a:t>
            </a:r>
            <a:r>
              <a:rPr lang="en-US" sz="950" b="0" dirty="0">
                <a:solidFill>
                  <a:srgbClr val="E2E8F0"/>
                </a:solidFill>
                <a:latin typeface="Consolas"/>
                <a:ea typeface="Consolas"/>
                <a:cs typeface="Consolas"/>
              </a:rPr>
              <a:t>, 300);</a:t>
            </a:r>
            <a:endParaRPr lang="en-US" sz="950" dirty="0"/>
          </a:p>
        </p:txBody>
      </p:sp>
      <p:sp>
        <p:nvSpPr>
          <p:cNvPr id="23" name="cw_L01"/>
          <p:cNvSpPr txBox="1"/>
          <p:nvPr/>
        </p:nvSpPr>
        <p:spPr>
          <a:xfrm>
            <a:off x="771754" y="22412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sms = FailAsync(</a:t>
            </a:r>
            <a:r>
              <a:rPr lang="en-US" sz="950" b="0" dirty="0">
                <a:solidFill>
                  <a:srgbClr val="F0A98B"/>
                </a:solidFill>
                <a:latin typeface="Consolas"/>
                <a:ea typeface="Consolas"/>
                <a:cs typeface="Consolas"/>
              </a:rPr>
              <a:t>"SMS service down"</a:t>
            </a:r>
            <a:r>
              <a:rPr lang="en-US" sz="950" b="0" dirty="0">
                <a:solidFill>
                  <a:srgbClr val="E2E8F0"/>
                </a:solidFill>
                <a:latin typeface="Consolas"/>
                <a:ea typeface="Consolas"/>
                <a:cs typeface="Consolas"/>
              </a:rPr>
              <a:t>, 100);</a:t>
            </a:r>
            <a:endParaRPr lang="en-US" sz="950" dirty="0"/>
          </a:p>
        </p:txBody>
      </p:sp>
      <p:sp>
        <p:nvSpPr>
          <p:cNvPr id="24" name="cw_L02"/>
          <p:cNvSpPr txBox="1"/>
          <p:nvPr/>
        </p:nvSpPr>
        <p:spPr>
          <a:xfrm>
            <a:off x="771754" y="24343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kitchen = Task.Delay(200);</a:t>
            </a:r>
            <a:endParaRPr lang="en-US" sz="950" dirty="0"/>
          </a:p>
        </p:txBody>
      </p:sp>
      <p:sp>
        <p:nvSpPr>
          <p:cNvPr id="25" name="cw_L03"/>
          <p:cNvSpPr txBox="1"/>
          <p:nvPr/>
        </p:nvSpPr>
        <p:spPr>
          <a:xfrm>
            <a:off x="771754" y="262737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tasks = [payment, sms, kitchen];</a:t>
            </a:r>
            <a:endParaRPr lang="en-US" sz="950" dirty="0"/>
          </a:p>
        </p:txBody>
      </p:sp>
      <p:sp>
        <p:nvSpPr>
          <p:cNvPr id="26" name="cw_L04"/>
          <p:cNvSpPr txBox="1"/>
          <p:nvPr/>
        </p:nvSpPr>
        <p:spPr>
          <a:xfrm>
            <a:off x="771754" y="28204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27" name="cw_L05"/>
          <p:cNvSpPr txBox="1"/>
          <p:nvPr/>
        </p:nvSpPr>
        <p:spPr>
          <a:xfrm>
            <a:off x="771754" y="30134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8" name="cw_L06"/>
          <p:cNvSpPr txBox="1"/>
          <p:nvPr/>
        </p:nvSpPr>
        <p:spPr>
          <a:xfrm>
            <a:off x="771754" y="320649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Task.WhenAll(tasks);</a:t>
            </a:r>
            <a:endParaRPr lang="en-US" sz="950" dirty="0"/>
          </a:p>
        </p:txBody>
      </p:sp>
      <p:sp>
        <p:nvSpPr>
          <p:cNvPr id="29" name="cw_L07"/>
          <p:cNvSpPr txBox="1"/>
          <p:nvPr/>
        </p:nvSpPr>
        <p:spPr>
          <a:xfrm>
            <a:off x="771754" y="33995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08"/>
          <p:cNvSpPr txBox="1"/>
          <p:nvPr/>
        </p:nvSpPr>
        <p:spPr>
          <a:xfrm>
            <a:off x="771754" y="359257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 ex)</a:t>
            </a:r>
            <a:endParaRPr lang="en-US" sz="950" dirty="0"/>
          </a:p>
        </p:txBody>
      </p:sp>
      <p:sp>
        <p:nvSpPr>
          <p:cNvPr id="31" name="cw_L09"/>
          <p:cNvSpPr txBox="1"/>
          <p:nvPr/>
        </p:nvSpPr>
        <p:spPr>
          <a:xfrm>
            <a:off x="771754" y="37856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0"/>
          <p:cNvSpPr txBox="1"/>
          <p:nvPr/>
        </p:nvSpPr>
        <p:spPr>
          <a:xfrm>
            <a:off x="771754" y="397865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$"Caught: {ex.Message}"</a:t>
            </a:r>
            <a:r>
              <a:rPr lang="en-US" sz="950" b="0" dirty="0">
                <a:solidFill>
                  <a:srgbClr val="E2E8F0"/>
                </a:solidFill>
                <a:latin typeface="Consolas"/>
                <a:ea typeface="Consolas"/>
                <a:cs typeface="Consolas"/>
              </a:rPr>
              <a:t>);</a:t>
            </a:r>
            <a:endParaRPr lang="en-US" sz="950" dirty="0"/>
          </a:p>
        </p:txBody>
      </p:sp>
      <p:sp>
        <p:nvSpPr>
          <p:cNvPr id="33" name="cw_L11"/>
          <p:cNvSpPr txBox="1"/>
          <p:nvPr/>
        </p:nvSpPr>
        <p:spPr>
          <a:xfrm>
            <a:off x="771754" y="41716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4" name="cw_L12"/>
          <p:cNvSpPr txBox="1"/>
          <p:nvPr/>
        </p:nvSpPr>
        <p:spPr>
          <a:xfrm>
            <a:off x="771754" y="43647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foreach</a:t>
            </a:r>
            <a:r>
              <a:rPr lang="en-US" sz="950" b="0" dirty="0">
                <a:solidFill>
                  <a:srgbClr val="E2E8F0"/>
                </a:solidFill>
                <a:latin typeface="Consolas"/>
                <a:ea typeface="Consolas"/>
                <a:cs typeface="Consolas"/>
              </a:rPr>
              <a:t> (Task task </a:t>
            </a:r>
            <a:r>
              <a:rPr lang="en-US" sz="950" b="0" dirty="0">
                <a:solidFill>
                  <a:srgbClr val="60A5FA"/>
                </a:solidFill>
                <a:latin typeface="Consolas"/>
                <a:ea typeface="Consolas"/>
                <a:cs typeface="Consolas"/>
              </a:rPr>
              <a:t>in</a:t>
            </a:r>
            <a:r>
              <a:rPr lang="en-US" sz="950" b="0" dirty="0">
                <a:solidFill>
                  <a:srgbClr val="E2E8F0"/>
                </a:solidFill>
                <a:latin typeface="Consolas"/>
                <a:ea typeface="Consolas"/>
                <a:cs typeface="Consolas"/>
              </a:rPr>
              <a:t> tasks)</a:t>
            </a:r>
            <a:endParaRPr lang="en-US" sz="950" dirty="0"/>
          </a:p>
        </p:txBody>
      </p:sp>
      <p:sp>
        <p:nvSpPr>
          <p:cNvPr id="35" name="cw_L13"/>
          <p:cNvSpPr txBox="1"/>
          <p:nvPr/>
        </p:nvSpPr>
        <p:spPr>
          <a:xfrm>
            <a:off x="771754" y="455777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(task.IsFaulted)</a:t>
            </a:r>
            <a:endParaRPr lang="en-US" sz="950" dirty="0"/>
          </a:p>
        </p:txBody>
      </p:sp>
      <p:sp>
        <p:nvSpPr>
          <p:cNvPr id="36" name="cw_L14"/>
          <p:cNvSpPr txBox="1"/>
          <p:nvPr/>
        </p:nvSpPr>
        <p:spPr>
          <a:xfrm>
            <a:off x="771754" y="4750816"/>
            <a:ext cx="6199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$"Failed: {task.Exception!.InnerException!.Message}"</a:t>
            </a:r>
            <a:r>
              <a:rPr lang="en-US" sz="950" b="0" dirty="0">
                <a:solidFill>
                  <a:srgbClr val="E2E8F0"/>
                </a:solidFill>
                <a:latin typeface="Consolas"/>
                <a:ea typeface="Consolas"/>
                <a:cs typeface="Consolas"/>
              </a:rPr>
              <a:t>);</a:t>
            </a:r>
            <a:endParaRPr lang="en-US" sz="950" dirty="0"/>
          </a:p>
        </p:txBody>
      </p:sp>
      <p:sp>
        <p:nvSpPr>
          <p:cNvPr id="37" name="cw_L15"/>
          <p:cNvSpPr txBox="1"/>
          <p:nvPr/>
        </p:nvSpPr>
        <p:spPr>
          <a:xfrm>
            <a:off x="771754" y="49438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FailAsync(</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message,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ms)</a:t>
            </a:r>
            <a:endParaRPr lang="en-US" sz="950" dirty="0"/>
          </a:p>
        </p:txBody>
      </p:sp>
      <p:sp>
        <p:nvSpPr>
          <p:cNvPr id="38" name="cw_L16"/>
          <p:cNvSpPr txBox="1"/>
          <p:nvPr/>
        </p:nvSpPr>
        <p:spPr>
          <a:xfrm>
            <a:off x="771754" y="51368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_L17"/>
          <p:cNvSpPr txBox="1"/>
          <p:nvPr/>
        </p:nvSpPr>
        <p:spPr>
          <a:xfrm>
            <a:off x="771754" y="532993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Task.Delay(ms);</a:t>
            </a:r>
            <a:endParaRPr lang="en-US" sz="950" dirty="0"/>
          </a:p>
        </p:txBody>
      </p:sp>
      <p:sp>
        <p:nvSpPr>
          <p:cNvPr id="40" name="cw_L18"/>
          <p:cNvSpPr txBox="1"/>
          <p:nvPr/>
        </p:nvSpPr>
        <p:spPr>
          <a:xfrm>
            <a:off x="771754" y="552297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Exception(message);</a:t>
            </a:r>
            <a:endParaRPr lang="en-US" sz="950" dirty="0"/>
          </a:p>
        </p:txBody>
      </p:sp>
      <p:sp>
        <p:nvSpPr>
          <p:cNvPr id="41" name="cw_L19"/>
          <p:cNvSpPr txBox="1"/>
          <p:nvPr/>
        </p:nvSpPr>
        <p:spPr>
          <a:xfrm>
            <a:off x="771754" y="57160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2" name="cmark"/>
          <p:cNvSpPr/>
          <p:nvPr/>
        </p:nvSpPr>
        <p:spPr>
          <a:xfrm>
            <a:off x="676656" y="3960368"/>
            <a:ext cx="6316675" cy="229616"/>
          </a:xfrm>
          <a:prstGeom prst="rect">
            <a:avLst/>
          </a:prstGeom>
          <a:solidFill>
            <a:srgbClr val="FBBF24">
              <a:alpha val="16000"/>
            </a:srgbClr>
          </a:solidFill>
          <a:ln w="15875">
            <a:solidFill>
              <a:srgbClr val="FBBF24"/>
            </a:solidFill>
            <a:prstDash val="solid"/>
          </a:ln>
        </p:spPr>
        <p:txBody>
          <a:bodyPr/>
          <a:lstStyle/>
          <a:p>
            <a:endParaRPr lang="en-US"/>
          </a:p>
        </p:txBody>
      </p:sp>
      <p:sp>
        <p:nvSpPr>
          <p:cNvPr id="43" name="cmark"/>
          <p:cNvSpPr/>
          <p:nvPr/>
        </p:nvSpPr>
        <p:spPr>
          <a:xfrm>
            <a:off x="676656" y="4346448"/>
            <a:ext cx="6316675" cy="229616"/>
          </a:xfrm>
          <a:prstGeom prst="rect">
            <a:avLst/>
          </a:prstGeom>
          <a:solidFill>
            <a:srgbClr val="34D399">
              <a:alpha val="16000"/>
            </a:srgbClr>
          </a:solidFill>
          <a:ln w="15875">
            <a:solidFill>
              <a:srgbClr val="34D399"/>
            </a:solidFill>
            <a:prstDash val="solid"/>
          </a:ln>
        </p:spPr>
        <p:txBody>
          <a:bodyPr/>
          <a:lstStyle/>
          <a:p>
            <a:endParaRPr lang="en-US"/>
          </a:p>
        </p:txBody>
      </p:sp>
      <p:sp>
        <p:nvSpPr>
          <p:cNvPr id="44" name="out_win"/>
          <p:cNvSpPr/>
          <p:nvPr/>
        </p:nvSpPr>
        <p:spPr>
          <a:xfrm>
            <a:off x="7355434" y="1572768"/>
            <a:ext cx="4274820" cy="822960"/>
          </a:xfrm>
          <a:prstGeom prst="roundRect">
            <a:avLst>
              <a:gd name="adj" fmla="val 8333"/>
            </a:avLst>
          </a:prstGeom>
          <a:solidFill>
            <a:srgbClr val="060D18"/>
          </a:solidFill>
          <a:ln w="12700">
            <a:solidFill>
              <a:srgbClr val="1E3A5F"/>
            </a:solidFill>
            <a:prstDash val="solid"/>
          </a:ln>
        </p:spPr>
        <p:txBody>
          <a:bodyPr/>
          <a:lstStyle/>
          <a:p>
            <a:endParaRPr lang="en-US"/>
          </a:p>
        </p:txBody>
      </p:sp>
      <p:sp>
        <p:nvSpPr>
          <p:cNvPr id="45" name="out_bar"/>
          <p:cNvSpPr/>
          <p:nvPr/>
        </p:nvSpPr>
        <p:spPr>
          <a:xfrm>
            <a:off x="7355434" y="1572768"/>
            <a:ext cx="42748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6" name="out_barfill"/>
          <p:cNvSpPr/>
          <p:nvPr/>
        </p:nvSpPr>
        <p:spPr>
          <a:xfrm>
            <a:off x="7355434" y="1744218"/>
            <a:ext cx="4274820" cy="171450"/>
          </a:xfrm>
          <a:prstGeom prst="rect">
            <a:avLst/>
          </a:prstGeom>
          <a:solidFill>
            <a:srgbClr val="0A1220"/>
          </a:solidFill>
          <a:ln w="12700">
            <a:solidFill>
              <a:srgbClr val="0A1220"/>
            </a:solidFill>
            <a:prstDash val="solid"/>
          </a:ln>
        </p:spPr>
        <p:txBody>
          <a:bodyPr/>
          <a:lstStyle/>
          <a:p>
            <a:endParaRPr lang="en-US"/>
          </a:p>
        </p:txBody>
      </p:sp>
      <p:sp>
        <p:nvSpPr>
          <p:cNvPr id="47" name="out_dot0"/>
          <p:cNvSpPr/>
          <p:nvPr/>
        </p:nvSpPr>
        <p:spPr>
          <a:xfrm>
            <a:off x="751728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8" name="out_dot1"/>
          <p:cNvSpPr/>
          <p:nvPr/>
        </p:nvSpPr>
        <p:spPr>
          <a:xfrm>
            <a:off x="770290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9" name="out_dot2"/>
          <p:cNvSpPr/>
          <p:nvPr/>
        </p:nvSpPr>
        <p:spPr>
          <a:xfrm>
            <a:off x="788852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50" name="out_tab"/>
          <p:cNvSpPr/>
          <p:nvPr/>
        </p:nvSpPr>
        <p:spPr>
          <a:xfrm>
            <a:off x="813633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1" name="out_L00"/>
          <p:cNvSpPr txBox="1"/>
          <p:nvPr/>
        </p:nvSpPr>
        <p:spPr>
          <a:xfrm>
            <a:off x="7584034" y="204825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Caught: Payment service down</a:t>
            </a:r>
            <a:endParaRPr lang="en-US" sz="1000" dirty="0"/>
          </a:p>
        </p:txBody>
      </p:sp>
      <p:sp>
        <p:nvSpPr>
          <p:cNvPr id="52" name="out_win"/>
          <p:cNvSpPr/>
          <p:nvPr/>
        </p:nvSpPr>
        <p:spPr>
          <a:xfrm>
            <a:off x="7355434" y="2532888"/>
            <a:ext cx="4274820" cy="1005840"/>
          </a:xfrm>
          <a:prstGeom prst="roundRect">
            <a:avLst>
              <a:gd name="adj" fmla="val 6818"/>
            </a:avLst>
          </a:prstGeom>
          <a:solidFill>
            <a:srgbClr val="060D18"/>
          </a:solidFill>
          <a:ln w="12700">
            <a:solidFill>
              <a:srgbClr val="1E3A5F"/>
            </a:solidFill>
            <a:prstDash val="solid"/>
          </a:ln>
        </p:spPr>
        <p:txBody>
          <a:bodyPr/>
          <a:lstStyle/>
          <a:p>
            <a:endParaRPr lang="en-US"/>
          </a:p>
        </p:txBody>
      </p:sp>
      <p:sp>
        <p:nvSpPr>
          <p:cNvPr id="53" name="out_bar"/>
          <p:cNvSpPr/>
          <p:nvPr/>
        </p:nvSpPr>
        <p:spPr>
          <a:xfrm>
            <a:off x="7355434" y="2532888"/>
            <a:ext cx="42748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4" name="out_barfill"/>
          <p:cNvSpPr/>
          <p:nvPr/>
        </p:nvSpPr>
        <p:spPr>
          <a:xfrm>
            <a:off x="7355434" y="2704338"/>
            <a:ext cx="4274820" cy="171450"/>
          </a:xfrm>
          <a:prstGeom prst="rect">
            <a:avLst/>
          </a:prstGeom>
          <a:solidFill>
            <a:srgbClr val="0A1220"/>
          </a:solidFill>
          <a:ln w="12700">
            <a:solidFill>
              <a:srgbClr val="0A1220"/>
            </a:solidFill>
            <a:prstDash val="solid"/>
          </a:ln>
        </p:spPr>
        <p:txBody>
          <a:bodyPr/>
          <a:lstStyle/>
          <a:p>
            <a:endParaRPr lang="en-US"/>
          </a:p>
        </p:txBody>
      </p:sp>
      <p:sp>
        <p:nvSpPr>
          <p:cNvPr id="55" name="out_dot0"/>
          <p:cNvSpPr/>
          <p:nvPr/>
        </p:nvSpPr>
        <p:spPr>
          <a:xfrm>
            <a:off x="7517282" y="2656698"/>
            <a:ext cx="95098" cy="95098"/>
          </a:xfrm>
          <a:prstGeom prst="ellipse">
            <a:avLst/>
          </a:prstGeom>
          <a:solidFill>
            <a:srgbClr val="F87171"/>
          </a:solidFill>
          <a:ln w="12700">
            <a:solidFill>
              <a:srgbClr val="F87171"/>
            </a:solidFill>
            <a:prstDash val="solid"/>
          </a:ln>
        </p:spPr>
        <p:txBody>
          <a:bodyPr/>
          <a:lstStyle/>
          <a:p>
            <a:endParaRPr lang="en-US"/>
          </a:p>
        </p:txBody>
      </p:sp>
      <p:sp>
        <p:nvSpPr>
          <p:cNvPr id="56" name="out_dot1"/>
          <p:cNvSpPr/>
          <p:nvPr/>
        </p:nvSpPr>
        <p:spPr>
          <a:xfrm>
            <a:off x="7702906" y="2656698"/>
            <a:ext cx="95098" cy="95098"/>
          </a:xfrm>
          <a:prstGeom prst="ellipse">
            <a:avLst/>
          </a:prstGeom>
          <a:solidFill>
            <a:srgbClr val="FBBF24"/>
          </a:solidFill>
          <a:ln w="12700">
            <a:solidFill>
              <a:srgbClr val="FBBF24"/>
            </a:solidFill>
            <a:prstDash val="solid"/>
          </a:ln>
        </p:spPr>
        <p:txBody>
          <a:bodyPr/>
          <a:lstStyle/>
          <a:p>
            <a:endParaRPr lang="en-US"/>
          </a:p>
        </p:txBody>
      </p:sp>
      <p:sp>
        <p:nvSpPr>
          <p:cNvPr id="57" name="out_dot2"/>
          <p:cNvSpPr/>
          <p:nvPr/>
        </p:nvSpPr>
        <p:spPr>
          <a:xfrm>
            <a:off x="7888529" y="2656698"/>
            <a:ext cx="95098" cy="95098"/>
          </a:xfrm>
          <a:prstGeom prst="ellipse">
            <a:avLst/>
          </a:prstGeom>
          <a:solidFill>
            <a:srgbClr val="34D399"/>
          </a:solidFill>
          <a:ln w="12700">
            <a:solidFill>
              <a:srgbClr val="34D399"/>
            </a:solidFill>
            <a:prstDash val="solid"/>
          </a:ln>
        </p:spPr>
        <p:txBody>
          <a:bodyPr/>
          <a:lstStyle/>
          <a:p>
            <a:endParaRPr lang="en-US"/>
          </a:p>
        </p:txBody>
      </p:sp>
      <p:sp>
        <p:nvSpPr>
          <p:cNvPr id="58" name="out_tab"/>
          <p:cNvSpPr/>
          <p:nvPr/>
        </p:nvSpPr>
        <p:spPr>
          <a:xfrm>
            <a:off x="8136331" y="258043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Inspecting</a:t>
            </a:r>
            <a:endParaRPr lang="en-US" sz="950" dirty="0"/>
          </a:p>
        </p:txBody>
      </p:sp>
      <p:sp>
        <p:nvSpPr>
          <p:cNvPr id="59" name="out_L00"/>
          <p:cNvSpPr txBox="1"/>
          <p:nvPr/>
        </p:nvSpPr>
        <p:spPr>
          <a:xfrm>
            <a:off x="7584034" y="300837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Failed: Payment service down</a:t>
            </a:r>
            <a:endParaRPr lang="en-US" sz="1000" dirty="0"/>
          </a:p>
        </p:txBody>
      </p:sp>
      <p:sp>
        <p:nvSpPr>
          <p:cNvPr id="60" name="out_L01"/>
          <p:cNvSpPr txBox="1"/>
          <p:nvPr/>
        </p:nvSpPr>
        <p:spPr>
          <a:xfrm>
            <a:off x="7584034" y="321157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Failed: SMS service down</a:t>
            </a:r>
            <a:endParaRPr lang="en-US" sz="1000" dirty="0"/>
          </a:p>
        </p:txBody>
      </p:sp>
      <p:sp>
        <p:nvSpPr>
          <p:cNvPr id="61" name="card"/>
          <p:cNvSpPr/>
          <p:nvPr/>
        </p:nvSpPr>
        <p:spPr>
          <a:xfrm>
            <a:off x="7355434" y="3675888"/>
            <a:ext cx="4274820" cy="1143000"/>
          </a:xfrm>
          <a:prstGeom prst="roundRect">
            <a:avLst>
              <a:gd name="adj" fmla="val 7199"/>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FBBF24"/>
                </a:solidFill>
                <a:latin typeface="Segoe UI"/>
                <a:ea typeface="Segoe UI"/>
                <a:cs typeface="Segoe UI"/>
              </a:rPr>
              <a:t>ONE IS THROWN</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await gives you the first failure (</a:t>
            </a:r>
            <a:r>
              <a:rPr lang="en-US" sz="1200" b="0" dirty="0">
                <a:solidFill>
                  <a:srgbClr val="FF0000"/>
                </a:solidFill>
                <a:latin typeface="Segoe UI"/>
                <a:ea typeface="Segoe UI"/>
                <a:cs typeface="Segoe UI"/>
              </a:rPr>
              <a:t>by task order).</a:t>
            </a:r>
            <a:endParaRPr lang="en-US" sz="1200" dirty="0">
              <a:solidFill>
                <a:srgbClr val="FF0000"/>
              </a:solidFill>
            </a:endParaRPr>
          </a:p>
        </p:txBody>
      </p:sp>
      <p:sp>
        <p:nvSpPr>
          <p:cNvPr id="62" name="card"/>
          <p:cNvSpPr/>
          <p:nvPr/>
        </p:nvSpPr>
        <p:spPr>
          <a:xfrm>
            <a:off x="7355434" y="4910328"/>
            <a:ext cx="4274820" cy="1143000"/>
          </a:xfrm>
          <a:prstGeom prst="roundRect">
            <a:avLst>
              <a:gd name="adj" fmla="val 7199"/>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34D399"/>
                </a:solidFill>
                <a:latin typeface="Segoe UI"/>
                <a:ea typeface="Segoe UI"/>
                <a:cs typeface="Segoe UI"/>
              </a:rPr>
              <a:t>ALL ARE KEPT</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Each faulted task still holds its own exception.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25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25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Effect transition="in" filter="fade">
                                      <p:cBhvr>
                                        <p:cTn id="75" dur="250"/>
                                        <p:tgtEl>
                                          <p:spTgt spid="6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250"/>
                                        <p:tgtEl>
                                          <p:spTgt spid="4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250"/>
                                        <p:tgtEl>
                                          <p:spTgt spid="5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animEffect transition="in" filter="fade">
                                      <p:cBhvr>
                                        <p:cTn id="86" dur="250"/>
                                        <p:tgtEl>
                                          <p:spTgt spid="6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2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animBg="1"/>
      <p:bldP spid="43" grpId="0" animBg="1"/>
      <p:bldP spid="51" grpId="0"/>
      <p:bldP spid="59" grpId="0"/>
      <p:bldP spid="60" grpId="0"/>
      <p:bldP spid="61" grpId="0" animBg="1"/>
      <p:bldP spid="62"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PART 7</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125</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BBF24"/>
                </a:solidFill>
                <a:latin typeface="Segoe UI"/>
                <a:ea typeface="Segoe UI"/>
                <a:cs typeface="Segoe UI"/>
              </a:rPr>
              <a:t>07</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Cancellation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Ask running work to stop, politely.</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Cooperative cancellation  ·  CancellationTokenSource  ·  Passing a token  ·  Checking in your own loops  ·  CancelAfter: timeouts  ·  Canceled is not failed  ·  Real example: video upload  ·  Quiz</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IDEA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Cancellation Is Cooperative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126</a:t>
            </a:r>
            <a:endParaRPr lang="en-US" sz="850" dirty="0"/>
          </a:p>
        </p:txBody>
      </p:sp>
      <p:sp>
        <p:nvSpPr>
          <p:cNvPr id="15" name="card"/>
          <p:cNvSpPr/>
          <p:nvPr/>
        </p:nvSpPr>
        <p:spPr>
          <a:xfrm>
            <a:off x="543154" y="1938528"/>
            <a:ext cx="3108960" cy="1280160"/>
          </a:xfrm>
          <a:prstGeom prst="roundRect">
            <a:avLst>
              <a:gd name="adj" fmla="val 6428"/>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FBBF24"/>
                </a:solidFill>
                <a:latin typeface="Segoe UI"/>
                <a:ea typeface="Segoe UI"/>
                <a:cs typeface="Segoe UI"/>
              </a:rPr>
              <a:t>CALLER</a:t>
            </a:r>
            <a:endParaRPr lang="en-US" sz="1050" dirty="0"/>
          </a:p>
          <a:p>
            <a:pPr marL="0" indent="0" algn="l">
              <a:spcBef>
                <a:spcPts val="0"/>
              </a:spcBef>
              <a:spcAft>
                <a:spcPts val="150"/>
              </a:spcAft>
              <a:buNone/>
            </a:pPr>
            <a:r>
              <a:rPr lang="en-US" sz="1100" b="1" dirty="0">
                <a:solidFill>
                  <a:srgbClr val="E2E8F0"/>
                </a:solidFill>
                <a:latin typeface="Consolas"/>
                <a:ea typeface="Consolas"/>
                <a:cs typeface="Consolas"/>
              </a:rPr>
              <a:t>CancellationTokenSource</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can call Cancel()</a:t>
            </a:r>
            <a:endParaRPr lang="en-US" sz="1150" dirty="0"/>
          </a:p>
        </p:txBody>
      </p:sp>
      <p:cxnSp>
        <p:nvCxnSpPr>
          <p:cNvPr id="16" name="arrow"/>
          <p:cNvCxnSpPr/>
          <p:nvPr/>
        </p:nvCxnSpPr>
        <p:spPr>
          <a:xfrm>
            <a:off x="3743554" y="2578608"/>
            <a:ext cx="1005840" cy="0"/>
          </a:xfrm>
          <a:prstGeom prst="line">
            <a:avLst/>
          </a:prstGeom>
          <a:ln w="28575">
            <a:solidFill>
              <a:srgbClr val="FBBF24"/>
            </a:solidFill>
            <a:tailEnd type="triangle" w="med" len="med"/>
          </a:ln>
        </p:spPr>
      </p:cxnSp>
      <p:sp>
        <p:nvSpPr>
          <p:cNvPr id="17" name="lab"/>
          <p:cNvSpPr txBox="1"/>
          <p:nvPr/>
        </p:nvSpPr>
        <p:spPr>
          <a:xfrm>
            <a:off x="3697834" y="2212848"/>
            <a:ext cx="109728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token</a:t>
            </a:r>
            <a:endParaRPr lang="en-US" sz="1050" dirty="0"/>
          </a:p>
        </p:txBody>
      </p:sp>
      <p:sp>
        <p:nvSpPr>
          <p:cNvPr id="18" name="card"/>
          <p:cNvSpPr/>
          <p:nvPr/>
        </p:nvSpPr>
        <p:spPr>
          <a:xfrm>
            <a:off x="4840834" y="1938528"/>
            <a:ext cx="3108960" cy="1280160"/>
          </a:xfrm>
          <a:prstGeom prst="roundRect">
            <a:avLst>
              <a:gd name="adj" fmla="val 6428"/>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13D0F7"/>
                </a:solidFill>
                <a:latin typeface="Segoe UI"/>
                <a:ea typeface="Segoe UI"/>
                <a:cs typeface="Segoe UI"/>
              </a:rPr>
              <a:t>THE WORK</a:t>
            </a:r>
            <a:endParaRPr lang="en-US" sz="1050" dirty="0"/>
          </a:p>
          <a:p>
            <a:pPr marL="0" indent="0" algn="l">
              <a:spcBef>
                <a:spcPts val="0"/>
              </a:spcBef>
              <a:spcAft>
                <a:spcPts val="150"/>
              </a:spcAft>
              <a:buNone/>
            </a:pPr>
            <a:r>
              <a:rPr lang="en-US" sz="1100" b="1" dirty="0">
                <a:solidFill>
                  <a:srgbClr val="E2E8F0"/>
                </a:solidFill>
                <a:latin typeface="Consolas"/>
                <a:ea typeface="Consolas"/>
                <a:cs typeface="Consolas"/>
              </a:rPr>
              <a:t>CancellationToken</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can only observe it</a:t>
            </a:r>
            <a:endParaRPr lang="en-US" sz="1150" dirty="0"/>
          </a:p>
        </p:txBody>
      </p:sp>
      <p:sp>
        <p:nvSpPr>
          <p:cNvPr id="19" name="card"/>
          <p:cNvSpPr/>
          <p:nvPr/>
        </p:nvSpPr>
        <p:spPr>
          <a:xfrm>
            <a:off x="543154" y="3538728"/>
            <a:ext cx="3108960" cy="914400"/>
          </a:xfrm>
          <a:prstGeom prst="roundRect">
            <a:avLst>
              <a:gd name="adj" fmla="val 9000"/>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ctr">
              <a:spcBef>
                <a:spcPts val="0"/>
              </a:spcBef>
              <a:spcAft>
                <a:spcPts val="100"/>
              </a:spcAft>
              <a:buNone/>
            </a:pPr>
            <a:r>
              <a:rPr lang="en-US" sz="1300" b="1" dirty="0">
                <a:solidFill>
                  <a:srgbClr val="F87171"/>
                </a:solidFill>
                <a:latin typeface="Consolas"/>
                <a:ea typeface="Consolas"/>
                <a:cs typeface="Consolas"/>
              </a:rPr>
              <a:t>cts.Cancel()</a:t>
            </a:r>
            <a:endParaRPr lang="en-US" sz="1300" dirty="0"/>
          </a:p>
          <a:p>
            <a:pPr marL="0" indent="0" algn="ctr">
              <a:spcBef>
                <a:spcPts val="0"/>
              </a:spcBef>
              <a:spcAft>
                <a:spcPts val="0"/>
              </a:spcAft>
              <a:buNone/>
            </a:pPr>
            <a:r>
              <a:rPr lang="en-US" sz="1150" b="0" dirty="0">
                <a:solidFill>
                  <a:srgbClr val="CBD5E1"/>
                </a:solidFill>
                <a:latin typeface="Segoe UI"/>
                <a:ea typeface="Segoe UI"/>
                <a:cs typeface="Segoe UI"/>
              </a:rPr>
              <a:t>"please stop when you can"</a:t>
            </a:r>
            <a:endParaRPr lang="en-US" sz="1150" dirty="0"/>
          </a:p>
        </p:txBody>
      </p:sp>
      <p:sp>
        <p:nvSpPr>
          <p:cNvPr id="20" name="card"/>
          <p:cNvSpPr/>
          <p:nvPr/>
        </p:nvSpPr>
        <p:spPr>
          <a:xfrm>
            <a:off x="4840834" y="3538728"/>
            <a:ext cx="3108960" cy="914400"/>
          </a:xfrm>
          <a:prstGeom prst="roundRect">
            <a:avLst>
              <a:gd name="adj" fmla="val 9000"/>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200" b="0" dirty="0">
                <a:solidFill>
                  <a:srgbClr val="CBD5E1"/>
                </a:solidFill>
                <a:latin typeface="Segoe UI"/>
                <a:ea typeface="Segoe UI"/>
                <a:cs typeface="Segoe UI"/>
              </a:rPr>
              <a:t>checks the token between steps and stops cleanly</a:t>
            </a:r>
            <a:endParaRPr lang="en-US" sz="1200" dirty="0"/>
          </a:p>
        </p:txBody>
      </p:sp>
      <p:sp>
        <p:nvSpPr>
          <p:cNvPr id="21" name="card"/>
          <p:cNvSpPr/>
          <p:nvPr/>
        </p:nvSpPr>
        <p:spPr>
          <a:xfrm>
            <a:off x="8269834" y="1938528"/>
            <a:ext cx="3360420" cy="2514600"/>
          </a:xfrm>
          <a:prstGeom prst="roundRect">
            <a:avLst>
              <a:gd name="adj" fmla="val 3272"/>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050" b="1" dirty="0">
                <a:solidFill>
                  <a:srgbClr val="A78BFA"/>
                </a:solidFill>
                <a:latin typeface="Segoe UI"/>
                <a:ea typeface="Segoe UI"/>
                <a:cs typeface="Segoe UI"/>
              </a:rPr>
              <a:t>ANALOGY</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waiter tells the kitchen "table 4 canceled". The cook finishes the current step safely, then stops; no half-burnt kitchen.</a:t>
            </a:r>
            <a:endParaRPr lang="en-US" sz="1250" dirty="0"/>
          </a:p>
        </p:txBody>
      </p:sp>
      <p:sp>
        <p:nvSpPr>
          <p:cNvPr id="22"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Cancellation is a request, not a kill: the work decides where it is safe to stop.</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5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8" grpId="0" animBg="1"/>
      <p:bldP spid="19" grpId="0" animBg="1"/>
      <p:bldP spid="20" grpId="0" animBg="1"/>
      <p:bldP spid="21" grpId="0" animBg="1"/>
      <p:bldP spid="22"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SOURCE &amp; TOKEN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CancellationTokenSource and Token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127</a:t>
            </a:r>
            <a:endParaRPr lang="en-US" sz="850" dirty="0"/>
          </a:p>
        </p:txBody>
      </p:sp>
      <p:sp>
        <p:nvSpPr>
          <p:cNvPr id="15" name="cw_win"/>
          <p:cNvSpPr/>
          <p:nvPr/>
        </p:nvSpPr>
        <p:spPr>
          <a:xfrm>
            <a:off x="543154" y="1572768"/>
            <a:ext cx="667512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6751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6751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using</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var</a:t>
            </a:r>
            <a:r>
              <a:rPr lang="en-US" sz="1100" b="0" dirty="0">
                <a:solidFill>
                  <a:srgbClr val="E2E8F0"/>
                </a:solidFill>
                <a:latin typeface="Consolas"/>
                <a:ea typeface="Consolas"/>
                <a:cs typeface="Consolas"/>
              </a:rPr>
              <a:t> cts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 CancellationTokenSource();</a:t>
            </a:r>
            <a:endParaRPr lang="en-US" sz="1100" dirty="0"/>
          </a:p>
        </p:txBody>
      </p:sp>
      <p:sp>
        <p:nvSpPr>
          <p:cNvPr id="23" name="cw_L02"/>
          <p:cNvSpPr txBox="1"/>
          <p:nvPr/>
        </p:nvSpPr>
        <p:spPr>
          <a:xfrm>
            <a:off x="771754" y="249529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CancellationToken token = cts.Token;   </a:t>
            </a:r>
            <a:r>
              <a:rPr lang="en-US" sz="1100" b="0" dirty="0">
                <a:solidFill>
                  <a:srgbClr val="6FAE7A"/>
                </a:solidFill>
                <a:latin typeface="Consolas"/>
                <a:ea typeface="Consolas"/>
                <a:cs typeface="Consolas"/>
              </a:rPr>
              <a:t>// give this to the work</a:t>
            </a:r>
            <a:endParaRPr lang="en-US" sz="1100" dirty="0"/>
          </a:p>
        </p:txBody>
      </p:sp>
      <p:sp>
        <p:nvSpPr>
          <p:cNvPr id="24" name="cw_L03"/>
          <p:cNvSpPr txBox="1"/>
          <p:nvPr/>
        </p:nvSpPr>
        <p:spPr>
          <a:xfrm>
            <a:off x="771754" y="271881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Console.WriteLine(token.IsCancellationRequested);   </a:t>
            </a:r>
            <a:r>
              <a:rPr lang="en-US" sz="1100" b="0" dirty="0">
                <a:solidFill>
                  <a:srgbClr val="6FAE7A"/>
                </a:solidFill>
                <a:latin typeface="Consolas"/>
                <a:ea typeface="Consolas"/>
                <a:cs typeface="Consolas"/>
              </a:rPr>
              <a:t>// False</a:t>
            </a:r>
            <a:endParaRPr lang="en-US" sz="1100" dirty="0"/>
          </a:p>
        </p:txBody>
      </p:sp>
      <p:sp>
        <p:nvSpPr>
          <p:cNvPr id="25" name="cw_L05"/>
          <p:cNvSpPr txBox="1"/>
          <p:nvPr/>
        </p:nvSpPr>
        <p:spPr>
          <a:xfrm>
            <a:off x="771754" y="316585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cts.Cancel();                          </a:t>
            </a:r>
            <a:r>
              <a:rPr lang="en-US" sz="1100" b="0" dirty="0">
                <a:solidFill>
                  <a:srgbClr val="6FAE7A"/>
                </a:solidFill>
                <a:latin typeface="Consolas"/>
                <a:ea typeface="Consolas"/>
                <a:cs typeface="Consolas"/>
              </a:rPr>
              <a:t>// ask the work to stop</a:t>
            </a:r>
            <a:endParaRPr lang="en-US" sz="1100" dirty="0"/>
          </a:p>
        </p:txBody>
      </p:sp>
      <p:sp>
        <p:nvSpPr>
          <p:cNvPr id="26" name="cw_L06"/>
          <p:cNvSpPr txBox="1"/>
          <p:nvPr/>
        </p:nvSpPr>
        <p:spPr>
          <a:xfrm>
            <a:off x="771754" y="338937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Console.WriteLine(token.IsCancellationRequested);   </a:t>
            </a:r>
            <a:r>
              <a:rPr lang="en-US" sz="1100" b="0" dirty="0">
                <a:solidFill>
                  <a:srgbClr val="6FAE7A"/>
                </a:solidFill>
                <a:latin typeface="Consolas"/>
                <a:ea typeface="Consolas"/>
                <a:cs typeface="Consolas"/>
              </a:rPr>
              <a:t>// True</a:t>
            </a:r>
            <a:endParaRPr lang="en-US" sz="1100" dirty="0"/>
          </a:p>
        </p:txBody>
      </p:sp>
      <p:sp>
        <p:nvSpPr>
          <p:cNvPr id="27" name="card"/>
          <p:cNvSpPr/>
          <p:nvPr/>
        </p:nvSpPr>
        <p:spPr>
          <a:xfrm>
            <a:off x="7446874" y="1572768"/>
            <a:ext cx="4183380" cy="1011936"/>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THE SOURCE</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caller keeps it. Only the source can cancel.</a:t>
            </a:r>
            <a:endParaRPr lang="en-US" sz="1250" dirty="0"/>
          </a:p>
        </p:txBody>
      </p:sp>
      <p:sp>
        <p:nvSpPr>
          <p:cNvPr id="28" name="card"/>
          <p:cNvSpPr/>
          <p:nvPr/>
        </p:nvSpPr>
        <p:spPr>
          <a:xfrm>
            <a:off x="7446874" y="2721864"/>
            <a:ext cx="418338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THE TOKEN</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Passed to the work. It can only observe: canceled yet?</a:t>
            </a:r>
            <a:endParaRPr lang="en-US" sz="1250" dirty="0"/>
          </a:p>
        </p:txBody>
      </p:sp>
      <p:sp>
        <p:nvSpPr>
          <p:cNvPr id="29" name="card"/>
          <p:cNvSpPr/>
          <p:nvPr/>
        </p:nvSpPr>
        <p:spPr>
          <a:xfrm>
            <a:off x="7446874" y="3870960"/>
            <a:ext cx="418338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using var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source holds resources: dispose it when you're done.</a:t>
            </a:r>
            <a:endParaRPr lang="en-US" sz="1250" dirty="0"/>
          </a:p>
        </p:txBody>
      </p:sp>
      <p:sp>
        <p:nvSpPr>
          <p:cNvPr id="30"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The source cancels; the token is what you pass around.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25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5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5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animBg="1"/>
      <p:bldP spid="29" grpId="0" animBg="1"/>
      <p:bldP spid="30"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PASS THE TOKEN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Pass the Token Down to the Work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128</a:t>
            </a:r>
            <a:endParaRPr lang="en-US" sz="850" dirty="0"/>
          </a:p>
        </p:txBody>
      </p:sp>
      <p:sp>
        <p:nvSpPr>
          <p:cNvPr id="15" name="cw_win"/>
          <p:cNvSpPr/>
          <p:nvPr/>
        </p:nvSpPr>
        <p:spPr>
          <a:xfrm>
            <a:off x="543154" y="1572768"/>
            <a:ext cx="640080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cts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CancellationTokenSource();</a:t>
            </a:r>
            <a:endParaRPr lang="en-US" sz="950" dirty="0"/>
          </a:p>
        </p:txBody>
      </p:sp>
      <p:sp>
        <p:nvSpPr>
          <p:cNvPr id="23" name="cw_L01"/>
          <p:cNvSpPr txBox="1"/>
          <p:nvPr/>
        </p:nvSpPr>
        <p:spPr>
          <a:xfrm>
            <a:off x="771754" y="224129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orderTask = ProcessOrderAsync(cts.Token);</a:t>
            </a:r>
            <a:endParaRPr lang="en-US" sz="950" dirty="0"/>
          </a:p>
        </p:txBody>
      </p:sp>
      <p:sp>
        <p:nvSpPr>
          <p:cNvPr id="24" name="cw_L03"/>
          <p:cNvSpPr txBox="1"/>
          <p:nvPr/>
        </p:nvSpPr>
        <p:spPr>
          <a:xfrm>
            <a:off x="771754" y="262737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"Press Enter to cancel the order"</a:t>
            </a:r>
            <a:r>
              <a:rPr lang="en-US" sz="950" b="0" dirty="0">
                <a:solidFill>
                  <a:srgbClr val="E2E8F0"/>
                </a:solidFill>
                <a:latin typeface="Consolas"/>
                <a:ea typeface="Consolas"/>
                <a:cs typeface="Consolas"/>
              </a:rPr>
              <a:t>);</a:t>
            </a:r>
            <a:endParaRPr lang="en-US" sz="950" dirty="0"/>
          </a:p>
        </p:txBody>
      </p:sp>
      <p:sp>
        <p:nvSpPr>
          <p:cNvPr id="25" name="cw_L04"/>
          <p:cNvSpPr txBox="1"/>
          <p:nvPr/>
        </p:nvSpPr>
        <p:spPr>
          <a:xfrm>
            <a:off x="771754" y="282041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Console.ReadLine();</a:t>
            </a:r>
            <a:endParaRPr lang="en-US" sz="950" dirty="0"/>
          </a:p>
        </p:txBody>
      </p:sp>
      <p:sp>
        <p:nvSpPr>
          <p:cNvPr id="26" name="cw_L05"/>
          <p:cNvSpPr txBox="1"/>
          <p:nvPr/>
        </p:nvSpPr>
        <p:spPr>
          <a:xfrm>
            <a:off x="771754" y="30134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cts.Cancel();</a:t>
            </a:r>
            <a:endParaRPr lang="en-US" sz="950" dirty="0"/>
          </a:p>
        </p:txBody>
      </p:sp>
      <p:sp>
        <p:nvSpPr>
          <p:cNvPr id="27" name="cw_L06"/>
          <p:cNvSpPr txBox="1"/>
          <p:nvPr/>
        </p:nvSpPr>
        <p:spPr>
          <a:xfrm>
            <a:off x="771754" y="320649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28" name="cw_L07"/>
          <p:cNvSpPr txBox="1"/>
          <p:nvPr/>
        </p:nvSpPr>
        <p:spPr>
          <a:xfrm>
            <a:off x="771754" y="339953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9" name="cw_L08"/>
          <p:cNvSpPr txBox="1"/>
          <p:nvPr/>
        </p:nvSpPr>
        <p:spPr>
          <a:xfrm>
            <a:off x="771754" y="359257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orderTask;</a:t>
            </a:r>
            <a:endParaRPr lang="en-US" sz="950" dirty="0"/>
          </a:p>
        </p:txBody>
      </p:sp>
      <p:sp>
        <p:nvSpPr>
          <p:cNvPr id="30" name="cw_L09"/>
          <p:cNvSpPr txBox="1"/>
          <p:nvPr/>
        </p:nvSpPr>
        <p:spPr>
          <a:xfrm>
            <a:off x="771754" y="378561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1" name="cw_L10"/>
          <p:cNvSpPr txBox="1"/>
          <p:nvPr/>
        </p:nvSpPr>
        <p:spPr>
          <a:xfrm>
            <a:off x="771754" y="39786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(OperationCanceledException)</a:t>
            </a:r>
            <a:endParaRPr lang="en-US" sz="950" dirty="0"/>
          </a:p>
        </p:txBody>
      </p:sp>
      <p:sp>
        <p:nvSpPr>
          <p:cNvPr id="32" name="cw_L11"/>
          <p:cNvSpPr txBox="1"/>
          <p:nvPr/>
        </p:nvSpPr>
        <p:spPr>
          <a:xfrm>
            <a:off x="771754" y="417169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_L12"/>
          <p:cNvSpPr txBox="1"/>
          <p:nvPr/>
        </p:nvSpPr>
        <p:spPr>
          <a:xfrm>
            <a:off x="771754" y="436473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"Order canceled"</a:t>
            </a:r>
            <a:r>
              <a:rPr lang="en-US" sz="950" b="0" dirty="0">
                <a:solidFill>
                  <a:srgbClr val="E2E8F0"/>
                </a:solidFill>
                <a:latin typeface="Consolas"/>
                <a:ea typeface="Consolas"/>
                <a:cs typeface="Consolas"/>
              </a:rPr>
              <a:t>);</a:t>
            </a:r>
            <a:endParaRPr lang="en-US" sz="950" dirty="0"/>
          </a:p>
        </p:txBody>
      </p:sp>
      <p:sp>
        <p:nvSpPr>
          <p:cNvPr id="34" name="cw_L13"/>
          <p:cNvSpPr txBox="1"/>
          <p:nvPr/>
        </p:nvSpPr>
        <p:spPr>
          <a:xfrm>
            <a:off x="771754" y="455777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5" name="cw_L14"/>
          <p:cNvSpPr txBox="1"/>
          <p:nvPr/>
        </p:nvSpPr>
        <p:spPr>
          <a:xfrm>
            <a:off x="771754" y="475081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ProcessOrderAsync(CancellationToken cancellationToken)</a:t>
            </a:r>
            <a:endParaRPr lang="en-US" sz="950" dirty="0"/>
          </a:p>
        </p:txBody>
      </p:sp>
      <p:sp>
        <p:nvSpPr>
          <p:cNvPr id="36" name="cw_L15"/>
          <p:cNvSpPr txBox="1"/>
          <p:nvPr/>
        </p:nvSpPr>
        <p:spPr>
          <a:xfrm>
            <a:off x="771754" y="49438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7" name="cw_L16"/>
          <p:cNvSpPr txBox="1"/>
          <p:nvPr/>
        </p:nvSpPr>
        <p:spPr>
          <a:xfrm>
            <a:off x="771754" y="513689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"Preparing order..."</a:t>
            </a:r>
            <a:r>
              <a:rPr lang="en-US" sz="950" b="0" dirty="0">
                <a:solidFill>
                  <a:srgbClr val="E2E8F0"/>
                </a:solidFill>
                <a:latin typeface="Consolas"/>
                <a:ea typeface="Consolas"/>
                <a:cs typeface="Consolas"/>
              </a:rPr>
              <a:t>);</a:t>
            </a:r>
            <a:endParaRPr lang="en-US" sz="950" dirty="0"/>
          </a:p>
        </p:txBody>
      </p:sp>
      <p:sp>
        <p:nvSpPr>
          <p:cNvPr id="38" name="cw_L17"/>
          <p:cNvSpPr txBox="1"/>
          <p:nvPr/>
        </p:nvSpPr>
        <p:spPr>
          <a:xfrm>
            <a:off x="771754" y="532993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Task.Delay(5000, cancellationToken);   </a:t>
            </a:r>
            <a:r>
              <a:rPr lang="en-US" sz="950" b="0" dirty="0">
                <a:solidFill>
                  <a:srgbClr val="6FAE7A"/>
                </a:solidFill>
                <a:latin typeface="Consolas"/>
                <a:ea typeface="Consolas"/>
                <a:cs typeface="Consolas"/>
              </a:rPr>
              <a:t>// stops early</a:t>
            </a:r>
            <a:endParaRPr lang="en-US" sz="950" dirty="0"/>
          </a:p>
        </p:txBody>
      </p:sp>
      <p:sp>
        <p:nvSpPr>
          <p:cNvPr id="39" name="cw_L18"/>
          <p:cNvSpPr txBox="1"/>
          <p:nvPr/>
        </p:nvSpPr>
        <p:spPr>
          <a:xfrm>
            <a:off x="771754" y="552297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"Order ready"</a:t>
            </a:r>
            <a:r>
              <a:rPr lang="en-US" sz="950" b="0" dirty="0">
                <a:solidFill>
                  <a:srgbClr val="E2E8F0"/>
                </a:solidFill>
                <a:latin typeface="Consolas"/>
                <a:ea typeface="Consolas"/>
                <a:cs typeface="Consolas"/>
              </a:rPr>
              <a:t>);</a:t>
            </a:r>
            <a:endParaRPr lang="en-US" sz="950" dirty="0"/>
          </a:p>
        </p:txBody>
      </p:sp>
      <p:sp>
        <p:nvSpPr>
          <p:cNvPr id="40" name="cw_L19"/>
          <p:cNvSpPr txBox="1"/>
          <p:nvPr/>
        </p:nvSpPr>
        <p:spPr>
          <a:xfrm>
            <a:off x="771754" y="571601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1" name="cmark"/>
          <p:cNvSpPr/>
          <p:nvPr/>
        </p:nvSpPr>
        <p:spPr>
          <a:xfrm>
            <a:off x="676656" y="5118608"/>
            <a:ext cx="6133795" cy="229616"/>
          </a:xfrm>
          <a:prstGeom prst="rect">
            <a:avLst/>
          </a:prstGeom>
          <a:solidFill>
            <a:srgbClr val="13D0F7">
              <a:alpha val="16000"/>
            </a:srgbClr>
          </a:solidFill>
          <a:ln w="15875">
            <a:solidFill>
              <a:srgbClr val="13D0F7"/>
            </a:solidFill>
            <a:prstDash val="solid"/>
          </a:ln>
        </p:spPr>
        <p:txBody>
          <a:bodyPr/>
          <a:lstStyle/>
          <a:p>
            <a:endParaRPr lang="en-US"/>
          </a:p>
        </p:txBody>
      </p:sp>
      <p:sp>
        <p:nvSpPr>
          <p:cNvPr id="42" name="cmark"/>
          <p:cNvSpPr/>
          <p:nvPr/>
        </p:nvSpPr>
        <p:spPr>
          <a:xfrm>
            <a:off x="676656" y="2995168"/>
            <a:ext cx="6133795" cy="229616"/>
          </a:xfrm>
          <a:prstGeom prst="rect">
            <a:avLst/>
          </a:prstGeom>
          <a:solidFill>
            <a:srgbClr val="F87171">
              <a:alpha val="16000"/>
            </a:srgbClr>
          </a:solidFill>
          <a:ln w="15875">
            <a:solidFill>
              <a:srgbClr val="F87171"/>
            </a:solidFill>
            <a:prstDash val="solid"/>
          </a:ln>
        </p:spPr>
        <p:txBody>
          <a:bodyPr/>
          <a:lstStyle/>
          <a:p>
            <a:endParaRPr lang="en-US"/>
          </a:p>
        </p:txBody>
      </p:sp>
      <p:sp>
        <p:nvSpPr>
          <p:cNvPr id="43" name="lab"/>
          <p:cNvSpPr txBox="1"/>
          <p:nvPr/>
        </p:nvSpPr>
        <p:spPr>
          <a:xfrm>
            <a:off x="7218274" y="1755648"/>
            <a:ext cx="7315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Order</a:t>
            </a:r>
            <a:endParaRPr lang="en-US" sz="1100" dirty="0"/>
          </a:p>
        </p:txBody>
      </p:sp>
      <p:sp>
        <p:nvSpPr>
          <p:cNvPr id="44" name="lane"/>
          <p:cNvSpPr/>
          <p:nvPr/>
        </p:nvSpPr>
        <p:spPr>
          <a:xfrm>
            <a:off x="8041234" y="2194560"/>
            <a:ext cx="3589020" cy="18288"/>
          </a:xfrm>
          <a:prstGeom prst="rect">
            <a:avLst/>
          </a:prstGeom>
          <a:solidFill>
            <a:srgbClr val="1E3A5F"/>
          </a:solidFill>
          <a:ln w="12700">
            <a:solidFill>
              <a:srgbClr val="1E3A5F"/>
            </a:solidFill>
            <a:prstDash val="solid"/>
          </a:ln>
        </p:spPr>
        <p:txBody>
          <a:bodyPr/>
          <a:lstStyle/>
          <a:p>
            <a:endParaRPr lang="en-US"/>
          </a:p>
        </p:txBody>
      </p:sp>
      <p:sp>
        <p:nvSpPr>
          <p:cNvPr id="45" name="bar"/>
          <p:cNvSpPr/>
          <p:nvPr/>
        </p:nvSpPr>
        <p:spPr>
          <a:xfrm>
            <a:off x="8086954" y="1773936"/>
            <a:ext cx="1399032" cy="384048"/>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preparing...</a:t>
            </a:r>
            <a:endParaRPr lang="en-US" sz="950" dirty="0"/>
          </a:p>
        </p:txBody>
      </p:sp>
      <p:sp>
        <p:nvSpPr>
          <p:cNvPr id="46" name="bar"/>
          <p:cNvSpPr/>
          <p:nvPr/>
        </p:nvSpPr>
        <p:spPr>
          <a:xfrm>
            <a:off x="9520961" y="1773936"/>
            <a:ext cx="2063572" cy="384048"/>
          </a:xfrm>
          <a:prstGeom prst="roundRect">
            <a:avLst>
              <a:gd name="adj" fmla="val 20000"/>
            </a:avLst>
          </a:prstGeom>
          <a:solidFill>
            <a:srgbClr val="64748B">
              <a:alpha val="10000"/>
            </a:srgbClr>
          </a:solidFill>
          <a:ln w="12700">
            <a:solidFill>
              <a:srgbClr val="64748B"/>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never happens</a:t>
            </a:r>
            <a:endParaRPr lang="en-US" sz="900" dirty="0"/>
          </a:p>
        </p:txBody>
      </p:sp>
      <p:sp>
        <p:nvSpPr>
          <p:cNvPr id="47" name="cut"/>
          <p:cNvSpPr/>
          <p:nvPr/>
        </p:nvSpPr>
        <p:spPr>
          <a:xfrm>
            <a:off x="9485986" y="1618488"/>
            <a:ext cx="45720" cy="685800"/>
          </a:xfrm>
          <a:prstGeom prst="rect">
            <a:avLst/>
          </a:prstGeom>
          <a:solidFill>
            <a:srgbClr val="F87171"/>
          </a:solidFill>
          <a:ln w="12700">
            <a:solidFill>
              <a:srgbClr val="F87171"/>
            </a:solidFill>
            <a:prstDash val="solid"/>
          </a:ln>
        </p:spPr>
        <p:txBody>
          <a:bodyPr/>
          <a:lstStyle/>
          <a:p>
            <a:endParaRPr lang="en-US"/>
          </a:p>
        </p:txBody>
      </p:sp>
      <p:sp>
        <p:nvSpPr>
          <p:cNvPr id="48" name="lab"/>
          <p:cNvSpPr txBox="1"/>
          <p:nvPr/>
        </p:nvSpPr>
        <p:spPr>
          <a:xfrm>
            <a:off x="9590913" y="1847088"/>
            <a:ext cx="201168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Cancel()</a:t>
            </a:r>
            <a:endParaRPr lang="en-US" sz="1150" dirty="0"/>
          </a:p>
        </p:txBody>
      </p:sp>
      <p:sp>
        <p:nvSpPr>
          <p:cNvPr id="49" name="out_win"/>
          <p:cNvSpPr/>
          <p:nvPr/>
        </p:nvSpPr>
        <p:spPr>
          <a:xfrm>
            <a:off x="7218274" y="2487168"/>
            <a:ext cx="4411980" cy="1371600"/>
          </a:xfrm>
          <a:prstGeom prst="roundRect">
            <a:avLst>
              <a:gd name="adj" fmla="val 5000"/>
            </a:avLst>
          </a:prstGeom>
          <a:solidFill>
            <a:srgbClr val="060D18"/>
          </a:solidFill>
          <a:ln w="12700">
            <a:solidFill>
              <a:srgbClr val="1E3A5F"/>
            </a:solidFill>
            <a:prstDash val="solid"/>
          </a:ln>
        </p:spPr>
        <p:txBody>
          <a:bodyPr/>
          <a:lstStyle/>
          <a:p>
            <a:endParaRPr lang="en-US"/>
          </a:p>
        </p:txBody>
      </p:sp>
      <p:sp>
        <p:nvSpPr>
          <p:cNvPr id="50" name="out_bar"/>
          <p:cNvSpPr/>
          <p:nvPr/>
        </p:nvSpPr>
        <p:spPr>
          <a:xfrm>
            <a:off x="7218274" y="2487168"/>
            <a:ext cx="44119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1" name="out_barfill"/>
          <p:cNvSpPr/>
          <p:nvPr/>
        </p:nvSpPr>
        <p:spPr>
          <a:xfrm>
            <a:off x="7218274" y="2658618"/>
            <a:ext cx="4411980" cy="171450"/>
          </a:xfrm>
          <a:prstGeom prst="rect">
            <a:avLst/>
          </a:prstGeom>
          <a:solidFill>
            <a:srgbClr val="0A1220"/>
          </a:solidFill>
          <a:ln w="12700">
            <a:solidFill>
              <a:srgbClr val="0A1220"/>
            </a:solidFill>
            <a:prstDash val="solid"/>
          </a:ln>
        </p:spPr>
        <p:txBody>
          <a:bodyPr/>
          <a:lstStyle/>
          <a:p>
            <a:endParaRPr lang="en-US"/>
          </a:p>
        </p:txBody>
      </p:sp>
      <p:sp>
        <p:nvSpPr>
          <p:cNvPr id="52" name="out_dot0"/>
          <p:cNvSpPr/>
          <p:nvPr/>
        </p:nvSpPr>
        <p:spPr>
          <a:xfrm>
            <a:off x="7380122" y="2610978"/>
            <a:ext cx="95098" cy="95098"/>
          </a:xfrm>
          <a:prstGeom prst="ellipse">
            <a:avLst/>
          </a:prstGeom>
          <a:solidFill>
            <a:srgbClr val="F87171"/>
          </a:solidFill>
          <a:ln w="12700">
            <a:solidFill>
              <a:srgbClr val="F87171"/>
            </a:solidFill>
            <a:prstDash val="solid"/>
          </a:ln>
        </p:spPr>
        <p:txBody>
          <a:bodyPr/>
          <a:lstStyle/>
          <a:p>
            <a:endParaRPr lang="en-US"/>
          </a:p>
        </p:txBody>
      </p:sp>
      <p:sp>
        <p:nvSpPr>
          <p:cNvPr id="53" name="out_dot1"/>
          <p:cNvSpPr/>
          <p:nvPr/>
        </p:nvSpPr>
        <p:spPr>
          <a:xfrm>
            <a:off x="7565746" y="2610978"/>
            <a:ext cx="95098" cy="95098"/>
          </a:xfrm>
          <a:prstGeom prst="ellipse">
            <a:avLst/>
          </a:prstGeom>
          <a:solidFill>
            <a:srgbClr val="FBBF24"/>
          </a:solidFill>
          <a:ln w="12700">
            <a:solidFill>
              <a:srgbClr val="FBBF24"/>
            </a:solidFill>
            <a:prstDash val="solid"/>
          </a:ln>
        </p:spPr>
        <p:txBody>
          <a:bodyPr/>
          <a:lstStyle/>
          <a:p>
            <a:endParaRPr lang="en-US"/>
          </a:p>
        </p:txBody>
      </p:sp>
      <p:sp>
        <p:nvSpPr>
          <p:cNvPr id="54" name="out_dot2"/>
          <p:cNvSpPr/>
          <p:nvPr/>
        </p:nvSpPr>
        <p:spPr>
          <a:xfrm>
            <a:off x="7751369" y="2610978"/>
            <a:ext cx="95098" cy="95098"/>
          </a:xfrm>
          <a:prstGeom prst="ellipse">
            <a:avLst/>
          </a:prstGeom>
          <a:solidFill>
            <a:srgbClr val="34D399"/>
          </a:solidFill>
          <a:ln w="12700">
            <a:solidFill>
              <a:srgbClr val="34D399"/>
            </a:solidFill>
            <a:prstDash val="solid"/>
          </a:ln>
        </p:spPr>
        <p:txBody>
          <a:bodyPr/>
          <a:lstStyle/>
          <a:p>
            <a:endParaRPr lang="en-US"/>
          </a:p>
        </p:txBody>
      </p:sp>
      <p:sp>
        <p:nvSpPr>
          <p:cNvPr id="55" name="out_tab"/>
          <p:cNvSpPr/>
          <p:nvPr/>
        </p:nvSpPr>
        <p:spPr>
          <a:xfrm>
            <a:off x="7999171" y="25347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6" name="out_L00"/>
          <p:cNvSpPr txBox="1"/>
          <p:nvPr/>
        </p:nvSpPr>
        <p:spPr>
          <a:xfrm>
            <a:off x="7446874" y="2962656"/>
            <a:ext cx="40279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Press Enter to cancel the order</a:t>
            </a:r>
            <a:endParaRPr lang="en-US" sz="950" dirty="0"/>
          </a:p>
        </p:txBody>
      </p:sp>
      <p:sp>
        <p:nvSpPr>
          <p:cNvPr id="57" name="out_L01"/>
          <p:cNvSpPr txBox="1"/>
          <p:nvPr/>
        </p:nvSpPr>
        <p:spPr>
          <a:xfrm>
            <a:off x="7446874" y="3155696"/>
            <a:ext cx="40279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Preparing order...</a:t>
            </a:r>
            <a:endParaRPr lang="en-US" sz="950" dirty="0"/>
          </a:p>
        </p:txBody>
      </p:sp>
      <p:sp>
        <p:nvSpPr>
          <p:cNvPr id="58" name="out_L02"/>
          <p:cNvSpPr txBox="1"/>
          <p:nvPr/>
        </p:nvSpPr>
        <p:spPr>
          <a:xfrm>
            <a:off x="7446874" y="3348736"/>
            <a:ext cx="40279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4748B"/>
                </a:solidFill>
                <a:latin typeface="Consolas"/>
                <a:ea typeface="Consolas"/>
                <a:cs typeface="Consolas"/>
              </a:rPr>
              <a:t>(Enter)</a:t>
            </a:r>
            <a:endParaRPr lang="en-US" sz="950" dirty="0"/>
          </a:p>
        </p:txBody>
      </p:sp>
      <p:sp>
        <p:nvSpPr>
          <p:cNvPr id="59" name="out_L03"/>
          <p:cNvSpPr txBox="1"/>
          <p:nvPr/>
        </p:nvSpPr>
        <p:spPr>
          <a:xfrm>
            <a:off x="7446874" y="3541776"/>
            <a:ext cx="40279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Order canceled</a:t>
            </a:r>
            <a:endParaRPr lang="en-US" sz="950" dirty="0"/>
          </a:p>
        </p:txBody>
      </p:sp>
      <p:sp>
        <p:nvSpPr>
          <p:cNvPr id="60" name="card"/>
          <p:cNvSpPr/>
          <p:nvPr/>
        </p:nvSpPr>
        <p:spPr>
          <a:xfrm>
            <a:off x="7218274" y="3995928"/>
            <a:ext cx="4411980" cy="2057400"/>
          </a:xfrm>
          <a:prstGeom prst="roundRect">
            <a:avLst>
              <a:gd name="adj" fmla="val 4000"/>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100" b="1" dirty="0">
                <a:solidFill>
                  <a:srgbClr val="13D0F7"/>
                </a:solidFill>
                <a:latin typeface="Segoe UI"/>
                <a:ea typeface="Segoe UI"/>
                <a:cs typeface="Segoe UI"/>
              </a:rPr>
              <a:t>PASS IT ALONG</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Every async method in the chain takes the token and passes it to the operations it awaits.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250"/>
                                        <p:tgtEl>
                                          <p:spTgt spid="4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25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250"/>
                                        <p:tgtEl>
                                          <p:spTgt spid="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250"/>
                                        <p:tgtEl>
                                          <p:spTgt spid="4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250"/>
                                        <p:tgtEl>
                                          <p:spTgt spid="4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250"/>
                                        <p:tgtEl>
                                          <p:spTgt spid="4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25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250"/>
                                        <p:tgtEl>
                                          <p:spTgt spid="48"/>
                                        </p:tgtEl>
                                      </p:cBhvr>
                                    </p:animEffect>
                                  </p:childTnLst>
                                </p:cTn>
                              </p:par>
                              <p:par>
                                <p:cTn id="90" presetID="10" presetClass="exit" presetSubtype="0" fill="hold" grpId="1" nodeType="withEffect">
                                  <p:stCondLst>
                                    <p:cond delay="0"/>
                                  </p:stCondLst>
                                  <p:childTnLst>
                                    <p:animEffect transition="out" filter="fade">
                                      <p:cBhvr>
                                        <p:cTn id="91" dur="250"/>
                                        <p:tgtEl>
                                          <p:spTgt spid="46"/>
                                        </p:tgtEl>
                                      </p:cBhvr>
                                    </p:animEffect>
                                    <p:set>
                                      <p:cBhvr>
                                        <p:cTn id="92" dur="1" fill="hold">
                                          <p:stCondLst>
                                            <p:cond delay="249"/>
                                          </p:stCondLst>
                                        </p:cTn>
                                        <p:tgtEl>
                                          <p:spTgt spid="46"/>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250"/>
                                        <p:tgtEl>
                                          <p:spTgt spid="5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animEffect transition="in" filter="fade">
                                      <p:cBhvr>
                                        <p:cTn id="100" dur="250"/>
                                        <p:tgtEl>
                                          <p:spTgt spid="5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250"/>
                                        <p:tgtEl>
                                          <p:spTgt spid="5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250"/>
                                        <p:tgtEl>
                                          <p:spTgt spid="5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fade">
                                      <p:cBhvr>
                                        <p:cTn id="111"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animBg="1"/>
      <p:bldP spid="42" grpId="0" animBg="1"/>
      <p:bldP spid="43" grpId="0"/>
      <p:bldP spid="44" grpId="0" animBg="1"/>
      <p:bldP spid="45" grpId="0" animBg="1"/>
      <p:bldP spid="46" grpId="0" animBg="1"/>
      <p:bldP spid="46" grpId="1" animBg="1"/>
      <p:bldP spid="47" grpId="0" animBg="1"/>
      <p:bldP spid="48" grpId="0"/>
      <p:bldP spid="56" grpId="0"/>
      <p:bldP spid="57" grpId="0"/>
      <p:bldP spid="58" grpId="0"/>
      <p:bldP spid="59" grpId="0"/>
      <p:bldP spid="6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YOUR LOOPS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Check the Token in Your Own Loops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129</a:t>
            </a:r>
            <a:endParaRPr lang="en-US" sz="850" dirty="0"/>
          </a:p>
        </p:txBody>
      </p:sp>
      <p:sp>
        <p:nvSpPr>
          <p:cNvPr id="15" name="cw_win"/>
          <p:cNvSpPr/>
          <p:nvPr/>
        </p:nvSpPr>
        <p:spPr>
          <a:xfrm>
            <a:off x="543154" y="1572768"/>
            <a:ext cx="63093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long SumOrders(</a:t>
            </a:r>
            <a:r>
              <a:rPr lang="en-US" sz="1150" b="0" dirty="0">
                <a:solidFill>
                  <a:srgbClr val="60A5FA"/>
                </a:solidFill>
                <a:latin typeface="Consolas"/>
                <a:ea typeface="Consolas"/>
                <a:cs typeface="Consolas"/>
              </a:rPr>
              <a:t>int</a:t>
            </a:r>
            <a:r>
              <a:rPr lang="en-US" sz="1150" b="0" dirty="0">
                <a:solidFill>
                  <a:srgbClr val="E2E8F0"/>
                </a:solidFill>
                <a:latin typeface="Consolas"/>
                <a:ea typeface="Consolas"/>
                <a:cs typeface="Consolas"/>
              </a:rPr>
              <a:t>[] amounts, CancellationToken token)</a:t>
            </a:r>
            <a:endParaRPr lang="en-US" sz="1150" dirty="0"/>
          </a:p>
        </p:txBody>
      </p:sp>
      <p:sp>
        <p:nvSpPr>
          <p:cNvPr id="23" name="cw_L01"/>
          <p:cNvSpPr txBox="1"/>
          <p:nvPr/>
        </p:nvSpPr>
        <p:spPr>
          <a:xfrm>
            <a:off x="771754" y="228193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long total = 0;</a:t>
            </a:r>
            <a:endParaRPr lang="en-US" sz="1150" dirty="0"/>
          </a:p>
        </p:txBody>
      </p:sp>
      <p:sp>
        <p:nvSpPr>
          <p:cNvPr id="25" name="cw_L03"/>
          <p:cNvSpPr txBox="1"/>
          <p:nvPr/>
        </p:nvSpPr>
        <p:spPr>
          <a:xfrm>
            <a:off x="771754" y="274929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for</a:t>
            </a:r>
            <a:r>
              <a:rPr lang="en-US" sz="1150" b="0" dirty="0">
                <a:solidFill>
                  <a:srgbClr val="E2E8F0"/>
                </a:solidFill>
                <a:latin typeface="Consolas"/>
                <a:ea typeface="Consolas"/>
                <a:cs typeface="Consolas"/>
              </a:rPr>
              <a:t> (</a:t>
            </a:r>
            <a:r>
              <a:rPr lang="en-US" sz="1150" b="0" dirty="0">
                <a:solidFill>
                  <a:srgbClr val="60A5FA"/>
                </a:solidFill>
                <a:latin typeface="Consolas"/>
                <a:ea typeface="Consolas"/>
                <a:cs typeface="Consolas"/>
              </a:rPr>
              <a:t>int</a:t>
            </a:r>
            <a:r>
              <a:rPr lang="en-US" sz="1150" b="0" dirty="0">
                <a:solidFill>
                  <a:srgbClr val="E2E8F0"/>
                </a:solidFill>
                <a:latin typeface="Consolas"/>
                <a:ea typeface="Consolas"/>
                <a:cs typeface="Consolas"/>
              </a:rPr>
              <a:t> i = 0; i &lt; amounts.Length; i++)</a:t>
            </a:r>
            <a:endParaRPr lang="en-US" sz="1150" dirty="0"/>
          </a:p>
        </p:txBody>
      </p:sp>
      <p:sp>
        <p:nvSpPr>
          <p:cNvPr id="26" name="cw_L04"/>
          <p:cNvSpPr txBox="1"/>
          <p:nvPr/>
        </p:nvSpPr>
        <p:spPr>
          <a:xfrm>
            <a:off x="771754" y="298297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7" name="cw_hl05"/>
          <p:cNvSpPr/>
          <p:nvPr/>
        </p:nvSpPr>
        <p:spPr>
          <a:xfrm>
            <a:off x="676656" y="3198368"/>
            <a:ext cx="6042355" cy="270256"/>
          </a:xfrm>
          <a:prstGeom prst="rect">
            <a:avLst/>
          </a:prstGeom>
          <a:solidFill>
            <a:srgbClr val="FBBF24">
              <a:alpha val="15000"/>
            </a:srgbClr>
          </a:solidFill>
          <a:ln w="12700">
            <a:solidFill>
              <a:srgbClr val="FBBF24"/>
            </a:solidFill>
            <a:prstDash val="solid"/>
          </a:ln>
        </p:spPr>
        <p:txBody>
          <a:bodyPr/>
          <a:lstStyle/>
          <a:p>
            <a:endParaRPr lang="en-US"/>
          </a:p>
        </p:txBody>
      </p:sp>
      <p:sp>
        <p:nvSpPr>
          <p:cNvPr id="28" name="cw_L05"/>
          <p:cNvSpPr txBox="1"/>
          <p:nvPr/>
        </p:nvSpPr>
        <p:spPr>
          <a:xfrm>
            <a:off x="771754" y="3216656"/>
            <a:ext cx="5925312" cy="233680"/>
          </a:xfrm>
          <a:prstGeom prst="rect">
            <a:avLst/>
          </a:prstGeom>
          <a:noFill/>
          <a:ln>
            <a:noFill/>
          </a:ln>
        </p:spPr>
        <p:txBody>
          <a:bodyPr wrap="none" lIns="0" tIns="0" rIns="0" bIns="0" rtlCol="0" anchor="ctr">
            <a:noAutofit/>
          </a:bodyPr>
          <a:lstStyle/>
          <a:p>
            <a:pPr marL="642620" indent="0" algn="l">
              <a:spcBef>
                <a:spcPts val="0"/>
              </a:spcBef>
              <a:spcAft>
                <a:spcPts val="0"/>
              </a:spcAft>
              <a:buNone/>
            </a:pPr>
            <a:r>
              <a:rPr lang="en-US" sz="1150" b="0" dirty="0">
                <a:solidFill>
                  <a:srgbClr val="E2E8F0"/>
                </a:solidFill>
                <a:latin typeface="Consolas"/>
                <a:ea typeface="Consolas"/>
                <a:cs typeface="Consolas"/>
              </a:rPr>
              <a:t>token.ThrowIfCancellationRequested();   </a:t>
            </a:r>
            <a:r>
              <a:rPr lang="en-US" sz="1150" b="0" dirty="0">
                <a:solidFill>
                  <a:srgbClr val="6FAE7A"/>
                </a:solidFill>
                <a:latin typeface="Consolas"/>
                <a:ea typeface="Consolas"/>
                <a:cs typeface="Consolas"/>
              </a:rPr>
              <a:t>// safe point</a:t>
            </a:r>
            <a:endParaRPr lang="en-US" sz="1150" dirty="0"/>
          </a:p>
        </p:txBody>
      </p:sp>
      <p:sp>
        <p:nvSpPr>
          <p:cNvPr id="29" name="cw_L06"/>
          <p:cNvSpPr txBox="1"/>
          <p:nvPr/>
        </p:nvSpPr>
        <p:spPr>
          <a:xfrm>
            <a:off x="771754" y="3450336"/>
            <a:ext cx="5925312" cy="233680"/>
          </a:xfrm>
          <a:prstGeom prst="rect">
            <a:avLst/>
          </a:prstGeom>
          <a:noFill/>
          <a:ln>
            <a:noFill/>
          </a:ln>
        </p:spPr>
        <p:txBody>
          <a:bodyPr wrap="none" lIns="0" tIns="0" rIns="0" bIns="0" rtlCol="0" anchor="ctr">
            <a:noAutofit/>
          </a:bodyPr>
          <a:lstStyle/>
          <a:p>
            <a:pPr marL="642620" indent="0" algn="l">
              <a:spcBef>
                <a:spcPts val="0"/>
              </a:spcBef>
              <a:spcAft>
                <a:spcPts val="0"/>
              </a:spcAft>
              <a:buNone/>
            </a:pPr>
            <a:r>
              <a:rPr lang="en-US" sz="1150" b="0" dirty="0">
                <a:solidFill>
                  <a:srgbClr val="E2E8F0"/>
                </a:solidFill>
                <a:latin typeface="Consolas"/>
                <a:ea typeface="Consolas"/>
                <a:cs typeface="Consolas"/>
              </a:rPr>
              <a:t>total += amounts[i];</a:t>
            </a:r>
            <a:endParaRPr lang="en-US" sz="1150" dirty="0"/>
          </a:p>
        </p:txBody>
      </p:sp>
      <p:sp>
        <p:nvSpPr>
          <p:cNvPr id="30" name="cw_L07"/>
          <p:cNvSpPr txBox="1"/>
          <p:nvPr/>
        </p:nvSpPr>
        <p:spPr>
          <a:xfrm>
            <a:off x="771754" y="368401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31" name="cw_L08"/>
          <p:cNvSpPr txBox="1"/>
          <p:nvPr/>
        </p:nvSpPr>
        <p:spPr>
          <a:xfrm>
            <a:off x="771754" y="391769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return</a:t>
            </a:r>
            <a:r>
              <a:rPr lang="en-US" sz="1150" b="0" dirty="0">
                <a:solidFill>
                  <a:srgbClr val="E2E8F0"/>
                </a:solidFill>
                <a:latin typeface="Consolas"/>
                <a:ea typeface="Consolas"/>
                <a:cs typeface="Consolas"/>
              </a:rPr>
              <a:t> total;</a:t>
            </a:r>
            <a:endParaRPr lang="en-US" sz="1150" dirty="0"/>
          </a:p>
        </p:txBody>
      </p:sp>
      <p:sp>
        <p:nvSpPr>
          <p:cNvPr id="32" name="cw_L09"/>
          <p:cNvSpPr txBox="1"/>
          <p:nvPr/>
        </p:nvSpPr>
        <p:spPr>
          <a:xfrm>
            <a:off x="771754" y="415137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33" name="card"/>
          <p:cNvSpPr/>
          <p:nvPr/>
        </p:nvSpPr>
        <p:spPr>
          <a:xfrm>
            <a:off x="7081114" y="1572768"/>
            <a:ext cx="4549140" cy="1011936"/>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YOUR CODE MUST CHECK</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Built-in async methods check for you; your loops don't.</a:t>
            </a:r>
            <a:endParaRPr lang="en-US" sz="1250" dirty="0"/>
          </a:p>
        </p:txBody>
      </p:sp>
      <p:sp>
        <p:nvSpPr>
          <p:cNvPr id="34" name="card"/>
          <p:cNvSpPr/>
          <p:nvPr/>
        </p:nvSpPr>
        <p:spPr>
          <a:xfrm>
            <a:off x="7081114" y="2721864"/>
            <a:ext cx="454914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AT SAFE POINTS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Between items, never in the middle of updating shared state.</a:t>
            </a:r>
            <a:endParaRPr lang="en-US" sz="1250" dirty="0"/>
          </a:p>
        </p:txBody>
      </p:sp>
      <p:sp>
        <p:nvSpPr>
          <p:cNvPr id="35" name="card"/>
          <p:cNvSpPr/>
          <p:nvPr/>
        </p:nvSpPr>
        <p:spPr>
          <a:xfrm>
            <a:off x="7081114" y="3870960"/>
            <a:ext cx="454914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THROWS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OperationCanceledException: the same signal everyone understands.</a:t>
            </a:r>
            <a:endParaRPr lang="en-US" sz="1250" dirty="0"/>
          </a:p>
        </p:txBody>
      </p:sp>
      <p:sp>
        <p:nvSpPr>
          <p:cNvPr id="36"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In CPU loops, call ThrowIfCancellationRequested at safe points.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2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5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p:bldP spid="29" grpId="0"/>
      <p:bldP spid="30" grpId="0"/>
      <p:bldP spid="31" grpId="0"/>
      <p:bldP spid="32" grpId="0"/>
      <p:bldP spid="33" grpId="0" animBg="1"/>
      <p:bldP spid="34" grpId="0" animBg="1"/>
      <p:bldP spid="35" grpId="0" animBg="1"/>
      <p:bldP spid="36"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TIMEOUT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CancelAfter: A Timeout in One Line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130</a:t>
            </a:r>
            <a:endParaRPr lang="en-US" sz="850" dirty="0"/>
          </a:p>
        </p:txBody>
      </p:sp>
      <p:sp>
        <p:nvSpPr>
          <p:cNvPr id="15" name="cw_win"/>
          <p:cNvSpPr/>
          <p:nvPr/>
        </p:nvSpPr>
        <p:spPr>
          <a:xfrm>
            <a:off x="543154" y="1572768"/>
            <a:ext cx="676656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7665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7665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cts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CancellationTokenSource(TimeSpan.FromSeconds(5));</a:t>
            </a:r>
            <a:endParaRPr lang="en-US" sz="1000" dirty="0"/>
          </a:p>
        </p:txBody>
      </p:sp>
      <p:sp>
        <p:nvSpPr>
          <p:cNvPr id="23" name="cw_L01"/>
          <p:cNvSpPr txBox="1"/>
          <p:nvPr/>
        </p:nvSpPr>
        <p:spPr>
          <a:xfrm>
            <a:off x="771754" y="22514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same thing: cts.CancelAfter(TimeSpan.FromSeconds(5));</a:t>
            </a:r>
            <a:endParaRPr lang="en-US" sz="1000" dirty="0"/>
          </a:p>
        </p:txBody>
      </p:sp>
      <p:sp>
        <p:nvSpPr>
          <p:cNvPr id="24" name="cw_L03"/>
          <p:cNvSpPr txBox="1"/>
          <p:nvPr/>
        </p:nvSpPr>
        <p:spPr>
          <a:xfrm>
            <a:off x="771754" y="2657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try</a:t>
            </a:r>
            <a:endParaRPr lang="en-US" sz="1000" dirty="0"/>
          </a:p>
        </p:txBody>
      </p:sp>
      <p:sp>
        <p:nvSpPr>
          <p:cNvPr id="25" name="cw_L04"/>
          <p:cNvSpPr txBox="1"/>
          <p:nvPr/>
        </p:nvSpPr>
        <p:spPr>
          <a:xfrm>
            <a:off x="771754" y="2861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6" name="cw_L05"/>
          <p:cNvSpPr txBox="1"/>
          <p:nvPr/>
        </p:nvSpPr>
        <p:spPr>
          <a:xfrm>
            <a:off x="771754" y="3064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menu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GetMenuAsync(cts.Token);</a:t>
            </a:r>
            <a:endParaRPr lang="en-US" sz="1000" dirty="0"/>
          </a:p>
        </p:txBody>
      </p:sp>
      <p:sp>
        <p:nvSpPr>
          <p:cNvPr id="27" name="cw_L06"/>
          <p:cNvSpPr txBox="1"/>
          <p:nvPr/>
        </p:nvSpPr>
        <p:spPr>
          <a:xfrm>
            <a:off x="771754" y="32674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Console.WriteLine(menu);</a:t>
            </a:r>
            <a:endParaRPr lang="en-US" sz="1000" dirty="0"/>
          </a:p>
        </p:txBody>
      </p:sp>
      <p:sp>
        <p:nvSpPr>
          <p:cNvPr id="28" name="cw_L07"/>
          <p:cNvSpPr txBox="1"/>
          <p:nvPr/>
        </p:nvSpPr>
        <p:spPr>
          <a:xfrm>
            <a:off x="771754" y="34706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9" name="cw_L08"/>
          <p:cNvSpPr txBox="1"/>
          <p:nvPr/>
        </p:nvSpPr>
        <p:spPr>
          <a:xfrm>
            <a:off x="771754" y="3673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catch</a:t>
            </a:r>
            <a:r>
              <a:rPr lang="en-US" sz="1000" b="0" dirty="0">
                <a:solidFill>
                  <a:srgbClr val="E2E8F0"/>
                </a:solidFill>
                <a:latin typeface="Consolas"/>
                <a:ea typeface="Consolas"/>
                <a:cs typeface="Consolas"/>
              </a:rPr>
              <a:t> (OperationCanceledException)</a:t>
            </a:r>
            <a:endParaRPr lang="en-US" sz="1000" dirty="0"/>
          </a:p>
        </p:txBody>
      </p:sp>
      <p:sp>
        <p:nvSpPr>
          <p:cNvPr id="30" name="cw_L09"/>
          <p:cNvSpPr txBox="1"/>
          <p:nvPr/>
        </p:nvSpPr>
        <p:spPr>
          <a:xfrm>
            <a:off x="771754" y="3877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"The restaurant took too long: try again"</a:t>
            </a:r>
            <a:r>
              <a:rPr lang="en-US" sz="1000" b="0" dirty="0">
                <a:solidFill>
                  <a:srgbClr val="E2E8F0"/>
                </a:solidFill>
                <a:latin typeface="Consolas"/>
                <a:ea typeface="Consolas"/>
                <a:cs typeface="Consolas"/>
              </a:rPr>
              <a:t>);</a:t>
            </a:r>
            <a:endParaRPr lang="en-US" sz="1000" dirty="0"/>
          </a:p>
        </p:txBody>
      </p:sp>
      <p:sp>
        <p:nvSpPr>
          <p:cNvPr id="32" name="cw_L11"/>
          <p:cNvSpPr txBox="1"/>
          <p:nvPr/>
        </p:nvSpPr>
        <p:spPr>
          <a:xfrm>
            <a:off x="771754" y="42834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3"/>
          <p:cNvSpPr txBox="1"/>
          <p:nvPr/>
        </p:nvSpPr>
        <p:spPr>
          <a:xfrm>
            <a:off x="771754" y="4689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GetMenuAsync(CancellationToken token)</a:t>
            </a:r>
            <a:endParaRPr lang="en-US" sz="1000" dirty="0"/>
          </a:p>
        </p:txBody>
      </p:sp>
      <p:sp>
        <p:nvSpPr>
          <p:cNvPr id="34" name="cw_L14"/>
          <p:cNvSpPr txBox="1"/>
          <p:nvPr/>
        </p:nvSpPr>
        <p:spPr>
          <a:xfrm>
            <a:off x="771754" y="4893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5" name="cw_L15"/>
          <p:cNvSpPr txBox="1"/>
          <p:nvPr/>
        </p:nvSpPr>
        <p:spPr>
          <a:xfrm>
            <a:off x="771754" y="5096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Task.Delay(8000, token);   </a:t>
            </a:r>
            <a:r>
              <a:rPr lang="en-US" sz="1000" b="0" dirty="0">
                <a:solidFill>
                  <a:srgbClr val="6FAE7A"/>
                </a:solidFill>
                <a:latin typeface="Consolas"/>
                <a:ea typeface="Consolas"/>
                <a:cs typeface="Consolas"/>
              </a:rPr>
              <a:t>// slow server</a:t>
            </a:r>
            <a:endParaRPr lang="en-US" sz="1000" dirty="0"/>
          </a:p>
        </p:txBody>
      </p:sp>
      <p:sp>
        <p:nvSpPr>
          <p:cNvPr id="36" name="cw_L16"/>
          <p:cNvSpPr txBox="1"/>
          <p:nvPr/>
        </p:nvSpPr>
        <p:spPr>
          <a:xfrm>
            <a:off x="771754" y="52994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"Menu"</a:t>
            </a:r>
            <a:r>
              <a:rPr lang="en-US" sz="1000" b="0" dirty="0">
                <a:solidFill>
                  <a:srgbClr val="E2E8F0"/>
                </a:solidFill>
                <a:latin typeface="Consolas"/>
                <a:ea typeface="Consolas"/>
                <a:cs typeface="Consolas"/>
              </a:rPr>
              <a:t>;</a:t>
            </a:r>
            <a:endParaRPr lang="en-US" sz="1000" dirty="0"/>
          </a:p>
        </p:txBody>
      </p:sp>
      <p:sp>
        <p:nvSpPr>
          <p:cNvPr id="37" name="cw_L17"/>
          <p:cNvSpPr txBox="1"/>
          <p:nvPr/>
        </p:nvSpPr>
        <p:spPr>
          <a:xfrm>
            <a:off x="771754" y="55026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8" name="card"/>
          <p:cNvSpPr/>
          <p:nvPr/>
        </p:nvSpPr>
        <p:spPr>
          <a:xfrm>
            <a:off x="7538314" y="1572768"/>
            <a:ext cx="409194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AUTOMATIC CANCEL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source cancels itself after 5 seconds.</a:t>
            </a:r>
            <a:endParaRPr lang="en-US" sz="1250" dirty="0"/>
          </a:p>
        </p:txBody>
      </p:sp>
      <p:sp>
        <p:nvSpPr>
          <p:cNvPr id="39" name="card"/>
          <p:cNvSpPr/>
          <p:nvPr/>
        </p:nvSpPr>
        <p:spPr>
          <a:xfrm>
            <a:off x="7538314" y="3112008"/>
            <a:ext cx="4091940" cy="1402080"/>
          </a:xfrm>
          <a:prstGeom prst="roundRect">
            <a:avLst>
              <a:gd name="adj" fmla="val 5869"/>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REALLY STOPS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Unlike the WhenAny timeout, the slow call itself is stopped.</a:t>
            </a:r>
            <a:endParaRPr lang="en-US" sz="1250" dirty="0"/>
          </a:p>
        </p:txBody>
      </p:sp>
      <p:sp>
        <p:nvSpPr>
          <p:cNvPr id="40" name="card"/>
          <p:cNvSpPr/>
          <p:nvPr/>
        </p:nvSpPr>
        <p:spPr>
          <a:xfrm>
            <a:off x="7538314" y="4651248"/>
            <a:ext cx="409194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SAME CATCH</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A timeout arrives as OperationCanceledException.</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25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animBg="1"/>
      <p:bldP spid="39" grpId="0" animBg="1"/>
      <p:bldP spid="40"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STATES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Canceled Is Not Failed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131</a:t>
            </a:r>
            <a:endParaRPr lang="en-US" sz="850" dirty="0"/>
          </a:p>
        </p:txBody>
      </p:sp>
      <p:sp>
        <p:nvSpPr>
          <p:cNvPr id="15" name="cw_win"/>
          <p:cNvSpPr/>
          <p:nvPr/>
        </p:nvSpPr>
        <p:spPr>
          <a:xfrm>
            <a:off x="543154" y="1572768"/>
            <a:ext cx="6309360" cy="2743200"/>
          </a:xfrm>
          <a:prstGeom prst="roundRect">
            <a:avLst>
              <a:gd name="adj" fmla="val 250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cts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CancellationTokenSource();</a:t>
            </a:r>
            <a:endParaRPr lang="en-US" sz="950" dirty="0"/>
          </a:p>
        </p:txBody>
      </p:sp>
      <p:sp>
        <p:nvSpPr>
          <p:cNvPr id="23" name="cw_L01"/>
          <p:cNvSpPr txBox="1"/>
          <p:nvPr/>
        </p:nvSpPr>
        <p:spPr>
          <a:xfrm>
            <a:off x="771754" y="22412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cts.Cancel();</a:t>
            </a:r>
            <a:endParaRPr lang="en-US" sz="950" dirty="0"/>
          </a:p>
        </p:txBody>
      </p:sp>
      <p:sp>
        <p:nvSpPr>
          <p:cNvPr id="24" name="cw_L03"/>
          <p:cNvSpPr txBox="1"/>
          <p:nvPr/>
        </p:nvSpPr>
        <p:spPr>
          <a:xfrm>
            <a:off x="771754" y="262737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canceled = Task.Delay(1000, cts.Token);</a:t>
            </a:r>
            <a:endParaRPr lang="en-US" sz="950" dirty="0"/>
          </a:p>
        </p:txBody>
      </p:sp>
      <p:sp>
        <p:nvSpPr>
          <p:cNvPr id="25" name="cw_L04"/>
          <p:cNvSpPr txBox="1"/>
          <p:nvPr/>
        </p:nvSpPr>
        <p:spPr>
          <a:xfrm>
            <a:off x="771754" y="282041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faulted = Task.Run(() =&gt; </a:t>
            </a: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endParaRPr lang="en-US" sz="950" dirty="0"/>
          </a:p>
        </p:txBody>
      </p:sp>
      <p:sp>
        <p:nvSpPr>
          <p:cNvPr id="26" name="cw_L06"/>
          <p:cNvSpPr txBox="1"/>
          <p:nvPr/>
        </p:nvSpPr>
        <p:spPr>
          <a:xfrm>
            <a:off x="771754" y="32064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r>
              <a:rPr lang="en-US" sz="950" b="0" dirty="0">
                <a:solidFill>
                  <a:srgbClr val="E2E8F0"/>
                </a:solidFill>
                <a:latin typeface="Consolas"/>
                <a:ea typeface="Consolas"/>
                <a:cs typeface="Consolas"/>
              </a:rPr>
              <a:t>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canceled; } </a:t>
            </a: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(OperationCanceledException) { }</a:t>
            </a:r>
            <a:endParaRPr lang="en-US" sz="950" dirty="0"/>
          </a:p>
        </p:txBody>
      </p:sp>
      <p:sp>
        <p:nvSpPr>
          <p:cNvPr id="27" name="cw_L07"/>
          <p:cNvSpPr txBox="1"/>
          <p:nvPr/>
        </p:nvSpPr>
        <p:spPr>
          <a:xfrm>
            <a:off x="771754" y="339953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r>
              <a:rPr lang="en-US" sz="950" b="0" dirty="0">
                <a:solidFill>
                  <a:srgbClr val="E2E8F0"/>
                </a:solidFill>
                <a:latin typeface="Consolas"/>
                <a:ea typeface="Consolas"/>
                <a:cs typeface="Consolas"/>
              </a:rPr>
              <a:t>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faulted; } </a:t>
            </a: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(InvalidOperationException) { }</a:t>
            </a:r>
            <a:endParaRPr lang="en-US" sz="950" dirty="0"/>
          </a:p>
        </p:txBody>
      </p:sp>
      <p:sp>
        <p:nvSpPr>
          <p:cNvPr id="28" name="cw_L09"/>
          <p:cNvSpPr txBox="1"/>
          <p:nvPr/>
        </p:nvSpPr>
        <p:spPr>
          <a:xfrm>
            <a:off x="771754" y="378561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Console.WriteLine(canceled.Status);   </a:t>
            </a:r>
            <a:r>
              <a:rPr lang="en-US" sz="950" b="0" dirty="0">
                <a:solidFill>
                  <a:srgbClr val="6FAE7A"/>
                </a:solidFill>
                <a:latin typeface="Consolas"/>
                <a:ea typeface="Consolas"/>
                <a:cs typeface="Consolas"/>
              </a:rPr>
              <a:t>// Canceled</a:t>
            </a:r>
            <a:endParaRPr lang="en-US" sz="950" dirty="0"/>
          </a:p>
        </p:txBody>
      </p:sp>
      <p:sp>
        <p:nvSpPr>
          <p:cNvPr id="29" name="cw_L10"/>
          <p:cNvSpPr txBox="1"/>
          <p:nvPr/>
        </p:nvSpPr>
        <p:spPr>
          <a:xfrm>
            <a:off x="771754" y="397865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Console.WriteLine(faulted.Status);    </a:t>
            </a:r>
            <a:r>
              <a:rPr lang="en-US" sz="950" b="0" dirty="0">
                <a:solidFill>
                  <a:srgbClr val="6FAE7A"/>
                </a:solidFill>
                <a:latin typeface="Consolas"/>
                <a:ea typeface="Consolas"/>
                <a:cs typeface="Consolas"/>
              </a:rPr>
              <a:t>// Faulted</a:t>
            </a:r>
            <a:endParaRPr lang="en-US" sz="950" dirty="0"/>
          </a:p>
        </p:txBody>
      </p:sp>
      <p:sp>
        <p:nvSpPr>
          <p:cNvPr id="30" name="out_win"/>
          <p:cNvSpPr/>
          <p:nvPr/>
        </p:nvSpPr>
        <p:spPr>
          <a:xfrm>
            <a:off x="543154" y="4407408"/>
            <a:ext cx="6309360" cy="978408"/>
          </a:xfrm>
          <a:prstGeom prst="roundRect">
            <a:avLst>
              <a:gd name="adj" fmla="val 7009"/>
            </a:avLst>
          </a:prstGeom>
          <a:solidFill>
            <a:srgbClr val="060D18"/>
          </a:solidFill>
          <a:ln w="12700">
            <a:solidFill>
              <a:srgbClr val="1E3A5F"/>
            </a:solidFill>
            <a:prstDash val="solid"/>
          </a:ln>
        </p:spPr>
        <p:txBody>
          <a:bodyPr/>
          <a:lstStyle/>
          <a:p>
            <a:endParaRPr lang="en-US"/>
          </a:p>
        </p:txBody>
      </p:sp>
      <p:sp>
        <p:nvSpPr>
          <p:cNvPr id="31" name="out_bar"/>
          <p:cNvSpPr/>
          <p:nvPr/>
        </p:nvSpPr>
        <p:spPr>
          <a:xfrm>
            <a:off x="543154" y="440740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out_barfill"/>
          <p:cNvSpPr/>
          <p:nvPr/>
        </p:nvSpPr>
        <p:spPr>
          <a:xfrm>
            <a:off x="543154" y="4578858"/>
            <a:ext cx="6309360" cy="171450"/>
          </a:xfrm>
          <a:prstGeom prst="rect">
            <a:avLst/>
          </a:prstGeom>
          <a:solidFill>
            <a:srgbClr val="0A1220"/>
          </a:solidFill>
          <a:ln w="12700">
            <a:solidFill>
              <a:srgbClr val="0A1220"/>
            </a:solidFill>
            <a:prstDash val="solid"/>
          </a:ln>
        </p:spPr>
        <p:txBody>
          <a:bodyPr/>
          <a:lstStyle/>
          <a:p>
            <a:endParaRPr lang="en-US"/>
          </a:p>
        </p:txBody>
      </p:sp>
      <p:sp>
        <p:nvSpPr>
          <p:cNvPr id="33" name="out_dot0"/>
          <p:cNvSpPr/>
          <p:nvPr/>
        </p:nvSpPr>
        <p:spPr>
          <a:xfrm>
            <a:off x="705002" y="453121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out_dot1"/>
          <p:cNvSpPr/>
          <p:nvPr/>
        </p:nvSpPr>
        <p:spPr>
          <a:xfrm>
            <a:off x="890626" y="453121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out_dot2"/>
          <p:cNvSpPr/>
          <p:nvPr/>
        </p:nvSpPr>
        <p:spPr>
          <a:xfrm>
            <a:off x="1076249" y="453121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out_tab"/>
          <p:cNvSpPr/>
          <p:nvPr/>
        </p:nvSpPr>
        <p:spPr>
          <a:xfrm>
            <a:off x="1324051" y="445495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7" name="out_L00"/>
          <p:cNvSpPr txBox="1"/>
          <p:nvPr/>
        </p:nvSpPr>
        <p:spPr>
          <a:xfrm>
            <a:off x="771754" y="48828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Canceled</a:t>
            </a:r>
            <a:endParaRPr lang="en-US" sz="950" dirty="0"/>
          </a:p>
        </p:txBody>
      </p:sp>
      <p:sp>
        <p:nvSpPr>
          <p:cNvPr id="38" name="out_L01"/>
          <p:cNvSpPr txBox="1"/>
          <p:nvPr/>
        </p:nvSpPr>
        <p:spPr>
          <a:xfrm>
            <a:off x="771754" y="507593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Faulted</a:t>
            </a:r>
            <a:endParaRPr lang="en-US" sz="950" dirty="0"/>
          </a:p>
        </p:txBody>
      </p:sp>
      <p:sp>
        <p:nvSpPr>
          <p:cNvPr id="39" name="tbl_head"/>
          <p:cNvSpPr/>
          <p:nvPr/>
        </p:nvSpPr>
        <p:spPr>
          <a:xfrm>
            <a:off x="7081114" y="1572768"/>
            <a:ext cx="454914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0" name="tbl_h"/>
          <p:cNvSpPr txBox="1"/>
          <p:nvPr/>
        </p:nvSpPr>
        <p:spPr>
          <a:xfrm>
            <a:off x="7209130" y="1572768"/>
            <a:ext cx="1727759"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STATE</a:t>
            </a:r>
            <a:endParaRPr lang="en-US" sz="1000" dirty="0"/>
          </a:p>
        </p:txBody>
      </p:sp>
      <p:sp>
        <p:nvSpPr>
          <p:cNvPr id="41" name="tbl_h"/>
          <p:cNvSpPr txBox="1"/>
          <p:nvPr/>
        </p:nvSpPr>
        <p:spPr>
          <a:xfrm>
            <a:off x="9119768" y="1572768"/>
            <a:ext cx="2455621"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MEANING</a:t>
            </a:r>
            <a:endParaRPr lang="en-US" sz="1000" dirty="0"/>
          </a:p>
        </p:txBody>
      </p:sp>
      <p:sp>
        <p:nvSpPr>
          <p:cNvPr id="42" name="tbl_row"/>
          <p:cNvSpPr/>
          <p:nvPr/>
        </p:nvSpPr>
        <p:spPr>
          <a:xfrm>
            <a:off x="7081114" y="1965960"/>
            <a:ext cx="4549140" cy="566928"/>
          </a:xfrm>
          <a:prstGeom prst="roundRect">
            <a:avLst>
              <a:gd name="adj" fmla="val 12903"/>
            </a:avLst>
          </a:prstGeom>
          <a:solidFill>
            <a:srgbClr val="111B2E"/>
          </a:solidFill>
          <a:ln w="12700">
            <a:solidFill>
              <a:srgbClr val="34D399"/>
            </a:solidFill>
            <a:prstDash val="solid"/>
          </a:ln>
        </p:spPr>
        <p:txBody>
          <a:bodyPr/>
          <a:lstStyle/>
          <a:p>
            <a:endParaRPr lang="en-US"/>
          </a:p>
        </p:txBody>
      </p:sp>
      <p:sp>
        <p:nvSpPr>
          <p:cNvPr id="43" name="tbl_c"/>
          <p:cNvSpPr txBox="1"/>
          <p:nvPr/>
        </p:nvSpPr>
        <p:spPr>
          <a:xfrm>
            <a:off x="7209130" y="1965960"/>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RanToCompletion</a:t>
            </a:r>
            <a:endParaRPr lang="en-US" sz="1150" dirty="0"/>
          </a:p>
        </p:txBody>
      </p:sp>
      <p:sp>
        <p:nvSpPr>
          <p:cNvPr id="44" name="tbl_c"/>
          <p:cNvSpPr txBox="1"/>
          <p:nvPr/>
        </p:nvSpPr>
        <p:spPr>
          <a:xfrm>
            <a:off x="9119768" y="1965960"/>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it worked</a:t>
            </a:r>
            <a:endParaRPr lang="en-US" sz="1150" dirty="0"/>
          </a:p>
        </p:txBody>
      </p:sp>
      <p:sp>
        <p:nvSpPr>
          <p:cNvPr id="45" name="tbl_row"/>
          <p:cNvSpPr/>
          <p:nvPr/>
        </p:nvSpPr>
        <p:spPr>
          <a:xfrm>
            <a:off x="7081114" y="2596896"/>
            <a:ext cx="4549140" cy="566928"/>
          </a:xfrm>
          <a:prstGeom prst="roundRect">
            <a:avLst>
              <a:gd name="adj" fmla="val 12903"/>
            </a:avLst>
          </a:prstGeom>
          <a:solidFill>
            <a:srgbClr val="111B2E"/>
          </a:solidFill>
          <a:ln w="12700">
            <a:solidFill>
              <a:srgbClr val="F87171"/>
            </a:solidFill>
            <a:prstDash val="solid"/>
          </a:ln>
        </p:spPr>
        <p:txBody>
          <a:bodyPr/>
          <a:lstStyle/>
          <a:p>
            <a:endParaRPr lang="en-US"/>
          </a:p>
        </p:txBody>
      </p:sp>
      <p:sp>
        <p:nvSpPr>
          <p:cNvPr id="46" name="tbl_c"/>
          <p:cNvSpPr txBox="1"/>
          <p:nvPr/>
        </p:nvSpPr>
        <p:spPr>
          <a:xfrm>
            <a:off x="7209130" y="2596896"/>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Faulted</a:t>
            </a:r>
            <a:endParaRPr lang="en-US" sz="1150" dirty="0"/>
          </a:p>
        </p:txBody>
      </p:sp>
      <p:sp>
        <p:nvSpPr>
          <p:cNvPr id="47" name="tbl_c"/>
          <p:cNvSpPr txBox="1"/>
          <p:nvPr/>
        </p:nvSpPr>
        <p:spPr>
          <a:xfrm>
            <a:off x="9119768" y="2596896"/>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something broke: log it</a:t>
            </a:r>
            <a:endParaRPr lang="en-US" sz="1150" dirty="0"/>
          </a:p>
        </p:txBody>
      </p:sp>
      <p:sp>
        <p:nvSpPr>
          <p:cNvPr id="48" name="tbl_row"/>
          <p:cNvSpPr/>
          <p:nvPr/>
        </p:nvSpPr>
        <p:spPr>
          <a:xfrm>
            <a:off x="7081114" y="3227832"/>
            <a:ext cx="4549140" cy="566928"/>
          </a:xfrm>
          <a:prstGeom prst="roundRect">
            <a:avLst>
              <a:gd name="adj" fmla="val 12903"/>
            </a:avLst>
          </a:prstGeom>
          <a:solidFill>
            <a:srgbClr val="111B2E"/>
          </a:solidFill>
          <a:ln w="12700">
            <a:solidFill>
              <a:srgbClr val="FBBF24"/>
            </a:solidFill>
            <a:prstDash val="solid"/>
          </a:ln>
        </p:spPr>
        <p:txBody>
          <a:bodyPr/>
          <a:lstStyle/>
          <a:p>
            <a:endParaRPr lang="en-US"/>
          </a:p>
        </p:txBody>
      </p:sp>
      <p:sp>
        <p:nvSpPr>
          <p:cNvPr id="49" name="tbl_c"/>
          <p:cNvSpPr txBox="1"/>
          <p:nvPr/>
        </p:nvSpPr>
        <p:spPr>
          <a:xfrm>
            <a:off x="7209130" y="3227832"/>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Canceled</a:t>
            </a:r>
            <a:endParaRPr lang="en-US" sz="1150" dirty="0"/>
          </a:p>
        </p:txBody>
      </p:sp>
      <p:sp>
        <p:nvSpPr>
          <p:cNvPr id="50" name="tbl_c"/>
          <p:cNvSpPr txBox="1"/>
          <p:nvPr/>
        </p:nvSpPr>
        <p:spPr>
          <a:xfrm>
            <a:off x="9119768" y="3227832"/>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someone asked to stop</a:t>
            </a:r>
            <a:endParaRPr lang="en-US" sz="1150" dirty="0"/>
          </a:p>
        </p:txBody>
      </p:sp>
      <p:sp>
        <p:nvSpPr>
          <p:cNvPr id="51" name="card"/>
          <p:cNvSpPr/>
          <p:nvPr/>
        </p:nvSpPr>
        <p:spPr>
          <a:xfrm>
            <a:off x="7081114" y="3950208"/>
            <a:ext cx="4549140" cy="1389888"/>
          </a:xfrm>
          <a:prstGeom prst="roundRect">
            <a:avLst>
              <a:gd name="adj" fmla="val 5921"/>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0"/>
              </a:spcAft>
              <a:buNone/>
            </a:pPr>
            <a:r>
              <a:rPr lang="en-US" sz="1250" b="0" dirty="0">
                <a:solidFill>
                  <a:srgbClr val="CBD5E1"/>
                </a:solidFill>
                <a:latin typeface="Segoe UI"/>
                <a:ea typeface="Segoe UI"/>
                <a:cs typeface="Segoe UI"/>
              </a:rPr>
              <a:t>Catch OperationCanceledException separately from real failures.</a:t>
            </a:r>
            <a:endParaRPr lang="en-US" sz="1250" dirty="0"/>
          </a:p>
        </p:txBody>
      </p:sp>
      <p:sp>
        <p:nvSpPr>
          <p:cNvPr id="52" name="banner"/>
          <p:cNvSpPr/>
          <p:nvPr/>
        </p:nvSpPr>
        <p:spPr>
          <a:xfrm>
            <a:off x="543154" y="5440680"/>
            <a:ext cx="11087100" cy="566928"/>
          </a:xfrm>
          <a:prstGeom prst="roundRect">
            <a:avLst>
              <a:gd name="adj" fmla="val 12500"/>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Cancellation is not failure: Completed, Faulted and Canceled are different outcomes.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250"/>
                                        <p:tgtEl>
                                          <p:spTgt spid="3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25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250"/>
                                        <p:tgtEl>
                                          <p:spTgt spid="3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2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2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250"/>
                                        <p:tgtEl>
                                          <p:spTgt spid="4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250"/>
                                        <p:tgtEl>
                                          <p:spTgt spid="4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250"/>
                                        <p:tgtEl>
                                          <p:spTgt spid="4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25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25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250"/>
                                        <p:tgtEl>
                                          <p:spTgt spid="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250"/>
                                        <p:tgtEl>
                                          <p:spTgt spid="4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250"/>
                                        <p:tgtEl>
                                          <p:spTgt spid="4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250"/>
                                        <p:tgtEl>
                                          <p:spTgt spid="5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25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7" grpId="0"/>
      <p:bldP spid="38" grpId="0"/>
      <p:bldP spid="39" grpId="0" animBg="1"/>
      <p:bldP spid="40" grpId="0"/>
      <p:bldP spid="41" grpId="0"/>
      <p:bldP spid="42" grpId="0" animBg="1"/>
      <p:bldP spid="43" grpId="0"/>
      <p:bldP spid="44" grpId="0"/>
      <p:bldP spid="45" grpId="0" animBg="1"/>
      <p:bldP spid="46" grpId="0"/>
      <p:bldP spid="47" grpId="0"/>
      <p:bldP spid="48" grpId="0" animBg="1"/>
      <p:bldP spid="49" grpId="0"/>
      <p:bldP spid="50" grpId="0"/>
      <p:bldP spid="51" grpId="0" animBg="1"/>
      <p:bldP spid="52"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REAL EXAMPLE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Real Example: The User Cancels a Video Upload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132</a:t>
            </a:r>
            <a:endParaRPr lang="en-US" sz="850" dirty="0"/>
          </a:p>
        </p:txBody>
      </p:sp>
      <p:sp>
        <p:nvSpPr>
          <p:cNvPr id="15" name="cw_win"/>
          <p:cNvSpPr/>
          <p:nvPr/>
        </p:nvSpPr>
        <p:spPr>
          <a:xfrm>
            <a:off x="543154" y="1572768"/>
            <a:ext cx="612648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1264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1264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cts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CancellationTokenSource();</a:t>
            </a:r>
            <a:endParaRPr lang="en-US" sz="1000" dirty="0"/>
          </a:p>
        </p:txBody>
      </p:sp>
      <p:sp>
        <p:nvSpPr>
          <p:cNvPr id="23" name="cw_L01"/>
          <p:cNvSpPr txBox="1"/>
          <p:nvPr/>
        </p:nvSpPr>
        <p:spPr>
          <a:xfrm>
            <a:off x="771754" y="22514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cts.CancelAfter(2500);          </a:t>
            </a:r>
            <a:r>
              <a:rPr lang="en-US" sz="1000" b="0" dirty="0">
                <a:solidFill>
                  <a:srgbClr val="6FAE7A"/>
                </a:solidFill>
                <a:latin typeface="Consolas"/>
                <a:ea typeface="Consolas"/>
                <a:cs typeface="Consolas"/>
              </a:rPr>
              <a:t>// the user taps Cancel at 2.5 s</a:t>
            </a:r>
            <a:endParaRPr lang="en-US" sz="1000" dirty="0"/>
          </a:p>
        </p:txBody>
      </p:sp>
      <p:sp>
        <p:nvSpPr>
          <p:cNvPr id="24" name="cw_L02"/>
          <p:cNvSpPr txBox="1"/>
          <p:nvPr/>
        </p:nvSpPr>
        <p:spPr>
          <a:xfrm>
            <a:off x="771754" y="24546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try</a:t>
            </a:r>
            <a:endParaRPr lang="en-US" sz="1000" dirty="0"/>
          </a:p>
        </p:txBody>
      </p:sp>
      <p:sp>
        <p:nvSpPr>
          <p:cNvPr id="25" name="cw_L03"/>
          <p:cNvSpPr txBox="1"/>
          <p:nvPr/>
        </p:nvSpPr>
        <p:spPr>
          <a:xfrm>
            <a:off x="771754" y="26578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8610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PublishVideoAsync(cts.Token);</a:t>
            </a:r>
            <a:endParaRPr lang="en-US" sz="1000" dirty="0"/>
          </a:p>
        </p:txBody>
      </p:sp>
      <p:sp>
        <p:nvSpPr>
          <p:cNvPr id="27" name="cw_L05"/>
          <p:cNvSpPr txBox="1"/>
          <p:nvPr/>
        </p:nvSpPr>
        <p:spPr>
          <a:xfrm>
            <a:off x="771754" y="30642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6"/>
          <p:cNvSpPr txBox="1"/>
          <p:nvPr/>
        </p:nvSpPr>
        <p:spPr>
          <a:xfrm>
            <a:off x="771754" y="32674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catch</a:t>
            </a:r>
            <a:r>
              <a:rPr lang="en-US" sz="1000" b="0" dirty="0">
                <a:solidFill>
                  <a:srgbClr val="E2E8F0"/>
                </a:solidFill>
                <a:latin typeface="Consolas"/>
                <a:ea typeface="Consolas"/>
                <a:cs typeface="Consolas"/>
              </a:rPr>
              <a:t> (OperationCanceledException)</a:t>
            </a:r>
            <a:endParaRPr lang="en-US" sz="1000" dirty="0"/>
          </a:p>
        </p:txBody>
      </p:sp>
      <p:sp>
        <p:nvSpPr>
          <p:cNvPr id="29" name="cw_L07"/>
          <p:cNvSpPr txBox="1"/>
          <p:nvPr/>
        </p:nvSpPr>
        <p:spPr>
          <a:xfrm>
            <a:off x="771754" y="34706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0" name="cw_L08"/>
          <p:cNvSpPr txBox="1"/>
          <p:nvPr/>
        </p:nvSpPr>
        <p:spPr>
          <a:xfrm>
            <a:off x="771754" y="36738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"Canceled: no wasted processing"</a:t>
            </a:r>
            <a:r>
              <a:rPr lang="en-US" sz="1000" b="0" dirty="0">
                <a:solidFill>
                  <a:srgbClr val="E2E8F0"/>
                </a:solidFill>
                <a:latin typeface="Consolas"/>
                <a:ea typeface="Consolas"/>
                <a:cs typeface="Consolas"/>
              </a:rPr>
              <a:t>);</a:t>
            </a:r>
            <a:endParaRPr lang="en-US" sz="1000" dirty="0"/>
          </a:p>
        </p:txBody>
      </p:sp>
      <p:sp>
        <p:nvSpPr>
          <p:cNvPr id="31" name="cw_L09"/>
          <p:cNvSpPr txBox="1"/>
          <p:nvPr/>
        </p:nvSpPr>
        <p:spPr>
          <a:xfrm>
            <a:off x="771754" y="38770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2" name="cw_L11"/>
          <p:cNvSpPr txBox="1"/>
          <p:nvPr/>
        </p:nvSpPr>
        <p:spPr>
          <a:xfrm>
            <a:off x="771754" y="42834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PublishVideoAsync(CancellationToken token)</a:t>
            </a:r>
            <a:endParaRPr lang="en-US" sz="1000" dirty="0"/>
          </a:p>
        </p:txBody>
      </p:sp>
      <p:sp>
        <p:nvSpPr>
          <p:cNvPr id="33" name="cw_L12"/>
          <p:cNvSpPr txBox="1"/>
          <p:nvPr/>
        </p:nvSpPr>
        <p:spPr>
          <a:xfrm>
            <a:off x="771754" y="44866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w_L13"/>
          <p:cNvSpPr txBox="1"/>
          <p:nvPr/>
        </p:nvSpPr>
        <p:spPr>
          <a:xfrm>
            <a:off x="771754" y="46898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StepAsync(</a:t>
            </a:r>
            <a:r>
              <a:rPr lang="en-US" sz="1000" b="0" dirty="0">
                <a:solidFill>
                  <a:srgbClr val="F0A98B"/>
                </a:solidFill>
                <a:latin typeface="Consolas"/>
                <a:ea typeface="Consolas"/>
                <a:cs typeface="Consolas"/>
              </a:rPr>
              <a:t>"Upload"</a:t>
            </a:r>
            <a:r>
              <a:rPr lang="en-US" sz="1000" b="0" dirty="0">
                <a:solidFill>
                  <a:srgbClr val="E2E8F0"/>
                </a:solidFill>
                <a:latin typeface="Consolas"/>
                <a:ea typeface="Consolas"/>
                <a:cs typeface="Consolas"/>
              </a:rPr>
              <a:t>, 1000, token);</a:t>
            </a:r>
            <a:endParaRPr lang="en-US" sz="1000" dirty="0"/>
          </a:p>
        </p:txBody>
      </p:sp>
      <p:sp>
        <p:nvSpPr>
          <p:cNvPr id="35" name="cw_L14"/>
          <p:cNvSpPr txBox="1"/>
          <p:nvPr/>
        </p:nvSpPr>
        <p:spPr>
          <a:xfrm>
            <a:off x="771754" y="48930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StepAsync(</a:t>
            </a:r>
            <a:r>
              <a:rPr lang="en-US" sz="1000" b="0" dirty="0">
                <a:solidFill>
                  <a:srgbClr val="F0A98B"/>
                </a:solidFill>
                <a:latin typeface="Consolas"/>
                <a:ea typeface="Consolas"/>
                <a:cs typeface="Consolas"/>
              </a:rPr>
              <a:t>"Validate"</a:t>
            </a:r>
            <a:r>
              <a:rPr lang="en-US" sz="1000" b="0" dirty="0">
                <a:solidFill>
                  <a:srgbClr val="E2E8F0"/>
                </a:solidFill>
                <a:latin typeface="Consolas"/>
                <a:ea typeface="Consolas"/>
                <a:cs typeface="Consolas"/>
              </a:rPr>
              <a:t>, 500, token);</a:t>
            </a:r>
            <a:endParaRPr lang="en-US" sz="1000" dirty="0"/>
          </a:p>
        </p:txBody>
      </p:sp>
      <p:sp>
        <p:nvSpPr>
          <p:cNvPr id="36" name="cw_L15"/>
          <p:cNvSpPr txBox="1"/>
          <p:nvPr/>
        </p:nvSpPr>
        <p:spPr>
          <a:xfrm>
            <a:off x="771754" y="50962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StepAsync(</a:t>
            </a:r>
            <a:r>
              <a:rPr lang="en-US" sz="1000" b="0" dirty="0">
                <a:solidFill>
                  <a:srgbClr val="F0A98B"/>
                </a:solidFill>
                <a:latin typeface="Consolas"/>
                <a:ea typeface="Consolas"/>
                <a:cs typeface="Consolas"/>
              </a:rPr>
              <a:t>"Process"</a:t>
            </a:r>
            <a:r>
              <a:rPr lang="en-US" sz="1000" b="0" dirty="0">
                <a:solidFill>
                  <a:srgbClr val="E2E8F0"/>
                </a:solidFill>
                <a:latin typeface="Consolas"/>
                <a:ea typeface="Consolas"/>
                <a:cs typeface="Consolas"/>
              </a:rPr>
              <a:t>, 4000, token);    </a:t>
            </a:r>
            <a:r>
              <a:rPr lang="en-US" sz="1000" b="0" dirty="0">
                <a:solidFill>
                  <a:srgbClr val="6FAE7A"/>
                </a:solidFill>
                <a:latin typeface="Consolas"/>
                <a:ea typeface="Consolas"/>
                <a:cs typeface="Consolas"/>
              </a:rPr>
              <a:t>// canceled here</a:t>
            </a:r>
            <a:endParaRPr lang="en-US" sz="1000" dirty="0"/>
          </a:p>
        </p:txBody>
      </p:sp>
      <p:sp>
        <p:nvSpPr>
          <p:cNvPr id="37" name="cw_L16"/>
          <p:cNvSpPr txBox="1"/>
          <p:nvPr/>
        </p:nvSpPr>
        <p:spPr>
          <a:xfrm>
            <a:off x="771754" y="5299456"/>
            <a:ext cx="57424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StepAsync(</a:t>
            </a:r>
            <a:r>
              <a:rPr lang="en-US" sz="1000" b="0" dirty="0">
                <a:solidFill>
                  <a:srgbClr val="F0A98B"/>
                </a:solidFill>
                <a:latin typeface="Consolas"/>
                <a:ea typeface="Consolas"/>
                <a:cs typeface="Consolas"/>
              </a:rPr>
              <a:t>"Thumbnail"</a:t>
            </a:r>
            <a:r>
              <a:rPr lang="en-US" sz="1000" b="0" dirty="0">
                <a:solidFill>
                  <a:srgbClr val="E2E8F0"/>
                </a:solidFill>
                <a:latin typeface="Consolas"/>
                <a:ea typeface="Consolas"/>
                <a:cs typeface="Consolas"/>
              </a:rPr>
              <a:t>, 800, token);   </a:t>
            </a:r>
            <a:r>
              <a:rPr lang="en-US" sz="1000" b="0" dirty="0">
                <a:solidFill>
                  <a:srgbClr val="6FAE7A"/>
                </a:solidFill>
                <a:latin typeface="Consolas"/>
                <a:ea typeface="Consolas"/>
                <a:cs typeface="Consolas"/>
              </a:rPr>
              <a:t>// never runs</a:t>
            </a:r>
            <a:endParaRPr lang="en-US" sz="1000" dirty="0"/>
          </a:p>
        </p:txBody>
      </p:sp>
      <p:sp>
        <p:nvSpPr>
          <p:cNvPr id="38" name="cw_L17"/>
          <p:cNvSpPr txBox="1"/>
          <p:nvPr/>
        </p:nvSpPr>
        <p:spPr>
          <a:xfrm>
            <a:off x="771754" y="5502656"/>
            <a:ext cx="57424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9" name="cw2_win"/>
          <p:cNvSpPr/>
          <p:nvPr/>
        </p:nvSpPr>
        <p:spPr>
          <a:xfrm>
            <a:off x="6898234" y="1572768"/>
            <a:ext cx="4732020" cy="1828800"/>
          </a:xfrm>
          <a:prstGeom prst="roundRect">
            <a:avLst>
              <a:gd name="adj" fmla="val 3750"/>
            </a:avLst>
          </a:prstGeom>
          <a:solidFill>
            <a:srgbClr val="060D18"/>
          </a:solidFill>
          <a:ln w="12700">
            <a:solidFill>
              <a:srgbClr val="1E3A5F"/>
            </a:solidFill>
            <a:prstDash val="solid"/>
          </a:ln>
        </p:spPr>
        <p:txBody>
          <a:bodyPr/>
          <a:lstStyle/>
          <a:p>
            <a:endParaRPr lang="en-US"/>
          </a:p>
        </p:txBody>
      </p:sp>
      <p:sp>
        <p:nvSpPr>
          <p:cNvPr id="40" name="cw2_bar"/>
          <p:cNvSpPr/>
          <p:nvPr/>
        </p:nvSpPr>
        <p:spPr>
          <a:xfrm>
            <a:off x="6898234" y="1572768"/>
            <a:ext cx="4732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1" name="cw2_barfill"/>
          <p:cNvSpPr/>
          <p:nvPr/>
        </p:nvSpPr>
        <p:spPr>
          <a:xfrm>
            <a:off x="6898234" y="1744218"/>
            <a:ext cx="4732020" cy="171450"/>
          </a:xfrm>
          <a:prstGeom prst="rect">
            <a:avLst/>
          </a:prstGeom>
          <a:solidFill>
            <a:srgbClr val="0A1220"/>
          </a:solidFill>
          <a:ln w="12700">
            <a:solidFill>
              <a:srgbClr val="0A1220"/>
            </a:solidFill>
            <a:prstDash val="solid"/>
          </a:ln>
        </p:spPr>
        <p:txBody>
          <a:bodyPr/>
          <a:lstStyle/>
          <a:p>
            <a:endParaRPr lang="en-US"/>
          </a:p>
        </p:txBody>
      </p:sp>
      <p:sp>
        <p:nvSpPr>
          <p:cNvPr id="42" name="cw2_dot0"/>
          <p:cNvSpPr/>
          <p:nvPr/>
        </p:nvSpPr>
        <p:spPr>
          <a:xfrm>
            <a:off x="706008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3" name="cw2_dot1"/>
          <p:cNvSpPr/>
          <p:nvPr/>
        </p:nvSpPr>
        <p:spPr>
          <a:xfrm>
            <a:off x="724570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4" name="cw2_dot2"/>
          <p:cNvSpPr/>
          <p:nvPr/>
        </p:nvSpPr>
        <p:spPr>
          <a:xfrm>
            <a:off x="743132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5" name="cw2_tab"/>
          <p:cNvSpPr/>
          <p:nvPr/>
        </p:nvSpPr>
        <p:spPr>
          <a:xfrm>
            <a:off x="7679131" y="1620317"/>
            <a:ext cx="20116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(continued)</a:t>
            </a:r>
            <a:endParaRPr lang="en-US" sz="950" dirty="0"/>
          </a:p>
        </p:txBody>
      </p:sp>
      <p:sp>
        <p:nvSpPr>
          <p:cNvPr id="46" name="cw2_L00"/>
          <p:cNvSpPr txBox="1"/>
          <p:nvPr/>
        </p:nvSpPr>
        <p:spPr>
          <a:xfrm>
            <a:off x="7126834" y="2048256"/>
            <a:ext cx="43479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StepAsync(</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name,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ms,</a:t>
            </a:r>
            <a:endParaRPr lang="en-US" sz="1000" dirty="0"/>
          </a:p>
        </p:txBody>
      </p:sp>
      <p:sp>
        <p:nvSpPr>
          <p:cNvPr id="47" name="cw2_L01"/>
          <p:cNvSpPr txBox="1"/>
          <p:nvPr/>
        </p:nvSpPr>
        <p:spPr>
          <a:xfrm>
            <a:off x="7126834" y="2251456"/>
            <a:ext cx="4347972" cy="203200"/>
          </a:xfrm>
          <a:prstGeom prst="rect">
            <a:avLst/>
          </a:prstGeom>
          <a:noFill/>
          <a:ln>
            <a:noFill/>
          </a:ln>
        </p:spPr>
        <p:txBody>
          <a:bodyPr wrap="none" lIns="0" tIns="0" rIns="0" bIns="0" rtlCol="0" anchor="ctr">
            <a:noAutofit/>
          </a:bodyPr>
          <a:lstStyle/>
          <a:p>
            <a:pPr marL="1397000" indent="0" algn="l">
              <a:spcBef>
                <a:spcPts val="0"/>
              </a:spcBef>
              <a:spcAft>
                <a:spcPts val="0"/>
              </a:spcAft>
              <a:buNone/>
            </a:pPr>
            <a:r>
              <a:rPr lang="en-US" sz="1000" b="0" dirty="0">
                <a:solidFill>
                  <a:srgbClr val="E2E8F0"/>
                </a:solidFill>
                <a:latin typeface="Consolas"/>
                <a:ea typeface="Consolas"/>
                <a:cs typeface="Consolas"/>
              </a:rPr>
              <a:t>CancellationToken token)</a:t>
            </a:r>
            <a:endParaRPr lang="en-US" sz="1000" dirty="0"/>
          </a:p>
        </p:txBody>
      </p:sp>
      <p:sp>
        <p:nvSpPr>
          <p:cNvPr id="48" name="cw2_L02"/>
          <p:cNvSpPr txBox="1"/>
          <p:nvPr/>
        </p:nvSpPr>
        <p:spPr>
          <a:xfrm>
            <a:off x="7126834" y="2454656"/>
            <a:ext cx="43479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9" name="cw2_L03"/>
          <p:cNvSpPr txBox="1"/>
          <p:nvPr/>
        </p:nvSpPr>
        <p:spPr>
          <a:xfrm>
            <a:off x="7126834" y="2657856"/>
            <a:ext cx="43479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$"{name}..."</a:t>
            </a:r>
            <a:r>
              <a:rPr lang="en-US" sz="1000" b="0" dirty="0">
                <a:solidFill>
                  <a:srgbClr val="E2E8F0"/>
                </a:solidFill>
                <a:latin typeface="Consolas"/>
                <a:ea typeface="Consolas"/>
                <a:cs typeface="Consolas"/>
              </a:rPr>
              <a:t>);</a:t>
            </a:r>
            <a:endParaRPr lang="en-US" sz="1000" dirty="0"/>
          </a:p>
        </p:txBody>
      </p:sp>
      <p:sp>
        <p:nvSpPr>
          <p:cNvPr id="50" name="cw2_L04"/>
          <p:cNvSpPr txBox="1"/>
          <p:nvPr/>
        </p:nvSpPr>
        <p:spPr>
          <a:xfrm>
            <a:off x="7126834" y="2861056"/>
            <a:ext cx="43479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Task.Delay(ms, token);</a:t>
            </a:r>
            <a:endParaRPr lang="en-US" sz="1000" dirty="0"/>
          </a:p>
        </p:txBody>
      </p:sp>
      <p:sp>
        <p:nvSpPr>
          <p:cNvPr id="51" name="cw2_L05"/>
          <p:cNvSpPr txBox="1"/>
          <p:nvPr/>
        </p:nvSpPr>
        <p:spPr>
          <a:xfrm>
            <a:off x="7126834" y="3064256"/>
            <a:ext cx="43479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2" name="bar"/>
          <p:cNvSpPr/>
          <p:nvPr/>
        </p:nvSpPr>
        <p:spPr>
          <a:xfrm>
            <a:off x="6898234" y="3584448"/>
            <a:ext cx="716425" cy="36576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Upload</a:t>
            </a:r>
            <a:endParaRPr lang="en-US" sz="850" dirty="0"/>
          </a:p>
        </p:txBody>
      </p:sp>
      <p:sp>
        <p:nvSpPr>
          <p:cNvPr id="53" name="bar"/>
          <p:cNvSpPr/>
          <p:nvPr/>
        </p:nvSpPr>
        <p:spPr>
          <a:xfrm>
            <a:off x="7642091" y="3584448"/>
            <a:ext cx="344497" cy="365760"/>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Valid.</a:t>
            </a:r>
            <a:endParaRPr lang="en-US" sz="850" dirty="0"/>
          </a:p>
        </p:txBody>
      </p:sp>
      <p:sp>
        <p:nvSpPr>
          <p:cNvPr id="54" name="bar"/>
          <p:cNvSpPr/>
          <p:nvPr/>
        </p:nvSpPr>
        <p:spPr>
          <a:xfrm>
            <a:off x="8014019" y="3584448"/>
            <a:ext cx="2947997" cy="365760"/>
          </a:xfrm>
          <a:prstGeom prst="roundRect">
            <a:avLst>
              <a:gd name="adj" fmla="val 20000"/>
            </a:avLst>
          </a:prstGeom>
          <a:solidFill>
            <a:srgbClr val="FBBF24">
              <a:alpha val="12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Process</a:t>
            </a:r>
            <a:endParaRPr lang="en-US" sz="850" dirty="0"/>
          </a:p>
        </p:txBody>
      </p:sp>
      <p:sp>
        <p:nvSpPr>
          <p:cNvPr id="55" name="bar"/>
          <p:cNvSpPr/>
          <p:nvPr/>
        </p:nvSpPr>
        <p:spPr>
          <a:xfrm>
            <a:off x="10989448" y="3584448"/>
            <a:ext cx="567654" cy="365760"/>
          </a:xfrm>
          <a:prstGeom prst="roundRect">
            <a:avLst>
              <a:gd name="adj" fmla="val 20000"/>
            </a:avLst>
          </a:prstGeom>
          <a:solidFill>
            <a:srgbClr val="A78BFA">
              <a:alpha val="12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Thumb</a:t>
            </a:r>
            <a:endParaRPr lang="en-US" sz="850" dirty="0"/>
          </a:p>
        </p:txBody>
      </p:sp>
      <p:sp>
        <p:nvSpPr>
          <p:cNvPr id="56" name="cancel"/>
          <p:cNvSpPr/>
          <p:nvPr/>
        </p:nvSpPr>
        <p:spPr>
          <a:xfrm>
            <a:off x="8757876" y="3493008"/>
            <a:ext cx="45720" cy="566928"/>
          </a:xfrm>
          <a:prstGeom prst="rect">
            <a:avLst/>
          </a:prstGeom>
          <a:solidFill>
            <a:srgbClr val="F87171"/>
          </a:solidFill>
          <a:ln w="12700">
            <a:solidFill>
              <a:srgbClr val="F87171"/>
            </a:solidFill>
            <a:prstDash val="solid"/>
          </a:ln>
        </p:spPr>
        <p:txBody>
          <a:bodyPr/>
          <a:lstStyle/>
          <a:p>
            <a:endParaRPr lang="en-US"/>
          </a:p>
        </p:txBody>
      </p:sp>
      <p:sp>
        <p:nvSpPr>
          <p:cNvPr id="57" name="lab"/>
          <p:cNvSpPr txBox="1"/>
          <p:nvPr/>
        </p:nvSpPr>
        <p:spPr>
          <a:xfrm>
            <a:off x="8831028" y="4023360"/>
            <a:ext cx="18288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87171"/>
                </a:solidFill>
                <a:latin typeface="Segoe UI"/>
                <a:ea typeface="Segoe UI"/>
                <a:cs typeface="Segoe UI"/>
              </a:rPr>
              <a:t>Cancel at 2.5 s</a:t>
            </a:r>
            <a:endParaRPr lang="en-US" sz="1000" dirty="0"/>
          </a:p>
        </p:txBody>
      </p:sp>
      <p:sp>
        <p:nvSpPr>
          <p:cNvPr id="58" name="out_win"/>
          <p:cNvSpPr/>
          <p:nvPr/>
        </p:nvSpPr>
        <p:spPr>
          <a:xfrm>
            <a:off x="6898234" y="4315968"/>
            <a:ext cx="4732020" cy="1389888"/>
          </a:xfrm>
          <a:prstGeom prst="roundRect">
            <a:avLst>
              <a:gd name="adj" fmla="val 4934"/>
            </a:avLst>
          </a:prstGeom>
          <a:solidFill>
            <a:srgbClr val="060D18"/>
          </a:solidFill>
          <a:ln w="12700">
            <a:solidFill>
              <a:srgbClr val="1E3A5F"/>
            </a:solidFill>
            <a:prstDash val="solid"/>
          </a:ln>
        </p:spPr>
        <p:txBody>
          <a:bodyPr/>
          <a:lstStyle/>
          <a:p>
            <a:endParaRPr lang="en-US"/>
          </a:p>
        </p:txBody>
      </p:sp>
      <p:sp>
        <p:nvSpPr>
          <p:cNvPr id="59" name="out_bar"/>
          <p:cNvSpPr/>
          <p:nvPr/>
        </p:nvSpPr>
        <p:spPr>
          <a:xfrm>
            <a:off x="6898234" y="4315968"/>
            <a:ext cx="4732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60" name="out_barfill"/>
          <p:cNvSpPr/>
          <p:nvPr/>
        </p:nvSpPr>
        <p:spPr>
          <a:xfrm>
            <a:off x="6898234" y="4487418"/>
            <a:ext cx="4732020" cy="171450"/>
          </a:xfrm>
          <a:prstGeom prst="rect">
            <a:avLst/>
          </a:prstGeom>
          <a:solidFill>
            <a:srgbClr val="0A1220"/>
          </a:solidFill>
          <a:ln w="12700">
            <a:solidFill>
              <a:srgbClr val="0A1220"/>
            </a:solidFill>
            <a:prstDash val="solid"/>
          </a:ln>
        </p:spPr>
        <p:txBody>
          <a:bodyPr/>
          <a:lstStyle/>
          <a:p>
            <a:endParaRPr lang="en-US"/>
          </a:p>
        </p:txBody>
      </p:sp>
      <p:sp>
        <p:nvSpPr>
          <p:cNvPr id="61" name="out_dot0"/>
          <p:cNvSpPr/>
          <p:nvPr/>
        </p:nvSpPr>
        <p:spPr>
          <a:xfrm>
            <a:off x="7060082" y="4439778"/>
            <a:ext cx="95098" cy="95098"/>
          </a:xfrm>
          <a:prstGeom prst="ellipse">
            <a:avLst/>
          </a:prstGeom>
          <a:solidFill>
            <a:srgbClr val="F87171"/>
          </a:solidFill>
          <a:ln w="12700">
            <a:solidFill>
              <a:srgbClr val="F87171"/>
            </a:solidFill>
            <a:prstDash val="solid"/>
          </a:ln>
        </p:spPr>
        <p:txBody>
          <a:bodyPr/>
          <a:lstStyle/>
          <a:p>
            <a:endParaRPr lang="en-US"/>
          </a:p>
        </p:txBody>
      </p:sp>
      <p:sp>
        <p:nvSpPr>
          <p:cNvPr id="62" name="out_dot1"/>
          <p:cNvSpPr/>
          <p:nvPr/>
        </p:nvSpPr>
        <p:spPr>
          <a:xfrm>
            <a:off x="7245706" y="4439778"/>
            <a:ext cx="95098" cy="95098"/>
          </a:xfrm>
          <a:prstGeom prst="ellipse">
            <a:avLst/>
          </a:prstGeom>
          <a:solidFill>
            <a:srgbClr val="FBBF24"/>
          </a:solidFill>
          <a:ln w="12700">
            <a:solidFill>
              <a:srgbClr val="FBBF24"/>
            </a:solidFill>
            <a:prstDash val="solid"/>
          </a:ln>
        </p:spPr>
        <p:txBody>
          <a:bodyPr/>
          <a:lstStyle/>
          <a:p>
            <a:endParaRPr lang="en-US"/>
          </a:p>
        </p:txBody>
      </p:sp>
      <p:sp>
        <p:nvSpPr>
          <p:cNvPr id="63" name="out_dot2"/>
          <p:cNvSpPr/>
          <p:nvPr/>
        </p:nvSpPr>
        <p:spPr>
          <a:xfrm>
            <a:off x="7431329" y="4439778"/>
            <a:ext cx="95098" cy="95098"/>
          </a:xfrm>
          <a:prstGeom prst="ellipse">
            <a:avLst/>
          </a:prstGeom>
          <a:solidFill>
            <a:srgbClr val="34D399"/>
          </a:solidFill>
          <a:ln w="12700">
            <a:solidFill>
              <a:srgbClr val="34D399"/>
            </a:solidFill>
            <a:prstDash val="solid"/>
          </a:ln>
        </p:spPr>
        <p:txBody>
          <a:bodyPr/>
          <a:lstStyle/>
          <a:p>
            <a:endParaRPr lang="en-US"/>
          </a:p>
        </p:txBody>
      </p:sp>
      <p:sp>
        <p:nvSpPr>
          <p:cNvPr id="64" name="out_tab"/>
          <p:cNvSpPr/>
          <p:nvPr/>
        </p:nvSpPr>
        <p:spPr>
          <a:xfrm>
            <a:off x="7679131" y="43635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65" name="out_L00"/>
          <p:cNvSpPr txBox="1"/>
          <p:nvPr/>
        </p:nvSpPr>
        <p:spPr>
          <a:xfrm>
            <a:off x="7126834" y="4791456"/>
            <a:ext cx="43479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Upload...</a:t>
            </a:r>
            <a:endParaRPr lang="en-US" sz="950" dirty="0"/>
          </a:p>
        </p:txBody>
      </p:sp>
      <p:sp>
        <p:nvSpPr>
          <p:cNvPr id="66" name="out_L01"/>
          <p:cNvSpPr txBox="1"/>
          <p:nvPr/>
        </p:nvSpPr>
        <p:spPr>
          <a:xfrm>
            <a:off x="7126834" y="4984496"/>
            <a:ext cx="43479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Validate...</a:t>
            </a:r>
            <a:endParaRPr lang="en-US" sz="950" dirty="0"/>
          </a:p>
        </p:txBody>
      </p:sp>
      <p:sp>
        <p:nvSpPr>
          <p:cNvPr id="67" name="out_L02"/>
          <p:cNvSpPr txBox="1"/>
          <p:nvPr/>
        </p:nvSpPr>
        <p:spPr>
          <a:xfrm>
            <a:off x="7126834" y="5177536"/>
            <a:ext cx="43479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Process...</a:t>
            </a:r>
            <a:endParaRPr lang="en-US" sz="950" dirty="0"/>
          </a:p>
        </p:txBody>
      </p:sp>
      <p:sp>
        <p:nvSpPr>
          <p:cNvPr id="68" name="out_L03"/>
          <p:cNvSpPr txBox="1"/>
          <p:nvPr/>
        </p:nvSpPr>
        <p:spPr>
          <a:xfrm>
            <a:off x="7126834" y="5370576"/>
            <a:ext cx="43479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Canceled: no wasted processing</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250"/>
                                        <p:tgtEl>
                                          <p:spTgt spid="4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250"/>
                                        <p:tgtEl>
                                          <p:spTgt spid="4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25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fade">
                                      <p:cBhvr>
                                        <p:cTn id="69" dur="250"/>
                                        <p:tgtEl>
                                          <p:spTgt spid="4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250"/>
                                        <p:tgtEl>
                                          <p:spTgt spid="5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250"/>
                                        <p:tgtEl>
                                          <p:spTgt spid="5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fade">
                                      <p:cBhvr>
                                        <p:cTn id="80" dur="250"/>
                                        <p:tgtEl>
                                          <p:spTgt spid="5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250"/>
                                        <p:tgtEl>
                                          <p:spTgt spid="5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fade">
                                      <p:cBhvr>
                                        <p:cTn id="86" dur="250"/>
                                        <p:tgtEl>
                                          <p:spTgt spid="5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fade">
                                      <p:cBhvr>
                                        <p:cTn id="89" dur="250"/>
                                        <p:tgtEl>
                                          <p:spTgt spid="5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6"/>
                                        </p:tgtEl>
                                        <p:attrNameLst>
                                          <p:attrName>style.visibility</p:attrName>
                                        </p:attrNameLst>
                                      </p:cBhvr>
                                      <p:to>
                                        <p:strVal val="visible"/>
                                      </p:to>
                                    </p:set>
                                    <p:animEffect transition="in" filter="fade">
                                      <p:cBhvr>
                                        <p:cTn id="94" dur="250"/>
                                        <p:tgtEl>
                                          <p:spTgt spid="5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7"/>
                                        </p:tgtEl>
                                        <p:attrNameLst>
                                          <p:attrName>style.visibility</p:attrName>
                                        </p:attrNameLst>
                                      </p:cBhvr>
                                      <p:to>
                                        <p:strVal val="visible"/>
                                      </p:to>
                                    </p:set>
                                    <p:animEffect transition="in" filter="fade">
                                      <p:cBhvr>
                                        <p:cTn id="97" dur="250"/>
                                        <p:tgtEl>
                                          <p:spTgt spid="57"/>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5"/>
                                        </p:tgtEl>
                                        <p:attrNameLst>
                                          <p:attrName>style.visibility</p:attrName>
                                        </p:attrNameLst>
                                      </p:cBhvr>
                                      <p:to>
                                        <p:strVal val="visible"/>
                                      </p:to>
                                    </p:set>
                                    <p:animEffect transition="in" filter="fade">
                                      <p:cBhvr>
                                        <p:cTn id="102" dur="250"/>
                                        <p:tgtEl>
                                          <p:spTgt spid="6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6"/>
                                        </p:tgtEl>
                                        <p:attrNameLst>
                                          <p:attrName>style.visibility</p:attrName>
                                        </p:attrNameLst>
                                      </p:cBhvr>
                                      <p:to>
                                        <p:strVal val="visible"/>
                                      </p:to>
                                    </p:set>
                                    <p:animEffect transition="in" filter="fade">
                                      <p:cBhvr>
                                        <p:cTn id="105" dur="250"/>
                                        <p:tgtEl>
                                          <p:spTgt spid="6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7"/>
                                        </p:tgtEl>
                                        <p:attrNameLst>
                                          <p:attrName>style.visibility</p:attrName>
                                        </p:attrNameLst>
                                      </p:cBhvr>
                                      <p:to>
                                        <p:strVal val="visible"/>
                                      </p:to>
                                    </p:set>
                                    <p:animEffect transition="in" filter="fade">
                                      <p:cBhvr>
                                        <p:cTn id="108" dur="250"/>
                                        <p:tgtEl>
                                          <p:spTgt spid="6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8"/>
                                        </p:tgtEl>
                                        <p:attrNameLst>
                                          <p:attrName>style.visibility</p:attrName>
                                        </p:attrNameLst>
                                      </p:cBhvr>
                                      <p:to>
                                        <p:strVal val="visible"/>
                                      </p:to>
                                    </p:set>
                                    <p:animEffect transition="in" filter="fade">
                                      <p:cBhvr>
                                        <p:cTn id="111" dur="2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46" grpId="0"/>
      <p:bldP spid="47" grpId="0"/>
      <p:bldP spid="48" grpId="0"/>
      <p:bldP spid="49" grpId="0"/>
      <p:bldP spid="50" grpId="0"/>
      <p:bldP spid="51" grpId="0"/>
      <p:bldP spid="52" grpId="0" animBg="1"/>
      <p:bldP spid="53" grpId="0" animBg="1"/>
      <p:bldP spid="54" grpId="0" animBg="1"/>
      <p:bldP spid="55" grpId="0" animBg="1"/>
      <p:bldP spid="56" grpId="0" animBg="1"/>
      <p:bldP spid="57" grpId="0"/>
      <p:bldP spid="65" grpId="0"/>
      <p:bldP spid="66" grpId="0"/>
      <p:bldP spid="67" grpId="0"/>
      <p:bldP spid="6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Cancel, But Nobody Listens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133</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The token is canceled after 1 second. What happens?</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cts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CancellationTokenSource(1000);</a:t>
            </a:r>
            <a:endParaRPr lang="en-US" sz="1000" dirty="0"/>
          </a:p>
        </p:txBody>
      </p:sp>
      <p:sp>
        <p:nvSpPr>
          <p:cNvPr id="24" name="cw_L01"/>
          <p:cNvSpPr txBox="1"/>
          <p:nvPr/>
        </p:nvSpPr>
        <p:spPr>
          <a:xfrm>
            <a:off x="771754" y="2388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ProcessAsync(cts.Token);</a:t>
            </a:r>
            <a:endParaRPr lang="en-US" sz="1000" dirty="0"/>
          </a:p>
        </p:txBody>
      </p:sp>
      <p:sp>
        <p:nvSpPr>
          <p:cNvPr id="25" name="cw_L02"/>
          <p:cNvSpPr txBox="1"/>
          <p:nvPr/>
        </p:nvSpPr>
        <p:spPr>
          <a:xfrm>
            <a:off x="771754" y="25918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"Done"</a:t>
            </a:r>
            <a:r>
              <a:rPr lang="en-US" sz="1000" b="0" dirty="0">
                <a:solidFill>
                  <a:srgbClr val="E2E8F0"/>
                </a:solidFill>
                <a:latin typeface="Consolas"/>
                <a:ea typeface="Consolas"/>
                <a:cs typeface="Consolas"/>
              </a:rPr>
              <a:t>);</a:t>
            </a:r>
            <a:endParaRPr lang="en-US" sz="1000" dirty="0"/>
          </a:p>
        </p:txBody>
      </p:sp>
      <p:sp>
        <p:nvSpPr>
          <p:cNvPr id="26" name="cw_L04"/>
          <p:cNvSpPr txBox="1"/>
          <p:nvPr/>
        </p:nvSpPr>
        <p:spPr>
          <a:xfrm>
            <a:off x="771754" y="29982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ProcessAsync(CancellationToken token)</a:t>
            </a:r>
            <a:endParaRPr lang="en-US" sz="1000" dirty="0"/>
          </a:p>
        </p:txBody>
      </p:sp>
      <p:sp>
        <p:nvSpPr>
          <p:cNvPr id="27" name="cw_L05"/>
          <p:cNvSpPr txBox="1"/>
          <p:nvPr/>
        </p:nvSpPr>
        <p:spPr>
          <a:xfrm>
            <a:off x="771754" y="32014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8" name="cw_L06"/>
          <p:cNvSpPr txBox="1"/>
          <p:nvPr/>
        </p:nvSpPr>
        <p:spPr>
          <a:xfrm>
            <a:off x="771754" y="34046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for</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 = 1; i &lt;= 5; i++)</a:t>
            </a:r>
            <a:endParaRPr lang="en-US" sz="1000" dirty="0"/>
          </a:p>
        </p:txBody>
      </p:sp>
      <p:sp>
        <p:nvSpPr>
          <p:cNvPr id="29" name="cw_L07"/>
          <p:cNvSpPr txBox="1"/>
          <p:nvPr/>
        </p:nvSpPr>
        <p:spPr>
          <a:xfrm>
            <a:off x="771754" y="36078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0" name="cw_L08"/>
          <p:cNvSpPr txBox="1"/>
          <p:nvPr/>
        </p:nvSpPr>
        <p:spPr>
          <a:xfrm>
            <a:off x="771754" y="38110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Task.Delay(1000);       </a:t>
            </a:r>
            <a:r>
              <a:rPr lang="en-US" sz="1000" b="0" dirty="0">
                <a:solidFill>
                  <a:srgbClr val="6FAE7A"/>
                </a:solidFill>
                <a:latin typeface="Consolas"/>
                <a:ea typeface="Consolas"/>
                <a:cs typeface="Consolas"/>
              </a:rPr>
              <a:t>// token not passed</a:t>
            </a:r>
            <a:endParaRPr lang="en-US" sz="1000" dirty="0"/>
          </a:p>
        </p:txBody>
      </p:sp>
      <p:sp>
        <p:nvSpPr>
          <p:cNvPr id="31" name="cw_L09"/>
          <p:cNvSpPr txBox="1"/>
          <p:nvPr/>
        </p:nvSpPr>
        <p:spPr>
          <a:xfrm>
            <a:off x="771754" y="4014216"/>
            <a:ext cx="537667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$"Step {i}"</a:t>
            </a:r>
            <a:r>
              <a:rPr lang="en-US" sz="1000" b="0" dirty="0">
                <a:solidFill>
                  <a:srgbClr val="E2E8F0"/>
                </a:solidFill>
                <a:latin typeface="Consolas"/>
                <a:ea typeface="Consolas"/>
                <a:cs typeface="Consolas"/>
              </a:rPr>
              <a:t>);</a:t>
            </a:r>
            <a:endParaRPr lang="en-US" sz="1000" dirty="0"/>
          </a:p>
        </p:txBody>
      </p:sp>
      <p:sp>
        <p:nvSpPr>
          <p:cNvPr id="32" name="cw_L10"/>
          <p:cNvSpPr txBox="1"/>
          <p:nvPr/>
        </p:nvSpPr>
        <p:spPr>
          <a:xfrm>
            <a:off x="771754" y="4217416"/>
            <a:ext cx="537667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1"/>
          <p:cNvSpPr txBox="1"/>
          <p:nvPr/>
        </p:nvSpPr>
        <p:spPr>
          <a:xfrm>
            <a:off x="771754" y="4420616"/>
            <a:ext cx="53766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It stops immediately</a:t>
            </a:r>
            <a:endParaRPr lang="en-US" sz="1400" dirty="0"/>
          </a:p>
        </p:txBody>
      </p:sp>
      <p:sp>
        <p:nvSpPr>
          <p:cNvPr id="35"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It stops after Step 1</a:t>
            </a:r>
            <a:endParaRPr lang="en-US" sz="1400" dirty="0"/>
          </a:p>
        </p:txBody>
      </p:sp>
      <p:sp>
        <p:nvSpPr>
          <p:cNvPr id="36"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All 5 steps run, then Done</a:t>
            </a:r>
            <a:endParaRPr lang="en-US" sz="1400" dirty="0"/>
          </a:p>
        </p:txBody>
      </p:sp>
      <p:sp>
        <p:nvSpPr>
          <p:cNvPr id="37"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It throws at once</a:t>
            </a:r>
            <a:endParaRPr lang="en-US" sz="1400" dirty="0"/>
          </a:p>
        </p:txBody>
      </p:sp>
      <p:sp>
        <p:nvSpPr>
          <p:cNvPr id="38" name="answer_mark"/>
          <p:cNvSpPr/>
          <p:nvPr/>
        </p:nvSpPr>
        <p:spPr>
          <a:xfrm>
            <a:off x="6532474" y="3282696"/>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C   </a:t>
            </a:r>
            <a:r>
              <a:rPr lang="en-US" sz="1400" b="1" dirty="0">
                <a:solidFill>
                  <a:srgbClr val="34D399"/>
                </a:solidFill>
                <a:latin typeface="Segoe UI"/>
                <a:ea typeface="Segoe UI"/>
                <a:cs typeface="Segoe UI"/>
              </a:rPr>
              <a:t>All 5 steps run, then Done</a:t>
            </a:r>
            <a:endParaRPr lang="en-US" sz="1400" dirty="0"/>
          </a:p>
        </p:txBody>
      </p:sp>
      <p:sp>
        <p:nvSpPr>
          <p:cNvPr id="39"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C   </a:t>
            </a:r>
            <a:r>
              <a:rPr lang="en-US" sz="1450" b="0" dirty="0">
                <a:solidFill>
                  <a:srgbClr val="FFFFFF"/>
                </a:solidFill>
                <a:latin typeface="Segoe UI"/>
                <a:ea typeface="Segoe UI"/>
                <a:cs typeface="Segoe UI"/>
              </a:rPr>
              <a:t>Cancellation is cooperative. ProcessAsync never checks the token or passes it on, so nothing stops: all five steps run.</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25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5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5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25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25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5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5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25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25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25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animBg="1"/>
      <p:bldP spid="38" grpId="0" animBg="1"/>
      <p:bldP spid="39"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PART 8</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134</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08</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Async Pitfalls &amp; Good Design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The mistakes that turn async code into slow or crashing code.</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Task vs ValueTask  ·  Blocking on async  ·  App down vs await  ·  Async all the way  ·  Fire-and-forget  ·  Async lambdas  ·  List.ForEach trap  ·  Good async API design  ·  Quiz</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VALUETASK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 vs ValueTask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135</a:t>
            </a:r>
            <a:endParaRPr lang="en-US" sz="850" dirty="0"/>
          </a:p>
        </p:txBody>
      </p:sp>
      <p:sp>
        <p:nvSpPr>
          <p:cNvPr id="15" name="cw_win"/>
          <p:cNvSpPr/>
          <p:nvPr/>
        </p:nvSpPr>
        <p:spPr>
          <a:xfrm>
            <a:off x="543154" y="1572768"/>
            <a:ext cx="640080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Dictionary&lt;</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cache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a:t>
            </a:r>
            <a:endParaRPr lang="en-US" sz="1000" dirty="0"/>
          </a:p>
        </p:txBody>
      </p:sp>
      <p:sp>
        <p:nvSpPr>
          <p:cNvPr id="23" name="cw_L01"/>
          <p:cNvSpPr txBox="1"/>
          <p:nvPr/>
        </p:nvSpPr>
        <p:spPr>
          <a:xfrm>
            <a:off x="771754" y="22514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GetNameAsync(7));   </a:t>
            </a:r>
            <a:r>
              <a:rPr lang="en-US" sz="1000" b="0" dirty="0">
                <a:solidFill>
                  <a:srgbClr val="6FAE7A"/>
                </a:solidFill>
                <a:latin typeface="Consolas"/>
                <a:ea typeface="Consolas"/>
                <a:cs typeface="Consolas"/>
              </a:rPr>
              <a:t>// slow path</a:t>
            </a:r>
            <a:endParaRPr lang="en-US" sz="1000" dirty="0"/>
          </a:p>
        </p:txBody>
      </p:sp>
      <p:sp>
        <p:nvSpPr>
          <p:cNvPr id="24" name="cw_L02"/>
          <p:cNvSpPr txBox="1"/>
          <p:nvPr/>
        </p:nvSpPr>
        <p:spPr>
          <a:xfrm>
            <a:off x="771754" y="2454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GetNameAsync(7));   </a:t>
            </a:r>
            <a:r>
              <a:rPr lang="en-US" sz="1000" b="0" dirty="0">
                <a:solidFill>
                  <a:srgbClr val="6FAE7A"/>
                </a:solidFill>
                <a:latin typeface="Consolas"/>
                <a:ea typeface="Consolas"/>
                <a:cs typeface="Consolas"/>
              </a:rPr>
              <a:t>// fast path</a:t>
            </a:r>
            <a:endParaRPr lang="en-US" sz="1000" dirty="0"/>
          </a:p>
        </p:txBody>
      </p:sp>
      <p:sp>
        <p:nvSpPr>
          <p:cNvPr id="25" name="cw_L03"/>
          <p:cNvSpPr txBox="1"/>
          <p:nvPr/>
        </p:nvSpPr>
        <p:spPr>
          <a:xfrm>
            <a:off x="771754" y="26578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ValueTask&lt;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GetNameAsync(</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a:t>
            </a:r>
            <a:endParaRPr lang="en-US" sz="1000" dirty="0"/>
          </a:p>
        </p:txBody>
      </p:sp>
      <p:sp>
        <p:nvSpPr>
          <p:cNvPr id="26" name="cw_L04"/>
          <p:cNvSpPr txBox="1"/>
          <p:nvPr/>
        </p:nvSpPr>
        <p:spPr>
          <a:xfrm>
            <a:off x="771754" y="28610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0642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if</a:t>
            </a:r>
            <a:r>
              <a:rPr lang="en-US" sz="1000" b="0" dirty="0">
                <a:solidFill>
                  <a:srgbClr val="E2E8F0"/>
                </a:solidFill>
                <a:latin typeface="Consolas"/>
                <a:ea typeface="Consolas"/>
                <a:cs typeface="Consolas"/>
              </a:rPr>
              <a:t> (cache.TryGetValue(id, </a:t>
            </a:r>
            <a:r>
              <a:rPr lang="en-US" sz="1000" b="0" dirty="0">
                <a:solidFill>
                  <a:srgbClr val="60A5FA"/>
                </a:solidFill>
                <a:latin typeface="Consolas"/>
                <a:ea typeface="Consolas"/>
                <a:cs typeface="Consolas"/>
              </a:rPr>
              <a:t>out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name))</a:t>
            </a:r>
            <a:endParaRPr lang="en-US" sz="1000" dirty="0"/>
          </a:p>
        </p:txBody>
      </p:sp>
      <p:sp>
        <p:nvSpPr>
          <p:cNvPr id="28" name="cw_L06"/>
          <p:cNvSpPr txBox="1"/>
          <p:nvPr/>
        </p:nvSpPr>
        <p:spPr>
          <a:xfrm>
            <a:off x="771754" y="3267456"/>
            <a:ext cx="60167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name;                 </a:t>
            </a:r>
            <a:r>
              <a:rPr lang="en-US" sz="1000" b="0" dirty="0">
                <a:solidFill>
                  <a:srgbClr val="6FAE7A"/>
                </a:solidFill>
                <a:latin typeface="Consolas"/>
                <a:ea typeface="Consolas"/>
                <a:cs typeface="Consolas"/>
              </a:rPr>
              <a:t>// usually: no Task allocated</a:t>
            </a:r>
            <a:endParaRPr lang="en-US" sz="1000" dirty="0"/>
          </a:p>
        </p:txBody>
      </p:sp>
      <p:sp>
        <p:nvSpPr>
          <p:cNvPr id="29" name="cw_L08"/>
          <p:cNvSpPr txBox="1"/>
          <p:nvPr/>
        </p:nvSpPr>
        <p:spPr>
          <a:xfrm>
            <a:off x="771754" y="36738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           </a:t>
            </a:r>
            <a:r>
              <a:rPr lang="en-US" sz="1000" b="0" dirty="0">
                <a:solidFill>
                  <a:srgbClr val="6FAE7A"/>
                </a:solidFill>
                <a:latin typeface="Consolas"/>
                <a:ea typeface="Consolas"/>
                <a:cs typeface="Consolas"/>
              </a:rPr>
              <a:t>// rarely: real I/O</a:t>
            </a:r>
            <a:endParaRPr lang="en-US" sz="1000" dirty="0"/>
          </a:p>
        </p:txBody>
      </p:sp>
      <p:sp>
        <p:nvSpPr>
          <p:cNvPr id="30" name="cw_L09"/>
          <p:cNvSpPr txBox="1"/>
          <p:nvPr/>
        </p:nvSpPr>
        <p:spPr>
          <a:xfrm>
            <a:off x="771754" y="38770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name = </a:t>
            </a:r>
            <a:r>
              <a:rPr lang="en-US" sz="1000" b="0" dirty="0">
                <a:solidFill>
                  <a:srgbClr val="F0A98B"/>
                </a:solidFill>
                <a:latin typeface="Consolas"/>
                <a:ea typeface="Consolas"/>
                <a:cs typeface="Consolas"/>
              </a:rPr>
              <a:t>$"Restaurant {id}"</a:t>
            </a: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cache[id] = name;</a:t>
            </a:r>
            <a:endParaRPr lang="en-US" sz="1000" dirty="0"/>
          </a:p>
        </p:txBody>
      </p:sp>
      <p:sp>
        <p:nvSpPr>
          <p:cNvPr id="32" name="cw_L11"/>
          <p:cNvSpPr txBox="1"/>
          <p:nvPr/>
        </p:nvSpPr>
        <p:spPr>
          <a:xfrm>
            <a:off x="771754" y="42834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name;</a:t>
            </a:r>
            <a:endParaRPr lang="en-US" sz="1000" dirty="0"/>
          </a:p>
        </p:txBody>
      </p:sp>
      <p:sp>
        <p:nvSpPr>
          <p:cNvPr id="33" name="cw_L12"/>
          <p:cNvSpPr txBox="1"/>
          <p:nvPr/>
        </p:nvSpPr>
        <p:spPr>
          <a:xfrm>
            <a:off x="771754" y="4486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mark"/>
          <p:cNvSpPr/>
          <p:nvPr/>
        </p:nvSpPr>
        <p:spPr>
          <a:xfrm>
            <a:off x="676656" y="3249168"/>
            <a:ext cx="6133795" cy="239776"/>
          </a:xfrm>
          <a:prstGeom prst="rect">
            <a:avLst/>
          </a:prstGeom>
          <a:solidFill>
            <a:srgbClr val="34D399">
              <a:alpha val="16000"/>
            </a:srgbClr>
          </a:solidFill>
          <a:ln w="15875">
            <a:solidFill>
              <a:srgbClr val="34D399"/>
            </a:solidFill>
            <a:prstDash val="solid"/>
          </a:ln>
        </p:spPr>
        <p:txBody>
          <a:bodyPr/>
          <a:lstStyle/>
          <a:p>
            <a:endParaRPr lang="en-US"/>
          </a:p>
        </p:txBody>
      </p:sp>
      <p:sp>
        <p:nvSpPr>
          <p:cNvPr id="35" name="cmark"/>
          <p:cNvSpPr/>
          <p:nvPr/>
        </p:nvSpPr>
        <p:spPr>
          <a:xfrm>
            <a:off x="676656" y="3655568"/>
            <a:ext cx="6133795" cy="239776"/>
          </a:xfrm>
          <a:prstGeom prst="rect">
            <a:avLst/>
          </a:prstGeom>
          <a:solidFill>
            <a:srgbClr val="FBBF24">
              <a:alpha val="16000"/>
            </a:srgbClr>
          </a:solidFill>
          <a:ln w="15875">
            <a:solidFill>
              <a:srgbClr val="FBBF24"/>
            </a:solidFill>
            <a:prstDash val="solid"/>
          </a:ln>
        </p:spPr>
        <p:txBody>
          <a:bodyPr/>
          <a:lstStyle/>
          <a:p>
            <a:endParaRPr lang="en-US"/>
          </a:p>
        </p:txBody>
      </p:sp>
      <p:sp>
        <p:nvSpPr>
          <p:cNvPr id="36" name="tbl_head"/>
          <p:cNvSpPr/>
          <p:nvPr/>
        </p:nvSpPr>
        <p:spPr>
          <a:xfrm>
            <a:off x="7172554" y="1572768"/>
            <a:ext cx="445770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7" name="tbl_h"/>
          <p:cNvSpPr txBox="1"/>
          <p:nvPr/>
        </p:nvSpPr>
        <p:spPr>
          <a:xfrm>
            <a:off x="7300570" y="1572768"/>
            <a:ext cx="115443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38" name="tbl_h"/>
          <p:cNvSpPr txBox="1"/>
          <p:nvPr/>
        </p:nvSpPr>
        <p:spPr>
          <a:xfrm>
            <a:off x="8637880" y="1572768"/>
            <a:ext cx="1377315"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Task&lt;T&gt;</a:t>
            </a:r>
            <a:endParaRPr lang="en-US" sz="1000" dirty="0"/>
          </a:p>
        </p:txBody>
      </p:sp>
      <p:sp>
        <p:nvSpPr>
          <p:cNvPr id="39" name="tbl_h"/>
          <p:cNvSpPr txBox="1"/>
          <p:nvPr/>
        </p:nvSpPr>
        <p:spPr>
          <a:xfrm>
            <a:off x="10198075" y="1572768"/>
            <a:ext cx="1377315"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ValueTask&lt;T&gt;</a:t>
            </a:r>
            <a:endParaRPr lang="en-US" sz="1000" dirty="0"/>
          </a:p>
        </p:txBody>
      </p:sp>
      <p:sp>
        <p:nvSpPr>
          <p:cNvPr id="40" name="tbl_row"/>
          <p:cNvSpPr/>
          <p:nvPr/>
        </p:nvSpPr>
        <p:spPr>
          <a:xfrm>
            <a:off x="7172554" y="1965960"/>
            <a:ext cx="4457700" cy="548640"/>
          </a:xfrm>
          <a:prstGeom prst="roundRect">
            <a:avLst>
              <a:gd name="adj" fmla="val 13333"/>
            </a:avLst>
          </a:prstGeom>
          <a:solidFill>
            <a:srgbClr val="111B2E"/>
          </a:solidFill>
          <a:ln w="12700">
            <a:solidFill>
              <a:srgbClr val="34D399"/>
            </a:solidFill>
            <a:prstDash val="solid"/>
          </a:ln>
        </p:spPr>
        <p:txBody>
          <a:bodyPr/>
          <a:lstStyle/>
          <a:p>
            <a:endParaRPr lang="en-US"/>
          </a:p>
        </p:txBody>
      </p:sp>
      <p:sp>
        <p:nvSpPr>
          <p:cNvPr id="41" name="tbl_c"/>
          <p:cNvSpPr txBox="1"/>
          <p:nvPr/>
        </p:nvSpPr>
        <p:spPr>
          <a:xfrm>
            <a:off x="7300570" y="1965960"/>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Kind</a:t>
            </a:r>
            <a:endParaRPr lang="en-US" sz="1100" dirty="0"/>
          </a:p>
        </p:txBody>
      </p:sp>
      <p:sp>
        <p:nvSpPr>
          <p:cNvPr id="42" name="tbl_c"/>
          <p:cNvSpPr txBox="1"/>
          <p:nvPr/>
        </p:nvSpPr>
        <p:spPr>
          <a:xfrm>
            <a:off x="8637880" y="1965960"/>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class</a:t>
            </a:r>
            <a:endParaRPr lang="en-US" sz="1100" dirty="0"/>
          </a:p>
        </p:txBody>
      </p:sp>
      <p:sp>
        <p:nvSpPr>
          <p:cNvPr id="43" name="tbl_c"/>
          <p:cNvSpPr txBox="1"/>
          <p:nvPr/>
        </p:nvSpPr>
        <p:spPr>
          <a:xfrm>
            <a:off x="10198075" y="1965960"/>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struct</a:t>
            </a:r>
            <a:endParaRPr lang="en-US" sz="1100" dirty="0"/>
          </a:p>
        </p:txBody>
      </p:sp>
      <p:sp>
        <p:nvSpPr>
          <p:cNvPr id="44" name="tbl_row"/>
          <p:cNvSpPr/>
          <p:nvPr/>
        </p:nvSpPr>
        <p:spPr>
          <a:xfrm>
            <a:off x="7172554" y="2578608"/>
            <a:ext cx="4457700" cy="548640"/>
          </a:xfrm>
          <a:prstGeom prst="roundRect">
            <a:avLst>
              <a:gd name="adj" fmla="val 13333"/>
            </a:avLst>
          </a:prstGeom>
          <a:solidFill>
            <a:srgbClr val="111B2E"/>
          </a:solidFill>
          <a:ln w="12700">
            <a:solidFill>
              <a:srgbClr val="FBBF24"/>
            </a:solidFill>
            <a:prstDash val="solid"/>
          </a:ln>
        </p:spPr>
        <p:txBody>
          <a:bodyPr/>
          <a:lstStyle/>
          <a:p>
            <a:endParaRPr lang="en-US"/>
          </a:p>
        </p:txBody>
      </p:sp>
      <p:sp>
        <p:nvSpPr>
          <p:cNvPr id="45" name="tbl_c"/>
          <p:cNvSpPr txBox="1"/>
          <p:nvPr/>
        </p:nvSpPr>
        <p:spPr>
          <a:xfrm>
            <a:off x="7300570" y="2578608"/>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Await it</a:t>
            </a:r>
            <a:endParaRPr lang="en-US" sz="1100" dirty="0"/>
          </a:p>
        </p:txBody>
      </p:sp>
      <p:sp>
        <p:nvSpPr>
          <p:cNvPr id="46" name="tbl_c"/>
          <p:cNvSpPr txBox="1"/>
          <p:nvPr/>
        </p:nvSpPr>
        <p:spPr>
          <a:xfrm>
            <a:off x="8637880" y="2578608"/>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many times</a:t>
            </a:r>
            <a:endParaRPr lang="en-US" sz="1100" dirty="0"/>
          </a:p>
        </p:txBody>
      </p:sp>
      <p:sp>
        <p:nvSpPr>
          <p:cNvPr id="47" name="tbl_c"/>
          <p:cNvSpPr txBox="1"/>
          <p:nvPr/>
        </p:nvSpPr>
        <p:spPr>
          <a:xfrm>
            <a:off x="10198075" y="2578608"/>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once only</a:t>
            </a:r>
            <a:endParaRPr lang="en-US" sz="1100" dirty="0"/>
          </a:p>
        </p:txBody>
      </p:sp>
      <p:sp>
        <p:nvSpPr>
          <p:cNvPr id="48" name="tbl_row"/>
          <p:cNvSpPr/>
          <p:nvPr/>
        </p:nvSpPr>
        <p:spPr>
          <a:xfrm>
            <a:off x="7172554" y="3191256"/>
            <a:ext cx="4457700" cy="548640"/>
          </a:xfrm>
          <a:prstGeom prst="roundRect">
            <a:avLst>
              <a:gd name="adj" fmla="val 13333"/>
            </a:avLst>
          </a:prstGeom>
          <a:solidFill>
            <a:srgbClr val="111B2E"/>
          </a:solidFill>
          <a:ln w="12700">
            <a:solidFill>
              <a:srgbClr val="13D0F7"/>
            </a:solidFill>
            <a:prstDash val="solid"/>
          </a:ln>
        </p:spPr>
        <p:txBody>
          <a:bodyPr/>
          <a:lstStyle/>
          <a:p>
            <a:endParaRPr lang="en-US"/>
          </a:p>
        </p:txBody>
      </p:sp>
      <p:sp>
        <p:nvSpPr>
          <p:cNvPr id="49" name="tbl_c"/>
          <p:cNvSpPr txBox="1"/>
          <p:nvPr/>
        </p:nvSpPr>
        <p:spPr>
          <a:xfrm>
            <a:off x="7300570" y="3191256"/>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Choose it</a:t>
            </a:r>
            <a:endParaRPr lang="en-US" sz="1100" dirty="0"/>
          </a:p>
        </p:txBody>
      </p:sp>
      <p:sp>
        <p:nvSpPr>
          <p:cNvPr id="50" name="tbl_c"/>
          <p:cNvSpPr txBox="1"/>
          <p:nvPr/>
        </p:nvSpPr>
        <p:spPr>
          <a:xfrm>
            <a:off x="8637880" y="3191256"/>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by default</a:t>
            </a:r>
            <a:endParaRPr lang="en-US" sz="1100" dirty="0"/>
          </a:p>
        </p:txBody>
      </p:sp>
      <p:sp>
        <p:nvSpPr>
          <p:cNvPr id="51" name="tbl_c"/>
          <p:cNvSpPr txBox="1"/>
          <p:nvPr/>
        </p:nvSpPr>
        <p:spPr>
          <a:xfrm>
            <a:off x="10198075" y="3191256"/>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after measuring</a:t>
            </a:r>
            <a:endParaRPr lang="en-US" sz="1100" dirty="0"/>
          </a:p>
        </p:txBody>
      </p:sp>
      <p:sp>
        <p:nvSpPr>
          <p:cNvPr id="52" name="card"/>
          <p:cNvSpPr/>
          <p:nvPr/>
        </p:nvSpPr>
        <p:spPr>
          <a:xfrm>
            <a:off x="7172554" y="3904488"/>
            <a:ext cx="4457700" cy="978408"/>
          </a:xfrm>
          <a:prstGeom prst="roundRect">
            <a:avLst>
              <a:gd name="adj" fmla="val 8411"/>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0"/>
              </a:spcAft>
              <a:buNone/>
            </a:pPr>
            <a:r>
              <a:rPr lang="en-US" sz="1200" b="0" dirty="0">
                <a:solidFill>
                  <a:srgbClr val="CBD5E1"/>
                </a:solidFill>
                <a:latin typeface="Segoe UI"/>
                <a:ea typeface="Segoe UI"/>
                <a:cs typeface="Segoe UI"/>
              </a:rPr>
              <a:t>Never store a ValueTask and await it twice.</a:t>
            </a:r>
            <a:endParaRPr lang="en-US" sz="1200" dirty="0"/>
          </a:p>
        </p:txBody>
      </p:sp>
      <p:sp>
        <p:nvSpPr>
          <p:cNvPr id="53"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Task is the default choice. ValueTask is an advanced performance optimization.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25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2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2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25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25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25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25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25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25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250"/>
                                        <p:tgtEl>
                                          <p:spTgt spid="4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2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2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2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250"/>
                                        <p:tgtEl>
                                          <p:spTgt spid="52"/>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p:bldP spid="38" grpId="0"/>
      <p:bldP spid="39" grpId="0"/>
      <p:bldP spid="40" grpId="0" animBg="1"/>
      <p:bldP spid="41" grpId="0"/>
      <p:bldP spid="42" grpId="0"/>
      <p:bldP spid="43" grpId="0"/>
      <p:bldP spid="44" grpId="0" animBg="1"/>
      <p:bldP spid="45" grpId="0"/>
      <p:bldP spid="46" grpId="0"/>
      <p:bldP spid="47" grpId="0"/>
      <p:bldP spid="48" grpId="0" animBg="1"/>
      <p:bldP spid="49" grpId="0"/>
      <p:bldP spid="50" grpId="0"/>
      <p:bldP spid="51" grpId="0"/>
      <p:bldP spid="52" grpId="0" animBg="1"/>
      <p:bldP spid="53"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ASYNC LAMBDAS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Lambdas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142</a:t>
            </a:r>
            <a:endParaRPr lang="en-US" sz="850" dirty="0"/>
          </a:p>
        </p:txBody>
      </p:sp>
      <p:sp>
        <p:nvSpPr>
          <p:cNvPr id="15" name="cw_win"/>
          <p:cNvSpPr/>
          <p:nvPr/>
        </p:nvSpPr>
        <p:spPr>
          <a:xfrm>
            <a:off x="543154" y="1572768"/>
            <a:ext cx="63093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Func&lt;</a:t>
            </a:r>
            <a:r>
              <a:rPr lang="en-US" sz="1150" b="0" dirty="0">
                <a:solidFill>
                  <a:srgbClr val="60A5FA"/>
                </a:solidFill>
                <a:latin typeface="Consolas"/>
                <a:ea typeface="Consolas"/>
                <a:cs typeface="Consolas"/>
              </a:rPr>
              <a:t>int</a:t>
            </a:r>
            <a:r>
              <a:rPr lang="en-US" sz="1150" b="0" dirty="0">
                <a:solidFill>
                  <a:srgbClr val="E2E8F0"/>
                </a:solidFill>
                <a:latin typeface="Consolas"/>
                <a:ea typeface="Consolas"/>
                <a:cs typeface="Consolas"/>
              </a:rPr>
              <a:t>, Task&gt; notifyCustomer = </a:t>
            </a: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orderId =&gt;</a:t>
            </a:r>
            <a:endParaRPr lang="en-US" sz="1150" dirty="0"/>
          </a:p>
        </p:txBody>
      </p:sp>
      <p:sp>
        <p:nvSpPr>
          <p:cNvPr id="23" name="cw_L01"/>
          <p:cNvSpPr txBox="1"/>
          <p:nvPr/>
        </p:nvSpPr>
        <p:spPr>
          <a:xfrm>
            <a:off x="771754" y="228193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Task.Delay(300);</a:t>
            </a:r>
            <a:endParaRPr lang="en-US" sz="1150" dirty="0"/>
          </a:p>
        </p:txBody>
      </p:sp>
      <p:sp>
        <p:nvSpPr>
          <p:cNvPr id="25" name="cw_L03"/>
          <p:cNvSpPr txBox="1"/>
          <p:nvPr/>
        </p:nvSpPr>
        <p:spPr>
          <a:xfrm>
            <a:off x="771754" y="274929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$"Customer notified about order {orderId}"</a:t>
            </a:r>
            <a:r>
              <a:rPr lang="en-US" sz="1150" b="0" dirty="0">
                <a:solidFill>
                  <a:srgbClr val="E2E8F0"/>
                </a:solidFill>
                <a:latin typeface="Consolas"/>
                <a:ea typeface="Consolas"/>
                <a:cs typeface="Consolas"/>
              </a:rPr>
              <a:t>);</a:t>
            </a:r>
            <a:endParaRPr lang="en-US" sz="1150" dirty="0"/>
          </a:p>
        </p:txBody>
      </p:sp>
      <p:sp>
        <p:nvSpPr>
          <p:cNvPr id="26" name="cw_L04"/>
          <p:cNvSpPr txBox="1"/>
          <p:nvPr/>
        </p:nvSpPr>
        <p:spPr>
          <a:xfrm>
            <a:off x="771754" y="298297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7" name="cw_L06"/>
          <p:cNvSpPr txBox="1"/>
          <p:nvPr/>
        </p:nvSpPr>
        <p:spPr>
          <a:xfrm>
            <a:off x="771754" y="345033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notifyCustomer(15);</a:t>
            </a:r>
            <a:endParaRPr lang="en-US" sz="1150" dirty="0"/>
          </a:p>
        </p:txBody>
      </p:sp>
      <p:sp>
        <p:nvSpPr>
          <p:cNvPr id="28" name="cw_L07"/>
          <p:cNvSpPr txBox="1"/>
          <p:nvPr/>
        </p:nvSpPr>
        <p:spPr>
          <a:xfrm>
            <a:off x="771754" y="368401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notifyCustomer(16);</a:t>
            </a:r>
            <a:endParaRPr lang="en-US" sz="1150" dirty="0"/>
          </a:p>
        </p:txBody>
      </p:sp>
      <p:sp>
        <p:nvSpPr>
          <p:cNvPr id="29" name="card"/>
          <p:cNvSpPr/>
          <p:nvPr/>
        </p:nvSpPr>
        <p:spPr>
          <a:xfrm>
            <a:off x="7081114" y="1572768"/>
            <a:ext cx="454914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A DELEGATE THAT RETURNS TASK</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Func&lt;int, Task&gt;: the lambda is async, so the caller can await it.</a:t>
            </a:r>
            <a:endParaRPr lang="en-US" sz="1200" dirty="0"/>
          </a:p>
        </p:txBody>
      </p:sp>
      <p:sp>
        <p:nvSpPr>
          <p:cNvPr id="30" name="card"/>
          <p:cNvSpPr/>
          <p:nvPr/>
        </p:nvSpPr>
        <p:spPr>
          <a:xfrm>
            <a:off x="7081114" y="2721864"/>
            <a:ext cx="454914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SAME AS A METHOD</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await inside the lambda works like in any async method.</a:t>
            </a:r>
            <a:endParaRPr lang="en-US" sz="1200" dirty="0"/>
          </a:p>
        </p:txBody>
      </p:sp>
      <p:sp>
        <p:nvSpPr>
          <p:cNvPr id="31" name="card"/>
          <p:cNvSpPr/>
          <p:nvPr/>
        </p:nvSpPr>
        <p:spPr>
          <a:xfrm>
            <a:off x="7081114" y="3870960"/>
            <a:ext cx="4549140" cy="1011936"/>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WATCH THE TYPE</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If the delegate is Action&lt;T&gt;, the async lambda becomes async void.</a:t>
            </a:r>
            <a:endParaRPr lang="en-US" sz="1200" dirty="0"/>
          </a:p>
        </p:txBody>
      </p:sp>
      <p:sp>
        <p:nvSpPr>
          <p:cNvPr id="32"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An async lambda is fine when its delegate type returns Task.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25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25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25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animBg="1"/>
      <p:bldP spid="30" grpId="0" animBg="1"/>
      <p:bldP spid="31" grpId="0" animBg="1"/>
      <p:bldP spid="3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FOREACH TRAP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List.ForEach Trap</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143</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List&lt;</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&gt; orders = [1, 2, 3];</a:t>
            </a:r>
            <a:endParaRPr lang="en-US" sz="1050" dirty="0"/>
          </a:p>
        </p:txBody>
      </p:sp>
      <p:sp>
        <p:nvSpPr>
          <p:cNvPr id="23" name="cwb_hl02"/>
          <p:cNvSpPr/>
          <p:nvPr/>
        </p:nvSpPr>
        <p:spPr>
          <a:xfrm>
            <a:off x="676656" y="245668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4" name="cwb_L02"/>
          <p:cNvSpPr txBox="1"/>
          <p:nvPr/>
        </p:nvSpPr>
        <p:spPr>
          <a:xfrm>
            <a:off x="771754" y="24749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orders.ForEach(</a:t>
            </a: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id =&gt;      </a:t>
            </a:r>
            <a:r>
              <a:rPr lang="en-US" sz="1050" b="0" dirty="0">
                <a:solidFill>
                  <a:srgbClr val="6FAE7A"/>
                </a:solidFill>
                <a:latin typeface="Consolas"/>
                <a:ea typeface="Consolas"/>
                <a:cs typeface="Consolas"/>
              </a:rPr>
              <a:t>// Action&lt;int&gt; → async void</a:t>
            </a:r>
            <a:endParaRPr lang="en-US" sz="1050" dirty="0"/>
          </a:p>
        </p:txBody>
      </p:sp>
      <p:sp>
        <p:nvSpPr>
          <p:cNvPr id="25" name="cwb_L03"/>
          <p:cNvSpPr txBox="1"/>
          <p:nvPr/>
        </p:nvSpPr>
        <p:spPr>
          <a:xfrm>
            <a:off x="771754" y="26883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6" name="cwb_L04"/>
          <p:cNvSpPr txBox="1"/>
          <p:nvPr/>
        </p:nvSpPr>
        <p:spPr>
          <a:xfrm>
            <a:off x="771754" y="29016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Task.Delay(500);</a:t>
            </a:r>
            <a:endParaRPr lang="en-US" sz="1050" dirty="0"/>
          </a:p>
        </p:txBody>
      </p:sp>
      <p:sp>
        <p:nvSpPr>
          <p:cNvPr id="27" name="cwb_L05"/>
          <p:cNvSpPr txBox="1"/>
          <p:nvPr/>
        </p:nvSpPr>
        <p:spPr>
          <a:xfrm>
            <a:off x="771754" y="31150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$"Shipped {id}"</a:t>
            </a:r>
            <a:r>
              <a:rPr lang="en-US" sz="1050" b="0" dirty="0">
                <a:solidFill>
                  <a:srgbClr val="E2E8F0"/>
                </a:solidFill>
                <a:latin typeface="Consolas"/>
                <a:ea typeface="Consolas"/>
                <a:cs typeface="Consolas"/>
              </a:rPr>
              <a:t>);</a:t>
            </a:r>
            <a:endParaRPr lang="en-US" sz="1050" dirty="0"/>
          </a:p>
        </p:txBody>
      </p:sp>
      <p:sp>
        <p:nvSpPr>
          <p:cNvPr id="28" name="cwb_L06"/>
          <p:cNvSpPr txBox="1"/>
          <p:nvPr/>
        </p:nvSpPr>
        <p:spPr>
          <a:xfrm>
            <a:off x="771754" y="33284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9" name="cwb_hl07"/>
          <p:cNvSpPr/>
          <p:nvPr/>
        </p:nvSpPr>
        <p:spPr>
          <a:xfrm>
            <a:off x="676656" y="352348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30" name="cwb_L08"/>
          <p:cNvSpPr txBox="1"/>
          <p:nvPr/>
        </p:nvSpPr>
        <p:spPr>
          <a:xfrm>
            <a:off x="771754" y="37551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"All shipped"</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prints FIRST</a:t>
            </a:r>
            <a:endParaRPr lang="en-US" sz="1050" dirty="0"/>
          </a:p>
        </p:txBody>
      </p:sp>
      <p:sp>
        <p:nvSpPr>
          <p:cNvPr id="31" name="cwb_L09"/>
          <p:cNvSpPr txBox="1"/>
          <p:nvPr/>
        </p:nvSpPr>
        <p:spPr>
          <a:xfrm>
            <a:off x="771754" y="396849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and the program may end before shipping</a:t>
            </a:r>
            <a:endParaRPr lang="en-US" sz="1050" dirty="0"/>
          </a:p>
        </p:txBody>
      </p:sp>
      <p:sp>
        <p:nvSpPr>
          <p:cNvPr id="32"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5"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39" name="cwa_L00"/>
          <p:cNvSpPr txBox="1"/>
          <p:nvPr/>
        </p:nvSpPr>
        <p:spPr>
          <a:xfrm>
            <a:off x="6418174" y="2048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List&lt;</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&gt; orders = [1, 2, 3];</a:t>
            </a:r>
            <a:endParaRPr lang="en-US" sz="1000" dirty="0"/>
          </a:p>
        </p:txBody>
      </p:sp>
      <p:sp>
        <p:nvSpPr>
          <p:cNvPr id="40" name="cwa_L02"/>
          <p:cNvSpPr txBox="1"/>
          <p:nvPr/>
        </p:nvSpPr>
        <p:spPr>
          <a:xfrm>
            <a:off x="6418174" y="2454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foreach</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 </a:t>
            </a:r>
            <a:r>
              <a:rPr lang="en-US" sz="1000" b="0" dirty="0">
                <a:solidFill>
                  <a:srgbClr val="60A5FA"/>
                </a:solidFill>
                <a:latin typeface="Consolas"/>
                <a:ea typeface="Consolas"/>
                <a:cs typeface="Consolas"/>
              </a:rPr>
              <a:t>in</a:t>
            </a:r>
            <a:r>
              <a:rPr lang="en-US" sz="1000" b="0" dirty="0">
                <a:solidFill>
                  <a:srgbClr val="E2E8F0"/>
                </a:solidFill>
                <a:latin typeface="Consolas"/>
                <a:ea typeface="Consolas"/>
                <a:cs typeface="Consolas"/>
              </a:rPr>
              <a:t> orders)</a:t>
            </a:r>
            <a:endParaRPr lang="en-US" sz="1000" dirty="0"/>
          </a:p>
        </p:txBody>
      </p:sp>
      <p:sp>
        <p:nvSpPr>
          <p:cNvPr id="41" name="cwa_L03"/>
          <p:cNvSpPr txBox="1"/>
          <p:nvPr/>
        </p:nvSpPr>
        <p:spPr>
          <a:xfrm>
            <a:off x="6418174" y="2657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2" name="cwa_hl04"/>
          <p:cNvSpPr/>
          <p:nvPr/>
        </p:nvSpPr>
        <p:spPr>
          <a:xfrm>
            <a:off x="6323076" y="28427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43" name="cwa_L04"/>
          <p:cNvSpPr txBox="1"/>
          <p:nvPr/>
        </p:nvSpPr>
        <p:spPr>
          <a:xfrm>
            <a:off x="6418174" y="28610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ShipAsync(id);         </a:t>
            </a:r>
            <a:r>
              <a:rPr lang="en-US" sz="1000" b="0" dirty="0">
                <a:solidFill>
                  <a:srgbClr val="6FAE7A"/>
                </a:solidFill>
                <a:latin typeface="Consolas"/>
                <a:ea typeface="Consolas"/>
                <a:cs typeface="Consolas"/>
              </a:rPr>
              <a:t>// really waits</a:t>
            </a:r>
            <a:endParaRPr lang="en-US" sz="1000" dirty="0"/>
          </a:p>
        </p:txBody>
      </p:sp>
      <p:sp>
        <p:nvSpPr>
          <p:cNvPr id="44" name="cwa_L05"/>
          <p:cNvSpPr txBox="1"/>
          <p:nvPr/>
        </p:nvSpPr>
        <p:spPr>
          <a:xfrm>
            <a:off x="6418174" y="3064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5" name="cwa_L06"/>
          <p:cNvSpPr txBox="1"/>
          <p:nvPr/>
        </p:nvSpPr>
        <p:spPr>
          <a:xfrm>
            <a:off x="6418174" y="32674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"All shipped"</a:t>
            </a:r>
            <a:r>
              <a:rPr lang="en-US" sz="1000" b="0" dirty="0">
                <a:solidFill>
                  <a:srgbClr val="E2E8F0"/>
                </a:solidFill>
                <a:latin typeface="Consolas"/>
                <a:ea typeface="Consolas"/>
                <a:cs typeface="Consolas"/>
              </a:rPr>
              <a:t>);</a:t>
            </a:r>
            <a:endParaRPr lang="en-US" sz="1000" dirty="0"/>
          </a:p>
        </p:txBody>
      </p:sp>
      <p:sp>
        <p:nvSpPr>
          <p:cNvPr id="46" name="cwa_L08"/>
          <p:cNvSpPr txBox="1"/>
          <p:nvPr/>
        </p:nvSpPr>
        <p:spPr>
          <a:xfrm>
            <a:off x="6418174" y="3673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ShipAsync(</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a:t>
            </a:r>
            <a:endParaRPr lang="en-US" sz="1000" dirty="0"/>
          </a:p>
        </p:txBody>
      </p:sp>
      <p:sp>
        <p:nvSpPr>
          <p:cNvPr id="47" name="cwa_L09"/>
          <p:cNvSpPr txBox="1"/>
          <p:nvPr/>
        </p:nvSpPr>
        <p:spPr>
          <a:xfrm>
            <a:off x="6418174" y="38770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8" name="cwa_L10"/>
          <p:cNvSpPr txBox="1"/>
          <p:nvPr/>
        </p:nvSpPr>
        <p:spPr>
          <a:xfrm>
            <a:off x="6418174" y="40802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a:t>
            </a:r>
            <a:endParaRPr lang="en-US" sz="1000" dirty="0"/>
          </a:p>
        </p:txBody>
      </p:sp>
      <p:sp>
        <p:nvSpPr>
          <p:cNvPr id="49" name="cwa_L11"/>
          <p:cNvSpPr txBox="1"/>
          <p:nvPr/>
        </p:nvSpPr>
        <p:spPr>
          <a:xfrm>
            <a:off x="6418174" y="4283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$"Shipped {id}"</a:t>
            </a:r>
            <a:r>
              <a:rPr lang="en-US" sz="1000" b="0" dirty="0">
                <a:solidFill>
                  <a:srgbClr val="E2E8F0"/>
                </a:solidFill>
                <a:latin typeface="Consolas"/>
                <a:ea typeface="Consolas"/>
                <a:cs typeface="Consolas"/>
              </a:rPr>
              <a:t>);</a:t>
            </a:r>
            <a:endParaRPr lang="en-US" sz="1000" dirty="0"/>
          </a:p>
        </p:txBody>
      </p:sp>
      <p:sp>
        <p:nvSpPr>
          <p:cNvPr id="50" name="cwa_L12"/>
          <p:cNvSpPr txBox="1"/>
          <p:nvPr/>
        </p:nvSpPr>
        <p:spPr>
          <a:xfrm>
            <a:off x="6418174" y="4486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1"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BEFORE</a:t>
            </a:r>
            <a:endParaRPr lang="en-US" sz="900" dirty="0"/>
          </a:p>
        </p:txBody>
      </p:sp>
      <p:sp>
        <p:nvSpPr>
          <p:cNvPr id="52"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AFTER</a:t>
            </a:r>
            <a:endParaRPr lang="en-US" sz="900" dirty="0"/>
          </a:p>
        </p:txBody>
      </p:sp>
      <p:cxnSp>
        <p:nvCxnSpPr>
          <p:cNvPr id="53" name="arrow"/>
          <p:cNvCxnSpPr/>
          <p:nvPr/>
        </p:nvCxnSpPr>
        <p:spPr>
          <a:xfrm>
            <a:off x="6011266" y="3227832"/>
            <a:ext cx="150876" cy="0"/>
          </a:xfrm>
          <a:prstGeom prst="line">
            <a:avLst/>
          </a:prstGeom>
          <a:ln w="28575">
            <a:solidFill>
              <a:srgbClr val="13D0F7"/>
            </a:solidFill>
            <a:tailEnd type="triangle" w="med" len="med"/>
          </a:ln>
        </p:spPr>
      </p:cxnSp>
      <p:sp>
        <p:nvSpPr>
          <p:cNvPr id="54"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List&lt;T&gt;.ForEach takes an Action&lt;T&gt;, so the async lambda is async void. ForEach does not wait, 'All shipped' prints first, and exceptions are lost.</a:t>
            </a:r>
            <a:endParaRPr lang="en-US" sz="1250" dirty="0"/>
          </a:p>
        </p:txBody>
      </p:sp>
      <p:sp>
        <p:nvSpPr>
          <p:cNvPr id="55"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Use a normal foreach with await (one by one), or start all the tasks and await Task.WhenAll (together).</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250"/>
                                        <p:tgtEl>
                                          <p:spTgt spid="5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25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5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25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fade">
                                      <p:cBhvr>
                                        <p:cTn id="83" dur="250"/>
                                        <p:tgtEl>
                                          <p:spTgt spid="52"/>
                                        </p:tgtEl>
                                      </p:cBhvr>
                                    </p:animEffect>
                                  </p:childTnLst>
                                </p:cTn>
                              </p:par>
                              <p:par>
                                <p:cTn id="84" presetID="10" presetClass="entr" presetSubtype="0" fill="hold"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250"/>
                                        <p:tgtEl>
                                          <p:spTgt spid="5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fade">
                                      <p:cBhvr>
                                        <p:cTn id="91" dur="2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p:bldP spid="25" grpId="0"/>
      <p:bldP spid="26" grpId="0"/>
      <p:bldP spid="27" grpId="0"/>
      <p:bldP spid="28" grpId="0"/>
      <p:bldP spid="29" grpId="0" animBg="1"/>
      <p:bldP spid="30" grpId="0"/>
      <p:bldP spid="31" grpId="0"/>
      <p:bldP spid="39" grpId="0"/>
      <p:bldP spid="40" grpId="0"/>
      <p:bldP spid="41" grpId="0"/>
      <p:bldP spid="42" grpId="0" animBg="1"/>
      <p:bldP spid="43" grpId="0"/>
      <p:bldP spid="44" grpId="0"/>
      <p:bldP spid="45" grpId="0"/>
      <p:bldP spid="46" grpId="0"/>
      <p:bldP spid="47" grpId="0"/>
      <p:bldP spid="48" grpId="0"/>
      <p:bldP spid="49" grpId="0"/>
      <p:bldP spid="50" grpId="0"/>
      <p:bldP spid="51" grpId="0" animBg="1"/>
      <p:bldP spid="52" grpId="0" animBg="1"/>
      <p:bldP spid="54" grpId="0" animBg="1"/>
      <p:bldP spid="55"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API DESIGN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Designing Good Async Methods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144</a:t>
            </a:r>
            <a:endParaRPr lang="en-US" sz="850" dirty="0"/>
          </a:p>
        </p:txBody>
      </p:sp>
      <p:sp>
        <p:nvSpPr>
          <p:cNvPr id="15" name="cw_win"/>
          <p:cNvSpPr/>
          <p:nvPr/>
        </p:nvSpPr>
        <p:spPr>
          <a:xfrm>
            <a:off x="543154" y="1572768"/>
            <a:ext cx="667512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6751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6751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3716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IOrderService.cs</a:t>
            </a:r>
            <a:endParaRPr lang="en-US" sz="950" dirty="0"/>
          </a:p>
        </p:txBody>
      </p:sp>
      <p:sp>
        <p:nvSpPr>
          <p:cNvPr id="22" name="cw_L00"/>
          <p:cNvSpPr txBox="1"/>
          <p:nvPr/>
        </p:nvSpPr>
        <p:spPr>
          <a:xfrm>
            <a:off x="771754" y="204825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record</a:t>
            </a:r>
            <a:r>
              <a:rPr lang="en-US" sz="950" b="0" dirty="0">
                <a:solidFill>
                  <a:srgbClr val="E2E8F0"/>
                </a:solidFill>
                <a:latin typeface="Consolas"/>
                <a:ea typeface="Consolas"/>
                <a:cs typeface="Consolas"/>
              </a:rPr>
              <a:t> Order(</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 </a:t>
            </a:r>
            <a:r>
              <a:rPr lang="en-US" sz="950" b="0" dirty="0">
                <a:solidFill>
                  <a:srgbClr val="60A5FA"/>
                </a:solidFill>
                <a:latin typeface="Consolas"/>
                <a:ea typeface="Consolas"/>
                <a:cs typeface="Consolas"/>
              </a:rPr>
              <a:t>decimal</a:t>
            </a:r>
            <a:r>
              <a:rPr lang="en-US" sz="950" b="0" dirty="0">
                <a:solidFill>
                  <a:srgbClr val="E2E8F0"/>
                </a:solidFill>
                <a:latin typeface="Consolas"/>
                <a:ea typeface="Consolas"/>
                <a:cs typeface="Consolas"/>
              </a:rPr>
              <a:t> Total);</a:t>
            </a:r>
            <a:endParaRPr lang="en-US" sz="950" dirty="0"/>
          </a:p>
        </p:txBody>
      </p:sp>
      <p:sp>
        <p:nvSpPr>
          <p:cNvPr id="23" name="cw_L02"/>
          <p:cNvSpPr txBox="1"/>
          <p:nvPr/>
        </p:nvSpPr>
        <p:spPr>
          <a:xfrm>
            <a:off x="771754" y="243433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interface</a:t>
            </a:r>
            <a:r>
              <a:rPr lang="en-US" sz="950" b="0" dirty="0">
                <a:solidFill>
                  <a:srgbClr val="E2E8F0"/>
                </a:solidFill>
                <a:latin typeface="Consolas"/>
                <a:ea typeface="Consolas"/>
                <a:cs typeface="Consolas"/>
              </a:rPr>
              <a:t> IOrderService</a:t>
            </a:r>
            <a:endParaRPr lang="en-US" sz="950" dirty="0"/>
          </a:p>
        </p:txBody>
      </p:sp>
      <p:sp>
        <p:nvSpPr>
          <p:cNvPr id="24" name="cw_L03"/>
          <p:cNvSpPr txBox="1"/>
          <p:nvPr/>
        </p:nvSpPr>
        <p:spPr>
          <a:xfrm>
            <a:off x="771754" y="262737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5" name="cw_L04"/>
          <p:cNvSpPr txBox="1"/>
          <p:nvPr/>
        </p:nvSpPr>
        <p:spPr>
          <a:xfrm>
            <a:off x="771754" y="2820416"/>
            <a:ext cx="62910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Task&lt;Order&gt; GetOrderAsync(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26" name="cw_L05"/>
          <p:cNvSpPr txBox="1"/>
          <p:nvPr/>
        </p:nvSpPr>
        <p:spPr>
          <a:xfrm>
            <a:off x="771754" y="3013456"/>
            <a:ext cx="62910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CancellationToken cancellationToken = </a:t>
            </a:r>
            <a:r>
              <a:rPr lang="en-US" sz="950" b="0" dirty="0">
                <a:solidFill>
                  <a:srgbClr val="60A5FA"/>
                </a:solidFill>
                <a:latin typeface="Consolas"/>
                <a:ea typeface="Consolas"/>
                <a:cs typeface="Consolas"/>
              </a:rPr>
              <a:t>default</a:t>
            </a:r>
            <a:r>
              <a:rPr lang="en-US" sz="950" b="0" dirty="0">
                <a:solidFill>
                  <a:srgbClr val="E2E8F0"/>
                </a:solidFill>
                <a:latin typeface="Consolas"/>
                <a:ea typeface="Consolas"/>
                <a:cs typeface="Consolas"/>
              </a:rPr>
              <a:t>);</a:t>
            </a:r>
            <a:endParaRPr lang="en-US" sz="950" dirty="0"/>
          </a:p>
        </p:txBody>
      </p:sp>
      <p:sp>
        <p:nvSpPr>
          <p:cNvPr id="27" name="cw_L07"/>
          <p:cNvSpPr txBox="1"/>
          <p:nvPr/>
        </p:nvSpPr>
        <p:spPr>
          <a:xfrm>
            <a:off x="771754" y="3399536"/>
            <a:ext cx="629107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Task SaveOrderAsync(Order order,</a:t>
            </a:r>
            <a:endParaRPr lang="en-US" sz="950" dirty="0"/>
          </a:p>
        </p:txBody>
      </p:sp>
      <p:sp>
        <p:nvSpPr>
          <p:cNvPr id="28" name="cw_L08"/>
          <p:cNvSpPr txBox="1"/>
          <p:nvPr/>
        </p:nvSpPr>
        <p:spPr>
          <a:xfrm>
            <a:off x="771754" y="3592576"/>
            <a:ext cx="629107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CancellationToken cancellationToken = </a:t>
            </a:r>
            <a:r>
              <a:rPr lang="en-US" sz="950" b="0" dirty="0">
                <a:solidFill>
                  <a:srgbClr val="60A5FA"/>
                </a:solidFill>
                <a:latin typeface="Consolas"/>
                <a:ea typeface="Consolas"/>
                <a:cs typeface="Consolas"/>
              </a:rPr>
              <a:t>default</a:t>
            </a:r>
            <a:r>
              <a:rPr lang="en-US" sz="950" b="0" dirty="0">
                <a:solidFill>
                  <a:srgbClr val="E2E8F0"/>
                </a:solidFill>
                <a:latin typeface="Consolas"/>
                <a:ea typeface="Consolas"/>
                <a:cs typeface="Consolas"/>
              </a:rPr>
              <a:t>);</a:t>
            </a:r>
            <a:endParaRPr lang="en-US" sz="950" dirty="0"/>
          </a:p>
        </p:txBody>
      </p:sp>
      <p:sp>
        <p:nvSpPr>
          <p:cNvPr id="29" name="cw_L09"/>
          <p:cNvSpPr txBox="1"/>
          <p:nvPr/>
        </p:nvSpPr>
        <p:spPr>
          <a:xfrm>
            <a:off x="771754" y="378561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11"/>
          <p:cNvSpPr txBox="1"/>
          <p:nvPr/>
        </p:nvSpPr>
        <p:spPr>
          <a:xfrm>
            <a:off x="771754" y="417169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Bad:</a:t>
            </a:r>
            <a:endParaRPr lang="en-US" sz="950" dirty="0"/>
          </a:p>
        </p:txBody>
      </p:sp>
      <p:sp>
        <p:nvSpPr>
          <p:cNvPr id="31" name="cw_L12"/>
          <p:cNvSpPr txBox="1"/>
          <p:nvPr/>
        </p:nvSpPr>
        <p:spPr>
          <a:xfrm>
            <a:off x="771754" y="436473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Order GetOrderAsync(int id);      "Async" but synchronous</a:t>
            </a:r>
            <a:endParaRPr lang="en-US" sz="950" dirty="0"/>
          </a:p>
        </p:txBody>
      </p:sp>
      <p:sp>
        <p:nvSpPr>
          <p:cNvPr id="32" name="cw_L13"/>
          <p:cNvSpPr txBox="1"/>
          <p:nvPr/>
        </p:nvSpPr>
        <p:spPr>
          <a:xfrm>
            <a:off x="771754" y="4557776"/>
            <a:ext cx="62910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async void SaveOrder(Order order);   cannot be awaited</a:t>
            </a:r>
            <a:endParaRPr lang="en-US" sz="950" dirty="0"/>
          </a:p>
        </p:txBody>
      </p:sp>
      <p:sp>
        <p:nvSpPr>
          <p:cNvPr id="33" name="card"/>
          <p:cNvSpPr/>
          <p:nvPr/>
        </p:nvSpPr>
        <p:spPr>
          <a:xfrm>
            <a:off x="7446874" y="1572768"/>
            <a:ext cx="4183380" cy="724662"/>
          </a:xfrm>
          <a:prstGeom prst="roundRect">
            <a:avLst>
              <a:gd name="adj" fmla="val 11356"/>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Async SUFFIX</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Names say the method returns a task: GetOrderAsync.</a:t>
            </a:r>
            <a:endParaRPr lang="en-US" sz="1150" dirty="0"/>
          </a:p>
        </p:txBody>
      </p:sp>
      <p:sp>
        <p:nvSpPr>
          <p:cNvPr id="34" name="card"/>
          <p:cNvSpPr/>
          <p:nvPr/>
        </p:nvSpPr>
        <p:spPr>
          <a:xfrm>
            <a:off x="7446874" y="2434590"/>
            <a:ext cx="4183380" cy="724662"/>
          </a:xfrm>
          <a:prstGeom prst="roundRect">
            <a:avLst>
              <a:gd name="adj" fmla="val 11356"/>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Task / Task&lt;T&gt;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Never async void outside event handlers.</a:t>
            </a:r>
            <a:endParaRPr lang="en-US" sz="1150" dirty="0"/>
          </a:p>
        </p:txBody>
      </p:sp>
      <p:sp>
        <p:nvSpPr>
          <p:cNvPr id="35" name="card"/>
          <p:cNvSpPr/>
          <p:nvPr/>
        </p:nvSpPr>
        <p:spPr>
          <a:xfrm>
            <a:off x="7446874" y="3296412"/>
            <a:ext cx="4183380" cy="724662"/>
          </a:xfrm>
          <a:prstGeom prst="roundRect">
            <a:avLst>
              <a:gd name="adj" fmla="val 11356"/>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TOKEN LAST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CancellationToken is usually the last parameter.</a:t>
            </a:r>
            <a:endParaRPr lang="en-US" sz="1150" dirty="0"/>
          </a:p>
        </p:txBody>
      </p:sp>
      <p:sp>
        <p:nvSpPr>
          <p:cNvPr id="36" name="card"/>
          <p:cNvSpPr/>
          <p:nvPr/>
        </p:nvSpPr>
        <p:spPr>
          <a:xfrm>
            <a:off x="7446874" y="4158234"/>
            <a:ext cx="4183380" cy="724662"/>
          </a:xfrm>
          <a:prstGeom prst="roundRect">
            <a:avLst>
              <a:gd name="adj" fmla="val 11356"/>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NO HIDDEN BLOCKING</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Don't put blocking work behind an Async name.</a:t>
            </a:r>
            <a:endParaRPr lang="en-US" sz="1150" dirty="0"/>
          </a:p>
        </p:txBody>
      </p:sp>
      <p:sp>
        <p:nvSpPr>
          <p:cNvPr id="37"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Async suffix, Task return, CancellationToken last, no hidden blocking.</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5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2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5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25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animBg="1"/>
      <p:bldP spid="34" grpId="0" animBg="1"/>
      <p:bldP spid="35" grpId="0" animBg="1"/>
      <p:bldP spid="36" grpId="0" animBg="1"/>
      <p:bldP spid="37"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Pick the Best Signature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145</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Which declaration follows good async design?</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FAE7A"/>
                </a:solidFill>
                <a:latin typeface="Consolas"/>
                <a:ea typeface="Consolas"/>
                <a:cs typeface="Consolas"/>
              </a:rPr>
              <a:t>// SwiftBite needs a method that loads</a:t>
            </a:r>
            <a:endParaRPr lang="en-US" sz="1250" dirty="0"/>
          </a:p>
        </p:txBody>
      </p:sp>
      <p:sp>
        <p:nvSpPr>
          <p:cNvPr id="24" name="cw_L01"/>
          <p:cNvSpPr txBox="1"/>
          <p:nvPr/>
        </p:nvSpPr>
        <p:spPr>
          <a:xfrm>
            <a:off x="771754" y="2439416"/>
            <a:ext cx="53766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FAE7A"/>
                </a:solidFill>
                <a:latin typeface="Consolas"/>
                <a:ea typeface="Consolas"/>
                <a:cs typeface="Consolas"/>
              </a:rPr>
              <a:t>// a customer's last order from a remote service.</a:t>
            </a:r>
            <a:endParaRPr lang="en-US" sz="1250" dirty="0"/>
          </a:p>
        </p:txBody>
      </p:sp>
      <p:sp>
        <p:nvSpPr>
          <p:cNvPr id="25" name="cw_L02"/>
          <p:cNvSpPr txBox="1"/>
          <p:nvPr/>
        </p:nvSpPr>
        <p:spPr>
          <a:xfrm>
            <a:off x="771754" y="2693416"/>
            <a:ext cx="53766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FAE7A"/>
                </a:solidFill>
                <a:latin typeface="Consolas"/>
                <a:ea typeface="Consolas"/>
                <a:cs typeface="Consolas"/>
              </a:rPr>
              <a:t>//</a:t>
            </a:r>
            <a:endParaRPr lang="en-US" sz="1250" dirty="0"/>
          </a:p>
        </p:txBody>
      </p:sp>
      <p:sp>
        <p:nvSpPr>
          <p:cNvPr id="26" name="cw_L03"/>
          <p:cNvSpPr txBox="1"/>
          <p:nvPr/>
        </p:nvSpPr>
        <p:spPr>
          <a:xfrm>
            <a:off x="771754" y="2947416"/>
            <a:ext cx="5376672" cy="254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250" b="0" dirty="0">
                <a:solidFill>
                  <a:srgbClr val="6FAE7A"/>
                </a:solidFill>
                <a:latin typeface="Consolas"/>
                <a:ea typeface="Consolas"/>
                <a:cs typeface="Consolas"/>
              </a:rPr>
              <a:t>// Which one would you write?</a:t>
            </a:r>
            <a:endParaRPr lang="en-US" sz="1250" dirty="0"/>
          </a:p>
        </p:txBody>
      </p:sp>
      <p:sp>
        <p:nvSpPr>
          <p:cNvPr id="27"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Order GetLastOrderAsync(int customerId)</a:t>
            </a:r>
            <a:endParaRPr lang="en-US" sz="1400" dirty="0"/>
          </a:p>
        </p:txBody>
      </p:sp>
      <p:sp>
        <p:nvSpPr>
          <p:cNvPr id="28"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async void GetLastOrder(int customerId)</a:t>
            </a:r>
            <a:endParaRPr lang="en-US" sz="1400" dirty="0"/>
          </a:p>
        </p:txBody>
      </p:sp>
      <p:sp>
        <p:nvSpPr>
          <p:cNvPr id="29"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Task&lt;Order&gt; GetLastOrderAsync(int customerId, CancellationToken token)</a:t>
            </a:r>
            <a:endParaRPr lang="en-US" sz="1400" dirty="0"/>
          </a:p>
        </p:txBody>
      </p:sp>
      <p:sp>
        <p:nvSpPr>
          <p:cNvPr id="30"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Task&lt;Order&gt; GetLastOrder(int id)</a:t>
            </a:r>
            <a:endParaRPr lang="en-US" sz="1400" dirty="0"/>
          </a:p>
        </p:txBody>
      </p:sp>
      <p:sp>
        <p:nvSpPr>
          <p:cNvPr id="31" name="answer_mark"/>
          <p:cNvSpPr/>
          <p:nvPr/>
        </p:nvSpPr>
        <p:spPr>
          <a:xfrm>
            <a:off x="6532474" y="3282696"/>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C   </a:t>
            </a:r>
            <a:r>
              <a:rPr lang="en-US" sz="1400" b="1" dirty="0">
                <a:solidFill>
                  <a:srgbClr val="34D399"/>
                </a:solidFill>
                <a:latin typeface="Segoe UI"/>
                <a:ea typeface="Segoe UI"/>
                <a:cs typeface="Segoe UI"/>
              </a:rPr>
              <a:t>Task&lt;Order&gt; GetLastOrderAsync(int customerId, CancellationToken token)</a:t>
            </a:r>
            <a:endParaRPr lang="en-US" sz="1400" dirty="0"/>
          </a:p>
        </p:txBody>
      </p:sp>
      <p:sp>
        <p:nvSpPr>
          <p:cNvPr id="32"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C   </a:t>
            </a:r>
            <a:r>
              <a:rPr lang="en-US" sz="1450" b="0" dirty="0">
                <a:solidFill>
                  <a:srgbClr val="FFFFFF"/>
                </a:solidFill>
                <a:latin typeface="Segoe UI"/>
                <a:ea typeface="Segoe UI"/>
                <a:cs typeface="Segoe UI"/>
              </a:rPr>
              <a:t>Async suffix, returns Task&lt;Order&gt; so callers can await it, and accepts a CancellationToken as the last parameter.</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2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25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animBg="1"/>
      <p:bldP spid="28" grpId="0" animBg="1"/>
      <p:bldP spid="29" grpId="0" animBg="1"/>
      <p:bldP spid="30" grpId="0" animBg="1"/>
      <p:bldP spid="31" grpId="0" animBg="1"/>
      <p:bldP spid="3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PARALLEL.FOR</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Parallel.For: Real Parallel CPU Work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146</a:t>
            </a:r>
            <a:endParaRPr lang="en-US" sz="850" dirty="0"/>
          </a:p>
        </p:txBody>
      </p:sp>
      <p:sp>
        <p:nvSpPr>
          <p:cNvPr id="15" name="cw_win"/>
          <p:cNvSpPr/>
          <p:nvPr/>
        </p:nvSpPr>
        <p:spPr>
          <a:xfrm>
            <a:off x="543154" y="1572768"/>
            <a:ext cx="6035040" cy="3931920"/>
          </a:xfrm>
          <a:prstGeom prst="roundRect">
            <a:avLst>
              <a:gd name="adj" fmla="val 1744"/>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System.Diagnostics;</a:t>
            </a:r>
            <a:endParaRPr lang="en-US" sz="950" dirty="0"/>
          </a:p>
        </p:txBody>
      </p:sp>
      <p:sp>
        <p:nvSpPr>
          <p:cNvPr id="23" name="cw_L02"/>
          <p:cNvSpPr txBox="1"/>
          <p:nvPr/>
        </p:nvSpPr>
        <p:spPr>
          <a:xfrm>
            <a:off x="771754" y="24343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watch = Stopwatch.StartNew();</a:t>
            </a:r>
            <a:endParaRPr lang="en-US" sz="950" dirty="0"/>
          </a:p>
        </p:txBody>
      </p:sp>
      <p:sp>
        <p:nvSpPr>
          <p:cNvPr id="24" name="cw_L03"/>
          <p:cNvSpPr txBox="1"/>
          <p:nvPr/>
        </p:nvSpPr>
        <p:spPr>
          <a:xfrm>
            <a:off x="771754" y="26273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 = 0; i &lt; 8; i++)</a:t>
            </a:r>
            <a:endParaRPr lang="en-US" sz="950" dirty="0"/>
          </a:p>
        </p:txBody>
      </p:sp>
      <p:sp>
        <p:nvSpPr>
          <p:cNvPr id="25" name="cw_L04"/>
          <p:cNvSpPr txBox="1"/>
          <p:nvPr/>
        </p:nvSpPr>
        <p:spPr>
          <a:xfrm>
            <a:off x="771754" y="282041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ResizeImage(i);</a:t>
            </a:r>
            <a:endParaRPr lang="en-US" sz="950" dirty="0"/>
          </a:p>
        </p:txBody>
      </p:sp>
      <p:sp>
        <p:nvSpPr>
          <p:cNvPr id="26" name="cw_L05"/>
          <p:cNvSpPr txBox="1"/>
          <p:nvPr/>
        </p:nvSpPr>
        <p:spPr>
          <a:xfrm>
            <a:off x="771754" y="301345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$"for:          {watch.ElapsedMilliseconds} ms"</a:t>
            </a:r>
            <a:r>
              <a:rPr lang="en-US" sz="950" b="0" dirty="0">
                <a:solidFill>
                  <a:srgbClr val="E2E8F0"/>
                </a:solidFill>
                <a:latin typeface="Consolas"/>
                <a:ea typeface="Consolas"/>
                <a:cs typeface="Consolas"/>
              </a:rPr>
              <a:t>);</a:t>
            </a:r>
            <a:endParaRPr lang="en-US" sz="950" dirty="0"/>
          </a:p>
        </p:txBody>
      </p:sp>
      <p:sp>
        <p:nvSpPr>
          <p:cNvPr id="27" name="cw_L07"/>
          <p:cNvSpPr txBox="1"/>
          <p:nvPr/>
        </p:nvSpPr>
        <p:spPr>
          <a:xfrm>
            <a:off x="771754" y="33995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watch.Restart();</a:t>
            </a:r>
            <a:endParaRPr lang="en-US" sz="950" dirty="0"/>
          </a:p>
        </p:txBody>
      </p:sp>
      <p:sp>
        <p:nvSpPr>
          <p:cNvPr id="28" name="cw_L08"/>
          <p:cNvSpPr txBox="1"/>
          <p:nvPr/>
        </p:nvSpPr>
        <p:spPr>
          <a:xfrm>
            <a:off x="771754" y="359257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Parallel.For(0, 8, i =&gt; ResizeImage(i));</a:t>
            </a:r>
            <a:endParaRPr lang="en-US" sz="950" dirty="0"/>
          </a:p>
        </p:txBody>
      </p:sp>
      <p:sp>
        <p:nvSpPr>
          <p:cNvPr id="29" name="cw_L09"/>
          <p:cNvSpPr txBox="1"/>
          <p:nvPr/>
        </p:nvSpPr>
        <p:spPr>
          <a:xfrm>
            <a:off x="771754" y="378561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$"Parallel.For: {watch.ElapsedMilliseconds} ms"</a:t>
            </a:r>
            <a:r>
              <a:rPr lang="en-US" sz="950" b="0" dirty="0">
                <a:solidFill>
                  <a:srgbClr val="E2E8F0"/>
                </a:solidFill>
                <a:latin typeface="Consolas"/>
                <a:ea typeface="Consolas"/>
                <a:cs typeface="Consolas"/>
              </a:rPr>
              <a:t>);</a:t>
            </a:r>
            <a:endParaRPr lang="en-US" sz="950" dirty="0"/>
          </a:p>
        </p:txBody>
      </p:sp>
      <p:sp>
        <p:nvSpPr>
          <p:cNvPr id="30" name="cw_L11"/>
          <p:cNvSpPr txBox="1"/>
          <p:nvPr/>
        </p:nvSpPr>
        <p:spPr>
          <a:xfrm>
            <a:off x="771754" y="41716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ResizeImage(</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31" name="cw_L12"/>
          <p:cNvSpPr txBox="1"/>
          <p:nvPr/>
        </p:nvSpPr>
        <p:spPr>
          <a:xfrm>
            <a:off x="771754" y="436473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3"/>
          <p:cNvSpPr txBox="1"/>
          <p:nvPr/>
        </p:nvSpPr>
        <p:spPr>
          <a:xfrm>
            <a:off x="771754" y="455777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double</a:t>
            </a:r>
            <a:r>
              <a:rPr lang="en-US" sz="950" b="0" dirty="0">
                <a:solidFill>
                  <a:srgbClr val="E2E8F0"/>
                </a:solidFill>
                <a:latin typeface="Consolas"/>
                <a:ea typeface="Consolas"/>
                <a:cs typeface="Consolas"/>
              </a:rPr>
              <a:t> x = 0;</a:t>
            </a:r>
            <a:endParaRPr lang="en-US" sz="950" dirty="0"/>
          </a:p>
        </p:txBody>
      </p:sp>
      <p:sp>
        <p:nvSpPr>
          <p:cNvPr id="33" name="cw_L14"/>
          <p:cNvSpPr txBox="1"/>
          <p:nvPr/>
        </p:nvSpPr>
        <p:spPr>
          <a:xfrm>
            <a:off x="771754" y="4750816"/>
            <a:ext cx="565099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p = 0; p &lt; 30_000_000; p++)   </a:t>
            </a:r>
            <a:r>
              <a:rPr lang="en-US" sz="950" b="0" dirty="0">
                <a:solidFill>
                  <a:srgbClr val="6FAE7A"/>
                </a:solidFill>
                <a:latin typeface="Consolas"/>
                <a:ea typeface="Consolas"/>
                <a:cs typeface="Consolas"/>
              </a:rPr>
              <a:t>// heavy pixel work</a:t>
            </a:r>
            <a:endParaRPr lang="en-US" sz="950" dirty="0"/>
          </a:p>
        </p:txBody>
      </p:sp>
      <p:sp>
        <p:nvSpPr>
          <p:cNvPr id="34" name="cw_L15"/>
          <p:cNvSpPr txBox="1"/>
          <p:nvPr/>
        </p:nvSpPr>
        <p:spPr>
          <a:xfrm>
            <a:off x="771754" y="4943856"/>
            <a:ext cx="565099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x += Math.Sqrt(p);</a:t>
            </a:r>
            <a:endParaRPr lang="en-US" sz="950" dirty="0"/>
          </a:p>
        </p:txBody>
      </p:sp>
      <p:sp>
        <p:nvSpPr>
          <p:cNvPr id="35" name="cw_L16"/>
          <p:cNvSpPr txBox="1"/>
          <p:nvPr/>
        </p:nvSpPr>
        <p:spPr>
          <a:xfrm>
            <a:off x="771754" y="5136896"/>
            <a:ext cx="56509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lab"/>
          <p:cNvSpPr txBox="1"/>
          <p:nvPr/>
        </p:nvSpPr>
        <p:spPr>
          <a:xfrm>
            <a:off x="6852514" y="1572768"/>
            <a:ext cx="47777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4D91F0"/>
                </a:solidFill>
                <a:latin typeface="Segoe UI"/>
                <a:ea typeface="Segoe UI"/>
                <a:cs typeface="Segoe UI"/>
              </a:rPr>
              <a:t>for: one core, one image after another</a:t>
            </a:r>
            <a:endParaRPr lang="en-US" sz="1050" dirty="0"/>
          </a:p>
        </p:txBody>
      </p:sp>
      <p:sp>
        <p:nvSpPr>
          <p:cNvPr id="37" name="bar"/>
          <p:cNvSpPr/>
          <p:nvPr/>
        </p:nvSpPr>
        <p:spPr>
          <a:xfrm>
            <a:off x="6852514"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0</a:t>
            </a:r>
            <a:endParaRPr lang="en-US" sz="900" dirty="0"/>
          </a:p>
        </p:txBody>
      </p:sp>
      <p:sp>
        <p:nvSpPr>
          <p:cNvPr id="38" name="bar"/>
          <p:cNvSpPr/>
          <p:nvPr/>
        </p:nvSpPr>
        <p:spPr>
          <a:xfrm>
            <a:off x="7449731"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1</a:t>
            </a:r>
            <a:endParaRPr lang="en-US" sz="900" dirty="0"/>
          </a:p>
        </p:txBody>
      </p:sp>
      <p:sp>
        <p:nvSpPr>
          <p:cNvPr id="39" name="bar"/>
          <p:cNvSpPr/>
          <p:nvPr/>
        </p:nvSpPr>
        <p:spPr>
          <a:xfrm>
            <a:off x="8046949"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2</a:t>
            </a:r>
            <a:endParaRPr lang="en-US" sz="900" dirty="0"/>
          </a:p>
        </p:txBody>
      </p:sp>
      <p:sp>
        <p:nvSpPr>
          <p:cNvPr id="40" name="bar"/>
          <p:cNvSpPr/>
          <p:nvPr/>
        </p:nvSpPr>
        <p:spPr>
          <a:xfrm>
            <a:off x="8644166"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3</a:t>
            </a:r>
            <a:endParaRPr lang="en-US" sz="900" dirty="0"/>
          </a:p>
        </p:txBody>
      </p:sp>
      <p:sp>
        <p:nvSpPr>
          <p:cNvPr id="41" name="bar"/>
          <p:cNvSpPr/>
          <p:nvPr/>
        </p:nvSpPr>
        <p:spPr>
          <a:xfrm>
            <a:off x="9241384"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4</a:t>
            </a:r>
            <a:endParaRPr lang="en-US" sz="900" dirty="0"/>
          </a:p>
        </p:txBody>
      </p:sp>
      <p:sp>
        <p:nvSpPr>
          <p:cNvPr id="42" name="bar"/>
          <p:cNvSpPr/>
          <p:nvPr/>
        </p:nvSpPr>
        <p:spPr>
          <a:xfrm>
            <a:off x="9838601"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5</a:t>
            </a:r>
            <a:endParaRPr lang="en-US" sz="900" dirty="0"/>
          </a:p>
        </p:txBody>
      </p:sp>
      <p:sp>
        <p:nvSpPr>
          <p:cNvPr id="43" name="bar"/>
          <p:cNvSpPr/>
          <p:nvPr/>
        </p:nvSpPr>
        <p:spPr>
          <a:xfrm>
            <a:off x="10435819"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6</a:t>
            </a:r>
            <a:endParaRPr lang="en-US" sz="900" dirty="0"/>
          </a:p>
        </p:txBody>
      </p:sp>
      <p:sp>
        <p:nvSpPr>
          <p:cNvPr id="44" name="bar"/>
          <p:cNvSpPr/>
          <p:nvPr/>
        </p:nvSpPr>
        <p:spPr>
          <a:xfrm>
            <a:off x="11033036" y="1847088"/>
            <a:ext cx="560641" cy="32004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7</a:t>
            </a:r>
            <a:endParaRPr lang="en-US" sz="900" dirty="0"/>
          </a:p>
        </p:txBody>
      </p:sp>
      <p:sp>
        <p:nvSpPr>
          <p:cNvPr id="45" name="lab"/>
          <p:cNvSpPr txBox="1"/>
          <p:nvPr/>
        </p:nvSpPr>
        <p:spPr>
          <a:xfrm>
            <a:off x="6852514" y="2350008"/>
            <a:ext cx="47777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Parallel.For: 8 cores together</a:t>
            </a:r>
            <a:endParaRPr lang="en-US" sz="1050" dirty="0"/>
          </a:p>
        </p:txBody>
      </p:sp>
      <p:sp>
        <p:nvSpPr>
          <p:cNvPr id="46" name="bar"/>
          <p:cNvSpPr/>
          <p:nvPr/>
        </p:nvSpPr>
        <p:spPr>
          <a:xfrm>
            <a:off x="6852514" y="2624328"/>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0</a:t>
            </a:r>
            <a:endParaRPr lang="en-US" sz="800" dirty="0"/>
          </a:p>
        </p:txBody>
      </p:sp>
      <p:sp>
        <p:nvSpPr>
          <p:cNvPr id="47" name="bar"/>
          <p:cNvSpPr/>
          <p:nvPr/>
        </p:nvSpPr>
        <p:spPr>
          <a:xfrm>
            <a:off x="6870802" y="2871216"/>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1</a:t>
            </a:r>
            <a:endParaRPr lang="en-US" sz="800" dirty="0"/>
          </a:p>
        </p:txBody>
      </p:sp>
      <p:sp>
        <p:nvSpPr>
          <p:cNvPr id="48" name="bar"/>
          <p:cNvSpPr/>
          <p:nvPr/>
        </p:nvSpPr>
        <p:spPr>
          <a:xfrm>
            <a:off x="6889090" y="3118104"/>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2</a:t>
            </a:r>
            <a:endParaRPr lang="en-US" sz="800" dirty="0"/>
          </a:p>
        </p:txBody>
      </p:sp>
      <p:sp>
        <p:nvSpPr>
          <p:cNvPr id="49" name="bar"/>
          <p:cNvSpPr/>
          <p:nvPr/>
        </p:nvSpPr>
        <p:spPr>
          <a:xfrm>
            <a:off x="6907378" y="3364992"/>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3</a:t>
            </a:r>
            <a:endParaRPr lang="en-US" sz="800" dirty="0"/>
          </a:p>
        </p:txBody>
      </p:sp>
      <p:sp>
        <p:nvSpPr>
          <p:cNvPr id="50" name="bar"/>
          <p:cNvSpPr/>
          <p:nvPr/>
        </p:nvSpPr>
        <p:spPr>
          <a:xfrm>
            <a:off x="6852514" y="3611880"/>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4</a:t>
            </a:r>
            <a:endParaRPr lang="en-US" sz="800" dirty="0"/>
          </a:p>
        </p:txBody>
      </p:sp>
      <p:sp>
        <p:nvSpPr>
          <p:cNvPr id="51" name="bar"/>
          <p:cNvSpPr/>
          <p:nvPr/>
        </p:nvSpPr>
        <p:spPr>
          <a:xfrm>
            <a:off x="6870802" y="3858768"/>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5</a:t>
            </a:r>
            <a:endParaRPr lang="en-US" sz="800" dirty="0"/>
          </a:p>
        </p:txBody>
      </p:sp>
      <p:sp>
        <p:nvSpPr>
          <p:cNvPr id="52" name="bar"/>
          <p:cNvSpPr/>
          <p:nvPr/>
        </p:nvSpPr>
        <p:spPr>
          <a:xfrm>
            <a:off x="6889090" y="4105656"/>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6</a:t>
            </a:r>
            <a:endParaRPr lang="en-US" sz="800" dirty="0"/>
          </a:p>
        </p:txBody>
      </p:sp>
      <p:sp>
        <p:nvSpPr>
          <p:cNvPr id="53" name="bar"/>
          <p:cNvSpPr/>
          <p:nvPr/>
        </p:nvSpPr>
        <p:spPr>
          <a:xfrm>
            <a:off x="6907378" y="4352544"/>
            <a:ext cx="560641" cy="210312"/>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00" b="1" dirty="0">
                <a:solidFill>
                  <a:srgbClr val="FFFFFF"/>
                </a:solidFill>
                <a:latin typeface="Segoe UI"/>
                <a:ea typeface="Segoe UI"/>
                <a:cs typeface="Segoe UI"/>
              </a:rPr>
              <a:t>7</a:t>
            </a:r>
            <a:endParaRPr lang="en-US" sz="800" dirty="0"/>
          </a:p>
        </p:txBody>
      </p:sp>
      <p:sp>
        <p:nvSpPr>
          <p:cNvPr id="54" name="out_win"/>
          <p:cNvSpPr/>
          <p:nvPr/>
        </p:nvSpPr>
        <p:spPr>
          <a:xfrm>
            <a:off x="6852514" y="4727448"/>
            <a:ext cx="4777740" cy="978408"/>
          </a:xfrm>
          <a:prstGeom prst="roundRect">
            <a:avLst>
              <a:gd name="adj" fmla="val 7009"/>
            </a:avLst>
          </a:prstGeom>
          <a:solidFill>
            <a:srgbClr val="060D18"/>
          </a:solidFill>
          <a:ln w="12700">
            <a:solidFill>
              <a:srgbClr val="1E3A5F"/>
            </a:solidFill>
            <a:prstDash val="solid"/>
          </a:ln>
        </p:spPr>
        <p:txBody>
          <a:bodyPr/>
          <a:lstStyle/>
          <a:p>
            <a:endParaRPr lang="en-US"/>
          </a:p>
        </p:txBody>
      </p:sp>
      <p:sp>
        <p:nvSpPr>
          <p:cNvPr id="55" name="out_bar"/>
          <p:cNvSpPr/>
          <p:nvPr/>
        </p:nvSpPr>
        <p:spPr>
          <a:xfrm>
            <a:off x="6852514" y="4727448"/>
            <a:ext cx="47777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6" name="out_barfill"/>
          <p:cNvSpPr/>
          <p:nvPr/>
        </p:nvSpPr>
        <p:spPr>
          <a:xfrm>
            <a:off x="6852514" y="4898898"/>
            <a:ext cx="4777740" cy="171450"/>
          </a:xfrm>
          <a:prstGeom prst="rect">
            <a:avLst/>
          </a:prstGeom>
          <a:solidFill>
            <a:srgbClr val="0A1220"/>
          </a:solidFill>
          <a:ln w="12700">
            <a:solidFill>
              <a:srgbClr val="0A1220"/>
            </a:solidFill>
            <a:prstDash val="solid"/>
          </a:ln>
        </p:spPr>
        <p:txBody>
          <a:bodyPr/>
          <a:lstStyle/>
          <a:p>
            <a:endParaRPr lang="en-US"/>
          </a:p>
        </p:txBody>
      </p:sp>
      <p:sp>
        <p:nvSpPr>
          <p:cNvPr id="57" name="out_dot0"/>
          <p:cNvSpPr/>
          <p:nvPr/>
        </p:nvSpPr>
        <p:spPr>
          <a:xfrm>
            <a:off x="7014362" y="4851258"/>
            <a:ext cx="95098" cy="95098"/>
          </a:xfrm>
          <a:prstGeom prst="ellipse">
            <a:avLst/>
          </a:prstGeom>
          <a:solidFill>
            <a:srgbClr val="F87171"/>
          </a:solidFill>
          <a:ln w="12700">
            <a:solidFill>
              <a:srgbClr val="F87171"/>
            </a:solidFill>
            <a:prstDash val="solid"/>
          </a:ln>
        </p:spPr>
        <p:txBody>
          <a:bodyPr/>
          <a:lstStyle/>
          <a:p>
            <a:endParaRPr lang="en-US"/>
          </a:p>
        </p:txBody>
      </p:sp>
      <p:sp>
        <p:nvSpPr>
          <p:cNvPr id="58" name="out_dot1"/>
          <p:cNvSpPr/>
          <p:nvPr/>
        </p:nvSpPr>
        <p:spPr>
          <a:xfrm>
            <a:off x="7199986" y="4851258"/>
            <a:ext cx="95098" cy="95098"/>
          </a:xfrm>
          <a:prstGeom prst="ellipse">
            <a:avLst/>
          </a:prstGeom>
          <a:solidFill>
            <a:srgbClr val="FBBF24"/>
          </a:solidFill>
          <a:ln w="12700">
            <a:solidFill>
              <a:srgbClr val="FBBF24"/>
            </a:solidFill>
            <a:prstDash val="solid"/>
          </a:ln>
        </p:spPr>
        <p:txBody>
          <a:bodyPr/>
          <a:lstStyle/>
          <a:p>
            <a:endParaRPr lang="en-US"/>
          </a:p>
        </p:txBody>
      </p:sp>
      <p:sp>
        <p:nvSpPr>
          <p:cNvPr id="59" name="out_dot2"/>
          <p:cNvSpPr/>
          <p:nvPr/>
        </p:nvSpPr>
        <p:spPr>
          <a:xfrm>
            <a:off x="7385609" y="4851258"/>
            <a:ext cx="95098" cy="95098"/>
          </a:xfrm>
          <a:prstGeom prst="ellipse">
            <a:avLst/>
          </a:prstGeom>
          <a:solidFill>
            <a:srgbClr val="34D399"/>
          </a:solidFill>
          <a:ln w="12700">
            <a:solidFill>
              <a:srgbClr val="34D399"/>
            </a:solidFill>
            <a:prstDash val="solid"/>
          </a:ln>
        </p:spPr>
        <p:txBody>
          <a:bodyPr/>
          <a:lstStyle/>
          <a:p>
            <a:endParaRPr lang="en-US"/>
          </a:p>
        </p:txBody>
      </p:sp>
      <p:sp>
        <p:nvSpPr>
          <p:cNvPr id="60" name="out_tab"/>
          <p:cNvSpPr/>
          <p:nvPr/>
        </p:nvSpPr>
        <p:spPr>
          <a:xfrm>
            <a:off x="7633411" y="4774997"/>
            <a:ext cx="192024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 (8 cores, varies)</a:t>
            </a:r>
            <a:endParaRPr lang="en-US" sz="950" dirty="0"/>
          </a:p>
        </p:txBody>
      </p:sp>
      <p:sp>
        <p:nvSpPr>
          <p:cNvPr id="61" name="out_L00"/>
          <p:cNvSpPr txBox="1"/>
          <p:nvPr/>
        </p:nvSpPr>
        <p:spPr>
          <a:xfrm>
            <a:off x="7081114" y="5202936"/>
            <a:ext cx="43936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for:          2400 ms</a:t>
            </a:r>
            <a:endParaRPr lang="en-US" sz="950" dirty="0"/>
          </a:p>
        </p:txBody>
      </p:sp>
      <p:sp>
        <p:nvSpPr>
          <p:cNvPr id="62" name="out_L01"/>
          <p:cNvSpPr txBox="1"/>
          <p:nvPr/>
        </p:nvSpPr>
        <p:spPr>
          <a:xfrm>
            <a:off x="7081114" y="5395976"/>
            <a:ext cx="439369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Parallel.For: 380 ms</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25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25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2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25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250"/>
                                        <p:tgtEl>
                                          <p:spTgt spid="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250"/>
                                        <p:tgtEl>
                                          <p:spTgt spid="4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25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25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250"/>
                                        <p:tgtEl>
                                          <p:spTgt spid="4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2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2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2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25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250"/>
                                        <p:tgtEl>
                                          <p:spTgt spid="53"/>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fade">
                                      <p:cBhvr>
                                        <p:cTn id="109" dur="250"/>
                                        <p:tgtEl>
                                          <p:spTgt spid="6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2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animBg="1"/>
      <p:bldP spid="39" grpId="0" animBg="1"/>
      <p:bldP spid="40" grpId="0" animBg="1"/>
      <p:bldP spid="41" grpId="0" animBg="1"/>
      <p:bldP spid="42" grpId="0" animBg="1"/>
      <p:bldP spid="43" grpId="0" animBg="1"/>
      <p:bldP spid="44" grpId="0" animBg="1"/>
      <p:bldP spid="45" grpId="0"/>
      <p:bldP spid="46" grpId="0" animBg="1"/>
      <p:bldP spid="47" grpId="0" animBg="1"/>
      <p:bldP spid="48" grpId="0" animBg="1"/>
      <p:bldP spid="49" grpId="0" animBg="1"/>
      <p:bldP spid="50" grpId="0" animBg="1"/>
      <p:bldP spid="51" grpId="0" animBg="1"/>
      <p:bldP spid="52" grpId="0" animBg="1"/>
      <p:bldP spid="53" grpId="0" animBg="1"/>
      <p:bldP spid="61" grpId="0"/>
      <p:bldP spid="62"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63624"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PARALLEL.FOREACH</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Parallel.ForEach Over a Collection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147</a:t>
            </a:r>
            <a:endParaRPr lang="en-US" sz="850" dirty="0"/>
          </a:p>
        </p:txBody>
      </p:sp>
      <p:sp>
        <p:nvSpPr>
          <p:cNvPr id="15" name="cw_win"/>
          <p:cNvSpPr/>
          <p:nvPr/>
        </p:nvSpPr>
        <p:spPr>
          <a:xfrm>
            <a:off x="543154" y="1572768"/>
            <a:ext cx="667512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6751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6751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invoices = [</a:t>
            </a:r>
            <a:r>
              <a:rPr lang="en-US" sz="1050" b="0" dirty="0">
                <a:solidFill>
                  <a:srgbClr val="F0A98B"/>
                </a:solidFill>
                <a:latin typeface="Consolas"/>
                <a:ea typeface="Consolas"/>
                <a:cs typeface="Consolas"/>
              </a:rPr>
              <a:t>"inv-1001"</a:t>
            </a:r>
            <a:r>
              <a:rPr lang="en-US" sz="1050" b="0" dirty="0">
                <a:solidFill>
                  <a:srgbClr val="E2E8F0"/>
                </a:solidFill>
                <a:latin typeface="Consolas"/>
                <a:ea typeface="Consolas"/>
                <a:cs typeface="Consolas"/>
              </a:rPr>
              <a:t>, </a:t>
            </a:r>
            <a:r>
              <a:rPr lang="en-US" sz="1050" b="0" dirty="0">
                <a:solidFill>
                  <a:srgbClr val="F0A98B"/>
                </a:solidFill>
                <a:latin typeface="Consolas"/>
                <a:ea typeface="Consolas"/>
                <a:cs typeface="Consolas"/>
              </a:rPr>
              <a:t>"inv-1002"</a:t>
            </a:r>
            <a:r>
              <a:rPr lang="en-US" sz="1050" b="0" dirty="0">
                <a:solidFill>
                  <a:srgbClr val="E2E8F0"/>
                </a:solidFill>
                <a:latin typeface="Consolas"/>
                <a:ea typeface="Consolas"/>
                <a:cs typeface="Consolas"/>
              </a:rPr>
              <a:t>, </a:t>
            </a:r>
            <a:r>
              <a:rPr lang="en-US" sz="1050" b="0" dirty="0">
                <a:solidFill>
                  <a:srgbClr val="F0A98B"/>
                </a:solidFill>
                <a:latin typeface="Consolas"/>
                <a:ea typeface="Consolas"/>
                <a:cs typeface="Consolas"/>
              </a:rPr>
              <a:t>"inv-1003"</a:t>
            </a:r>
            <a:r>
              <a:rPr lang="en-US" sz="1050" b="0" dirty="0">
                <a:solidFill>
                  <a:srgbClr val="E2E8F0"/>
                </a:solidFill>
                <a:latin typeface="Consolas"/>
                <a:ea typeface="Consolas"/>
                <a:cs typeface="Consolas"/>
              </a:rPr>
              <a:t>, </a:t>
            </a:r>
            <a:r>
              <a:rPr lang="en-US" sz="1050" b="0" dirty="0">
                <a:solidFill>
                  <a:srgbClr val="F0A98B"/>
                </a:solidFill>
                <a:latin typeface="Consolas"/>
                <a:ea typeface="Consolas"/>
                <a:cs typeface="Consolas"/>
              </a:rPr>
              <a:t>"inv-1004"</a:t>
            </a:r>
            <a:r>
              <a:rPr lang="en-US" sz="1050" b="0" dirty="0">
                <a:solidFill>
                  <a:srgbClr val="E2E8F0"/>
                </a:solidFill>
                <a:latin typeface="Consolas"/>
                <a:ea typeface="Consolas"/>
                <a:cs typeface="Consolas"/>
              </a:rPr>
              <a:t>];</a:t>
            </a:r>
            <a:endParaRPr lang="en-US" sz="1050" dirty="0"/>
          </a:p>
        </p:txBody>
      </p:sp>
      <p:sp>
        <p:nvSpPr>
          <p:cNvPr id="23" name="cw_L02"/>
          <p:cNvSpPr txBox="1"/>
          <p:nvPr/>
        </p:nvSpPr>
        <p:spPr>
          <a:xfrm>
            <a:off x="771754" y="247497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Parallel.ForEach(invoices, invoice =&gt;</a:t>
            </a:r>
            <a:endParaRPr lang="en-US" sz="1050" dirty="0"/>
          </a:p>
        </p:txBody>
      </p:sp>
      <p:sp>
        <p:nvSpPr>
          <p:cNvPr id="24" name="cw_L03"/>
          <p:cNvSpPr txBox="1"/>
          <p:nvPr/>
        </p:nvSpPr>
        <p:spPr>
          <a:xfrm>
            <a:off x="771754" y="268833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5" name="cw_L04"/>
          <p:cNvSpPr txBox="1"/>
          <p:nvPr/>
        </p:nvSpPr>
        <p:spPr>
          <a:xfrm>
            <a:off x="771754" y="2901696"/>
            <a:ext cx="629107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thread = Environment.CurrentManagedThreadId;</a:t>
            </a:r>
            <a:endParaRPr lang="en-US" sz="1050" dirty="0"/>
          </a:p>
        </p:txBody>
      </p:sp>
      <p:sp>
        <p:nvSpPr>
          <p:cNvPr id="26" name="cw_L05"/>
          <p:cNvSpPr txBox="1"/>
          <p:nvPr/>
        </p:nvSpPr>
        <p:spPr>
          <a:xfrm>
            <a:off x="771754" y="3115056"/>
            <a:ext cx="629107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$"PDF for {invoice} on thread {thread}"</a:t>
            </a:r>
            <a:r>
              <a:rPr lang="en-US" sz="1050" b="0" dirty="0">
                <a:solidFill>
                  <a:srgbClr val="E2E8F0"/>
                </a:solidFill>
                <a:latin typeface="Consolas"/>
                <a:ea typeface="Consolas"/>
                <a:cs typeface="Consolas"/>
              </a:rPr>
              <a:t>);</a:t>
            </a:r>
            <a:endParaRPr lang="en-US" sz="1050" dirty="0"/>
          </a:p>
        </p:txBody>
      </p:sp>
      <p:sp>
        <p:nvSpPr>
          <p:cNvPr id="27" name="cw_L06"/>
          <p:cNvSpPr txBox="1"/>
          <p:nvPr/>
        </p:nvSpPr>
        <p:spPr>
          <a:xfrm>
            <a:off x="771754" y="3328416"/>
            <a:ext cx="629107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RenderPdf(invoice);</a:t>
            </a:r>
            <a:endParaRPr lang="en-US" sz="1050" dirty="0"/>
          </a:p>
        </p:txBody>
      </p:sp>
      <p:sp>
        <p:nvSpPr>
          <p:cNvPr id="28" name="cw_L07"/>
          <p:cNvSpPr txBox="1"/>
          <p:nvPr/>
        </p:nvSpPr>
        <p:spPr>
          <a:xfrm>
            <a:off x="771754" y="354177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9" name="cw_L09"/>
          <p:cNvSpPr txBox="1"/>
          <p:nvPr/>
        </p:nvSpPr>
        <p:spPr>
          <a:xfrm>
            <a:off x="771754" y="396849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void</a:t>
            </a:r>
            <a:r>
              <a:rPr lang="en-US" sz="1050" b="0" dirty="0">
                <a:solidFill>
                  <a:srgbClr val="E2E8F0"/>
                </a:solidFill>
                <a:latin typeface="Consolas"/>
                <a:ea typeface="Consolas"/>
                <a:cs typeface="Consolas"/>
              </a:rPr>
              <a:t> RenderPdf(</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invoice)</a:t>
            </a:r>
            <a:endParaRPr lang="en-US" sz="1050" dirty="0"/>
          </a:p>
        </p:txBody>
      </p:sp>
      <p:sp>
        <p:nvSpPr>
          <p:cNvPr id="30" name="cw_L10"/>
          <p:cNvSpPr txBox="1"/>
          <p:nvPr/>
        </p:nvSpPr>
        <p:spPr>
          <a:xfrm>
            <a:off x="771754" y="418185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1" name="cw_L11"/>
          <p:cNvSpPr txBox="1"/>
          <p:nvPr/>
        </p:nvSpPr>
        <p:spPr>
          <a:xfrm>
            <a:off x="771754" y="4395216"/>
            <a:ext cx="629107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double</a:t>
            </a:r>
            <a:r>
              <a:rPr lang="en-US" sz="1050" b="0" dirty="0">
                <a:solidFill>
                  <a:srgbClr val="E2E8F0"/>
                </a:solidFill>
                <a:latin typeface="Consolas"/>
                <a:ea typeface="Consolas"/>
                <a:cs typeface="Consolas"/>
              </a:rPr>
              <a:t> x = 0;</a:t>
            </a:r>
            <a:endParaRPr lang="en-US" sz="1050" dirty="0"/>
          </a:p>
        </p:txBody>
      </p:sp>
      <p:sp>
        <p:nvSpPr>
          <p:cNvPr id="32" name="cw_L12"/>
          <p:cNvSpPr txBox="1"/>
          <p:nvPr/>
        </p:nvSpPr>
        <p:spPr>
          <a:xfrm>
            <a:off x="771754" y="4608576"/>
            <a:ext cx="629107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for</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i = 0; i &lt; 20_000_000; i++)   </a:t>
            </a:r>
            <a:r>
              <a:rPr lang="en-US" sz="1050" b="0" dirty="0">
                <a:solidFill>
                  <a:srgbClr val="6FAE7A"/>
                </a:solidFill>
                <a:latin typeface="Consolas"/>
                <a:ea typeface="Consolas"/>
                <a:cs typeface="Consolas"/>
              </a:rPr>
              <a:t>// CPU-heavy rendering</a:t>
            </a:r>
            <a:endParaRPr lang="en-US" sz="1050" dirty="0"/>
          </a:p>
        </p:txBody>
      </p:sp>
      <p:sp>
        <p:nvSpPr>
          <p:cNvPr id="33" name="cw_L13"/>
          <p:cNvSpPr txBox="1"/>
          <p:nvPr/>
        </p:nvSpPr>
        <p:spPr>
          <a:xfrm>
            <a:off x="771754" y="4821936"/>
            <a:ext cx="629107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E2E8F0"/>
                </a:solidFill>
                <a:latin typeface="Consolas"/>
                <a:ea typeface="Consolas"/>
                <a:cs typeface="Consolas"/>
              </a:rPr>
              <a:t>x += Math.Sin(i);</a:t>
            </a:r>
            <a:endParaRPr lang="en-US" sz="1050" dirty="0"/>
          </a:p>
        </p:txBody>
      </p:sp>
      <p:sp>
        <p:nvSpPr>
          <p:cNvPr id="34" name="cw_L14"/>
          <p:cNvSpPr txBox="1"/>
          <p:nvPr/>
        </p:nvSpPr>
        <p:spPr>
          <a:xfrm>
            <a:off x="771754" y="5035296"/>
            <a:ext cx="629107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5" name="card"/>
          <p:cNvSpPr/>
          <p:nvPr/>
        </p:nvSpPr>
        <p:spPr>
          <a:xfrm>
            <a:off x="7446874" y="1572768"/>
            <a:ext cx="4183380" cy="1402080"/>
          </a:xfrm>
          <a:prstGeom prst="roundRect">
            <a:avLst>
              <a:gd name="adj" fmla="val 5869"/>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SAME IDEA, ANY COLLECTION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Each item is processed on some pool thread.</a:t>
            </a:r>
            <a:endParaRPr lang="en-US" sz="1200" dirty="0"/>
          </a:p>
        </p:txBody>
      </p:sp>
      <p:sp>
        <p:nvSpPr>
          <p:cNvPr id="36" name="card"/>
          <p:cNvSpPr/>
          <p:nvPr/>
        </p:nvSpPr>
        <p:spPr>
          <a:xfrm>
            <a:off x="7446874" y="3112008"/>
            <a:ext cx="418338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ORDER NOT GUARANTEED</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inv-1003 may finish before inv-1001.</a:t>
            </a:r>
            <a:endParaRPr lang="en-US" sz="1200" dirty="0"/>
          </a:p>
        </p:txBody>
      </p:sp>
      <p:sp>
        <p:nvSpPr>
          <p:cNvPr id="37" name="card"/>
          <p:cNvSpPr/>
          <p:nvPr/>
        </p:nvSpPr>
        <p:spPr>
          <a:xfrm>
            <a:off x="7446874" y="4651248"/>
            <a:ext cx="4183380" cy="1402080"/>
          </a:xfrm>
          <a:prstGeom prst="roundRect">
            <a:avLst>
              <a:gd name="adj" fmla="val 5869"/>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NOT FOR I/O</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Parallel.ForEach + HTTP blocks threads while waiting. Next slide.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25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animBg="1"/>
      <p:bldP spid="36" grpId="0" animBg="1"/>
      <p:bldP spid="37"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FOREACHASYNC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Parallel.ForEachAsync: Bounded Async I/O</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148</a:t>
            </a:r>
            <a:endParaRPr lang="en-US" sz="850" dirty="0"/>
          </a:p>
        </p:txBody>
      </p:sp>
      <p:sp>
        <p:nvSpPr>
          <p:cNvPr id="15" name="cw_win"/>
          <p:cNvSpPr/>
          <p:nvPr/>
        </p:nvSpPr>
        <p:spPr>
          <a:xfrm>
            <a:off x="543154" y="1572768"/>
            <a:ext cx="6400800" cy="3931920"/>
          </a:xfrm>
          <a:prstGeom prst="roundRect">
            <a:avLst>
              <a:gd name="adj" fmla="val 1744"/>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restaurantIds = [1, 2, 3, 4, 5, 6, 7, 8, 9, 10];</a:t>
            </a:r>
            <a:endParaRPr lang="en-US" sz="950" dirty="0"/>
          </a:p>
        </p:txBody>
      </p:sp>
      <p:sp>
        <p:nvSpPr>
          <p:cNvPr id="23" name="cw_L02"/>
          <p:cNvSpPr txBox="1"/>
          <p:nvPr/>
        </p:nvSpPr>
        <p:spPr>
          <a:xfrm>
            <a:off x="771754" y="243433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Parallel.ForEachAsync(</a:t>
            </a:r>
            <a:endParaRPr lang="en-US" sz="950" dirty="0"/>
          </a:p>
        </p:txBody>
      </p:sp>
      <p:sp>
        <p:nvSpPr>
          <p:cNvPr id="24" name="cw_L03"/>
          <p:cNvSpPr txBox="1"/>
          <p:nvPr/>
        </p:nvSpPr>
        <p:spPr>
          <a:xfrm>
            <a:off x="771754" y="262737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restaurantIds,</a:t>
            </a:r>
            <a:endParaRPr lang="en-US" sz="950" dirty="0"/>
          </a:p>
        </p:txBody>
      </p:sp>
      <p:sp>
        <p:nvSpPr>
          <p:cNvPr id="25" name="cw_L04"/>
          <p:cNvSpPr txBox="1"/>
          <p:nvPr/>
        </p:nvSpPr>
        <p:spPr>
          <a:xfrm>
            <a:off x="771754" y="282041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ParallelOptions { MaxDegreeOfParallelism = 5 },</a:t>
            </a:r>
            <a:endParaRPr lang="en-US" sz="950" dirty="0"/>
          </a:p>
        </p:txBody>
      </p:sp>
      <p:sp>
        <p:nvSpPr>
          <p:cNvPr id="26" name="cw_L05"/>
          <p:cNvSpPr txBox="1"/>
          <p:nvPr/>
        </p:nvSpPr>
        <p:spPr>
          <a:xfrm>
            <a:off x="771754" y="301345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(id, cancellationToken) =&gt;</a:t>
            </a:r>
            <a:endParaRPr lang="en-US" sz="950" dirty="0"/>
          </a:p>
        </p:txBody>
      </p:sp>
      <p:sp>
        <p:nvSpPr>
          <p:cNvPr id="27" name="cw_L06"/>
          <p:cNvSpPr txBox="1"/>
          <p:nvPr/>
        </p:nvSpPr>
        <p:spPr>
          <a:xfrm>
            <a:off x="771754" y="320649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8" name="cw_L07"/>
          <p:cNvSpPr txBox="1"/>
          <p:nvPr/>
        </p:nvSpPr>
        <p:spPr>
          <a:xfrm>
            <a:off x="771754" y="3399536"/>
            <a:ext cx="601675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DownloadMenuAsync(id, cancellationToken);</a:t>
            </a:r>
            <a:endParaRPr lang="en-US" sz="950" dirty="0"/>
          </a:p>
        </p:txBody>
      </p:sp>
      <p:sp>
        <p:nvSpPr>
          <p:cNvPr id="29" name="cw_L08"/>
          <p:cNvSpPr txBox="1"/>
          <p:nvPr/>
        </p:nvSpPr>
        <p:spPr>
          <a:xfrm>
            <a:off x="771754" y="359257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10"/>
          <p:cNvSpPr txBox="1"/>
          <p:nvPr/>
        </p:nvSpPr>
        <p:spPr>
          <a:xfrm>
            <a:off x="771754" y="397865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"All menus downloaded"</a:t>
            </a:r>
            <a:r>
              <a:rPr lang="en-US" sz="950" b="0" dirty="0">
                <a:solidFill>
                  <a:srgbClr val="E2E8F0"/>
                </a:solidFill>
                <a:latin typeface="Consolas"/>
                <a:ea typeface="Consolas"/>
                <a:cs typeface="Consolas"/>
              </a:rPr>
              <a:t>);</a:t>
            </a:r>
            <a:endParaRPr lang="en-US" sz="950" dirty="0"/>
          </a:p>
        </p:txBody>
      </p:sp>
      <p:sp>
        <p:nvSpPr>
          <p:cNvPr id="31" name="cw_L12"/>
          <p:cNvSpPr txBox="1"/>
          <p:nvPr/>
        </p:nvSpPr>
        <p:spPr>
          <a:xfrm>
            <a:off x="771754" y="436473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DownloadMenuAsync(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 CancellationToken token)</a:t>
            </a:r>
            <a:endParaRPr lang="en-US" sz="950" dirty="0"/>
          </a:p>
        </p:txBody>
      </p:sp>
      <p:sp>
        <p:nvSpPr>
          <p:cNvPr id="32" name="cw_L13"/>
          <p:cNvSpPr txBox="1"/>
          <p:nvPr/>
        </p:nvSpPr>
        <p:spPr>
          <a:xfrm>
            <a:off x="771754" y="455777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3" name="cw_L14"/>
          <p:cNvSpPr txBox="1"/>
          <p:nvPr/>
        </p:nvSpPr>
        <p:spPr>
          <a:xfrm>
            <a:off x="771754" y="475081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$"Downloading menu {id}"</a:t>
            </a:r>
            <a:r>
              <a:rPr lang="en-US" sz="950" b="0" dirty="0">
                <a:solidFill>
                  <a:srgbClr val="E2E8F0"/>
                </a:solidFill>
                <a:latin typeface="Consolas"/>
                <a:ea typeface="Consolas"/>
                <a:cs typeface="Consolas"/>
              </a:rPr>
              <a:t>);</a:t>
            </a:r>
            <a:endParaRPr lang="en-US" sz="950" dirty="0"/>
          </a:p>
        </p:txBody>
      </p:sp>
      <p:sp>
        <p:nvSpPr>
          <p:cNvPr id="34" name="cw_L15"/>
          <p:cNvSpPr txBox="1"/>
          <p:nvPr/>
        </p:nvSpPr>
        <p:spPr>
          <a:xfrm>
            <a:off x="771754" y="4943856"/>
            <a:ext cx="601675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Task.Delay(1000, token);   </a:t>
            </a:r>
            <a:r>
              <a:rPr lang="en-US" sz="950" b="0" dirty="0">
                <a:solidFill>
                  <a:srgbClr val="6FAE7A"/>
                </a:solidFill>
                <a:latin typeface="Consolas"/>
                <a:ea typeface="Consolas"/>
                <a:cs typeface="Consolas"/>
              </a:rPr>
              <a:t>// the network call</a:t>
            </a:r>
            <a:endParaRPr lang="en-US" sz="950" dirty="0"/>
          </a:p>
        </p:txBody>
      </p:sp>
      <p:sp>
        <p:nvSpPr>
          <p:cNvPr id="35" name="cw_L16"/>
          <p:cNvSpPr txBox="1"/>
          <p:nvPr/>
        </p:nvSpPr>
        <p:spPr>
          <a:xfrm>
            <a:off x="771754" y="5136896"/>
            <a:ext cx="601675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6" name="cmark"/>
          <p:cNvSpPr/>
          <p:nvPr/>
        </p:nvSpPr>
        <p:spPr>
          <a:xfrm>
            <a:off x="676656" y="2842768"/>
            <a:ext cx="6133795" cy="239776"/>
          </a:xfrm>
          <a:prstGeom prst="rect">
            <a:avLst/>
          </a:prstGeom>
          <a:solidFill>
            <a:srgbClr val="A78BFA">
              <a:alpha val="16000"/>
            </a:srgbClr>
          </a:solidFill>
          <a:ln w="15875">
            <a:solidFill>
              <a:srgbClr val="A78BFA"/>
            </a:solidFill>
            <a:prstDash val="solid"/>
          </a:ln>
        </p:spPr>
        <p:txBody>
          <a:bodyPr/>
          <a:lstStyle/>
          <a:p>
            <a:endParaRPr lang="en-US"/>
          </a:p>
        </p:txBody>
      </p:sp>
      <p:sp>
        <p:nvSpPr>
          <p:cNvPr id="37" name="bar"/>
          <p:cNvSpPr/>
          <p:nvPr/>
        </p:nvSpPr>
        <p:spPr>
          <a:xfrm>
            <a:off x="7172554" y="1664208"/>
            <a:ext cx="2173986" cy="329184"/>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1</a:t>
            </a:r>
            <a:endParaRPr lang="en-US" sz="950" dirty="0"/>
          </a:p>
        </p:txBody>
      </p:sp>
      <p:sp>
        <p:nvSpPr>
          <p:cNvPr id="38" name="bar"/>
          <p:cNvSpPr/>
          <p:nvPr/>
        </p:nvSpPr>
        <p:spPr>
          <a:xfrm>
            <a:off x="7172554" y="2048256"/>
            <a:ext cx="2173986" cy="329184"/>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2</a:t>
            </a:r>
            <a:endParaRPr lang="en-US" sz="950" dirty="0"/>
          </a:p>
        </p:txBody>
      </p:sp>
      <p:sp>
        <p:nvSpPr>
          <p:cNvPr id="39" name="bar"/>
          <p:cNvSpPr/>
          <p:nvPr/>
        </p:nvSpPr>
        <p:spPr>
          <a:xfrm>
            <a:off x="7172554" y="2432304"/>
            <a:ext cx="2173986" cy="329184"/>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3</a:t>
            </a:r>
            <a:endParaRPr lang="en-US" sz="950" dirty="0"/>
          </a:p>
        </p:txBody>
      </p:sp>
      <p:sp>
        <p:nvSpPr>
          <p:cNvPr id="40" name="bar"/>
          <p:cNvSpPr/>
          <p:nvPr/>
        </p:nvSpPr>
        <p:spPr>
          <a:xfrm>
            <a:off x="7172554" y="2816352"/>
            <a:ext cx="2173986" cy="329184"/>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4</a:t>
            </a:r>
            <a:endParaRPr lang="en-US" sz="950" dirty="0"/>
          </a:p>
        </p:txBody>
      </p:sp>
      <p:sp>
        <p:nvSpPr>
          <p:cNvPr id="41" name="bar"/>
          <p:cNvSpPr/>
          <p:nvPr/>
        </p:nvSpPr>
        <p:spPr>
          <a:xfrm>
            <a:off x="7172554" y="3200400"/>
            <a:ext cx="2173986" cy="329184"/>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5</a:t>
            </a:r>
            <a:endParaRPr lang="en-US" sz="950" dirty="0"/>
          </a:p>
        </p:txBody>
      </p:sp>
      <p:sp>
        <p:nvSpPr>
          <p:cNvPr id="42" name="lab"/>
          <p:cNvSpPr txBox="1"/>
          <p:nvPr/>
        </p:nvSpPr>
        <p:spPr>
          <a:xfrm>
            <a:off x="7172554" y="3630168"/>
            <a:ext cx="222885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64748B"/>
                </a:solidFill>
                <a:latin typeface="Segoe UI"/>
                <a:ea typeface="Segoe UI"/>
                <a:cs typeface="Segoe UI"/>
              </a:rPr>
              <a:t>0–1 s</a:t>
            </a:r>
            <a:endParaRPr lang="en-US" sz="1000" dirty="0"/>
          </a:p>
        </p:txBody>
      </p:sp>
      <p:sp>
        <p:nvSpPr>
          <p:cNvPr id="43" name="bar"/>
          <p:cNvSpPr/>
          <p:nvPr/>
        </p:nvSpPr>
        <p:spPr>
          <a:xfrm>
            <a:off x="9401404" y="1664208"/>
            <a:ext cx="2173986" cy="329184"/>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6</a:t>
            </a:r>
            <a:endParaRPr lang="en-US" sz="950" dirty="0"/>
          </a:p>
        </p:txBody>
      </p:sp>
      <p:sp>
        <p:nvSpPr>
          <p:cNvPr id="44" name="bar"/>
          <p:cNvSpPr/>
          <p:nvPr/>
        </p:nvSpPr>
        <p:spPr>
          <a:xfrm>
            <a:off x="9401404" y="2048256"/>
            <a:ext cx="2173986" cy="329184"/>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7</a:t>
            </a:r>
            <a:endParaRPr lang="en-US" sz="950" dirty="0"/>
          </a:p>
        </p:txBody>
      </p:sp>
      <p:sp>
        <p:nvSpPr>
          <p:cNvPr id="45" name="bar"/>
          <p:cNvSpPr/>
          <p:nvPr/>
        </p:nvSpPr>
        <p:spPr>
          <a:xfrm>
            <a:off x="9401404" y="2432304"/>
            <a:ext cx="2173986" cy="329184"/>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8</a:t>
            </a:r>
            <a:endParaRPr lang="en-US" sz="950" dirty="0"/>
          </a:p>
        </p:txBody>
      </p:sp>
      <p:sp>
        <p:nvSpPr>
          <p:cNvPr id="46" name="bar"/>
          <p:cNvSpPr/>
          <p:nvPr/>
        </p:nvSpPr>
        <p:spPr>
          <a:xfrm>
            <a:off x="9401404" y="2816352"/>
            <a:ext cx="2173986" cy="329184"/>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9</a:t>
            </a:r>
            <a:endParaRPr lang="en-US" sz="950" dirty="0"/>
          </a:p>
        </p:txBody>
      </p:sp>
      <p:sp>
        <p:nvSpPr>
          <p:cNvPr id="47" name="bar"/>
          <p:cNvSpPr/>
          <p:nvPr/>
        </p:nvSpPr>
        <p:spPr>
          <a:xfrm>
            <a:off x="9401404" y="3200400"/>
            <a:ext cx="2173986" cy="329184"/>
          </a:xfrm>
          <a:prstGeom prst="roundRect">
            <a:avLst>
              <a:gd name="adj" fmla="val 20000"/>
            </a:avLst>
          </a:prstGeom>
          <a:solidFill>
            <a:srgbClr val="13D0F7">
              <a:alpha val="2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10</a:t>
            </a:r>
            <a:endParaRPr lang="en-US" sz="950" dirty="0"/>
          </a:p>
        </p:txBody>
      </p:sp>
      <p:sp>
        <p:nvSpPr>
          <p:cNvPr id="48" name="lab"/>
          <p:cNvSpPr txBox="1"/>
          <p:nvPr/>
        </p:nvSpPr>
        <p:spPr>
          <a:xfrm>
            <a:off x="9401404" y="3630168"/>
            <a:ext cx="222885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64748B"/>
                </a:solidFill>
                <a:latin typeface="Segoe UI"/>
                <a:ea typeface="Segoe UI"/>
                <a:cs typeface="Segoe UI"/>
              </a:rPr>
              <a:t>1–2 s</a:t>
            </a:r>
            <a:endParaRPr lang="en-US" sz="1000" dirty="0"/>
          </a:p>
        </p:txBody>
      </p:sp>
      <p:sp>
        <p:nvSpPr>
          <p:cNvPr id="49" name="card"/>
          <p:cNvSpPr/>
          <p:nvPr/>
        </p:nvSpPr>
        <p:spPr>
          <a:xfrm>
            <a:off x="7172554" y="4041648"/>
            <a:ext cx="4457700" cy="1463040"/>
          </a:xfrm>
          <a:prstGeom prst="roundRect">
            <a:avLst>
              <a:gd name="adj" fmla="val 5624"/>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13D0F7"/>
                </a:solidFill>
                <a:latin typeface="Segoe UI"/>
                <a:ea typeface="Segoe UI"/>
                <a:cs typeface="Segoe UI"/>
              </a:rPr>
              <a:t>ABOUT 2 SECONDS</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5 in flight, no blocked threads, cancellation built in.</a:t>
            </a:r>
            <a:endParaRPr lang="en-US" sz="1200" dirty="0"/>
          </a:p>
        </p:txBody>
      </p:sp>
      <p:sp>
        <p:nvSpPr>
          <p:cNvPr id="50" name="banner"/>
          <p:cNvSpPr/>
          <p:nvPr/>
        </p:nvSpPr>
        <p:spPr>
          <a:xfrm>
            <a:off x="543154" y="5577840"/>
            <a:ext cx="11087100" cy="457200"/>
          </a:xfrm>
          <a:prstGeom prst="roundRect">
            <a:avLst>
              <a:gd name="adj" fmla="val 12500"/>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300" b="0" dirty="0">
                <a:solidFill>
                  <a:srgbClr val="FFFFFF"/>
                </a:solidFill>
                <a:latin typeface="Segoe UI"/>
                <a:ea typeface="Segoe UI"/>
                <a:cs typeface="Segoe UI"/>
              </a:rPr>
              <a:t>CPU work: Parallel.ForEach. Many async I/O calls with a limit: Parallel.ForEachAsync.</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25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25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2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25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25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25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25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25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250"/>
                                        <p:tgtEl>
                                          <p:spTgt spid="4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250"/>
                                        <p:tgtEl>
                                          <p:spTgt spid="4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2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animBg="1"/>
      <p:bldP spid="37" grpId="0" animBg="1"/>
      <p:bldP spid="38" grpId="0" animBg="1"/>
      <p:bldP spid="39" grpId="0" animBg="1"/>
      <p:bldP spid="40" grpId="0" animBg="1"/>
      <p:bldP spid="41" grpId="0" animBg="1"/>
      <p:bldP spid="42" grpId="0"/>
      <p:bldP spid="43" grpId="0" animBg="1"/>
      <p:bldP spid="44" grpId="0" animBg="1"/>
      <p:bldP spid="45" grpId="0" animBg="1"/>
      <p:bldP spid="46" grpId="0" animBg="1"/>
      <p:bldP spid="47" grpId="0" animBg="1"/>
      <p:bldP spid="48" grpId="0"/>
      <p:bldP spid="49" grpId="0" animBg="1"/>
      <p:bldP spid="50"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796796"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PARALLEL VS WHENALL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Parallel vs Task.WhenAll: Which One When?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149</a:t>
            </a:r>
            <a:endParaRPr lang="en-US" sz="850" dirty="0"/>
          </a:p>
        </p:txBody>
      </p:sp>
      <p:sp>
        <p:nvSpPr>
          <p:cNvPr id="15" name="cw_win"/>
          <p:cNvSpPr/>
          <p:nvPr/>
        </p:nvSpPr>
        <p:spPr>
          <a:xfrm>
            <a:off x="543154" y="1572768"/>
            <a:ext cx="5440680" cy="1783080"/>
          </a:xfrm>
          <a:prstGeom prst="roundRect">
            <a:avLst>
              <a:gd name="adj" fmla="val 3846"/>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0972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Cpu.cs</a:t>
            </a:r>
            <a:endParaRPr lang="en-US" sz="950" dirty="0"/>
          </a:p>
        </p:txBody>
      </p:sp>
      <p:sp>
        <p:nvSpPr>
          <p:cNvPr id="22" name="cw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CPU: every core computes at the same time</a:t>
            </a:r>
            <a:endParaRPr lang="en-US" sz="950" dirty="0"/>
          </a:p>
        </p:txBody>
      </p:sp>
      <p:sp>
        <p:nvSpPr>
          <p:cNvPr id="23" name="cw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Parallel.For(0, photos.Length, i =&gt;</a:t>
            </a:r>
            <a:endParaRPr lang="en-US" sz="950" dirty="0"/>
          </a:p>
        </p:txBody>
      </p:sp>
      <p:sp>
        <p:nvSpPr>
          <p:cNvPr id="24" name="cw_L02"/>
          <p:cNvSpPr txBox="1"/>
          <p:nvPr/>
        </p:nvSpPr>
        <p:spPr>
          <a:xfrm>
            <a:off x="77175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5" name="cw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photos[i] = Resize(photos[i]);</a:t>
            </a:r>
            <a:endParaRPr lang="en-US" sz="950" dirty="0"/>
          </a:p>
        </p:txBody>
      </p:sp>
      <p:sp>
        <p:nvSpPr>
          <p:cNvPr id="26" name="cw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7" name="cw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"Done"</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blocked until ALL finish</a:t>
            </a:r>
            <a:endParaRPr lang="en-US" sz="950" dirty="0"/>
          </a:p>
        </p:txBody>
      </p:sp>
      <p:sp>
        <p:nvSpPr>
          <p:cNvPr id="28" name="cw2_win"/>
          <p:cNvSpPr/>
          <p:nvPr/>
        </p:nvSpPr>
        <p:spPr>
          <a:xfrm>
            <a:off x="6189574" y="1572768"/>
            <a:ext cx="5440680" cy="1783080"/>
          </a:xfrm>
          <a:prstGeom prst="roundRect">
            <a:avLst>
              <a:gd name="adj" fmla="val 3846"/>
            </a:avLst>
          </a:prstGeom>
          <a:solidFill>
            <a:srgbClr val="060D18"/>
          </a:solidFill>
          <a:ln w="12700">
            <a:solidFill>
              <a:srgbClr val="1E3A5F"/>
            </a:solidFill>
            <a:prstDash val="solid"/>
          </a:ln>
        </p:spPr>
        <p:txBody>
          <a:bodyPr/>
          <a:lstStyle/>
          <a:p>
            <a:endParaRPr lang="en-US"/>
          </a:p>
        </p:txBody>
      </p:sp>
      <p:sp>
        <p:nvSpPr>
          <p:cNvPr id="29" name="cw2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0" name="cw2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1" name="cw2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2" name="cw2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3" name="cw2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4" name="cw2_tab"/>
          <p:cNvSpPr/>
          <p:nvPr/>
        </p:nvSpPr>
        <p:spPr>
          <a:xfrm>
            <a:off x="6970471" y="1620317"/>
            <a:ext cx="10972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Io.cs</a:t>
            </a:r>
            <a:endParaRPr lang="en-US" sz="950" dirty="0"/>
          </a:p>
        </p:txBody>
      </p:sp>
      <p:sp>
        <p:nvSpPr>
          <p:cNvPr id="35" name="cw2_L00"/>
          <p:cNvSpPr txBox="1"/>
          <p:nvPr/>
        </p:nvSpPr>
        <p:spPr>
          <a:xfrm>
            <a:off x="6418174" y="2048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I/O: nobody computes, everybody waits</a:t>
            </a:r>
            <a:endParaRPr lang="en-US" sz="1000" dirty="0"/>
          </a:p>
        </p:txBody>
      </p:sp>
      <p:sp>
        <p:nvSpPr>
          <p:cNvPr id="36" name="cw2_L01"/>
          <p:cNvSpPr txBox="1"/>
          <p:nvPr/>
        </p:nvSpPr>
        <p:spPr>
          <a:xfrm>
            <a:off x="6418174" y="22514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menu = GetMenuAsync(42);</a:t>
            </a:r>
            <a:endParaRPr lang="en-US" sz="1000" dirty="0"/>
          </a:p>
        </p:txBody>
      </p:sp>
      <p:sp>
        <p:nvSpPr>
          <p:cNvPr id="37" name="cw2_L02"/>
          <p:cNvSpPr txBox="1"/>
          <p:nvPr/>
        </p:nvSpPr>
        <p:spPr>
          <a:xfrm>
            <a:off x="6418174" y="2454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reviews = GetReviewsAsync(42);</a:t>
            </a:r>
            <a:endParaRPr lang="en-US" sz="1000" dirty="0"/>
          </a:p>
        </p:txBody>
      </p:sp>
      <p:sp>
        <p:nvSpPr>
          <p:cNvPr id="38" name="cw2_L03"/>
          <p:cNvSpPr txBox="1"/>
          <p:nvPr/>
        </p:nvSpPr>
        <p:spPr>
          <a:xfrm>
            <a:off x="6418174" y="2657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Task.WhenAll(menu, reviews);</a:t>
            </a:r>
            <a:endParaRPr lang="en-US" sz="1000" dirty="0"/>
          </a:p>
        </p:txBody>
      </p:sp>
      <p:sp>
        <p:nvSpPr>
          <p:cNvPr id="39" name="cw2_L04"/>
          <p:cNvSpPr txBox="1"/>
          <p:nvPr/>
        </p:nvSpPr>
        <p:spPr>
          <a:xfrm>
            <a:off x="6418174" y="28610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"Done"</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no thread waited</a:t>
            </a:r>
            <a:endParaRPr lang="en-US" sz="1000" dirty="0"/>
          </a:p>
        </p:txBody>
      </p:sp>
      <p:sp>
        <p:nvSpPr>
          <p:cNvPr id="40" name="tbl_head"/>
          <p:cNvSpPr/>
          <p:nvPr/>
        </p:nvSpPr>
        <p:spPr>
          <a:xfrm>
            <a:off x="543154" y="3493008"/>
            <a:ext cx="110871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1" name="tbl_h"/>
          <p:cNvSpPr txBox="1"/>
          <p:nvPr/>
        </p:nvSpPr>
        <p:spPr>
          <a:xfrm>
            <a:off x="671170" y="3493008"/>
            <a:ext cx="1701927"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42" name="tbl_h"/>
          <p:cNvSpPr txBox="1"/>
          <p:nvPr/>
        </p:nvSpPr>
        <p:spPr>
          <a:xfrm>
            <a:off x="2555977" y="3493008"/>
            <a:ext cx="2921508"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Parallel.For / ForEach</a:t>
            </a:r>
            <a:endParaRPr lang="en-US" sz="1000" dirty="0"/>
          </a:p>
        </p:txBody>
      </p:sp>
      <p:sp>
        <p:nvSpPr>
          <p:cNvPr id="43" name="tbl_h"/>
          <p:cNvSpPr txBox="1"/>
          <p:nvPr/>
        </p:nvSpPr>
        <p:spPr>
          <a:xfrm>
            <a:off x="5660365" y="3493008"/>
            <a:ext cx="2921508"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Task.WhenAll / WhenAny</a:t>
            </a:r>
            <a:endParaRPr lang="en-US" sz="1000" dirty="0"/>
          </a:p>
        </p:txBody>
      </p:sp>
      <p:sp>
        <p:nvSpPr>
          <p:cNvPr id="44" name="tbl_h"/>
          <p:cNvSpPr txBox="1"/>
          <p:nvPr/>
        </p:nvSpPr>
        <p:spPr>
          <a:xfrm>
            <a:off x="8764753" y="3493008"/>
            <a:ext cx="2810637"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Parallel.ForEachAsync</a:t>
            </a:r>
            <a:endParaRPr lang="en-US" sz="1000" dirty="0"/>
          </a:p>
        </p:txBody>
      </p:sp>
      <p:sp>
        <p:nvSpPr>
          <p:cNvPr id="45" name="tbl_row"/>
          <p:cNvSpPr/>
          <p:nvPr/>
        </p:nvSpPr>
        <p:spPr>
          <a:xfrm>
            <a:off x="543154" y="3831336"/>
            <a:ext cx="11087100" cy="384048"/>
          </a:xfrm>
          <a:prstGeom prst="roundRect">
            <a:avLst>
              <a:gd name="adj" fmla="val 19047"/>
            </a:avLst>
          </a:prstGeom>
          <a:solidFill>
            <a:srgbClr val="111B2E"/>
          </a:solidFill>
          <a:ln w="12700">
            <a:solidFill>
              <a:srgbClr val="FBBF24"/>
            </a:solidFill>
            <a:prstDash val="solid"/>
          </a:ln>
        </p:spPr>
        <p:txBody>
          <a:bodyPr/>
          <a:lstStyle/>
          <a:p>
            <a:endParaRPr lang="en-US"/>
          </a:p>
        </p:txBody>
      </p:sp>
      <p:sp>
        <p:nvSpPr>
          <p:cNvPr id="46" name="tbl_c"/>
          <p:cNvSpPr txBox="1"/>
          <p:nvPr/>
        </p:nvSpPr>
        <p:spPr>
          <a:xfrm>
            <a:off x="671170" y="3831336"/>
            <a:ext cx="170192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Work</a:t>
            </a:r>
            <a:endParaRPr lang="en-US" sz="1050" dirty="0"/>
          </a:p>
        </p:txBody>
      </p:sp>
      <p:sp>
        <p:nvSpPr>
          <p:cNvPr id="47" name="tbl_c"/>
          <p:cNvSpPr txBox="1"/>
          <p:nvPr/>
        </p:nvSpPr>
        <p:spPr>
          <a:xfrm>
            <a:off x="2555977" y="3831336"/>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CPU: calculations</a:t>
            </a:r>
            <a:endParaRPr lang="en-US" sz="1050" dirty="0"/>
          </a:p>
        </p:txBody>
      </p:sp>
      <p:sp>
        <p:nvSpPr>
          <p:cNvPr id="48" name="tbl_c"/>
          <p:cNvSpPr txBox="1"/>
          <p:nvPr/>
        </p:nvSpPr>
        <p:spPr>
          <a:xfrm>
            <a:off x="5660365" y="3831336"/>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I/O: waiting</a:t>
            </a:r>
            <a:endParaRPr lang="en-US" sz="1050" dirty="0"/>
          </a:p>
        </p:txBody>
      </p:sp>
      <p:sp>
        <p:nvSpPr>
          <p:cNvPr id="49" name="tbl_c"/>
          <p:cNvSpPr txBox="1"/>
          <p:nvPr/>
        </p:nvSpPr>
        <p:spPr>
          <a:xfrm>
            <a:off x="8764753" y="3831336"/>
            <a:ext cx="281063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I/O with a limit</a:t>
            </a:r>
            <a:endParaRPr lang="en-US" sz="1050" dirty="0"/>
          </a:p>
        </p:txBody>
      </p:sp>
      <p:sp>
        <p:nvSpPr>
          <p:cNvPr id="50" name="tbl_row"/>
          <p:cNvSpPr/>
          <p:nvPr/>
        </p:nvSpPr>
        <p:spPr>
          <a:xfrm>
            <a:off x="543154" y="4261104"/>
            <a:ext cx="11087100" cy="384048"/>
          </a:xfrm>
          <a:prstGeom prst="roundRect">
            <a:avLst>
              <a:gd name="adj" fmla="val 19047"/>
            </a:avLst>
          </a:prstGeom>
          <a:solidFill>
            <a:srgbClr val="111B2E"/>
          </a:solidFill>
          <a:ln w="12700">
            <a:solidFill>
              <a:srgbClr val="13D0F7"/>
            </a:solidFill>
            <a:prstDash val="solid"/>
          </a:ln>
        </p:spPr>
        <p:txBody>
          <a:bodyPr/>
          <a:lstStyle/>
          <a:p>
            <a:endParaRPr lang="en-US"/>
          </a:p>
        </p:txBody>
      </p:sp>
      <p:sp>
        <p:nvSpPr>
          <p:cNvPr id="51" name="tbl_c"/>
          <p:cNvSpPr txBox="1"/>
          <p:nvPr/>
        </p:nvSpPr>
        <p:spPr>
          <a:xfrm>
            <a:off x="671170" y="4261104"/>
            <a:ext cx="170192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While waiting</a:t>
            </a:r>
            <a:endParaRPr lang="en-US" sz="1050" dirty="0"/>
          </a:p>
        </p:txBody>
      </p:sp>
      <p:sp>
        <p:nvSpPr>
          <p:cNvPr id="52" name="tbl_c"/>
          <p:cNvSpPr txBox="1"/>
          <p:nvPr/>
        </p:nvSpPr>
        <p:spPr>
          <a:xfrm>
            <a:off x="2555977" y="4261104"/>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threads compute</a:t>
            </a:r>
            <a:endParaRPr lang="en-US" sz="1050" dirty="0"/>
          </a:p>
        </p:txBody>
      </p:sp>
      <p:sp>
        <p:nvSpPr>
          <p:cNvPr id="53" name="tbl_c"/>
          <p:cNvSpPr txBox="1"/>
          <p:nvPr/>
        </p:nvSpPr>
        <p:spPr>
          <a:xfrm>
            <a:off x="5660365" y="4261104"/>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no thread used</a:t>
            </a:r>
            <a:endParaRPr lang="en-US" sz="1050" dirty="0"/>
          </a:p>
        </p:txBody>
      </p:sp>
      <p:sp>
        <p:nvSpPr>
          <p:cNvPr id="54" name="tbl_c"/>
          <p:cNvSpPr txBox="1"/>
          <p:nvPr/>
        </p:nvSpPr>
        <p:spPr>
          <a:xfrm>
            <a:off x="8764753" y="4261104"/>
            <a:ext cx="281063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no thread used</a:t>
            </a:r>
            <a:endParaRPr lang="en-US" sz="1050" dirty="0"/>
          </a:p>
        </p:txBody>
      </p:sp>
      <p:sp>
        <p:nvSpPr>
          <p:cNvPr id="55" name="tbl_row"/>
          <p:cNvSpPr/>
          <p:nvPr/>
        </p:nvSpPr>
        <p:spPr>
          <a:xfrm>
            <a:off x="543154" y="4690872"/>
            <a:ext cx="11087100" cy="384048"/>
          </a:xfrm>
          <a:prstGeom prst="roundRect">
            <a:avLst>
              <a:gd name="adj" fmla="val 19047"/>
            </a:avLst>
          </a:prstGeom>
          <a:solidFill>
            <a:srgbClr val="111B2E"/>
          </a:solidFill>
          <a:ln w="12700">
            <a:solidFill>
              <a:srgbClr val="4D91F0"/>
            </a:solidFill>
            <a:prstDash val="solid"/>
          </a:ln>
        </p:spPr>
        <p:txBody>
          <a:bodyPr/>
          <a:lstStyle/>
          <a:p>
            <a:endParaRPr lang="en-US"/>
          </a:p>
        </p:txBody>
      </p:sp>
      <p:sp>
        <p:nvSpPr>
          <p:cNvPr id="56" name="tbl_c"/>
          <p:cNvSpPr txBox="1"/>
          <p:nvPr/>
        </p:nvSpPr>
        <p:spPr>
          <a:xfrm>
            <a:off x="671170" y="4690872"/>
            <a:ext cx="170192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4D91F0"/>
                </a:solidFill>
                <a:latin typeface="Segoe UI"/>
                <a:ea typeface="Segoe UI"/>
                <a:cs typeface="Segoe UI"/>
              </a:rPr>
              <a:t>Caller</a:t>
            </a:r>
            <a:endParaRPr lang="en-US" sz="1050" dirty="0"/>
          </a:p>
        </p:txBody>
      </p:sp>
      <p:sp>
        <p:nvSpPr>
          <p:cNvPr id="57" name="tbl_c"/>
          <p:cNvSpPr txBox="1"/>
          <p:nvPr/>
        </p:nvSpPr>
        <p:spPr>
          <a:xfrm>
            <a:off x="2555977" y="4690872"/>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blocks until done</a:t>
            </a:r>
            <a:endParaRPr lang="en-US" sz="1050" dirty="0"/>
          </a:p>
        </p:txBody>
      </p:sp>
      <p:sp>
        <p:nvSpPr>
          <p:cNvPr id="58" name="tbl_c"/>
          <p:cNvSpPr txBox="1"/>
          <p:nvPr/>
        </p:nvSpPr>
        <p:spPr>
          <a:xfrm>
            <a:off x="5660365" y="4690872"/>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await it</a:t>
            </a:r>
            <a:endParaRPr lang="en-US" sz="1050" dirty="0"/>
          </a:p>
        </p:txBody>
      </p:sp>
      <p:sp>
        <p:nvSpPr>
          <p:cNvPr id="59" name="tbl_c"/>
          <p:cNvSpPr txBox="1"/>
          <p:nvPr/>
        </p:nvSpPr>
        <p:spPr>
          <a:xfrm>
            <a:off x="8764753" y="4690872"/>
            <a:ext cx="281063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await it</a:t>
            </a:r>
            <a:endParaRPr lang="en-US" sz="1050" dirty="0"/>
          </a:p>
        </p:txBody>
      </p:sp>
      <p:sp>
        <p:nvSpPr>
          <p:cNvPr id="60" name="tbl_row"/>
          <p:cNvSpPr/>
          <p:nvPr/>
        </p:nvSpPr>
        <p:spPr>
          <a:xfrm>
            <a:off x="543154" y="5120640"/>
            <a:ext cx="11087100" cy="384048"/>
          </a:xfrm>
          <a:prstGeom prst="roundRect">
            <a:avLst>
              <a:gd name="adj" fmla="val 19047"/>
            </a:avLst>
          </a:prstGeom>
          <a:solidFill>
            <a:srgbClr val="111B2E"/>
          </a:solidFill>
          <a:ln w="12700">
            <a:solidFill>
              <a:srgbClr val="A78BFA"/>
            </a:solidFill>
            <a:prstDash val="solid"/>
          </a:ln>
        </p:spPr>
        <p:txBody>
          <a:bodyPr/>
          <a:lstStyle/>
          <a:p>
            <a:endParaRPr lang="en-US"/>
          </a:p>
        </p:txBody>
      </p:sp>
      <p:sp>
        <p:nvSpPr>
          <p:cNvPr id="61" name="tbl_c"/>
          <p:cNvSpPr txBox="1"/>
          <p:nvPr/>
        </p:nvSpPr>
        <p:spPr>
          <a:xfrm>
            <a:off x="671170" y="5120640"/>
            <a:ext cx="170192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Limit</a:t>
            </a:r>
            <a:endParaRPr lang="en-US" sz="1050" dirty="0"/>
          </a:p>
        </p:txBody>
      </p:sp>
      <p:sp>
        <p:nvSpPr>
          <p:cNvPr id="62" name="tbl_c"/>
          <p:cNvSpPr txBox="1"/>
          <p:nvPr/>
        </p:nvSpPr>
        <p:spPr>
          <a:xfrm>
            <a:off x="2555977" y="5120640"/>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MaxDegreeOfParallelism</a:t>
            </a:r>
            <a:endParaRPr lang="en-US" sz="1050" dirty="0"/>
          </a:p>
        </p:txBody>
      </p:sp>
      <p:sp>
        <p:nvSpPr>
          <p:cNvPr id="63" name="tbl_c"/>
          <p:cNvSpPr txBox="1"/>
          <p:nvPr/>
        </p:nvSpPr>
        <p:spPr>
          <a:xfrm>
            <a:off x="5660365" y="5120640"/>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none: all start at once</a:t>
            </a:r>
            <a:endParaRPr lang="en-US" sz="1050" dirty="0"/>
          </a:p>
        </p:txBody>
      </p:sp>
      <p:sp>
        <p:nvSpPr>
          <p:cNvPr id="64" name="tbl_c"/>
          <p:cNvSpPr txBox="1"/>
          <p:nvPr/>
        </p:nvSpPr>
        <p:spPr>
          <a:xfrm>
            <a:off x="8764753" y="5120640"/>
            <a:ext cx="281063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MaxDegreeOfParallelism</a:t>
            </a:r>
            <a:endParaRPr lang="en-US" sz="1050" dirty="0"/>
          </a:p>
        </p:txBody>
      </p:sp>
      <p:sp>
        <p:nvSpPr>
          <p:cNvPr id="65" name="tbl_row"/>
          <p:cNvSpPr/>
          <p:nvPr/>
        </p:nvSpPr>
        <p:spPr>
          <a:xfrm>
            <a:off x="543154" y="5550408"/>
            <a:ext cx="11087100" cy="384048"/>
          </a:xfrm>
          <a:prstGeom prst="roundRect">
            <a:avLst>
              <a:gd name="adj" fmla="val 19047"/>
            </a:avLst>
          </a:prstGeom>
          <a:solidFill>
            <a:srgbClr val="111B2E"/>
          </a:solidFill>
          <a:ln w="12700">
            <a:solidFill>
              <a:srgbClr val="34D399"/>
            </a:solidFill>
            <a:prstDash val="solid"/>
          </a:ln>
        </p:spPr>
        <p:txBody>
          <a:bodyPr/>
          <a:lstStyle/>
          <a:p>
            <a:endParaRPr lang="en-US"/>
          </a:p>
        </p:txBody>
      </p:sp>
      <p:sp>
        <p:nvSpPr>
          <p:cNvPr id="66" name="tbl_c"/>
          <p:cNvSpPr txBox="1"/>
          <p:nvPr/>
        </p:nvSpPr>
        <p:spPr>
          <a:xfrm>
            <a:off x="671170" y="5550408"/>
            <a:ext cx="170192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SwiftBite</a:t>
            </a:r>
            <a:endParaRPr lang="en-US" sz="1050" dirty="0"/>
          </a:p>
        </p:txBody>
      </p:sp>
      <p:sp>
        <p:nvSpPr>
          <p:cNvPr id="67" name="tbl_c"/>
          <p:cNvSpPr txBox="1"/>
          <p:nvPr/>
        </p:nvSpPr>
        <p:spPr>
          <a:xfrm>
            <a:off x="2555977" y="5550408"/>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resize 5,000 photos</a:t>
            </a:r>
            <a:endParaRPr lang="en-US" sz="1050" dirty="0"/>
          </a:p>
        </p:txBody>
      </p:sp>
      <p:sp>
        <p:nvSpPr>
          <p:cNvPr id="68" name="tbl_c"/>
          <p:cNvSpPr txBox="1"/>
          <p:nvPr/>
        </p:nvSpPr>
        <p:spPr>
          <a:xfrm>
            <a:off x="5660365" y="5550408"/>
            <a:ext cx="2921508"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info + menu + reviews</a:t>
            </a:r>
            <a:endParaRPr lang="en-US" sz="1050" dirty="0"/>
          </a:p>
        </p:txBody>
      </p:sp>
      <p:sp>
        <p:nvSpPr>
          <p:cNvPr id="69" name="tbl_c"/>
          <p:cNvSpPr txBox="1"/>
          <p:nvPr/>
        </p:nvSpPr>
        <p:spPr>
          <a:xfrm>
            <a:off x="8764753" y="5550408"/>
            <a:ext cx="2810637"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200 partner API calls, 10 at a time</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250"/>
                                        <p:tgtEl>
                                          <p:spTgt spid="4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50"/>
                                        <p:tgtEl>
                                          <p:spTgt spid="4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50"/>
                                        <p:tgtEl>
                                          <p:spTgt spid="4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25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25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25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25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25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250"/>
                                        <p:tgtEl>
                                          <p:spTgt spid="3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25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25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250"/>
                                        <p:tgtEl>
                                          <p:spTgt spid="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250"/>
                                        <p:tgtEl>
                                          <p:spTgt spid="4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250"/>
                                        <p:tgtEl>
                                          <p:spTgt spid="4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50"/>
                                        </p:tgtEl>
                                        <p:attrNameLst>
                                          <p:attrName>style.visibility</p:attrName>
                                        </p:attrNameLst>
                                      </p:cBhvr>
                                      <p:to>
                                        <p:strVal val="visible"/>
                                      </p:to>
                                    </p:set>
                                    <p:animEffect transition="in" filter="fade">
                                      <p:cBhvr>
                                        <p:cTn id="76" dur="250"/>
                                        <p:tgtEl>
                                          <p:spTgt spid="5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250"/>
                                        <p:tgtEl>
                                          <p:spTgt spid="5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250"/>
                                        <p:tgtEl>
                                          <p:spTgt spid="5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fade">
                                      <p:cBhvr>
                                        <p:cTn id="85" dur="250"/>
                                        <p:tgtEl>
                                          <p:spTgt spid="5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fade">
                                      <p:cBhvr>
                                        <p:cTn id="88" dur="250"/>
                                        <p:tgtEl>
                                          <p:spTgt spid="5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250"/>
                                        <p:tgtEl>
                                          <p:spTgt spid="5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6"/>
                                        </p:tgtEl>
                                        <p:attrNameLst>
                                          <p:attrName>style.visibility</p:attrName>
                                        </p:attrNameLst>
                                      </p:cBhvr>
                                      <p:to>
                                        <p:strVal val="visible"/>
                                      </p:to>
                                    </p:set>
                                    <p:animEffect transition="in" filter="fade">
                                      <p:cBhvr>
                                        <p:cTn id="96" dur="250"/>
                                        <p:tgtEl>
                                          <p:spTgt spid="5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250"/>
                                        <p:tgtEl>
                                          <p:spTgt spid="5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8"/>
                                        </p:tgtEl>
                                        <p:attrNameLst>
                                          <p:attrName>style.visibility</p:attrName>
                                        </p:attrNameLst>
                                      </p:cBhvr>
                                      <p:to>
                                        <p:strVal val="visible"/>
                                      </p:to>
                                    </p:set>
                                    <p:animEffect transition="in" filter="fade">
                                      <p:cBhvr>
                                        <p:cTn id="102" dur="250"/>
                                        <p:tgtEl>
                                          <p:spTgt spid="5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9"/>
                                        </p:tgtEl>
                                        <p:attrNameLst>
                                          <p:attrName>style.visibility</p:attrName>
                                        </p:attrNameLst>
                                      </p:cBhvr>
                                      <p:to>
                                        <p:strVal val="visible"/>
                                      </p:to>
                                    </p:set>
                                    <p:animEffect transition="in" filter="fade">
                                      <p:cBhvr>
                                        <p:cTn id="105" dur="250"/>
                                        <p:tgtEl>
                                          <p:spTgt spid="59"/>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60"/>
                                        </p:tgtEl>
                                        <p:attrNameLst>
                                          <p:attrName>style.visibility</p:attrName>
                                        </p:attrNameLst>
                                      </p:cBhvr>
                                      <p:to>
                                        <p:strVal val="visible"/>
                                      </p:to>
                                    </p:set>
                                    <p:animEffect transition="in" filter="fade">
                                      <p:cBhvr>
                                        <p:cTn id="110" dur="250"/>
                                        <p:tgtEl>
                                          <p:spTgt spid="6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1"/>
                                        </p:tgtEl>
                                        <p:attrNameLst>
                                          <p:attrName>style.visibility</p:attrName>
                                        </p:attrNameLst>
                                      </p:cBhvr>
                                      <p:to>
                                        <p:strVal val="visible"/>
                                      </p:to>
                                    </p:set>
                                    <p:animEffect transition="in" filter="fade">
                                      <p:cBhvr>
                                        <p:cTn id="113" dur="250"/>
                                        <p:tgtEl>
                                          <p:spTgt spid="6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2"/>
                                        </p:tgtEl>
                                        <p:attrNameLst>
                                          <p:attrName>style.visibility</p:attrName>
                                        </p:attrNameLst>
                                      </p:cBhvr>
                                      <p:to>
                                        <p:strVal val="visible"/>
                                      </p:to>
                                    </p:set>
                                    <p:animEffect transition="in" filter="fade">
                                      <p:cBhvr>
                                        <p:cTn id="116" dur="250"/>
                                        <p:tgtEl>
                                          <p:spTgt spid="6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250"/>
                                        <p:tgtEl>
                                          <p:spTgt spid="6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64"/>
                                        </p:tgtEl>
                                        <p:attrNameLst>
                                          <p:attrName>style.visibility</p:attrName>
                                        </p:attrNameLst>
                                      </p:cBhvr>
                                      <p:to>
                                        <p:strVal val="visible"/>
                                      </p:to>
                                    </p:set>
                                    <p:animEffect transition="in" filter="fade">
                                      <p:cBhvr>
                                        <p:cTn id="122" dur="250"/>
                                        <p:tgtEl>
                                          <p:spTgt spid="64"/>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5"/>
                                        </p:tgtEl>
                                        <p:attrNameLst>
                                          <p:attrName>style.visibility</p:attrName>
                                        </p:attrNameLst>
                                      </p:cBhvr>
                                      <p:to>
                                        <p:strVal val="visible"/>
                                      </p:to>
                                    </p:set>
                                    <p:animEffect transition="in" filter="fade">
                                      <p:cBhvr>
                                        <p:cTn id="127" dur="250"/>
                                        <p:tgtEl>
                                          <p:spTgt spid="6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6"/>
                                        </p:tgtEl>
                                        <p:attrNameLst>
                                          <p:attrName>style.visibility</p:attrName>
                                        </p:attrNameLst>
                                      </p:cBhvr>
                                      <p:to>
                                        <p:strVal val="visible"/>
                                      </p:to>
                                    </p:set>
                                    <p:animEffect transition="in" filter="fade">
                                      <p:cBhvr>
                                        <p:cTn id="130" dur="250"/>
                                        <p:tgtEl>
                                          <p:spTgt spid="6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67"/>
                                        </p:tgtEl>
                                        <p:attrNameLst>
                                          <p:attrName>style.visibility</p:attrName>
                                        </p:attrNameLst>
                                      </p:cBhvr>
                                      <p:to>
                                        <p:strVal val="visible"/>
                                      </p:to>
                                    </p:set>
                                    <p:animEffect transition="in" filter="fade">
                                      <p:cBhvr>
                                        <p:cTn id="133" dur="250"/>
                                        <p:tgtEl>
                                          <p:spTgt spid="6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68"/>
                                        </p:tgtEl>
                                        <p:attrNameLst>
                                          <p:attrName>style.visibility</p:attrName>
                                        </p:attrNameLst>
                                      </p:cBhvr>
                                      <p:to>
                                        <p:strVal val="visible"/>
                                      </p:to>
                                    </p:set>
                                    <p:animEffect transition="in" filter="fade">
                                      <p:cBhvr>
                                        <p:cTn id="136" dur="250"/>
                                        <p:tgtEl>
                                          <p:spTgt spid="6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69"/>
                                        </p:tgtEl>
                                        <p:attrNameLst>
                                          <p:attrName>style.visibility</p:attrName>
                                        </p:attrNameLst>
                                      </p:cBhvr>
                                      <p:to>
                                        <p:strVal val="visible"/>
                                      </p:to>
                                    </p:set>
                                    <p:animEffect transition="in" filter="fade">
                                      <p:cBhvr>
                                        <p:cTn id="139" dur="2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35" grpId="0"/>
      <p:bldP spid="36" grpId="0"/>
      <p:bldP spid="37" grpId="0"/>
      <p:bldP spid="38" grpId="0"/>
      <p:bldP spid="39" grpId="0"/>
      <p:bldP spid="40" grpId="0" animBg="1"/>
      <p:bldP spid="41" grpId="0"/>
      <p:bldP spid="42" grpId="0"/>
      <p:bldP spid="43" grpId="0"/>
      <p:bldP spid="44" grpId="0"/>
      <p:bldP spid="45" grpId="0" animBg="1"/>
      <p:bldP spid="46" grpId="0"/>
      <p:bldP spid="47" grpId="0"/>
      <p:bldP spid="48" grpId="0"/>
      <p:bldP spid="49" grpId="0"/>
      <p:bldP spid="50" grpId="0" animBg="1"/>
      <p:bldP spid="51" grpId="0"/>
      <p:bldP spid="52" grpId="0"/>
      <p:bldP spid="53" grpId="0"/>
      <p:bldP spid="54" grpId="0"/>
      <p:bldP spid="55" grpId="0" animBg="1"/>
      <p:bldP spid="56" grpId="0"/>
      <p:bldP spid="57" grpId="0"/>
      <p:bldP spid="58" grpId="0"/>
      <p:bldP spid="59" grpId="0"/>
      <p:bldP spid="60" grpId="0" animBg="1"/>
      <p:bldP spid="61" grpId="0"/>
      <p:bldP spid="62" grpId="0"/>
      <p:bldP spid="63" grpId="0"/>
      <p:bldP spid="64" grpId="0"/>
      <p:bldP spid="65" grpId="0" animBg="1"/>
      <p:bldP spid="66" grpId="0"/>
      <p:bldP spid="67" grpId="0"/>
      <p:bldP spid="68" grpId="0"/>
      <p:bldP spid="69"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Parallel for Web Calls?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150</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What is wrong with this code?</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string</a:t>
            </a:r>
            <a:r>
              <a:rPr lang="en-US" sz="1100" b="0" dirty="0">
                <a:solidFill>
                  <a:srgbClr val="E2E8F0"/>
                </a:solidFill>
                <a:latin typeface="Consolas"/>
                <a:ea typeface="Consolas"/>
                <a:cs typeface="Consolas"/>
              </a:rPr>
              <a:t>[] ids = [</a:t>
            </a:r>
            <a:r>
              <a:rPr lang="en-US" sz="1100" b="0" dirty="0">
                <a:solidFill>
                  <a:srgbClr val="F0A98B"/>
                </a:solidFill>
                <a:latin typeface="Consolas"/>
                <a:ea typeface="Consolas"/>
                <a:cs typeface="Consolas"/>
              </a:rPr>
              <a:t>"zooba"</a:t>
            </a:r>
            <a:r>
              <a:rPr lang="en-US" sz="1100" b="0" dirty="0">
                <a:solidFill>
                  <a:srgbClr val="E2E8F0"/>
                </a:solidFill>
                <a:latin typeface="Consolas"/>
                <a:ea typeface="Consolas"/>
                <a:cs typeface="Consolas"/>
              </a:rPr>
              <a:t>, </a:t>
            </a:r>
            <a:r>
              <a:rPr lang="en-US" sz="1100" b="0" dirty="0">
                <a:solidFill>
                  <a:srgbClr val="F0A98B"/>
                </a:solidFill>
                <a:latin typeface="Consolas"/>
                <a:ea typeface="Consolas"/>
                <a:cs typeface="Consolas"/>
              </a:rPr>
              <a:t>"koshary"</a:t>
            </a:r>
            <a:r>
              <a:rPr lang="en-US" sz="1100" b="0" dirty="0">
                <a:solidFill>
                  <a:srgbClr val="E2E8F0"/>
                </a:solidFill>
                <a:latin typeface="Consolas"/>
                <a:ea typeface="Consolas"/>
                <a:cs typeface="Consolas"/>
              </a:rPr>
              <a:t>, </a:t>
            </a:r>
            <a:r>
              <a:rPr lang="en-US" sz="1100" b="0" dirty="0">
                <a:solidFill>
                  <a:srgbClr val="F0A98B"/>
                </a:solidFill>
                <a:latin typeface="Consolas"/>
                <a:ea typeface="Consolas"/>
                <a:cs typeface="Consolas"/>
              </a:rPr>
              <a:t>"abou-tarek"</a:t>
            </a:r>
            <a:r>
              <a:rPr lang="en-US" sz="1100" b="0" dirty="0">
                <a:solidFill>
                  <a:srgbClr val="E2E8F0"/>
                </a:solidFill>
                <a:latin typeface="Consolas"/>
                <a:ea typeface="Consolas"/>
                <a:cs typeface="Consolas"/>
              </a:rPr>
              <a:t>];</a:t>
            </a:r>
            <a:endParaRPr lang="en-US" sz="1100" dirty="0"/>
          </a:p>
        </p:txBody>
      </p:sp>
      <p:sp>
        <p:nvSpPr>
          <p:cNvPr id="24" name="cw_L01"/>
          <p:cNvSpPr txBox="1"/>
          <p:nvPr/>
        </p:nvSpPr>
        <p:spPr>
          <a:xfrm>
            <a:off x="771754" y="240893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string</a:t>
            </a:r>
            <a:r>
              <a:rPr lang="en-US" sz="1100" b="0" dirty="0">
                <a:solidFill>
                  <a:srgbClr val="E2E8F0"/>
                </a:solidFill>
                <a:latin typeface="Consolas"/>
                <a:ea typeface="Consolas"/>
                <a:cs typeface="Consolas"/>
              </a:rPr>
              <a:t>[] menus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string</a:t>
            </a:r>
            <a:r>
              <a:rPr lang="en-US" sz="1100" b="0" dirty="0">
                <a:solidFill>
                  <a:srgbClr val="E2E8F0"/>
                </a:solidFill>
                <a:latin typeface="Consolas"/>
                <a:ea typeface="Consolas"/>
                <a:cs typeface="Consolas"/>
              </a:rPr>
              <a:t>[3];</a:t>
            </a:r>
            <a:endParaRPr lang="en-US" sz="1100" dirty="0"/>
          </a:p>
        </p:txBody>
      </p:sp>
      <p:sp>
        <p:nvSpPr>
          <p:cNvPr id="25" name="cw_L03"/>
          <p:cNvSpPr txBox="1"/>
          <p:nvPr/>
        </p:nvSpPr>
        <p:spPr>
          <a:xfrm>
            <a:off x="771754" y="285597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Parallel.For(0, ids.Length, i =&gt;</a:t>
            </a:r>
            <a:endParaRPr lang="en-US" sz="1100" dirty="0"/>
          </a:p>
        </p:txBody>
      </p:sp>
      <p:sp>
        <p:nvSpPr>
          <p:cNvPr id="26" name="cw_L04"/>
          <p:cNvSpPr txBox="1"/>
          <p:nvPr/>
        </p:nvSpPr>
        <p:spPr>
          <a:xfrm>
            <a:off x="771754" y="307949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7" name="cw_L05"/>
          <p:cNvSpPr txBox="1"/>
          <p:nvPr/>
        </p:nvSpPr>
        <p:spPr>
          <a:xfrm>
            <a:off x="771754" y="3303016"/>
            <a:ext cx="5376672" cy="223520"/>
          </a:xfrm>
          <a:prstGeom prst="rect">
            <a:avLst/>
          </a:prstGeom>
          <a:noFill/>
          <a:ln>
            <a:noFill/>
          </a:ln>
        </p:spPr>
        <p:txBody>
          <a:bodyPr wrap="none" lIns="0" tIns="0" rIns="0" bIns="0" rtlCol="0" anchor="ctr">
            <a:noAutofit/>
          </a:bodyPr>
          <a:lstStyle/>
          <a:p>
            <a:pPr marL="307340" indent="0" algn="l">
              <a:spcBef>
                <a:spcPts val="0"/>
              </a:spcBef>
              <a:spcAft>
                <a:spcPts val="0"/>
              </a:spcAft>
              <a:buNone/>
            </a:pPr>
            <a:r>
              <a:rPr lang="en-US" sz="1100" b="0" dirty="0">
                <a:solidFill>
                  <a:srgbClr val="E2E8F0"/>
                </a:solidFill>
                <a:latin typeface="Consolas"/>
                <a:ea typeface="Consolas"/>
                <a:cs typeface="Consolas"/>
              </a:rPr>
              <a:t>menus[i] = GetMenuAsync(ids[i]).Result;</a:t>
            </a:r>
            <a:endParaRPr lang="en-US" sz="1100" dirty="0"/>
          </a:p>
        </p:txBody>
      </p:sp>
      <p:sp>
        <p:nvSpPr>
          <p:cNvPr id="28" name="cw_L06"/>
          <p:cNvSpPr txBox="1"/>
          <p:nvPr/>
        </p:nvSpPr>
        <p:spPr>
          <a:xfrm>
            <a:off x="771754" y="3526536"/>
            <a:ext cx="53766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a:t>
            </a:r>
            <a:endParaRPr lang="en-US" sz="1100" dirty="0"/>
          </a:p>
        </p:txBody>
      </p:sp>
      <p:sp>
        <p:nvSpPr>
          <p:cNvPr id="29"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Nothing: it is the fastest way</a:t>
            </a:r>
            <a:endParaRPr lang="en-US" sz="1400" dirty="0"/>
          </a:p>
        </p:txBody>
      </p:sp>
      <p:sp>
        <p:nvSpPr>
          <p:cNvPr id="30"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It blocks pool threads while they wait for I/O</a:t>
            </a:r>
            <a:endParaRPr lang="en-US" sz="1400" dirty="0"/>
          </a:p>
        </p:txBody>
      </p:sp>
      <p:sp>
        <p:nvSpPr>
          <p:cNvPr id="31"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It does not compile</a:t>
            </a:r>
            <a:endParaRPr lang="en-US" sz="1400" dirty="0"/>
          </a:p>
        </p:txBody>
      </p:sp>
      <p:sp>
        <p:nvSpPr>
          <p:cNvPr id="32"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It runs one call at a time</a:t>
            </a:r>
            <a:endParaRPr lang="en-US" sz="1400" dirty="0"/>
          </a:p>
        </p:txBody>
      </p:sp>
      <p:sp>
        <p:nvSpPr>
          <p:cNvPr id="33"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It blocks pool threads while they wait for I/O</a:t>
            </a:r>
            <a:endParaRPr lang="en-US" sz="1400" dirty="0"/>
          </a:p>
        </p:txBody>
      </p:sp>
      <p:sp>
        <p:nvSpPr>
          <p:cNvPr id="34"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Parallel is for CPU work. Here each thread just sits on .Result. Start the three calls and await Task.WhenAll instead.</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5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5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25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25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25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2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animBg="1"/>
      <p:bldP spid="30" grpId="0" animBg="1"/>
      <p:bldP spid="31" grpId="0" animBg="1"/>
      <p:bldP spid="32" grpId="0" animBg="1"/>
      <p:bldP spid="33" grpId="0" animBg="1"/>
      <p:bldP spid="34"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DEGREE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More Parallelism Is Not Always Faster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151</a:t>
            </a:r>
            <a:endParaRPr lang="en-US" sz="850" dirty="0"/>
          </a:p>
        </p:txBody>
      </p:sp>
      <p:sp>
        <p:nvSpPr>
          <p:cNvPr id="15" name="lab"/>
          <p:cNvSpPr txBox="1"/>
          <p:nvPr/>
        </p:nvSpPr>
        <p:spPr>
          <a:xfrm>
            <a:off x="543154" y="1572768"/>
            <a:ext cx="5486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TIME TO PROCESS 10,000 IMAGES ON 8 CORES (ILLUSTRATIVE)</a:t>
            </a:r>
            <a:endParaRPr lang="en-US" sz="1000" dirty="0"/>
          </a:p>
        </p:txBody>
      </p:sp>
      <p:sp>
        <p:nvSpPr>
          <p:cNvPr id="16" name="bar"/>
          <p:cNvSpPr/>
          <p:nvPr/>
        </p:nvSpPr>
        <p:spPr>
          <a:xfrm>
            <a:off x="726034" y="2121408"/>
            <a:ext cx="685800" cy="2560320"/>
          </a:xfrm>
          <a:prstGeom prst="rect">
            <a:avLst/>
          </a:prstGeom>
          <a:solidFill>
            <a:srgbClr val="4D91F0">
              <a:alpha val="45000"/>
            </a:srgbClr>
          </a:solidFill>
          <a:ln w="12700">
            <a:solidFill>
              <a:srgbClr val="4D91F0"/>
            </a:solidFill>
            <a:prstDash val="solid"/>
          </a:ln>
        </p:spPr>
        <p:txBody>
          <a:bodyPr/>
          <a:lstStyle/>
          <a:p>
            <a:endParaRPr lang="en-US"/>
          </a:p>
        </p:txBody>
      </p:sp>
      <p:sp>
        <p:nvSpPr>
          <p:cNvPr id="17" name="lab"/>
          <p:cNvSpPr txBox="1"/>
          <p:nvPr/>
        </p:nvSpPr>
        <p:spPr>
          <a:xfrm>
            <a:off x="726034"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a:t>
            </a:r>
            <a:endParaRPr lang="en-US" sz="1000" dirty="0"/>
          </a:p>
        </p:txBody>
      </p:sp>
      <p:sp>
        <p:nvSpPr>
          <p:cNvPr id="18" name="lab"/>
          <p:cNvSpPr txBox="1"/>
          <p:nvPr/>
        </p:nvSpPr>
        <p:spPr>
          <a:xfrm>
            <a:off x="726034" y="187452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80 s</a:t>
            </a:r>
            <a:endParaRPr lang="en-US" sz="950" dirty="0"/>
          </a:p>
        </p:txBody>
      </p:sp>
      <p:sp>
        <p:nvSpPr>
          <p:cNvPr id="19" name="bar"/>
          <p:cNvSpPr/>
          <p:nvPr/>
        </p:nvSpPr>
        <p:spPr>
          <a:xfrm>
            <a:off x="1521562" y="3369564"/>
            <a:ext cx="685800" cy="1312164"/>
          </a:xfrm>
          <a:prstGeom prst="rect">
            <a:avLst/>
          </a:prstGeom>
          <a:solidFill>
            <a:srgbClr val="4D91F0">
              <a:alpha val="45000"/>
            </a:srgbClr>
          </a:solidFill>
          <a:ln w="12700">
            <a:solidFill>
              <a:srgbClr val="4D91F0"/>
            </a:solidFill>
            <a:prstDash val="solid"/>
          </a:ln>
        </p:spPr>
        <p:txBody>
          <a:bodyPr/>
          <a:lstStyle/>
          <a:p>
            <a:endParaRPr lang="en-US"/>
          </a:p>
        </p:txBody>
      </p:sp>
      <p:sp>
        <p:nvSpPr>
          <p:cNvPr id="20" name="lab"/>
          <p:cNvSpPr txBox="1"/>
          <p:nvPr/>
        </p:nvSpPr>
        <p:spPr>
          <a:xfrm>
            <a:off x="1521562"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2</a:t>
            </a:r>
            <a:endParaRPr lang="en-US" sz="1000" dirty="0"/>
          </a:p>
        </p:txBody>
      </p:sp>
      <p:sp>
        <p:nvSpPr>
          <p:cNvPr id="21" name="lab"/>
          <p:cNvSpPr txBox="1"/>
          <p:nvPr/>
        </p:nvSpPr>
        <p:spPr>
          <a:xfrm>
            <a:off x="1521562" y="312267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41 s</a:t>
            </a:r>
            <a:endParaRPr lang="en-US" sz="950" dirty="0"/>
          </a:p>
        </p:txBody>
      </p:sp>
      <p:sp>
        <p:nvSpPr>
          <p:cNvPr id="22" name="bar"/>
          <p:cNvSpPr/>
          <p:nvPr/>
        </p:nvSpPr>
        <p:spPr>
          <a:xfrm>
            <a:off x="2317090" y="4009644"/>
            <a:ext cx="685800" cy="672084"/>
          </a:xfrm>
          <a:prstGeom prst="rect">
            <a:avLst/>
          </a:prstGeom>
          <a:solidFill>
            <a:srgbClr val="4D91F0">
              <a:alpha val="45000"/>
            </a:srgbClr>
          </a:solidFill>
          <a:ln w="12700">
            <a:solidFill>
              <a:srgbClr val="4D91F0"/>
            </a:solidFill>
            <a:prstDash val="solid"/>
          </a:ln>
        </p:spPr>
        <p:txBody>
          <a:bodyPr/>
          <a:lstStyle/>
          <a:p>
            <a:endParaRPr lang="en-US"/>
          </a:p>
        </p:txBody>
      </p:sp>
      <p:sp>
        <p:nvSpPr>
          <p:cNvPr id="23" name="lab"/>
          <p:cNvSpPr txBox="1"/>
          <p:nvPr/>
        </p:nvSpPr>
        <p:spPr>
          <a:xfrm>
            <a:off x="2317090"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4</a:t>
            </a:r>
            <a:endParaRPr lang="en-US" sz="1000" dirty="0"/>
          </a:p>
        </p:txBody>
      </p:sp>
      <p:sp>
        <p:nvSpPr>
          <p:cNvPr id="24" name="lab"/>
          <p:cNvSpPr txBox="1"/>
          <p:nvPr/>
        </p:nvSpPr>
        <p:spPr>
          <a:xfrm>
            <a:off x="2317090" y="376275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21 s</a:t>
            </a:r>
            <a:endParaRPr lang="en-US" sz="950" dirty="0"/>
          </a:p>
        </p:txBody>
      </p:sp>
      <p:sp>
        <p:nvSpPr>
          <p:cNvPr id="25" name="bar"/>
          <p:cNvSpPr/>
          <p:nvPr/>
        </p:nvSpPr>
        <p:spPr>
          <a:xfrm>
            <a:off x="3112618" y="4329684"/>
            <a:ext cx="685800" cy="352044"/>
          </a:xfrm>
          <a:prstGeom prst="rect">
            <a:avLst/>
          </a:prstGeom>
          <a:solidFill>
            <a:srgbClr val="34D399">
              <a:alpha val="45000"/>
            </a:srgbClr>
          </a:solidFill>
          <a:ln w="12700">
            <a:solidFill>
              <a:srgbClr val="34D399"/>
            </a:solidFill>
            <a:prstDash val="solid"/>
          </a:ln>
        </p:spPr>
        <p:txBody>
          <a:bodyPr/>
          <a:lstStyle/>
          <a:p>
            <a:endParaRPr lang="en-US"/>
          </a:p>
        </p:txBody>
      </p:sp>
      <p:sp>
        <p:nvSpPr>
          <p:cNvPr id="26" name="lab"/>
          <p:cNvSpPr txBox="1"/>
          <p:nvPr/>
        </p:nvSpPr>
        <p:spPr>
          <a:xfrm>
            <a:off x="3112618"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8</a:t>
            </a:r>
            <a:endParaRPr lang="en-US" sz="1000" dirty="0"/>
          </a:p>
        </p:txBody>
      </p:sp>
      <p:sp>
        <p:nvSpPr>
          <p:cNvPr id="27" name="lab"/>
          <p:cNvSpPr txBox="1"/>
          <p:nvPr/>
        </p:nvSpPr>
        <p:spPr>
          <a:xfrm>
            <a:off x="3112618" y="408279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11 s</a:t>
            </a:r>
            <a:endParaRPr lang="en-US" sz="950" dirty="0"/>
          </a:p>
        </p:txBody>
      </p:sp>
      <p:sp>
        <p:nvSpPr>
          <p:cNvPr id="28" name="bar"/>
          <p:cNvSpPr/>
          <p:nvPr/>
        </p:nvSpPr>
        <p:spPr>
          <a:xfrm>
            <a:off x="3908146" y="4297680"/>
            <a:ext cx="685800" cy="384048"/>
          </a:xfrm>
          <a:prstGeom prst="rect">
            <a:avLst/>
          </a:prstGeom>
          <a:solidFill>
            <a:srgbClr val="F87171">
              <a:alpha val="45000"/>
            </a:srgbClr>
          </a:solidFill>
          <a:ln w="12700">
            <a:solidFill>
              <a:srgbClr val="F87171"/>
            </a:solidFill>
            <a:prstDash val="solid"/>
          </a:ln>
        </p:spPr>
        <p:txBody>
          <a:bodyPr/>
          <a:lstStyle/>
          <a:p>
            <a:endParaRPr lang="en-US"/>
          </a:p>
        </p:txBody>
      </p:sp>
      <p:sp>
        <p:nvSpPr>
          <p:cNvPr id="29" name="lab"/>
          <p:cNvSpPr txBox="1"/>
          <p:nvPr/>
        </p:nvSpPr>
        <p:spPr>
          <a:xfrm>
            <a:off x="3908146"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16</a:t>
            </a:r>
            <a:endParaRPr lang="en-US" sz="1000" dirty="0"/>
          </a:p>
        </p:txBody>
      </p:sp>
      <p:sp>
        <p:nvSpPr>
          <p:cNvPr id="30" name="lab"/>
          <p:cNvSpPr txBox="1"/>
          <p:nvPr/>
        </p:nvSpPr>
        <p:spPr>
          <a:xfrm>
            <a:off x="3908146" y="4050792"/>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12 s</a:t>
            </a:r>
            <a:endParaRPr lang="en-US" sz="950" dirty="0"/>
          </a:p>
        </p:txBody>
      </p:sp>
      <p:sp>
        <p:nvSpPr>
          <p:cNvPr id="31" name="bar"/>
          <p:cNvSpPr/>
          <p:nvPr/>
        </p:nvSpPr>
        <p:spPr>
          <a:xfrm>
            <a:off x="4703674" y="4137660"/>
            <a:ext cx="685800" cy="544068"/>
          </a:xfrm>
          <a:prstGeom prst="rect">
            <a:avLst/>
          </a:prstGeom>
          <a:solidFill>
            <a:srgbClr val="F87171">
              <a:alpha val="45000"/>
            </a:srgbClr>
          </a:solidFill>
          <a:ln w="12700">
            <a:solidFill>
              <a:srgbClr val="F87171"/>
            </a:solidFill>
            <a:prstDash val="solid"/>
          </a:ln>
        </p:spPr>
        <p:txBody>
          <a:bodyPr/>
          <a:lstStyle/>
          <a:p>
            <a:endParaRPr lang="en-US"/>
          </a:p>
        </p:txBody>
      </p:sp>
      <p:sp>
        <p:nvSpPr>
          <p:cNvPr id="32" name="lab"/>
          <p:cNvSpPr txBox="1"/>
          <p:nvPr/>
        </p:nvSpPr>
        <p:spPr>
          <a:xfrm>
            <a:off x="4703674"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64</a:t>
            </a:r>
            <a:endParaRPr lang="en-US" sz="1000" dirty="0"/>
          </a:p>
        </p:txBody>
      </p:sp>
      <p:sp>
        <p:nvSpPr>
          <p:cNvPr id="33" name="lab"/>
          <p:cNvSpPr txBox="1"/>
          <p:nvPr/>
        </p:nvSpPr>
        <p:spPr>
          <a:xfrm>
            <a:off x="4703674" y="3890772"/>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17 s</a:t>
            </a:r>
            <a:endParaRPr lang="en-US" sz="950" dirty="0"/>
          </a:p>
        </p:txBody>
      </p:sp>
      <p:sp>
        <p:nvSpPr>
          <p:cNvPr id="34" name="bar"/>
          <p:cNvSpPr/>
          <p:nvPr/>
        </p:nvSpPr>
        <p:spPr>
          <a:xfrm>
            <a:off x="5499202" y="3721608"/>
            <a:ext cx="685800" cy="960120"/>
          </a:xfrm>
          <a:prstGeom prst="rect">
            <a:avLst/>
          </a:prstGeom>
          <a:solidFill>
            <a:srgbClr val="F87171">
              <a:alpha val="45000"/>
            </a:srgbClr>
          </a:solidFill>
          <a:ln w="12700">
            <a:solidFill>
              <a:srgbClr val="F87171"/>
            </a:solidFill>
            <a:prstDash val="solid"/>
          </a:ln>
        </p:spPr>
        <p:txBody>
          <a:bodyPr/>
          <a:lstStyle/>
          <a:p>
            <a:endParaRPr lang="en-US"/>
          </a:p>
        </p:txBody>
      </p:sp>
      <p:sp>
        <p:nvSpPr>
          <p:cNvPr id="35" name="lab"/>
          <p:cNvSpPr txBox="1"/>
          <p:nvPr/>
        </p:nvSpPr>
        <p:spPr>
          <a:xfrm>
            <a:off x="5499202"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1000</a:t>
            </a:r>
            <a:endParaRPr lang="en-US" sz="1000" dirty="0"/>
          </a:p>
        </p:txBody>
      </p:sp>
      <p:sp>
        <p:nvSpPr>
          <p:cNvPr id="36" name="lab"/>
          <p:cNvSpPr txBox="1"/>
          <p:nvPr/>
        </p:nvSpPr>
        <p:spPr>
          <a:xfrm>
            <a:off x="5499202" y="347472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30 s</a:t>
            </a:r>
            <a:endParaRPr lang="en-US" sz="950" dirty="0"/>
          </a:p>
        </p:txBody>
      </p:sp>
      <p:sp>
        <p:nvSpPr>
          <p:cNvPr id="37" name="lab"/>
          <p:cNvSpPr txBox="1"/>
          <p:nvPr/>
        </p:nvSpPr>
        <p:spPr>
          <a:xfrm>
            <a:off x="726034" y="4910328"/>
            <a:ext cx="54864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workers</a:t>
            </a:r>
            <a:endParaRPr lang="en-US" sz="1000" dirty="0"/>
          </a:p>
        </p:txBody>
      </p:sp>
      <p:sp>
        <p:nvSpPr>
          <p:cNvPr id="38" name="card"/>
          <p:cNvSpPr/>
          <p:nvPr/>
        </p:nvSpPr>
        <p:spPr>
          <a:xfrm>
            <a:off x="6578194" y="1572768"/>
            <a:ext cx="5052060" cy="1097280"/>
          </a:xfrm>
          <a:prstGeom prst="roundRect">
            <a:avLst>
              <a:gd name="adj" fmla="val 7500"/>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34D399"/>
                </a:solidFill>
                <a:latin typeface="Segoe UI"/>
                <a:ea typeface="Segoe UI"/>
                <a:cs typeface="Segoe UI"/>
              </a:rPr>
              <a:t>SWEET SPOT</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about one worker per core for CPU-bound work</a:t>
            </a:r>
            <a:endParaRPr lang="en-US" sz="1250" dirty="0"/>
          </a:p>
        </p:txBody>
      </p:sp>
      <p:sp>
        <p:nvSpPr>
          <p:cNvPr id="39" name="card"/>
          <p:cNvSpPr/>
          <p:nvPr/>
        </p:nvSpPr>
        <p:spPr>
          <a:xfrm>
            <a:off x="6578194" y="2807208"/>
            <a:ext cx="5052060" cy="2075688"/>
          </a:xfrm>
          <a:prstGeom prst="roundRect">
            <a:avLst>
              <a:gd name="adj" fmla="val 3964"/>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F87171"/>
                </a:solidFill>
                <a:latin typeface="Segoe UI"/>
                <a:ea typeface="Segoe UI"/>
                <a:cs typeface="Segoe UI"/>
              </a:rPr>
              <a:t>TOO MANY WORKERS</a:t>
            </a:r>
            <a:endParaRPr lang="en-US" sz="1050" dirty="0"/>
          </a:p>
          <a:p>
            <a:pPr marL="0" indent="0" algn="l">
              <a:spcBef>
                <a:spcPts val="0"/>
              </a:spcBef>
              <a:spcAft>
                <a:spcPts val="150"/>
              </a:spcAft>
              <a:buNone/>
            </a:pPr>
            <a:r>
              <a:rPr lang="en-US" sz="1250" b="0" dirty="0">
                <a:solidFill>
                  <a:srgbClr val="CBD5E1"/>
                </a:solidFill>
                <a:latin typeface="Segoe UI"/>
                <a:ea typeface="Segoe UI"/>
                <a:cs typeface="Segoe UI"/>
              </a:rPr>
              <a:t>context switching</a:t>
            </a:r>
            <a:endParaRPr lang="en-US" sz="1250" dirty="0"/>
          </a:p>
          <a:p>
            <a:pPr marL="0" indent="0" algn="l">
              <a:spcBef>
                <a:spcPts val="0"/>
              </a:spcBef>
              <a:spcAft>
                <a:spcPts val="150"/>
              </a:spcAft>
              <a:buNone/>
            </a:pPr>
            <a:r>
              <a:rPr lang="en-US" sz="1250" b="0" dirty="0">
                <a:solidFill>
                  <a:srgbClr val="CBD5E1"/>
                </a:solidFill>
                <a:latin typeface="Segoe UI"/>
                <a:ea typeface="Segoe UI"/>
                <a:cs typeface="Segoe UI"/>
              </a:rPr>
              <a:t>contention for locks and data</a:t>
            </a:r>
            <a:endParaRPr lang="en-US" sz="1250" dirty="0"/>
          </a:p>
          <a:p>
            <a:pPr marL="0" indent="0" algn="l">
              <a:spcBef>
                <a:spcPts val="0"/>
              </a:spcBef>
              <a:spcAft>
                <a:spcPts val="0"/>
              </a:spcAft>
              <a:buNone/>
            </a:pPr>
            <a:r>
              <a:rPr lang="en-US" sz="1250" b="0" dirty="0">
                <a:solidFill>
                  <a:srgbClr val="CBD5E1"/>
                </a:solidFill>
                <a:latin typeface="Segoe UI"/>
                <a:ea typeface="Segoe UI"/>
                <a:cs typeface="Segoe UI"/>
              </a:rPr>
              <a:t>memory pressure</a:t>
            </a:r>
            <a:endParaRPr lang="en-US" sz="1250" dirty="0"/>
          </a:p>
        </p:txBody>
      </p:sp>
      <p:sp>
        <p:nvSpPr>
          <p:cNvPr id="40"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Match parallelism to the resource: cores for CPU work, limits for remote services.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5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5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25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5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25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25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25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250"/>
                                        <p:tgtEl>
                                          <p:spTgt spid="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25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25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250"/>
                                        <p:tgtEl>
                                          <p:spTgt spid="3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25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250"/>
                                        <p:tgtEl>
                                          <p:spTgt spid="3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25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p:bldP spid="31" grpId="0" animBg="1"/>
      <p:bldP spid="32" grpId="0"/>
      <p:bldP spid="33" grpId="0"/>
      <p:bldP spid="34" grpId="0" animBg="1"/>
      <p:bldP spid="35" grpId="0"/>
      <p:bldP spid="36" grpId="0"/>
      <p:bldP spid="37" grpId="0"/>
      <p:bldP spid="38" grpId="0" animBg="1"/>
      <p:bldP spid="39" grpId="0" animBg="1"/>
      <p:bldP spid="40"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ROOT CAUSE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Real Enemy: Shared Mutable State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152</a:t>
            </a:r>
            <a:endParaRPr lang="en-US" sz="850" dirty="0"/>
          </a:p>
        </p:txBody>
      </p:sp>
      <p:sp>
        <p:nvSpPr>
          <p:cNvPr id="15" name="circle"/>
          <p:cNvSpPr/>
          <p:nvPr/>
        </p:nvSpPr>
        <p:spPr>
          <a:xfrm>
            <a:off x="817474" y="1847088"/>
            <a:ext cx="2103120" cy="2103120"/>
          </a:xfrm>
          <a:prstGeom prst="ellipse">
            <a:avLst/>
          </a:prstGeom>
          <a:solidFill>
            <a:srgbClr val="F87171">
              <a:alpha val="18000"/>
            </a:srgbClr>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500" b="1" dirty="0">
                <a:solidFill>
                  <a:srgbClr val="F87171"/>
                </a:solidFill>
                <a:latin typeface="Segoe UI"/>
                <a:ea typeface="Segoe UI"/>
                <a:cs typeface="Segoe UI"/>
              </a:rPr>
              <a:t>SHARED</a:t>
            </a:r>
            <a:endParaRPr lang="en-US" sz="1500" dirty="0"/>
          </a:p>
        </p:txBody>
      </p:sp>
      <p:sp>
        <p:nvSpPr>
          <p:cNvPr id="16" name="circle"/>
          <p:cNvSpPr/>
          <p:nvPr/>
        </p:nvSpPr>
        <p:spPr>
          <a:xfrm>
            <a:off x="2417674" y="1847088"/>
            <a:ext cx="2103120" cy="2103120"/>
          </a:xfrm>
          <a:prstGeom prst="ellipse">
            <a:avLst/>
          </a:prstGeom>
          <a:solidFill>
            <a:srgbClr val="FBBF24">
              <a:alpha val="18000"/>
            </a:srgbClr>
          </a:solidFill>
          <a:ln w="1905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500" b="1" dirty="0">
                <a:solidFill>
                  <a:srgbClr val="FBBF24"/>
                </a:solidFill>
                <a:latin typeface="Segoe UI"/>
                <a:ea typeface="Segoe UI"/>
                <a:cs typeface="Segoe UI"/>
              </a:rPr>
              <a:t>MUTABLE</a:t>
            </a:r>
            <a:endParaRPr lang="en-US" sz="1500" dirty="0"/>
          </a:p>
        </p:txBody>
      </p:sp>
      <p:sp>
        <p:nvSpPr>
          <p:cNvPr id="17" name="circle"/>
          <p:cNvSpPr/>
          <p:nvPr/>
        </p:nvSpPr>
        <p:spPr>
          <a:xfrm>
            <a:off x="4017874" y="1847088"/>
            <a:ext cx="2103120" cy="2103120"/>
          </a:xfrm>
          <a:prstGeom prst="ellipse">
            <a:avLst/>
          </a:prstGeom>
          <a:solidFill>
            <a:srgbClr val="A78BFA">
              <a:alpha val="18000"/>
            </a:srgbClr>
          </a:solidFill>
          <a:ln w="1905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500" b="1" dirty="0">
                <a:solidFill>
                  <a:srgbClr val="A78BFA"/>
                </a:solidFill>
                <a:latin typeface="Segoe UI"/>
                <a:ea typeface="Segoe UI"/>
                <a:cs typeface="Segoe UI"/>
              </a:rPr>
              <a:t>STATE</a:t>
            </a:r>
            <a:endParaRPr lang="en-US" sz="1500" dirty="0"/>
          </a:p>
        </p:txBody>
      </p:sp>
      <p:sp>
        <p:nvSpPr>
          <p:cNvPr id="18" name="lab"/>
          <p:cNvSpPr txBox="1"/>
          <p:nvPr/>
        </p:nvSpPr>
        <p:spPr>
          <a:xfrm>
            <a:off x="817474" y="4087368"/>
            <a:ext cx="530352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200" b="1" dirty="0">
                <a:solidFill>
                  <a:srgbClr val="F87171"/>
                </a:solidFill>
                <a:latin typeface="Segoe UI"/>
                <a:ea typeface="Segoe UI"/>
                <a:cs typeface="Segoe UI"/>
              </a:rPr>
              <a:t>all three together = race conditions</a:t>
            </a:r>
            <a:endParaRPr lang="en-US" sz="1200" dirty="0"/>
          </a:p>
        </p:txBody>
      </p:sp>
      <p:sp>
        <p:nvSpPr>
          <p:cNvPr id="19" name="cw_win"/>
          <p:cNvSpPr/>
          <p:nvPr/>
        </p:nvSpPr>
        <p:spPr>
          <a:xfrm>
            <a:off x="6578194" y="1572768"/>
            <a:ext cx="50520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20" name="cw_bar"/>
          <p:cNvSpPr/>
          <p:nvPr/>
        </p:nvSpPr>
        <p:spPr>
          <a:xfrm>
            <a:off x="6578194" y="1572768"/>
            <a:ext cx="50520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1" name="cw_barfill"/>
          <p:cNvSpPr/>
          <p:nvPr/>
        </p:nvSpPr>
        <p:spPr>
          <a:xfrm>
            <a:off x="6578194" y="1744218"/>
            <a:ext cx="5052060" cy="171450"/>
          </a:xfrm>
          <a:prstGeom prst="rect">
            <a:avLst/>
          </a:prstGeom>
          <a:solidFill>
            <a:srgbClr val="0A1220"/>
          </a:solidFill>
          <a:ln w="12700">
            <a:solidFill>
              <a:srgbClr val="0A1220"/>
            </a:solidFill>
            <a:prstDash val="solid"/>
          </a:ln>
        </p:spPr>
        <p:txBody>
          <a:bodyPr/>
          <a:lstStyle/>
          <a:p>
            <a:endParaRPr lang="en-US"/>
          </a:p>
        </p:txBody>
      </p:sp>
      <p:sp>
        <p:nvSpPr>
          <p:cNvPr id="22" name="cw_dot0"/>
          <p:cNvSpPr/>
          <p:nvPr/>
        </p:nvSpPr>
        <p:spPr>
          <a:xfrm>
            <a:off x="674004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23" name="cw_dot1"/>
          <p:cNvSpPr/>
          <p:nvPr/>
        </p:nvSpPr>
        <p:spPr>
          <a:xfrm>
            <a:off x="692566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4" name="cw_dot2"/>
          <p:cNvSpPr/>
          <p:nvPr/>
        </p:nvSpPr>
        <p:spPr>
          <a:xfrm>
            <a:off x="711128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5" name="cw_tab"/>
          <p:cNvSpPr/>
          <p:nvPr/>
        </p:nvSpPr>
        <p:spPr>
          <a:xfrm>
            <a:off x="735909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26" name="cw_L00"/>
          <p:cNvSpPr txBox="1"/>
          <p:nvPr/>
        </p:nvSpPr>
        <p:spPr>
          <a:xfrm>
            <a:off x="6806794" y="2048256"/>
            <a:ext cx="46680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class</a:t>
            </a:r>
            <a:r>
              <a:rPr lang="en-US" sz="1050" b="0" dirty="0">
                <a:solidFill>
                  <a:srgbClr val="E2E8F0"/>
                </a:solidFill>
                <a:latin typeface="Consolas"/>
                <a:ea typeface="Consolas"/>
                <a:cs typeface="Consolas"/>
              </a:rPr>
              <a:t> Kitchen</a:t>
            </a:r>
            <a:endParaRPr lang="en-US" sz="1050" dirty="0"/>
          </a:p>
        </p:txBody>
      </p:sp>
      <p:sp>
        <p:nvSpPr>
          <p:cNvPr id="27" name="cw_L01"/>
          <p:cNvSpPr txBox="1"/>
          <p:nvPr/>
        </p:nvSpPr>
        <p:spPr>
          <a:xfrm>
            <a:off x="6806794" y="2261616"/>
            <a:ext cx="46680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2"/>
          <p:cNvSpPr txBox="1"/>
          <p:nvPr/>
        </p:nvSpPr>
        <p:spPr>
          <a:xfrm>
            <a:off x="6806794" y="2474976"/>
            <a:ext cx="46680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private</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_ordersToday;   </a:t>
            </a:r>
            <a:r>
              <a:rPr lang="en-US" sz="1050" b="0" dirty="0">
                <a:solidFill>
                  <a:srgbClr val="6FAE7A"/>
                </a:solidFill>
                <a:latin typeface="Consolas"/>
                <a:ea typeface="Consolas"/>
                <a:cs typeface="Consolas"/>
              </a:rPr>
              <a:t>// shared + mutable: think!</a:t>
            </a:r>
            <a:endParaRPr lang="en-US" sz="1050" dirty="0"/>
          </a:p>
        </p:txBody>
      </p:sp>
      <p:sp>
        <p:nvSpPr>
          <p:cNvPr id="29" name="cw_L04"/>
          <p:cNvSpPr txBox="1"/>
          <p:nvPr/>
        </p:nvSpPr>
        <p:spPr>
          <a:xfrm>
            <a:off x="6806794" y="2901696"/>
            <a:ext cx="46680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public</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void</a:t>
            </a:r>
            <a:r>
              <a:rPr lang="en-US" sz="1050" b="0" dirty="0">
                <a:solidFill>
                  <a:srgbClr val="E2E8F0"/>
                </a:solidFill>
                <a:latin typeface="Consolas"/>
                <a:ea typeface="Consolas"/>
                <a:cs typeface="Consolas"/>
              </a:rPr>
              <a:t> Calculate()</a:t>
            </a:r>
            <a:endParaRPr lang="en-US" sz="1050" dirty="0"/>
          </a:p>
        </p:txBody>
      </p:sp>
      <p:sp>
        <p:nvSpPr>
          <p:cNvPr id="30" name="cw_L05"/>
          <p:cNvSpPr txBox="1"/>
          <p:nvPr/>
        </p:nvSpPr>
        <p:spPr>
          <a:xfrm>
            <a:off x="6806794" y="3115056"/>
            <a:ext cx="46680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1" name="cw_L06"/>
          <p:cNvSpPr txBox="1"/>
          <p:nvPr/>
        </p:nvSpPr>
        <p:spPr>
          <a:xfrm>
            <a:off x="6806794" y="3328416"/>
            <a:ext cx="4668012" cy="213360"/>
          </a:xfrm>
          <a:prstGeom prst="rect">
            <a:avLst/>
          </a:prstGeom>
          <a:noFill/>
          <a:ln>
            <a:noFill/>
          </a:ln>
        </p:spPr>
        <p:txBody>
          <a:bodyPr wrap="none" lIns="0" tIns="0" rIns="0" bIns="0" rtlCol="0" anchor="ctr">
            <a:noAutofit/>
          </a:bodyPr>
          <a:lstStyle/>
          <a:p>
            <a:pPr marL="586740" indent="0" algn="l">
              <a:spcBef>
                <a:spcPts val="0"/>
              </a:spcBef>
              <a:spcAft>
                <a:spcPts val="0"/>
              </a:spcAft>
              <a:buNone/>
            </a:pP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total = 0;          </a:t>
            </a:r>
            <a:r>
              <a:rPr lang="en-US" sz="1050" b="0" dirty="0">
                <a:solidFill>
                  <a:srgbClr val="6FAE7A"/>
                </a:solidFill>
                <a:latin typeface="Consolas"/>
                <a:ea typeface="Consolas"/>
                <a:cs typeface="Consolas"/>
              </a:rPr>
              <a:t>// local: not shared, safe</a:t>
            </a:r>
            <a:endParaRPr lang="en-US" sz="1050" dirty="0"/>
          </a:p>
        </p:txBody>
      </p:sp>
      <p:sp>
        <p:nvSpPr>
          <p:cNvPr id="32" name="cw_L07"/>
          <p:cNvSpPr txBox="1"/>
          <p:nvPr/>
        </p:nvSpPr>
        <p:spPr>
          <a:xfrm>
            <a:off x="6806794" y="3541776"/>
            <a:ext cx="466801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3" name="cw_L08"/>
          <p:cNvSpPr txBox="1"/>
          <p:nvPr/>
        </p:nvSpPr>
        <p:spPr>
          <a:xfrm>
            <a:off x="6806794" y="3755136"/>
            <a:ext cx="46680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cw_L10"/>
          <p:cNvSpPr txBox="1"/>
          <p:nvPr/>
        </p:nvSpPr>
        <p:spPr>
          <a:xfrm>
            <a:off x="6806794" y="4181856"/>
            <a:ext cx="466801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public</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record</a:t>
            </a:r>
            <a:r>
              <a:rPr lang="en-US" sz="1050" b="0" dirty="0">
                <a:solidFill>
                  <a:srgbClr val="E2E8F0"/>
                </a:solidFill>
                <a:latin typeface="Consolas"/>
                <a:ea typeface="Consolas"/>
                <a:cs typeface="Consolas"/>
              </a:rPr>
              <a:t> Price(</a:t>
            </a:r>
            <a:r>
              <a:rPr lang="en-US" sz="1050" b="0" dirty="0">
                <a:solidFill>
                  <a:srgbClr val="60A5FA"/>
                </a:solidFill>
                <a:latin typeface="Consolas"/>
                <a:ea typeface="Consolas"/>
                <a:cs typeface="Consolas"/>
              </a:rPr>
              <a:t>decimal</a:t>
            </a:r>
            <a:r>
              <a:rPr lang="en-US" sz="1050" b="0" dirty="0">
                <a:solidFill>
                  <a:srgbClr val="E2E8F0"/>
                </a:solidFill>
                <a:latin typeface="Consolas"/>
                <a:ea typeface="Consolas"/>
                <a:cs typeface="Consolas"/>
              </a:rPr>
              <a:t> Amount);   </a:t>
            </a:r>
            <a:r>
              <a:rPr lang="en-US" sz="1050" b="0" dirty="0">
                <a:solidFill>
                  <a:srgbClr val="6FAE7A"/>
                </a:solidFill>
                <a:latin typeface="Consolas"/>
                <a:ea typeface="Consolas"/>
                <a:cs typeface="Consolas"/>
              </a:rPr>
              <a:t>// immutable: safe</a:t>
            </a:r>
            <a:endParaRPr lang="en-US" sz="1050" dirty="0"/>
          </a:p>
        </p:txBody>
      </p:sp>
      <p:sp>
        <p:nvSpPr>
          <p:cNvPr id="35"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Shared + mutable + state causes most concurrency bugs. Remove one and they disappear.</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5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250"/>
                                        <p:tgtEl>
                                          <p:spTgt spid="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25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25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5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25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25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25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25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25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2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p:bldP spid="26" grpId="0"/>
      <p:bldP spid="27" grpId="0"/>
      <p:bldP spid="28" grpId="0"/>
      <p:bldP spid="29" grpId="0"/>
      <p:bldP spid="30" grpId="0"/>
      <p:bldP spid="31" grpId="0"/>
      <p:bldP spid="32" grpId="0"/>
      <p:bldP spid="33" grpId="0"/>
      <p:bldP spid="34" grpId="0"/>
      <p:bldP spid="35"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THREAD-SAFE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Many Ways to Thread-Safe Code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153</a:t>
            </a:r>
            <a:endParaRPr lang="en-US" sz="850" dirty="0"/>
          </a:p>
        </p:txBody>
      </p:sp>
      <p:sp>
        <p:nvSpPr>
          <p:cNvPr id="15" name="card"/>
          <p:cNvSpPr/>
          <p:nvPr/>
        </p:nvSpPr>
        <p:spPr>
          <a:xfrm>
            <a:off x="543154" y="1572768"/>
            <a:ext cx="3573780" cy="1554480"/>
          </a:xfrm>
          <a:prstGeom prst="roundRect">
            <a:avLst>
              <a:gd name="adj" fmla="val 5294"/>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IMMUTABILITY</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records, readonly: nothing to change</a:t>
            </a:r>
            <a:endParaRPr lang="en-US" sz="1300" dirty="0"/>
          </a:p>
        </p:txBody>
      </p:sp>
      <p:sp>
        <p:nvSpPr>
          <p:cNvPr id="16" name="card"/>
          <p:cNvSpPr/>
          <p:nvPr/>
        </p:nvSpPr>
        <p:spPr>
          <a:xfrm>
            <a:off x="4299814" y="1572768"/>
            <a:ext cx="3573780" cy="1554480"/>
          </a:xfrm>
          <a:prstGeom prst="roundRect">
            <a:avLst>
              <a:gd name="adj" fmla="val 5294"/>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NO SHARED STATE</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locals, one object per thread</a:t>
            </a:r>
            <a:endParaRPr lang="en-US" sz="1300" dirty="0"/>
          </a:p>
        </p:txBody>
      </p:sp>
      <p:sp>
        <p:nvSpPr>
          <p:cNvPr id="17" name="card"/>
          <p:cNvSpPr/>
          <p:nvPr/>
        </p:nvSpPr>
        <p:spPr>
          <a:xfrm>
            <a:off x="8056474" y="1572768"/>
            <a:ext cx="3573780" cy="1554480"/>
          </a:xfrm>
          <a:prstGeom prst="roundRect">
            <a:avLst>
              <a:gd name="adj" fmla="val 5294"/>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ATOMIC OPERATIONS</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Interlocked for simple counters</a:t>
            </a:r>
            <a:endParaRPr lang="en-US" sz="1300" dirty="0"/>
          </a:p>
        </p:txBody>
      </p:sp>
      <p:sp>
        <p:nvSpPr>
          <p:cNvPr id="18" name="card"/>
          <p:cNvSpPr/>
          <p:nvPr/>
        </p:nvSpPr>
        <p:spPr>
          <a:xfrm>
            <a:off x="543154" y="3264408"/>
            <a:ext cx="3573780" cy="1554480"/>
          </a:xfrm>
          <a:prstGeom prst="roundRect">
            <a:avLst>
              <a:gd name="adj" fmla="val 5294"/>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LOCKS</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lock / SemaphoreSlim for sequences</a:t>
            </a:r>
            <a:endParaRPr lang="en-US" sz="1300" dirty="0"/>
          </a:p>
        </p:txBody>
      </p:sp>
      <p:sp>
        <p:nvSpPr>
          <p:cNvPr id="19" name="card"/>
          <p:cNvSpPr/>
          <p:nvPr/>
        </p:nvSpPr>
        <p:spPr>
          <a:xfrm>
            <a:off x="4299814" y="3264408"/>
            <a:ext cx="3573780" cy="1554480"/>
          </a:xfrm>
          <a:prstGeom prst="roundRect">
            <a:avLst>
              <a:gd name="adj" fmla="val 5294"/>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CONCURRENT COLLECTIONS</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ConcurrentDictionary, ConcurrentQueue</a:t>
            </a:r>
            <a:endParaRPr lang="en-US" sz="1300" dirty="0"/>
          </a:p>
        </p:txBody>
      </p:sp>
      <p:sp>
        <p:nvSpPr>
          <p:cNvPr id="20" name="card"/>
          <p:cNvSpPr/>
          <p:nvPr/>
        </p:nvSpPr>
        <p:spPr>
          <a:xfrm>
            <a:off x="8056474" y="3264408"/>
            <a:ext cx="3573780" cy="1554480"/>
          </a:xfrm>
          <a:prstGeom prst="roundRect">
            <a:avLst>
              <a:gd name="adj" fmla="val 5294"/>
            </a:avLst>
          </a:prstGeom>
          <a:solidFill>
            <a:srgbClr val="111B2E"/>
          </a:solidFill>
          <a:ln w="12700">
            <a:solidFill>
              <a:srgbClr val="4D91F0"/>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100" b="1" dirty="0">
                <a:solidFill>
                  <a:srgbClr val="4D91F0"/>
                </a:solidFill>
                <a:latin typeface="Segoe UI"/>
                <a:ea typeface="Segoe UI"/>
                <a:cs typeface="Segoe UI"/>
              </a:rPr>
              <a:t>MESSAGE PASSING</a:t>
            </a:r>
            <a:endParaRPr lang="en-US" sz="1100" dirty="0"/>
          </a:p>
          <a:p>
            <a:pPr marL="0" indent="0" algn="l">
              <a:spcBef>
                <a:spcPts val="0"/>
              </a:spcBef>
              <a:spcAft>
                <a:spcPts val="0"/>
              </a:spcAft>
              <a:buNone/>
            </a:pPr>
            <a:r>
              <a:rPr lang="en-US" sz="1300" b="0" dirty="0">
                <a:solidFill>
                  <a:srgbClr val="CBD5E1"/>
                </a:solidFill>
                <a:latin typeface="Segoe UI"/>
                <a:ea typeface="Segoe UI"/>
                <a:cs typeface="Segoe UI"/>
              </a:rPr>
              <a:t>hand work over through a queue</a:t>
            </a:r>
            <a:endParaRPr lang="en-US" sz="1300" dirty="0"/>
          </a:p>
        </p:txBody>
      </p:sp>
      <p:sp>
        <p:nvSpPr>
          <p:cNvPr id="21"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Thread-safe code stays correct under concurrency, and a lock is just one way to get there.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5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25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25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Pick the Tool (1)</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155</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Resize 5,000 uploaded photos as fast as possible on an 8-core server. Which tool?</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each photo: pure CPU work,</a:t>
            </a:r>
            <a:endParaRPr lang="en-US" sz="1300" dirty="0"/>
          </a:p>
        </p:txBody>
      </p:sp>
      <p:sp>
        <p:nvSpPr>
          <p:cNvPr id="24" name="cw_L01"/>
          <p:cNvSpPr txBox="1"/>
          <p:nvPr/>
        </p:nvSpPr>
        <p:spPr>
          <a:xfrm>
            <a:off x="771754" y="244957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about 200 ms of calculation,</a:t>
            </a:r>
            <a:endParaRPr lang="en-US" sz="1300" dirty="0"/>
          </a:p>
        </p:txBody>
      </p:sp>
      <p:sp>
        <p:nvSpPr>
          <p:cNvPr id="25" name="cw_L02"/>
          <p:cNvSpPr txBox="1"/>
          <p:nvPr/>
        </p:nvSpPr>
        <p:spPr>
          <a:xfrm>
            <a:off x="771754" y="271373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photos are independent</a:t>
            </a:r>
            <a:endParaRPr lang="en-US" sz="1300" dirty="0"/>
          </a:p>
        </p:txBody>
      </p:sp>
      <p:sp>
        <p:nvSpPr>
          <p:cNvPr id="26"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async / await with Task.Delay</a:t>
            </a:r>
            <a:endParaRPr lang="en-US" sz="1400" dirty="0"/>
          </a:p>
        </p:txBody>
      </p:sp>
      <p:sp>
        <p:nvSpPr>
          <p:cNvPr id="27"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Parallel.ForEach</a:t>
            </a:r>
            <a:endParaRPr lang="en-US" sz="1400" dirty="0"/>
          </a:p>
        </p:txBody>
      </p:sp>
      <p:sp>
        <p:nvSpPr>
          <p:cNvPr id="28"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SemaphoreSlim(1)</a:t>
            </a:r>
            <a:endParaRPr lang="en-US" sz="1400" dirty="0"/>
          </a:p>
        </p:txBody>
      </p:sp>
      <p:sp>
        <p:nvSpPr>
          <p:cNvPr id="29"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A new Thread per photo</a:t>
            </a:r>
            <a:endParaRPr lang="en-US" sz="1400" dirty="0"/>
          </a:p>
        </p:txBody>
      </p:sp>
      <p:sp>
        <p:nvSpPr>
          <p:cNvPr id="30"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Parallel.ForEach</a:t>
            </a:r>
            <a:endParaRPr lang="en-US" sz="1400" dirty="0"/>
          </a:p>
        </p:txBody>
      </p:sp>
      <p:sp>
        <p:nvSpPr>
          <p:cNvPr id="31"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Independent CPU-bound items: Parallel.ForEach spreads them across the cores using pool threads.</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25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2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2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animBg="1"/>
      <p:bldP spid="27" grpId="0" animBg="1"/>
      <p:bldP spid="28" grpId="0" animBg="1"/>
      <p:bldP spid="29" grpId="0" animBg="1"/>
      <p:bldP spid="30" grpId="0" animBg="1"/>
      <p:bldP spid="31"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9728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Pick the Tool (2)</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156</a:t>
            </a:r>
            <a:endParaRPr lang="en-US" sz="850" dirty="0"/>
          </a:p>
        </p:txBody>
      </p:sp>
      <p:sp>
        <p:nvSpPr>
          <p:cNvPr id="15" name="sub"/>
          <p:cNvSpPr txBox="1"/>
          <p:nvPr/>
        </p:nvSpPr>
        <p:spPr>
          <a:xfrm>
            <a:off x="543154" y="1389888"/>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b="1" dirty="0">
                <a:solidFill>
                  <a:srgbClr val="94A3B8"/>
                </a:solidFill>
                <a:latin typeface="Segoe UI"/>
                <a:ea typeface="Segoe UI"/>
                <a:cs typeface="Segoe UI"/>
              </a:rPr>
              <a:t>Call a partner API for 200 restaurants, but never more than 10 calls at once. Which tool?</a:t>
            </a:r>
            <a:endParaRPr lang="en-US" sz="1300" dirty="0"/>
          </a:p>
        </p:txBody>
      </p:sp>
      <p:sp>
        <p:nvSpPr>
          <p:cNvPr id="16" name="cw_win"/>
          <p:cNvSpPr/>
          <p:nvPr/>
        </p:nvSpPr>
        <p:spPr>
          <a:xfrm>
            <a:off x="543154" y="1709928"/>
            <a:ext cx="5760720" cy="3108960"/>
          </a:xfrm>
          <a:prstGeom prst="roundRect">
            <a:avLst>
              <a:gd name="adj" fmla="val 2205"/>
            </a:avLst>
          </a:prstGeom>
          <a:solidFill>
            <a:srgbClr val="060D18"/>
          </a:solidFill>
          <a:ln w="12700">
            <a:solidFill>
              <a:srgbClr val="1E3A5F"/>
            </a:solidFill>
            <a:prstDash val="solid"/>
          </a:ln>
        </p:spPr>
        <p:txBody>
          <a:bodyPr/>
          <a:lstStyle/>
          <a:p>
            <a:endParaRPr lang="en-US"/>
          </a:p>
        </p:txBody>
      </p:sp>
      <p:sp>
        <p:nvSpPr>
          <p:cNvPr id="17" name="cw_bar"/>
          <p:cNvSpPr/>
          <p:nvPr/>
        </p:nvSpPr>
        <p:spPr>
          <a:xfrm>
            <a:off x="543154" y="17099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 name="cw_barfill"/>
          <p:cNvSpPr/>
          <p:nvPr/>
        </p:nvSpPr>
        <p:spPr>
          <a:xfrm>
            <a:off x="543154" y="1881378"/>
            <a:ext cx="5760720" cy="171450"/>
          </a:xfrm>
          <a:prstGeom prst="rect">
            <a:avLst/>
          </a:prstGeom>
          <a:solidFill>
            <a:srgbClr val="0A1220"/>
          </a:solidFill>
          <a:ln w="12700">
            <a:solidFill>
              <a:srgbClr val="0A1220"/>
            </a:solidFill>
            <a:prstDash val="solid"/>
          </a:ln>
        </p:spPr>
        <p:txBody>
          <a:bodyPr/>
          <a:lstStyle/>
          <a:p>
            <a:endParaRPr lang="en-US"/>
          </a:p>
        </p:txBody>
      </p:sp>
      <p:sp>
        <p:nvSpPr>
          <p:cNvPr id="19" name="cw_dot0"/>
          <p:cNvSpPr/>
          <p:nvPr/>
        </p:nvSpPr>
        <p:spPr>
          <a:xfrm>
            <a:off x="705002" y="1833738"/>
            <a:ext cx="95098" cy="95098"/>
          </a:xfrm>
          <a:prstGeom prst="ellipse">
            <a:avLst/>
          </a:prstGeom>
          <a:solidFill>
            <a:srgbClr val="F87171"/>
          </a:solidFill>
          <a:ln w="12700">
            <a:solidFill>
              <a:srgbClr val="F87171"/>
            </a:solidFill>
            <a:prstDash val="solid"/>
          </a:ln>
        </p:spPr>
        <p:txBody>
          <a:bodyPr/>
          <a:lstStyle/>
          <a:p>
            <a:endParaRPr lang="en-US"/>
          </a:p>
        </p:txBody>
      </p:sp>
      <p:sp>
        <p:nvSpPr>
          <p:cNvPr id="20" name="cw_dot1"/>
          <p:cNvSpPr/>
          <p:nvPr/>
        </p:nvSpPr>
        <p:spPr>
          <a:xfrm>
            <a:off x="890626" y="1833738"/>
            <a:ext cx="95098" cy="95098"/>
          </a:xfrm>
          <a:prstGeom prst="ellipse">
            <a:avLst/>
          </a:prstGeom>
          <a:solidFill>
            <a:srgbClr val="FBBF24"/>
          </a:solidFill>
          <a:ln w="12700">
            <a:solidFill>
              <a:srgbClr val="FBBF24"/>
            </a:solidFill>
            <a:prstDash val="solid"/>
          </a:ln>
        </p:spPr>
        <p:txBody>
          <a:bodyPr/>
          <a:lstStyle/>
          <a:p>
            <a:endParaRPr lang="en-US"/>
          </a:p>
        </p:txBody>
      </p:sp>
      <p:sp>
        <p:nvSpPr>
          <p:cNvPr id="21" name="cw_dot2"/>
          <p:cNvSpPr/>
          <p:nvPr/>
        </p:nvSpPr>
        <p:spPr>
          <a:xfrm>
            <a:off x="1076249" y="1833738"/>
            <a:ext cx="95098" cy="95098"/>
          </a:xfrm>
          <a:prstGeom prst="ellipse">
            <a:avLst/>
          </a:prstGeom>
          <a:solidFill>
            <a:srgbClr val="34D399"/>
          </a:solidFill>
          <a:ln w="12700">
            <a:solidFill>
              <a:srgbClr val="34D399"/>
            </a:solidFill>
            <a:prstDash val="solid"/>
          </a:ln>
        </p:spPr>
        <p:txBody>
          <a:bodyPr/>
          <a:lstStyle/>
          <a:p>
            <a:endParaRPr lang="en-US"/>
          </a:p>
        </p:txBody>
      </p:sp>
      <p:sp>
        <p:nvSpPr>
          <p:cNvPr id="22" name="cw_tab"/>
          <p:cNvSpPr/>
          <p:nvPr/>
        </p:nvSpPr>
        <p:spPr>
          <a:xfrm>
            <a:off x="1324051" y="175747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3" name="cw_L00"/>
          <p:cNvSpPr txBox="1"/>
          <p:nvPr/>
        </p:nvSpPr>
        <p:spPr>
          <a:xfrm>
            <a:off x="771754" y="218541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each call: about 1 s waiting</a:t>
            </a:r>
            <a:endParaRPr lang="en-US" sz="1300" dirty="0"/>
          </a:p>
        </p:txBody>
      </p:sp>
      <p:sp>
        <p:nvSpPr>
          <p:cNvPr id="24" name="cw_L01"/>
          <p:cNvSpPr txBox="1"/>
          <p:nvPr/>
        </p:nvSpPr>
        <p:spPr>
          <a:xfrm>
            <a:off x="771754" y="244957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for the network,</a:t>
            </a:r>
            <a:endParaRPr lang="en-US" sz="1300" dirty="0"/>
          </a:p>
        </p:txBody>
      </p:sp>
      <p:sp>
        <p:nvSpPr>
          <p:cNvPr id="25" name="cw_L02"/>
          <p:cNvSpPr txBox="1"/>
          <p:nvPr/>
        </p:nvSpPr>
        <p:spPr>
          <a:xfrm>
            <a:off x="771754" y="2713736"/>
            <a:ext cx="5376672" cy="2641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300" b="0" dirty="0">
                <a:solidFill>
                  <a:srgbClr val="6FAE7A"/>
                </a:solidFill>
                <a:latin typeface="Consolas"/>
                <a:ea typeface="Consolas"/>
                <a:cs typeface="Consolas"/>
              </a:rPr>
              <a:t>// almost no CPU work</a:t>
            </a:r>
            <a:endParaRPr lang="en-US" sz="1300" dirty="0"/>
          </a:p>
        </p:txBody>
      </p:sp>
      <p:sp>
        <p:nvSpPr>
          <p:cNvPr id="26" name="card"/>
          <p:cNvSpPr/>
          <p:nvPr/>
        </p:nvSpPr>
        <p:spPr>
          <a:xfrm>
            <a:off x="6532474" y="1709928"/>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A   </a:t>
            </a:r>
            <a:r>
              <a:rPr lang="en-US" sz="1400" b="0" dirty="0">
                <a:solidFill>
                  <a:srgbClr val="CBD5E1"/>
                </a:solidFill>
                <a:latin typeface="Segoe UI"/>
                <a:ea typeface="Segoe UI"/>
                <a:cs typeface="Segoe UI"/>
              </a:rPr>
              <a:t>Parallel.ForEach with .Result</a:t>
            </a:r>
            <a:endParaRPr lang="en-US" sz="1400" dirty="0"/>
          </a:p>
        </p:txBody>
      </p:sp>
      <p:sp>
        <p:nvSpPr>
          <p:cNvPr id="27" name="card"/>
          <p:cNvSpPr/>
          <p:nvPr/>
        </p:nvSpPr>
        <p:spPr>
          <a:xfrm>
            <a:off x="6532474" y="2496312"/>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B   </a:t>
            </a:r>
            <a:r>
              <a:rPr lang="en-US" sz="1400" b="0" dirty="0">
                <a:solidFill>
                  <a:srgbClr val="CBD5E1"/>
                </a:solidFill>
                <a:latin typeface="Segoe UI"/>
                <a:ea typeface="Segoe UI"/>
                <a:cs typeface="Segoe UI"/>
              </a:rPr>
              <a:t>Parallel.ForEachAsync with MaxDegreeOfParallelism = 10</a:t>
            </a:r>
            <a:endParaRPr lang="en-US" sz="1400" dirty="0"/>
          </a:p>
        </p:txBody>
      </p:sp>
      <p:sp>
        <p:nvSpPr>
          <p:cNvPr id="28" name="card"/>
          <p:cNvSpPr/>
          <p:nvPr/>
        </p:nvSpPr>
        <p:spPr>
          <a:xfrm>
            <a:off x="6532474" y="3282696"/>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C   </a:t>
            </a:r>
            <a:r>
              <a:rPr lang="en-US" sz="1400" b="0" dirty="0">
                <a:solidFill>
                  <a:srgbClr val="CBD5E1"/>
                </a:solidFill>
                <a:latin typeface="Segoe UI"/>
                <a:ea typeface="Segoe UI"/>
                <a:cs typeface="Segoe UI"/>
              </a:rPr>
              <a:t>lock around each call</a:t>
            </a:r>
            <a:endParaRPr lang="en-US" sz="1400" dirty="0"/>
          </a:p>
        </p:txBody>
      </p:sp>
      <p:sp>
        <p:nvSpPr>
          <p:cNvPr id="29" name="card"/>
          <p:cNvSpPr/>
          <p:nvPr/>
        </p:nvSpPr>
        <p:spPr>
          <a:xfrm>
            <a:off x="6532474" y="4069080"/>
            <a:ext cx="5097780" cy="658368"/>
          </a:xfrm>
          <a:prstGeom prst="roundRect">
            <a:avLst>
              <a:gd name="adj" fmla="val 12500"/>
            </a:avLst>
          </a:prstGeom>
          <a:solidFill>
            <a:srgbClr val="111B2E"/>
          </a:solidFill>
          <a:ln w="12700">
            <a:solidFill>
              <a:srgbClr val="1E3A5F"/>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D   </a:t>
            </a:r>
            <a:r>
              <a:rPr lang="en-US" sz="1400" b="0" dirty="0">
                <a:solidFill>
                  <a:srgbClr val="CBD5E1"/>
                </a:solidFill>
                <a:latin typeface="Segoe UI"/>
                <a:ea typeface="Segoe UI"/>
                <a:cs typeface="Segoe UI"/>
              </a:rPr>
              <a:t>Thread.Sleep between calls</a:t>
            </a:r>
            <a:endParaRPr lang="en-US" sz="1400" dirty="0"/>
          </a:p>
        </p:txBody>
      </p:sp>
      <p:sp>
        <p:nvSpPr>
          <p:cNvPr id="30" name="answer_mark"/>
          <p:cNvSpPr/>
          <p:nvPr/>
        </p:nvSpPr>
        <p:spPr>
          <a:xfrm>
            <a:off x="6532474" y="2496312"/>
            <a:ext cx="5097780" cy="658368"/>
          </a:xfrm>
          <a:prstGeom prst="roundRect">
            <a:avLst>
              <a:gd name="adj" fmla="val 15000"/>
            </a:avLst>
          </a:prstGeom>
          <a:solidFill>
            <a:srgbClr val="0E2A26"/>
          </a:solidFill>
          <a:ln w="22225">
            <a:solidFill>
              <a:srgbClr val="34D399"/>
            </a:solidFill>
            <a:prstDash val="solid"/>
          </a:ln>
        </p:spPr>
        <p:txBody>
          <a:bodyPr wrap="square" lIns="201168" tIns="18288" rIns="182880" bIns="18288"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B   </a:t>
            </a:r>
            <a:r>
              <a:rPr lang="en-US" sz="1400" b="1" dirty="0">
                <a:solidFill>
                  <a:srgbClr val="34D399"/>
                </a:solidFill>
                <a:latin typeface="Segoe UI"/>
                <a:ea typeface="Segoe UI"/>
                <a:cs typeface="Segoe UI"/>
              </a:rPr>
              <a:t>Parallel.ForEachAsync with MaxDegreeOfParallelism = 10</a:t>
            </a:r>
            <a:endParaRPr lang="en-US" sz="1400" dirty="0"/>
          </a:p>
        </p:txBody>
      </p:sp>
      <p:sp>
        <p:nvSpPr>
          <p:cNvPr id="31" name="banner"/>
          <p:cNvSpPr/>
          <p:nvPr/>
        </p:nvSpPr>
        <p:spPr>
          <a:xfrm>
            <a:off x="543154" y="5138928"/>
            <a:ext cx="11087100" cy="822960"/>
          </a:xfrm>
          <a:prstGeom prst="roundRect">
            <a:avLst>
              <a:gd name="adj" fmla="val 10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1" dirty="0">
                <a:solidFill>
                  <a:srgbClr val="34D399"/>
                </a:solidFill>
                <a:latin typeface="Segoe UI"/>
                <a:ea typeface="Segoe UI"/>
                <a:cs typeface="Segoe UI"/>
              </a:rPr>
              <a:t>ANSWER B   </a:t>
            </a:r>
            <a:r>
              <a:rPr lang="en-US" sz="1450" b="0" dirty="0">
                <a:solidFill>
                  <a:srgbClr val="FFFFFF"/>
                </a:solidFill>
                <a:latin typeface="Segoe UI"/>
                <a:ea typeface="Segoe UI"/>
                <a:cs typeface="Segoe UI"/>
              </a:rPr>
              <a:t>I/O-bound work with a limit: Parallel.ForEachAsync (or SemaphoreSlim.WaitAsync) keeps 10 calls in flight without blocking threads.</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25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2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2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animBg="1"/>
      <p:bldP spid="27" grpId="0" animBg="1"/>
      <p:bldP spid="28" grpId="0" animBg="1"/>
      <p:bldP spid="29" grpId="0" animBg="1"/>
      <p:bldP spid="30" grpId="0" animBg="1"/>
      <p:bldP spid="3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2516</TotalTime>
  <Words>36773</Words>
  <Application>Microsoft Office PowerPoint</Application>
  <PresentationFormat>Widescreen</PresentationFormat>
  <Paragraphs>4169</Paragraphs>
  <Slides>140</Slides>
  <Notes>140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140</vt:i4>
      </vt:variant>
    </vt:vector>
  </HeadingPairs>
  <TitlesOfParts>
    <vt:vector size="144"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 03: Threads, Tasks, Async, Files &amp; Testing</dc:title>
  <dc:subject>PptxGenJS Presentation</dc:subject>
  <dc:creator>SIMULATION Software House &amp; Academy</dc:creator>
  <cp:lastModifiedBy>Abdelrahman Mohamed</cp:lastModifiedBy>
  <cp:revision>50</cp:revision>
  <dcterms:created xsi:type="dcterms:W3CDTF">2026-09-21T13:45:27Z</dcterms:created>
  <dcterms:modified xsi:type="dcterms:W3CDTF">2026-10-08T16:13:36Z</dcterms:modified>
</cp:coreProperties>
</file>